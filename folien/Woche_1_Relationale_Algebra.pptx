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4dd79a805654cf4" /><Relationship Type="http://schemas.openxmlformats.org/officeDocument/2006/relationships/extended-properties" Target="/docProps/app.xml" Id="R57f8618c55d34268" /><Relationship Type="http://schemas.openxmlformats.org/officeDocument/2006/relationships/officeDocument" Target="/ppt/presentation.xml" Id="Re7ff923209c34067" /></Relationships>
</file>

<file path=ppt/presentation.xml><?xml version="1.0" encoding="utf-8"?>
<p:presentation xmlns:p="http://schemas.openxmlformats.org/presentationml/2006/main">
  <p:sldMasterIdLst>
    <p:sldMasterId xmlns:r="http://schemas.openxmlformats.org/officeDocument/2006/relationships" id="2147483648" r:id="R23395a06a7f24664"/>
  </p:sldMasterIdLst>
  <p:notesMasterIdLst>
    <p:notesMasterId xmlns:r="http://schemas.openxmlformats.org/officeDocument/2006/relationships" r:id="R05f14e7831b34fea"/>
  </p:notesMasterIdLst>
  <p:sldIdLst>
    <p:sldId xmlns:r="http://schemas.openxmlformats.org/officeDocument/2006/relationships" id="256" r:id="Rb60607403f824884"/>
    <p:sldId xmlns:r="http://schemas.openxmlformats.org/officeDocument/2006/relationships" id="257" r:id="R9b0124bc1cf6487c"/>
    <p:sldId xmlns:r="http://schemas.openxmlformats.org/officeDocument/2006/relationships" id="258" r:id="R9944b4efb2a847e5"/>
    <p:sldId xmlns:r="http://schemas.openxmlformats.org/officeDocument/2006/relationships" id="259" r:id="R86fd1c586b134edd"/>
    <p:sldId xmlns:r="http://schemas.openxmlformats.org/officeDocument/2006/relationships" id="260" r:id="R07fa29d64c044b6d"/>
    <p:sldId xmlns:r="http://schemas.openxmlformats.org/officeDocument/2006/relationships" id="261" r:id="R20c323ab987b482c"/>
    <p:sldId xmlns:r="http://schemas.openxmlformats.org/officeDocument/2006/relationships" id="262" r:id="Rc88af8daaee54387"/>
    <p:sldId xmlns:r="http://schemas.openxmlformats.org/officeDocument/2006/relationships" id="263" r:id="Rd880f4de3a0143be"/>
    <p:sldId xmlns:r="http://schemas.openxmlformats.org/officeDocument/2006/relationships" id="264" r:id="Rffb00ba50a504b73"/>
    <p:sldId xmlns:r="http://schemas.openxmlformats.org/officeDocument/2006/relationships" id="265" r:id="Rc3919a3c36054f20"/>
    <p:sldId xmlns:r="http://schemas.openxmlformats.org/officeDocument/2006/relationships" id="266" r:id="Rfcd0433ebe21499d"/>
    <p:sldId xmlns:r="http://schemas.openxmlformats.org/officeDocument/2006/relationships" id="267" r:id="R8707218ecc8f4f72"/>
    <p:sldId xmlns:r="http://schemas.openxmlformats.org/officeDocument/2006/relationships" id="268" r:id="R1494684ab0354e0c"/>
    <p:sldId xmlns:r="http://schemas.openxmlformats.org/officeDocument/2006/relationships" id="269" r:id="R96f5882403fc4b6c"/>
    <p:sldId xmlns:r="http://schemas.openxmlformats.org/officeDocument/2006/relationships" id="270" r:id="R1fa7f52c00c04ef2"/>
    <p:sldId xmlns:r="http://schemas.openxmlformats.org/officeDocument/2006/relationships" id="271" r:id="R44ee1e1b3d864e7e"/>
    <p:sldId xmlns:r="http://schemas.openxmlformats.org/officeDocument/2006/relationships" id="272" r:id="Rfd149b434df6490f"/>
    <p:sldId xmlns:r="http://schemas.openxmlformats.org/officeDocument/2006/relationships" id="273" r:id="R4c83b94c79a04c70"/>
    <p:sldId xmlns:r="http://schemas.openxmlformats.org/officeDocument/2006/relationships" id="274" r:id="R3d41767b5fef46c6"/>
    <p:sldId xmlns:r="http://schemas.openxmlformats.org/officeDocument/2006/relationships" id="275" r:id="R89c2fc719e4342fa"/>
    <p:sldId xmlns:r="http://schemas.openxmlformats.org/officeDocument/2006/relationships" id="276" r:id="Rf687efa7235a4016"/>
    <p:sldId xmlns:r="http://schemas.openxmlformats.org/officeDocument/2006/relationships" id="277" r:id="R41e86c5a7c9a4ad6"/>
    <p:sldId xmlns:r="http://schemas.openxmlformats.org/officeDocument/2006/relationships" id="278" r:id="R837f1076ba9e4b3c"/>
    <p:sldId xmlns:r="http://schemas.openxmlformats.org/officeDocument/2006/relationships" id="279" r:id="R6b585bad34e54269"/>
    <p:sldId xmlns:r="http://schemas.openxmlformats.org/officeDocument/2006/relationships" id="280" r:id="Rf133e9f962b54d2f"/>
    <p:sldId xmlns:r="http://schemas.openxmlformats.org/officeDocument/2006/relationships" id="281" r:id="R20ac12ad8544423c"/>
    <p:sldId xmlns:r="http://schemas.openxmlformats.org/officeDocument/2006/relationships" id="282" r:id="R04477e5cf7844d3c"/>
    <p:sldId xmlns:r="http://schemas.openxmlformats.org/officeDocument/2006/relationships" id="283" r:id="Ra72751d2fe2e47ef"/>
    <p:sldId xmlns:r="http://schemas.openxmlformats.org/officeDocument/2006/relationships" id="284" r:id="R5bd1627377874bd9"/>
    <p:sldId xmlns:r="http://schemas.openxmlformats.org/officeDocument/2006/relationships" id="285" r:id="R675bd68842414ef0"/>
    <p:sldId xmlns:r="http://schemas.openxmlformats.org/officeDocument/2006/relationships" id="286" r:id="R0fdee594895f44ed"/>
    <p:sldId xmlns:r="http://schemas.openxmlformats.org/officeDocument/2006/relationships" id="287" r:id="Rc3988513f25546e6"/>
    <p:sldId xmlns:r="http://schemas.openxmlformats.org/officeDocument/2006/relationships" id="288" r:id="Rd6f7bc3cd9944efd"/>
    <p:sldId xmlns:r="http://schemas.openxmlformats.org/officeDocument/2006/relationships" id="289" r:id="Rf2f905932e514fdf"/>
    <p:sldId xmlns:r="http://schemas.openxmlformats.org/officeDocument/2006/relationships" id="290" r:id="R46f074bb471e4924"/>
    <p:sldId xmlns:r="http://schemas.openxmlformats.org/officeDocument/2006/relationships" id="291" r:id="Rf3b5f21df90b4450"/>
    <p:sldId xmlns:r="http://schemas.openxmlformats.org/officeDocument/2006/relationships" id="292" r:id="R6a94ad3972d14007"/>
    <p:sldId xmlns:r="http://schemas.openxmlformats.org/officeDocument/2006/relationships" id="293" r:id="R77415da8239d4466"/>
    <p:sldId xmlns:r="http://schemas.openxmlformats.org/officeDocument/2006/relationships" id="294" r:id="R172472d6daf0409b"/>
    <p:sldId xmlns:r="http://schemas.openxmlformats.org/officeDocument/2006/relationships" id="295" r:id="Rad451d9c56d1407c"/>
    <p:sldId xmlns:r="http://schemas.openxmlformats.org/officeDocument/2006/relationships" id="296" r:id="R98eaabd04740436e"/>
    <p:sldId xmlns:r="http://schemas.openxmlformats.org/officeDocument/2006/relationships" id="297" r:id="Raa7413add300460f"/>
    <p:sldId xmlns:r="http://schemas.openxmlformats.org/officeDocument/2006/relationships" id="298" r:id="R088ecd990ce04c7e"/>
    <p:sldId xmlns:r="http://schemas.openxmlformats.org/officeDocument/2006/relationships" id="299" r:id="R574ded74be5a4a7f"/>
    <p:sldId xmlns:r="http://schemas.openxmlformats.org/officeDocument/2006/relationships" id="300" r:id="R80d6c56d558b448a"/>
    <p:sldId xmlns:r="http://schemas.openxmlformats.org/officeDocument/2006/relationships" id="301" r:id="Rd543731fb1b84ed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8cefecb60204bb2" /><Relationship Type="http://schemas.openxmlformats.org/officeDocument/2006/relationships/slideMaster" Target="/ppt/slideMasters/slideMaster1.xml" Id="R23395a06a7f24664" /><Relationship Type="http://schemas.openxmlformats.org/officeDocument/2006/relationships/notesMaster" Target="/ppt/notesMasters/notesMaster1.xml" Id="R05f14e7831b34fea" /><Relationship Type="http://schemas.openxmlformats.org/officeDocument/2006/relationships/presProps" Target="/ppt/presProps.xml" Id="R5a48d3da6f184e2d" /><Relationship Type="http://schemas.openxmlformats.org/officeDocument/2006/relationships/tableStyles" Target="/ppt/tableStyles.xml" Id="R3b6a0a37919841af" /><Relationship Type="http://schemas.openxmlformats.org/officeDocument/2006/relationships/slide" Target="/ppt/slides/slide1.xml" Id="Rb60607403f824884" /><Relationship Type="http://schemas.openxmlformats.org/officeDocument/2006/relationships/slide" Target="/ppt/slides/slide2.xml" Id="R9b0124bc1cf6487c" /><Relationship Type="http://schemas.openxmlformats.org/officeDocument/2006/relationships/slide" Target="/ppt/slides/slide3.xml" Id="R9944b4efb2a847e5" /><Relationship Type="http://schemas.openxmlformats.org/officeDocument/2006/relationships/slide" Target="/ppt/slides/slide4.xml" Id="R86fd1c586b134edd" /><Relationship Type="http://schemas.openxmlformats.org/officeDocument/2006/relationships/slide" Target="/ppt/slides/slide5.xml" Id="R07fa29d64c044b6d" /><Relationship Type="http://schemas.openxmlformats.org/officeDocument/2006/relationships/slide" Target="/ppt/slides/slide6.xml" Id="R20c323ab987b482c" /><Relationship Type="http://schemas.openxmlformats.org/officeDocument/2006/relationships/slide" Target="/ppt/slides/slide7.xml" Id="Rc88af8daaee54387" /><Relationship Type="http://schemas.openxmlformats.org/officeDocument/2006/relationships/slide" Target="/ppt/slides/slide8.xml" Id="Rd880f4de3a0143be" /><Relationship Type="http://schemas.openxmlformats.org/officeDocument/2006/relationships/slide" Target="/ppt/slides/slide9.xml" Id="Rffb00ba50a504b73" /><Relationship Type="http://schemas.openxmlformats.org/officeDocument/2006/relationships/slide" Target="/ppt/slides/slide10.xml" Id="Rc3919a3c36054f20" /><Relationship Type="http://schemas.openxmlformats.org/officeDocument/2006/relationships/slide" Target="/ppt/slides/slide11.xml" Id="Rfcd0433ebe21499d" /><Relationship Type="http://schemas.openxmlformats.org/officeDocument/2006/relationships/slide" Target="/ppt/slides/slide12.xml" Id="R8707218ecc8f4f72" /><Relationship Type="http://schemas.openxmlformats.org/officeDocument/2006/relationships/slide" Target="/ppt/slides/slide13.xml" Id="R1494684ab0354e0c" /><Relationship Type="http://schemas.openxmlformats.org/officeDocument/2006/relationships/slide" Target="/ppt/slides/slide14.xml" Id="R96f5882403fc4b6c" /><Relationship Type="http://schemas.openxmlformats.org/officeDocument/2006/relationships/slide" Target="/ppt/slides/slide15.xml" Id="R1fa7f52c00c04ef2" /><Relationship Type="http://schemas.openxmlformats.org/officeDocument/2006/relationships/slide" Target="/ppt/slides/slide16.xml" Id="R44ee1e1b3d864e7e" /><Relationship Type="http://schemas.openxmlformats.org/officeDocument/2006/relationships/slide" Target="/ppt/slides/slide17.xml" Id="Rfd149b434df6490f" /><Relationship Type="http://schemas.openxmlformats.org/officeDocument/2006/relationships/slide" Target="/ppt/slides/slide18.xml" Id="R4c83b94c79a04c70" /><Relationship Type="http://schemas.openxmlformats.org/officeDocument/2006/relationships/slide" Target="/ppt/slides/slide19.xml" Id="R3d41767b5fef46c6" /><Relationship Type="http://schemas.openxmlformats.org/officeDocument/2006/relationships/slide" Target="/ppt/slides/slide20.xml" Id="R89c2fc719e4342fa" /><Relationship Type="http://schemas.openxmlformats.org/officeDocument/2006/relationships/slide" Target="/ppt/slides/slide21.xml" Id="Rf687efa7235a4016" /><Relationship Type="http://schemas.openxmlformats.org/officeDocument/2006/relationships/slide" Target="/ppt/slides/slide22.xml" Id="R41e86c5a7c9a4ad6" /><Relationship Type="http://schemas.openxmlformats.org/officeDocument/2006/relationships/slide" Target="/ppt/slides/slide23.xml" Id="R837f1076ba9e4b3c" /><Relationship Type="http://schemas.openxmlformats.org/officeDocument/2006/relationships/slide" Target="/ppt/slides/slide24.xml" Id="R6b585bad34e54269" /><Relationship Type="http://schemas.openxmlformats.org/officeDocument/2006/relationships/slide" Target="/ppt/slides/slide25.xml" Id="Rf133e9f962b54d2f" /><Relationship Type="http://schemas.openxmlformats.org/officeDocument/2006/relationships/slide" Target="/ppt/slides/slide26.xml" Id="R20ac12ad8544423c" /><Relationship Type="http://schemas.openxmlformats.org/officeDocument/2006/relationships/slide" Target="/ppt/slides/slide27.xml" Id="R04477e5cf7844d3c" /><Relationship Type="http://schemas.openxmlformats.org/officeDocument/2006/relationships/slide" Target="/ppt/slides/slide28.xml" Id="Ra72751d2fe2e47ef" /><Relationship Type="http://schemas.openxmlformats.org/officeDocument/2006/relationships/slide" Target="/ppt/slides/slide29.xml" Id="R5bd1627377874bd9" /><Relationship Type="http://schemas.openxmlformats.org/officeDocument/2006/relationships/slide" Target="/ppt/slides/slide30.xml" Id="R675bd68842414ef0" /><Relationship Type="http://schemas.openxmlformats.org/officeDocument/2006/relationships/slide" Target="/ppt/slides/slide31.xml" Id="R0fdee594895f44ed" /><Relationship Type="http://schemas.openxmlformats.org/officeDocument/2006/relationships/slide" Target="/ppt/slides/slide32.xml" Id="Rc3988513f25546e6" /><Relationship Type="http://schemas.openxmlformats.org/officeDocument/2006/relationships/slide" Target="/ppt/slides/slide33.xml" Id="Rd6f7bc3cd9944efd" /><Relationship Type="http://schemas.openxmlformats.org/officeDocument/2006/relationships/slide" Target="/ppt/slides/slide34.xml" Id="Rf2f905932e514fdf" /><Relationship Type="http://schemas.openxmlformats.org/officeDocument/2006/relationships/slide" Target="/ppt/slides/slide35.xml" Id="R46f074bb471e4924" /><Relationship Type="http://schemas.openxmlformats.org/officeDocument/2006/relationships/slide" Target="/ppt/slides/slide36.xml" Id="Rf3b5f21df90b4450" /><Relationship Type="http://schemas.openxmlformats.org/officeDocument/2006/relationships/slide" Target="/ppt/slides/slide37.xml" Id="R6a94ad3972d14007" /><Relationship Type="http://schemas.openxmlformats.org/officeDocument/2006/relationships/slide" Target="/ppt/slides/slide38.xml" Id="R77415da8239d4466" /><Relationship Type="http://schemas.openxmlformats.org/officeDocument/2006/relationships/slide" Target="/ppt/slides/slide39.xml" Id="R172472d6daf0409b" /><Relationship Type="http://schemas.openxmlformats.org/officeDocument/2006/relationships/slide" Target="/ppt/slides/slide40.xml" Id="Rad451d9c56d1407c" /><Relationship Type="http://schemas.openxmlformats.org/officeDocument/2006/relationships/slide" Target="/ppt/slides/slide41.xml" Id="R98eaabd04740436e" /><Relationship Type="http://schemas.openxmlformats.org/officeDocument/2006/relationships/slide" Target="/ppt/slides/slide42.xml" Id="Raa7413add300460f" /><Relationship Type="http://schemas.openxmlformats.org/officeDocument/2006/relationships/slide" Target="/ppt/slides/slide43.xml" Id="R088ecd990ce04c7e" /><Relationship Type="http://schemas.openxmlformats.org/officeDocument/2006/relationships/slide" Target="/ppt/slides/slide44.xml" Id="R574ded74be5a4a7f" /><Relationship Type="http://schemas.openxmlformats.org/officeDocument/2006/relationships/slide" Target="/ppt/slides/slide45.xml" Id="R80d6c56d558b448a" /><Relationship Type="http://schemas.openxmlformats.org/officeDocument/2006/relationships/slide" Target="/ppt/slides/slide46.xml" Id="Rd543731fb1b84ed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943d37675e34be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754b5a39ff94a95" /><Relationship Type="http://schemas.openxmlformats.org/officeDocument/2006/relationships/notesMaster" Target="/ppt/notesMasters/notesMaster1.xml" Id="Rd82f095a2c364c81" /></Relationships>
</file>

<file path=ppt/notesSlides/_rels/notesSlide2.xml.rels>&#65279;<?xml version="1.0" encoding="utf-8"?><Relationships xmlns="http://schemas.openxmlformats.org/package/2006/relationships"><Relationship Type="http://schemas.openxmlformats.org/officeDocument/2006/relationships/slide" Target="/ppt/slides/slide2.xml" Id="R1ddc9da7892646ba" /><Relationship Type="http://schemas.openxmlformats.org/officeDocument/2006/relationships/notesMaster" Target="/ppt/notesMasters/notesMaster1.xml" Id="R59ea8a1f24b347a4" /></Relationships>
</file>

<file path=ppt/notesSlides/_rels/notesSlide3.xml.rels>&#65279;<?xml version="1.0" encoding="utf-8"?><Relationships xmlns="http://schemas.openxmlformats.org/package/2006/relationships"><Relationship Type="http://schemas.openxmlformats.org/officeDocument/2006/relationships/slide" Target="/ppt/slides/slide3.xml" Id="R2561033bdd384dd0" /><Relationship Type="http://schemas.openxmlformats.org/officeDocument/2006/relationships/notesMaster" Target="/ppt/notesMasters/notesMaster1.xml" Id="Rb3ee4c4f218a40b2" /></Relationships>
</file>

<file path=ppt/notesSlides/_rels/notesSlide4.xml.rels>&#65279;<?xml version="1.0" encoding="utf-8"?><Relationships xmlns="http://schemas.openxmlformats.org/package/2006/relationships"><Relationship Type="http://schemas.openxmlformats.org/officeDocument/2006/relationships/slide" Target="/ppt/slides/slide4.xml" Id="Rcb885adaf14d44c8" /><Relationship Type="http://schemas.openxmlformats.org/officeDocument/2006/relationships/notesMaster" Target="/ppt/notesMasters/notesMaster1.xml" Id="R7a6ea41cd2eb4d13" /></Relationships>
</file>

<file path=ppt/notesSlides/_rels/notesSlide5.xml.rels>&#65279;<?xml version="1.0" encoding="utf-8"?><Relationships xmlns="http://schemas.openxmlformats.org/package/2006/relationships"><Relationship Type="http://schemas.openxmlformats.org/officeDocument/2006/relationships/slide" Target="/ppt/slides/slide5.xml" Id="R87986120aad248b1" /><Relationship Type="http://schemas.openxmlformats.org/officeDocument/2006/relationships/notesMaster" Target="/ppt/notesMasters/notesMaster1.xml" Id="R4d5cff59632a480d" /></Relationships>
</file>

<file path=ppt/notesSlides/_rels/notesSlide6.xml.rels>&#65279;<?xml version="1.0" encoding="utf-8"?><Relationships xmlns="http://schemas.openxmlformats.org/package/2006/relationships"><Relationship Type="http://schemas.openxmlformats.org/officeDocument/2006/relationships/slide" Target="/ppt/slides/slide6.xml" Id="R8c8a7cda5bb44406" /><Relationship Type="http://schemas.openxmlformats.org/officeDocument/2006/relationships/notesMaster" Target="/ppt/notesMasters/notesMaster1.xml" Id="R205fd055370545b0" /></Relationships>
</file>

<file path=ppt/notesSlides/_rels/notesSlide7.xml.rels>&#65279;<?xml version="1.0" encoding="utf-8"?><Relationships xmlns="http://schemas.openxmlformats.org/package/2006/relationships"><Relationship Type="http://schemas.openxmlformats.org/officeDocument/2006/relationships/slide" Target="/ppt/slides/slide7.xml" Id="Rb6bb41793f6a4b0c" /><Relationship Type="http://schemas.openxmlformats.org/officeDocument/2006/relationships/notesMaster" Target="/ppt/notesMasters/notesMaster1.xml" Id="R0a07b08f09ff4f7c" /></Relationships>
</file>

<file path=ppt/notesSlides/_rels/notesSlide8.xml.rels>&#65279;<?xml version="1.0" encoding="utf-8"?><Relationships xmlns="http://schemas.openxmlformats.org/package/2006/relationships"><Relationship Type="http://schemas.openxmlformats.org/officeDocument/2006/relationships/slide" Target="/ppt/slides/slide8.xml" Id="R478692a3b7b8493d" /><Relationship Type="http://schemas.openxmlformats.org/officeDocument/2006/relationships/notesMaster" Target="/ppt/notesMasters/notesMaster1.xml" Id="R60e511b2aba2446b" /></Relationships>
</file>

<file path=ppt/notesSlides/_rels/notesSlide9.xml.rels>&#65279;<?xml version="1.0" encoding="utf-8"?><Relationships xmlns="http://schemas.openxmlformats.org/package/2006/relationships"><Relationship Type="http://schemas.openxmlformats.org/officeDocument/2006/relationships/slide" Target="/ppt/slides/slide9.xml" Id="Rbfa3c46693ba4c50" /><Relationship Type="http://schemas.openxmlformats.org/officeDocument/2006/relationships/notesMaster" Target="/ppt/notesMasters/notesMaster1.xml" Id="R1200c9e8a88941a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4bc5153c5744297" /><Relationship Type="http://schemas.openxmlformats.org/officeDocument/2006/relationships/notesMaster" Target="/ppt/notesMasters/notesMaster1.xml" Id="R58d736dd16c249e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72068c2a3ae43c7" /><Relationship Type="http://schemas.openxmlformats.org/officeDocument/2006/relationships/notesMaster" Target="/ppt/notesMasters/notesMaster1.xml" Id="Raf81dfa6b339421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61b0dd4b1514a2e" /><Relationship Type="http://schemas.openxmlformats.org/officeDocument/2006/relationships/notesMaster" Target="/ppt/notesMasters/notesMaster1.xml" Id="R82a874ba27a6483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5301615c7144513" /><Relationship Type="http://schemas.openxmlformats.org/officeDocument/2006/relationships/notesMaster" Target="/ppt/notesMasters/notesMaster1.xml" Id="Rdd68febb54764a0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738c9bae2e7457d" /><Relationship Type="http://schemas.openxmlformats.org/officeDocument/2006/relationships/notesMaster" Target="/ppt/notesMasters/notesMaster1.xml" Id="Rb021dc3d6127467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1a572049a784bc8" /><Relationship Type="http://schemas.openxmlformats.org/officeDocument/2006/relationships/notesMaster" Target="/ppt/notesMasters/notesMaster1.xml" Id="R4aed9563892d437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83a7f15bb5b4e9e" /><Relationship Type="http://schemas.openxmlformats.org/officeDocument/2006/relationships/notesMaster" Target="/ppt/notesMasters/notesMaster1.xml" Id="R980f525cd9594be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84df3800cb64bf7" /><Relationship Type="http://schemas.openxmlformats.org/officeDocument/2006/relationships/notesMaster" Target="/ppt/notesMasters/notesMaster1.xml" Id="R5d4b0b208f2e410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d3d7fa39abc4a85" /><Relationship Type="http://schemas.openxmlformats.org/officeDocument/2006/relationships/notesMaster" Target="/ppt/notesMasters/notesMaster1.xml" Id="R43863eb91cff400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d96f3cb33a6495f" /><Relationship Type="http://schemas.openxmlformats.org/officeDocument/2006/relationships/notesMaster" Target="/ppt/notesMasters/notesMaster1.xml" Id="Rdb27b10e9b3a42c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fed928e34044ab9" /><Relationship Type="http://schemas.openxmlformats.org/officeDocument/2006/relationships/notesMaster" Target="/ppt/notesMasters/notesMaster1.xml" Id="R252925072e9c40d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d1f6ae42c844e16" /><Relationship Type="http://schemas.openxmlformats.org/officeDocument/2006/relationships/notesMaster" Target="/ppt/notesMasters/notesMaster1.xml" Id="R1d50c41a5e074d9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ebf95d4504d467a" /><Relationship Type="http://schemas.openxmlformats.org/officeDocument/2006/relationships/notesMaster" Target="/ppt/notesMasters/notesMaster1.xml" Id="Rbf1dda832ed749a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5884c92a0474b00" /><Relationship Type="http://schemas.openxmlformats.org/officeDocument/2006/relationships/notesMaster" Target="/ppt/notesMasters/notesMaster1.xml" Id="R51f8f7a895634a0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16a2f9800604375" /><Relationship Type="http://schemas.openxmlformats.org/officeDocument/2006/relationships/notesMaster" Target="/ppt/notesMasters/notesMaster1.xml" Id="R25dbb9aad742421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d1685d948674239" /><Relationship Type="http://schemas.openxmlformats.org/officeDocument/2006/relationships/notesMaster" Target="/ppt/notesMasters/notesMaster1.xml" Id="R1593f92b0d53418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752b8d826a54700" /><Relationship Type="http://schemas.openxmlformats.org/officeDocument/2006/relationships/notesMaster" Target="/ppt/notesMasters/notesMaster1.xml" Id="Rebcc5f121d53454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fd92c5bef9a44a0" /><Relationship Type="http://schemas.openxmlformats.org/officeDocument/2006/relationships/notesMaster" Target="/ppt/notesMasters/notesMaster1.xml" Id="R1b84b8a1a19b4df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0628365754845e4" /><Relationship Type="http://schemas.openxmlformats.org/officeDocument/2006/relationships/notesMaster" Target="/ppt/notesMasters/notesMaster1.xml" Id="R349d36753d6a4b2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851c7978db1495f" /><Relationship Type="http://schemas.openxmlformats.org/officeDocument/2006/relationships/notesMaster" Target="/ppt/notesMasters/notesMaster1.xml" Id="R064db1e3d59c43d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56d7ce4db594758" /><Relationship Type="http://schemas.openxmlformats.org/officeDocument/2006/relationships/notesMaster" Target="/ppt/notesMasters/notesMaster1.xml" Id="Ra9d721627aee47c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bcebe704ce8452a" /><Relationship Type="http://schemas.openxmlformats.org/officeDocument/2006/relationships/notesMaster" Target="/ppt/notesMasters/notesMaster1.xml" Id="R89d518b7f2824e1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4422556de604b5e" /><Relationship Type="http://schemas.openxmlformats.org/officeDocument/2006/relationships/notesMaster" Target="/ppt/notesMasters/notesMaster1.xml" Id="R44b0ab4e11214b0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9387d4498d04601" /><Relationship Type="http://schemas.openxmlformats.org/officeDocument/2006/relationships/notesMaster" Target="/ppt/notesMasters/notesMaster1.xml" Id="R336c1e9e859b43b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8b33764ea0444d2" /><Relationship Type="http://schemas.openxmlformats.org/officeDocument/2006/relationships/notesMaster" Target="/ppt/notesMasters/notesMaster1.xml" Id="Rd84e54e0effc4ae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a499818da204a34" /><Relationship Type="http://schemas.openxmlformats.org/officeDocument/2006/relationships/notesMaster" Target="/ppt/notesMasters/notesMaster1.xml" Id="R3e9807639d8b495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26381ab4b22474c" /><Relationship Type="http://schemas.openxmlformats.org/officeDocument/2006/relationships/notesMaster" Target="/ppt/notesMasters/notesMaster1.xml" Id="Raa502d6093a74dd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0558c12c54d4aa9" /><Relationship Type="http://schemas.openxmlformats.org/officeDocument/2006/relationships/notesMaster" Target="/ppt/notesMasters/notesMaster1.xml" Id="R28130cb522344ecf"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fd8c09d38af4da2" /><Relationship Type="http://schemas.openxmlformats.org/officeDocument/2006/relationships/notesMaster" Target="/ppt/notesMasters/notesMaster1.xml" Id="R5e27149e682d4d3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8ca5a72fa5647fd" /><Relationship Type="http://schemas.openxmlformats.org/officeDocument/2006/relationships/notesMaster" Target="/ppt/notesMasters/notesMaster1.xml" Id="R39f232d97a2b4554"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0015ec5d2a37415c" /><Relationship Type="http://schemas.openxmlformats.org/officeDocument/2006/relationships/notesMaster" Target="/ppt/notesMasters/notesMaster1.xml" Id="R87c61e2ac4f94318"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96daa1076ae34cfd" /><Relationship Type="http://schemas.openxmlformats.org/officeDocument/2006/relationships/notesMaster" Target="/ppt/notesMasters/notesMaster1.xml" Id="R39cfb6fed4b74b49"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96a6ddc68374b50" /><Relationship Type="http://schemas.openxmlformats.org/officeDocument/2006/relationships/notesMaster" Target="/ppt/notesMasters/notesMaster1.xml" Id="Rcb543e0f1d704d9c"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eb75eaf191c24091" /><Relationship Type="http://schemas.openxmlformats.org/officeDocument/2006/relationships/notesMaster" Target="/ppt/notesMasters/notesMaster1.xml" Id="Rb63272b66f0446d7"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8e101e7738de4a84" /><Relationship Type="http://schemas.openxmlformats.org/officeDocument/2006/relationships/notesMaster" Target="/ppt/notesMasters/notesMaster1.xml" Id="R64bc786526c44d7f"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e668c8d9898045d5" /><Relationship Type="http://schemas.openxmlformats.org/officeDocument/2006/relationships/notesMaster" Target="/ppt/notesMasters/notesMaster1.xml" Id="R5de2cc1b77a64261"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8672267e630842be" /><Relationship Type="http://schemas.openxmlformats.org/officeDocument/2006/relationships/notesMaster" Target="/ppt/notesMasters/notesMaster1.xml" Id="R8a742d67d4c8454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Tutor: Ilya Kats. Termine und Räume aus der bestehenden Intro-Präsentation. Woche 1 behandelt die relationale Algebra aus kapitel3.pdf, Folien 5–42. Der QR-Code verweist auf https://github.com/IlyaKats2005/GDB_2026-2027_Tutorium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5–9. Beispiele und Werte aus dem vom Nutzer bereitgestellten Kapitel, soweit nicht ausdrücklich als Zusatzbeispiel bezeichnet.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7–8. Beispiele und Werte aus dem vom Nutzer bereitgestellten Kapitel, soweit nicht ausdrücklich als Zusatzbeispiel bezeichnet.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12, 15. Beispiele und Werte aus dem vom Nutzer bereitgestellten Kapitel, soweit nicht ausdrücklich als Zusatzbeispiel bezeichnet. Der Pfeil beschreibt die Abgeschlossenheit. Die mathematische Relation hat keine Reihenfolge; die Tabellenreihenfolge dient nur der Darstellung.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13–16. Beispiele und Werte aus dem vom Nutzer bereitgestellten Kapitel, soweit nicht ausdrücklich als Zusatzbeispiel bezeichnet.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14. Beispiele und Werte aus dem vom Nutzer bereitgestellten Kapitel, soweit nicht ausdrücklich als Zusatzbeispiel bezeichnet.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16. Beispiele und Werte aus dem vom Nutzer bereitgestellten Kapitel, soweit nicht ausdrücklich als Zusatzbeispiel bezeichnet.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17–18. Beispiele und Werte aus dem vom Nutzer bereitgestellten Kapitel, soweit nicht ausdrücklich als Zusatzbeispiel bezeichnet.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18. Beispiele und Werte aus dem vom Nutzer bereitgestellten Kapitel, soweit nicht ausdrücklich als Zusatzbeispiel bezeichnet.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19–21. Beispiele und Werte aus dem vom Nutzer bereitgestellten Kapitel, soweit nicht ausdrücklich als Zusatzbeispiel bezeichnet.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20. Beispiele und Werte aus dem vom Nutzer bereitgestellten Kapitel, soweit nicht ausdrücklich als Zusatzbeispiel bezeichnet.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21. Beispiele und Werte aus dem vom Nutzer bereitgestellten Kapitel, soweit nicht ausdrücklich als Zusatzbeispiel bezeichnet.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24. Beispiele und Werte aus dem vom Nutzer bereitgestellten Kapitel, soweit nicht ausdrücklich als Zusatzbeispiel bezeichnet. Relationsalias ergänzt die im Kapitel gezeigte Attributumbenennung und entspricht der Notation auf Übungsblatt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24. Beispiele und Werte aus dem vom Nutzer bereitgestellten Kapitel, soweit nicht ausdrücklich als Zusatzbeispiel bezeichnet.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22, 25. Beispiele und Werte aus dem vom Nutzer bereitgestellten Kapitel, soweit nicht ausdrücklich als Zusatzbeispiel bezeichnet.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25. Beispiele und Werte aus dem vom Nutzer bereitgestellten Kapitel, soweit nicht ausdrücklich als Zusatzbeispiel bezeichnet. Zusatzbeispiel zum Theta-Join. Werte für Fichte, Carnap und Feuerbach aus Studenten, Folie 14. Nur der gezeigte Ausschnitt ist Eingabe.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22–23, 25. Beispiele und Werte aus dem vom Nutzer bereitgestellten Kapitel, soweit nicht ausdrücklich als Zusatzbeispiel bezeichnet.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23. Beispiele und Werte aus dem vom Nutzer bereitgestellten Kapitel, soweit nicht ausdrücklich als Zusatzbeispiel bezeichnet.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25–26. Beispiele und Werte aus dem vom Nutzer bereitgestellten Kapitel, soweit nicht ausdrücklich als Zusatzbeispiel bezeichnet. Achtung bei gleichnamigen Attributen mit unterschiedlicher Bedeutung, z. B. Name. Das Prädikat des natürlichen Joins ist die Konjunktion über alle gemeinsamen Attribute.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26. Beispiele und Werte aus dem vom Nutzer bereitgestellten Kapitel, soweit nicht ausdrücklich als Zusatzbeispiel bezeichnet.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27–28. Beispiele und Werte aus dem vom Nutzer bereitgestellten Kapitel, soweit nicht ausdrücklich als Zusatzbeispiel bezeichnet. Der Ergebnis-Ausschnitt wurde aus den auf Folie 28 gezeigten Tupeln berechnet. Die Kommutativitäts- und Assoziativitätsaussage gilt hier für natürliche innere Joins. Sie ist nicht auf beliebige äußere Joins übertragbar.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29. Beispiele und Werte aus dem vom Nutzer bereitgestellten Kapitel, soweit nicht ausdrücklich als Zusatzbeispiel bezeichnet. In den Beispielen ist C das gemeinsame Attribut; die Notation ohne Prädikat bezeichnet den natürlichen äußeren Join.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29. Beispiele und Werte aus dem vom Nutzer bereitgestellten Kapitel, soweit nicht ausdrücklich als Zusatzbeispiel bezeichnet.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30. Beispiele und Werte aus dem vom Nutzer bereitgestellten Kapitel, soweit nicht ausdrücklich als Zusatzbeispiel bezeichnet. In den Beispielen ist C das gemeinsame Attribut; die Notation ohne Prädikat bezeichnet den natürlichen äußeren Join.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30. Beispiele und Werte aus dem vom Nutzer bereitgestellten Kapitel, soweit nicht ausdrücklich als Zusatzbeispiel bezeichnet.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31. Beispiele und Werte aus dem vom Nutzer bereitgestellten Kapitel, soweit nicht ausdrücklich als Zusatzbeispiel bezeichnet. In den Beispielen ist C das gemeinsame Attribut; die Notation ohne Prädikat bezeichnet den natürlichen äußeren Join.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31. Beispiele und Werte aus dem vom Nutzer bereitgestellten Kapitel, soweit nicht ausdrücklich als Zusatzbeispiel bezeichnet.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32. Beispiele und Werte aus dem vom Nutzer bereitgestellten Kapitel, soweit nicht ausdrücklich als Zusatzbeispiel bezeichnet.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32. Beispiele und Werte aus dem vom Nutzer bereitgestellten Kapitel, soweit nicht ausdrücklich als Zusatzbeispiel bezeichnet.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33. Beispiele und Werte aus dem vom Nutzer bereitgestellten Kapitel, soweit nicht ausdrücklich als Zusatzbeispiel bezeichnet.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33. Beispiele und Werte aus dem vom Nutzer bereitgestellten Kapitel, soweit nicht ausdrücklich als Zusatzbeispiel bezeichnet.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34. Beispiele und Werte aus dem vom Nutzer bereitgestellten Kapitel, soweit nicht ausdrücklich als Zusatzbeispiel bezeichnet. Das Kapitel zeichnet den Anti-Join mit einem nach rechts gerichteten Dreieck (▹). Hier wird das entsprechende gut lesbare Symbol ▷ verwendet. Das Ergebnis ist nicht die Auswahl von Paaren mit negierter Joinbedingung.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34. Beispiele und Werte aus dem vom Nutzer bereitgestellten Kapitel, soweit nicht ausdrücklich als Zusatzbeispiel bezeichnet.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35–36. Beispiele und Werte aus dem vom Nutzer bereitgestellten Kapitel, soweit nicht ausdrücklich als Zusatzbeispiel bezeichnet.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36. Beispiele und Werte aus dem vom Nutzer bereitgestellten Kapitel, soweit nicht ausdrücklich als Zusatzbeispiel bezeichnet.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35, 37. Beispiele und Werte aus dem vom Nutzer bereitgestellten Kapitel, soweit nicht ausdrücklich als Zusatzbeispiel bezeichnet.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37. Beispiele und Werte aus dem vom Nutzer bereitgestellten Kapitel, soweit nicht ausdrücklich als Zusatzbeispiel bezeichnet.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35, 38. Beispiele und Werte aus dem vom Nutzer bereitgestellten Kapitel, soweit nicht ausdrücklich als Zusatzbeispiel bezeichnet.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38. Beispiele und Werte aus dem vom Nutzer bereitgestellten Kapitel, soweit nicht ausdrücklich als Zusatzbeispiel bezeichnet.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39. Beispiele und Werte aus dem vom Nutzer bereitgestellten Kapitel, soweit nicht ausdrücklich als Zusatzbeispiel bezeichnet. Formal: R ÷ S = {x ∈ π_X(R) | für alle y ∈ S gilt (x,y) ∈ R}. Für S=∅ ist das Ergebnis π_X(R).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40–41. Beispiele und Werte aus dem vom Nutzer bereitgestellten Kapitel, soweit nicht ausdrücklich als Zusatzbeispiel bezeichnet.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42. Beispiele und Werte aus dem vom Nutzer bereitgestellten Kapitel, soweit nicht ausdrücklich als Zusatzbeispiel bezeichnet.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39. Beispiele und Werte aus dem vom Nutzer bereitgestellten Kapitel, soweit nicht ausdrücklich als Zusatzbeispiel bezeichnet. X und Y sind disjunkte Attributmengen, R hat Schema X∪Y und S hat Schema Y. Die Formulierung vereinfacht die Notation der Vorlesungsfolie bei identischer Bedeutung.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kapitel3.pdf, Folien 13–42. Beispiele und Werte aus dem vom Nutzer bereitgestellten Kapitel, soweit nicht ausdrücklich als Zusatzbeispiel bezeichnet. Zusammenfassung aller in diesem Kapitel behandelten Algebraoperatoren. Theta-Join und Equi-Join werden getrennt aufgeführt. Äußere Joins, Semi-Joins und Anti-Join sind ebenfalls enthalten. Mengenoperationen benötigen kompatible Schemata.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 https://db.in.tum.de/teaching/ws2627/grundlagen/uni.png (Universitätsschema der Vorlesung, abgerufen am 19.10.2026). Vollständige Ansicht zusätzlich als Universitaetsschema.pdf im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Quellen: https://db.in.tum.de/teaching/ws2627/grundlagen/?lang=de und https://dbis-uibk.github.io/relax/. Der Datensatz heißt in ReLaX „Kemper Datenbanksysteme“. DB-Normalizer dient funktionalen Abhängigkeiten und Normalformen; die relationale Algebra wird in ReLaX ausgeführt. Ergebnisse auf Beispieldaten sind kein allgemeiner Korrektheitsbeweis.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484f620bba44a9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b4e0a5f4cca410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9d2c89ff3f241d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aae4ba508ff44f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745d06f1a7d438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30ea88e403b480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8F76784-F39E-4C64-95E3-B72612CF5BB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29FC83C-DBF8-4895-949A-912421549D1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79162B4-FAEE-4819-9B81-7E867C0287E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FBC9047-0601-441B-AC6F-E15BB999C70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ECFE834-3B94-4A30-AB1F-A864C9DCCF1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B0ADA57-55F1-4122-8215-E7E8BA0A105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21767FF-F2C0-40BE-B849-15B914FA663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01BDA05-10BF-44D3-A238-CA5DDF4B4E6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8CFC512-DA7E-406B-A983-BDECEDCB577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FBC6679-1ADC-401A-9E9A-8CE136BDA3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efc4d37a58e4d38" /><Relationship Type="http://schemas.openxmlformats.org/officeDocument/2006/relationships/slideLayout" Target="/ppt/slideLayouts/slideLayout1.xml" Id="R217c49cb255b45e7" /><Relationship Type="http://schemas.openxmlformats.org/officeDocument/2006/relationships/slideLayout" Target="/ppt/slideLayouts/slideLayout2.xml" Id="R37842040da40457f" /><Relationship Type="http://schemas.openxmlformats.org/officeDocument/2006/relationships/slideLayout" Target="/ppt/slideLayouts/slideLayout3.xml" Id="R38508701fdfd45ab" /><Relationship Type="http://schemas.openxmlformats.org/officeDocument/2006/relationships/slideLayout" Target="/ppt/slideLayouts/slideLayout4.xml" Id="R6298fc26f5f24cfc" /><Relationship Type="http://schemas.openxmlformats.org/officeDocument/2006/relationships/slideLayout" Target="/ppt/slideLayouts/slideLayout5.xml" Id="Re9ec79e144ba43bb" /><Relationship Type="http://schemas.openxmlformats.org/officeDocument/2006/relationships/slideLayout" Target="/ppt/slideLayouts/slideLayout6.xml" Id="Rfe1a10dc7b5343f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17c49cb255b45e7"/>
    <p:sldLayoutId xmlns:r="http://schemas.openxmlformats.org/officeDocument/2006/relationships" id="2147483650" r:id="R37842040da40457f"/>
    <p:sldLayoutId xmlns:r="http://schemas.openxmlformats.org/officeDocument/2006/relationships" id="2147483651" r:id="R38508701fdfd45ab"/>
    <p:sldLayoutId xmlns:r="http://schemas.openxmlformats.org/officeDocument/2006/relationships" id="2147483652" r:id="R6298fc26f5f24cfc"/>
    <p:sldLayoutId xmlns:r="http://schemas.openxmlformats.org/officeDocument/2006/relationships" id="2147483653" r:id="Re9ec79e144ba43bb"/>
    <p:sldLayoutId xmlns:r="http://schemas.openxmlformats.org/officeDocument/2006/relationships" id="2147483654" r:id="Rfe1a10dc7b5343f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c6ff240d0bf40d6" /><Relationship Type="http://schemas.openxmlformats.org/officeDocument/2006/relationships/image" Target="/ppt/media/image.png" Id="Ra6329462269f407e" /><Relationship Type="http://schemas.openxmlformats.org/officeDocument/2006/relationships/hyperlink" Target="https://github.com/IlyaKats2005/GDB_2026-2027_Tutorium" TargetMode="External" Id="R2c4f3472e1cf469a" /><Relationship Type="http://schemas.openxmlformats.org/officeDocument/2006/relationships/notesSlide" Target="/ppt/notesSlides/notesSlide1.xml" Id="R45c30e4275524d5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0a8e535fb7247f5" /><Relationship Type="http://schemas.openxmlformats.org/officeDocument/2006/relationships/notesSlide" Target="/ppt/notesSlides/notesSlide2.xml" Id="R099001f67c8f43b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13e58c45ad14bbc" /><Relationship Type="http://schemas.openxmlformats.org/officeDocument/2006/relationships/notesSlide" Target="/ppt/notesSlides/notesSlide3.xml" Id="Ree46b457f26d4cc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c41760e39eb4175" /><Relationship Type="http://schemas.openxmlformats.org/officeDocument/2006/relationships/notesSlide" Target="/ppt/notesSlides/notesSlide4.xml" Id="Rde2a3c5ba65842f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ab8305be0ad44b3" /><Relationship Type="http://schemas.openxmlformats.org/officeDocument/2006/relationships/notesSlide" Target="/ppt/notesSlides/notesSlide5.xml" Id="R4e6640c6221b431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de166d268f54722" /><Relationship Type="http://schemas.openxmlformats.org/officeDocument/2006/relationships/notesSlide" Target="/ppt/notesSlides/notesSlide6.xml" Id="R701562895c3b450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750fdbaa30d4a66" /><Relationship Type="http://schemas.openxmlformats.org/officeDocument/2006/relationships/notesSlide" Target="/ppt/notesSlides/notesSlide7.xml" Id="Rc323b57ed5904be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103d3293f4c41ed" /><Relationship Type="http://schemas.openxmlformats.org/officeDocument/2006/relationships/notesSlide" Target="/ppt/notesSlides/notesSlide8.xml" Id="R2d33e0d49abd4e8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aad682fa5314f3c" /><Relationship Type="http://schemas.openxmlformats.org/officeDocument/2006/relationships/notesSlide" Target="/ppt/notesSlides/notesSlide9.xml" Id="R1956736557a14b6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8eb1a5f71c441c5" /><Relationship Type="http://schemas.openxmlformats.org/officeDocument/2006/relationships/notesSlide" Target="/ppt/notesSlides/notesSlide10.xml" Id="Rc676c279fa994ec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e96f6b5f5f24a65" /><Relationship Type="http://schemas.openxmlformats.org/officeDocument/2006/relationships/notesSlide" Target="/ppt/notesSlides/notesSlide11.xml" Id="Redd8a9543dd0420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d982ca8652e4665" /><Relationship Type="http://schemas.openxmlformats.org/officeDocument/2006/relationships/notesSlide" Target="/ppt/notesSlides/notesSlide12.xml" Id="R077b2c5a8d8041d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565d07898184e1f" /><Relationship Type="http://schemas.openxmlformats.org/officeDocument/2006/relationships/notesSlide" Target="/ppt/notesSlides/notesSlide13.xml" Id="R916cc14622974f4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bb11902e856456f" /><Relationship Type="http://schemas.openxmlformats.org/officeDocument/2006/relationships/notesSlide" Target="/ppt/notesSlides/notesSlide14.xml" Id="R3100307af218423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87d9891a9b24ae9" /><Relationship Type="http://schemas.openxmlformats.org/officeDocument/2006/relationships/notesSlide" Target="/ppt/notesSlides/notesSlide15.xml" Id="R2f94dd473d6d495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a6a6a2aa7dc4129" /><Relationship Type="http://schemas.openxmlformats.org/officeDocument/2006/relationships/notesSlide" Target="/ppt/notesSlides/notesSlide16.xml" Id="R4f18e5f66621496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493441d4d8142fa" /><Relationship Type="http://schemas.openxmlformats.org/officeDocument/2006/relationships/notesSlide" Target="/ppt/notesSlides/notesSlide17.xml" Id="R1744a505034b4ac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71c68c8bc2a4470" /><Relationship Type="http://schemas.openxmlformats.org/officeDocument/2006/relationships/notesSlide" Target="/ppt/notesSlides/notesSlide18.xml" Id="Rd5dab2888739464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cf32023d1d142a9" /><Relationship Type="http://schemas.openxmlformats.org/officeDocument/2006/relationships/notesSlide" Target="/ppt/notesSlides/notesSlide19.xml" Id="R5f8651fb5d9d4d8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6437e2a095d4a08" /><Relationship Type="http://schemas.openxmlformats.org/officeDocument/2006/relationships/notesSlide" Target="/ppt/notesSlides/notesSlide20.xml" Id="Ra68cdb0b359b483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242c44dffa245b0" /><Relationship Type="http://schemas.openxmlformats.org/officeDocument/2006/relationships/notesSlide" Target="/ppt/notesSlides/notesSlide21.xml" Id="R5ab8eed396784b4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151856f743248f6" /><Relationship Type="http://schemas.openxmlformats.org/officeDocument/2006/relationships/notesSlide" Target="/ppt/notesSlides/notesSlide22.xml" Id="R7ebed3bd090e40d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114486f8b9204fad" /><Relationship Type="http://schemas.openxmlformats.org/officeDocument/2006/relationships/notesSlide" Target="/ppt/notesSlides/notesSlide23.xml" Id="R579c05926e65411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d60b04448904c1f" /><Relationship Type="http://schemas.openxmlformats.org/officeDocument/2006/relationships/notesSlide" Target="/ppt/notesSlides/notesSlide24.xml" Id="R1dede83fde0b4b7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aa00b5eb803246ae" /><Relationship Type="http://schemas.openxmlformats.org/officeDocument/2006/relationships/notesSlide" Target="/ppt/notesSlides/notesSlide25.xml" Id="R76459a40e849469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8f5d4fb39a1744ee" /><Relationship Type="http://schemas.openxmlformats.org/officeDocument/2006/relationships/notesSlide" Target="/ppt/notesSlides/notesSlide26.xml" Id="R4a1281847cb24a1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f68ebe52fe8d4b2b" /><Relationship Type="http://schemas.openxmlformats.org/officeDocument/2006/relationships/notesSlide" Target="/ppt/notesSlides/notesSlide27.xml" Id="Reafed701bc10479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5097540f0b634251" /><Relationship Type="http://schemas.openxmlformats.org/officeDocument/2006/relationships/notesSlide" Target="/ppt/notesSlides/notesSlide28.xml" Id="R9aab2afd00a843d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4fef90c09b774ddb" /><Relationship Type="http://schemas.openxmlformats.org/officeDocument/2006/relationships/notesSlide" Target="/ppt/notesSlides/notesSlide29.xml" Id="Rf923cae411d548a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40a641a0b0334ef4" /><Relationship Type="http://schemas.openxmlformats.org/officeDocument/2006/relationships/notesSlide" Target="/ppt/notesSlides/notesSlide30.xml" Id="R218143913b634a6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3837d62068b64c70" /><Relationship Type="http://schemas.openxmlformats.org/officeDocument/2006/relationships/notesSlide" Target="/ppt/notesSlides/notesSlide31.xml" Id="Rdb149afeb235442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7f7c1c13597c4c0f" /><Relationship Type="http://schemas.openxmlformats.org/officeDocument/2006/relationships/notesSlide" Target="/ppt/notesSlides/notesSlide32.xml" Id="Rcc738ef00943468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728feb0516de4140" /><Relationship Type="http://schemas.openxmlformats.org/officeDocument/2006/relationships/notesSlide" Target="/ppt/notesSlides/notesSlide33.xml" Id="R97d56ca341dc46e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908a5d10ee9d42a7" /><Relationship Type="http://schemas.openxmlformats.org/officeDocument/2006/relationships/notesSlide" Target="/ppt/notesSlides/notesSlide34.xml" Id="R83d30dfa971a46f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0d74fe1108024d19" /><Relationship Type="http://schemas.openxmlformats.org/officeDocument/2006/relationships/notesSlide" Target="/ppt/notesSlides/notesSlide35.xml" Id="R86ab6b738bc4433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50bf296c4f6e4610" /><Relationship Type="http://schemas.openxmlformats.org/officeDocument/2006/relationships/notesSlide" Target="/ppt/notesSlides/notesSlide36.xml" Id="R15da224070674a95"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2cff24542dba4afb" /><Relationship Type="http://schemas.openxmlformats.org/officeDocument/2006/relationships/notesSlide" Target="/ppt/notesSlides/notesSlide37.xml" Id="R7a85d2e8ee7d4d5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d40e8bc69d504e20" /><Relationship Type="http://schemas.openxmlformats.org/officeDocument/2006/relationships/notesSlide" Target="/ppt/notesSlides/notesSlide38.xml" Id="R4dba634766594ef2"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08c390b884f84b97" /><Relationship Type="http://schemas.openxmlformats.org/officeDocument/2006/relationships/notesSlide" Target="/ppt/notesSlides/notesSlide39.xml" Id="R74e34208320a40a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d7ce3169cf5f4d92" /><Relationship Type="http://schemas.openxmlformats.org/officeDocument/2006/relationships/notesSlide" Target="/ppt/notesSlides/notesSlide40.xml" Id="Ref6e76e7e4ec467e"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e54449e8495f4882" /><Relationship Type="http://schemas.openxmlformats.org/officeDocument/2006/relationships/notesSlide" Target="/ppt/notesSlides/notesSlide41.xml" Id="R2c84942edf55481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18d61300a6ce46fe" /><Relationship Type="http://schemas.openxmlformats.org/officeDocument/2006/relationships/notesSlide" Target="/ppt/notesSlides/notesSlide42.xml" Id="R21e54331bce24192"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1400569b008f43ff" /><Relationship Type="http://schemas.openxmlformats.org/officeDocument/2006/relationships/notesSlide" Target="/ppt/notesSlides/notesSlide43.xml" Id="R149a9d3ef35e46f3"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a0cf30b972a64ff7" /><Relationship Type="http://schemas.openxmlformats.org/officeDocument/2006/relationships/notesSlide" Target="/ppt/notesSlides/notesSlide44.xml" Id="R2720456287db4eb5"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8d11ef9720fd4e42" /><Relationship Type="http://schemas.openxmlformats.org/officeDocument/2006/relationships/image" Target="/ppt/media/image2.png" Id="R380570f86e1d475a" /><Relationship Type="http://schemas.openxmlformats.org/officeDocument/2006/relationships/hyperlink" Target="https://github.com/IlyaKats2005/GDB_2026-2027_Tutorium/blob/main/Universitaetsschema.pdf" TargetMode="External" Id="Re812ace0b3044a38" /><Relationship Type="http://schemas.openxmlformats.org/officeDocument/2006/relationships/notesSlide" Target="/ppt/notesSlides/notesSlide45.xml" Id="Rab40aca5a03b4f6d"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39c9a8d0b9b44c71" /><Relationship Type="http://schemas.openxmlformats.org/officeDocument/2006/relationships/hyperlink" Target="https://dbis-uibk.github.io/relax/" TargetMode="External" Id="R5d32a94ac17e4923" /><Relationship Type="http://schemas.openxmlformats.org/officeDocument/2006/relationships/notesSlide" Target="/ppt/notesSlides/notesSlide46.xml" Id="R99804769aa8c4f8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3D0AAE6-31C3-4AA9-8D87-3A54A487B0DB}"/>
              </a:ext>
            </a:extLst>
          </p:cNvPr>
          <p:cNvSpPr>
            <a:spLocks xmlns:a="http://schemas.openxmlformats.org/drawingml/2006/main" noGrp="1"/>
          </p:cNvSpPr>
          <p:nvPr/>
        </p:nvSpPr>
        <p:spPr>
          <a:xfrm xmlns:a="http://schemas.openxmlformats.org/drawingml/2006/main">
            <a:off x="609600" y="5905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005293"/>
                </a:solidFill>
                <a:latin typeface="Arial"/>
                <a:ea typeface="Arial"/>
                <a:cs typeface="Arial"/>
              </a:defRPr>
            </a:defPPr>
            <a:lvl1pPr>
              <a:defRPr sz="3600" b="1">
                <a:solidFill>
                  <a:srgbClr val="005293"/>
                </a:solidFill>
                <a:latin typeface="Arial"/>
                <a:ea typeface="Arial"/>
                <a:cs typeface="Arial"/>
              </a:defRPr>
            </a:lvl1pPr>
            <a:lvl2pPr>
              <a:defRPr sz="3600" b="1">
                <a:solidFill>
                  <a:srgbClr val="005293"/>
                </a:solidFill>
                <a:latin typeface="Arial"/>
                <a:ea typeface="Arial"/>
                <a:cs typeface="Arial"/>
              </a:defRPr>
            </a:lvl2pPr>
            <a:lvl3pPr>
              <a:defRPr sz="3600" b="1">
                <a:solidFill>
                  <a:srgbClr val="005293"/>
                </a:solidFill>
                <a:latin typeface="Arial"/>
                <a:ea typeface="Arial"/>
                <a:cs typeface="Arial"/>
              </a:defRPr>
            </a:lvl3pPr>
            <a:lvl4pPr>
              <a:defRPr sz="3600" b="1">
                <a:solidFill>
                  <a:srgbClr val="005293"/>
                </a:solidFill>
                <a:latin typeface="Arial"/>
                <a:ea typeface="Arial"/>
                <a:cs typeface="Arial"/>
              </a:defRPr>
            </a:lvl4pPr>
            <a:lvl5pPr>
              <a:defRPr sz="3600" b="1">
                <a:solidFill>
                  <a:srgbClr val="005293"/>
                </a:solidFill>
                <a:latin typeface="Arial"/>
                <a:ea typeface="Arial"/>
                <a:cs typeface="Arial"/>
              </a:defRPr>
            </a:lvl5pPr>
            <a:lvl6pPr>
              <a:defRPr sz="3600" b="1">
                <a:solidFill>
                  <a:srgbClr val="005293"/>
                </a:solidFill>
                <a:latin typeface="Arial"/>
                <a:ea typeface="Arial"/>
                <a:cs typeface="Arial"/>
              </a:defRPr>
            </a:lvl6pPr>
            <a:lvl7pPr>
              <a:defRPr sz="3600" b="1">
                <a:solidFill>
                  <a:srgbClr val="005293"/>
                </a:solidFill>
                <a:latin typeface="Arial"/>
                <a:ea typeface="Arial"/>
                <a:cs typeface="Arial"/>
              </a:defRPr>
            </a:lvl7pPr>
            <a:lvl8pPr>
              <a:defRPr sz="3600" b="1">
                <a:solidFill>
                  <a:srgbClr val="005293"/>
                </a:solidFill>
                <a:latin typeface="Arial"/>
                <a:ea typeface="Arial"/>
                <a:cs typeface="Arial"/>
              </a:defRPr>
            </a:lvl8pPr>
            <a:lvl9pPr>
              <a:defRPr sz="3600" b="1">
                <a:solidFill>
                  <a:srgbClr val="005293"/>
                </a:solidFill>
                <a:latin typeface="Arial"/>
                <a:ea typeface="Arial"/>
                <a:cs typeface="Arial"/>
              </a:defRPr>
            </a:lvl9pPr>
          </a:lstStyle>
          <a:p xmlns:a="http://schemas.openxmlformats.org/drawingml/2006/main">
            <a:pPr>
              <a:defRPr sz="3600" b="1">
                <a:solidFill>
                  <a:srgbClr val="005293"/>
                </a:solidFill>
                <a:latin typeface="Arial"/>
                <a:ea typeface="Arial"/>
                <a:cs typeface="Arial"/>
              </a:defRPr>
            </a:pPr>
            <a:r>
              <a:rPr sz="3600" b="1">
                <a:solidFill>
                  <a:srgbClr val="005293"/>
                </a:solidFill>
                <a:latin typeface="Arial"/>
                <a:ea typeface="Arial"/>
                <a:cs typeface="Arial"/>
              </a:rPr>
              <a:t>Grundlagen: Datenbanken</a:t>
            </a:r>
          </a:p>
        </p:txBody>
      </p:sp>
      <p:sp>
        <p:nvSpPr>
          <p:cNvPr id="2" name="">
            <a:extLst xmlns:a="http://schemas.openxmlformats.org/drawingml/2006/main">
              <a:ext uri="{FF2B5EF4-FFF2-40B4-BE49-F238E27FC236}">
                <a16:creationId xmlns:a16="http://schemas.microsoft.com/office/drawing/2014/main" id="{5CAF798A-A52D-4EC4-8186-23E02FF8F57F}"/>
              </a:ext>
            </a:extLst>
          </p:cNvPr>
          <p:cNvSpPr>
            <a:spLocks xmlns:a="http://schemas.openxmlformats.org/drawingml/2006/main" noGrp="1"/>
          </p:cNvSpPr>
          <p:nvPr/>
        </p:nvSpPr>
        <p:spPr>
          <a:xfrm xmlns:a="http://schemas.openxmlformats.org/drawingml/2006/main">
            <a:off x="609600" y="13906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596773"/>
                </a:solidFill>
                <a:latin typeface="Arial"/>
                <a:ea typeface="Arial"/>
                <a:cs typeface="Arial"/>
              </a:defRPr>
            </a:defPPr>
            <a:lvl1pPr>
              <a:defRPr sz="2250" b="0">
                <a:solidFill>
                  <a:srgbClr val="596773"/>
                </a:solidFill>
                <a:latin typeface="Arial"/>
                <a:ea typeface="Arial"/>
                <a:cs typeface="Arial"/>
              </a:defRPr>
            </a:lvl1pPr>
            <a:lvl2pPr>
              <a:defRPr sz="2250" b="0">
                <a:solidFill>
                  <a:srgbClr val="596773"/>
                </a:solidFill>
                <a:latin typeface="Arial"/>
                <a:ea typeface="Arial"/>
                <a:cs typeface="Arial"/>
              </a:defRPr>
            </a:lvl2pPr>
            <a:lvl3pPr>
              <a:defRPr sz="2250" b="0">
                <a:solidFill>
                  <a:srgbClr val="596773"/>
                </a:solidFill>
                <a:latin typeface="Arial"/>
                <a:ea typeface="Arial"/>
                <a:cs typeface="Arial"/>
              </a:defRPr>
            </a:lvl3pPr>
            <a:lvl4pPr>
              <a:defRPr sz="2250" b="0">
                <a:solidFill>
                  <a:srgbClr val="596773"/>
                </a:solidFill>
                <a:latin typeface="Arial"/>
                <a:ea typeface="Arial"/>
                <a:cs typeface="Arial"/>
              </a:defRPr>
            </a:lvl4pPr>
            <a:lvl5pPr>
              <a:defRPr sz="2250" b="0">
                <a:solidFill>
                  <a:srgbClr val="596773"/>
                </a:solidFill>
                <a:latin typeface="Arial"/>
                <a:ea typeface="Arial"/>
                <a:cs typeface="Arial"/>
              </a:defRPr>
            </a:lvl5pPr>
            <a:lvl6pPr>
              <a:defRPr sz="2250" b="0">
                <a:solidFill>
                  <a:srgbClr val="596773"/>
                </a:solidFill>
                <a:latin typeface="Arial"/>
                <a:ea typeface="Arial"/>
                <a:cs typeface="Arial"/>
              </a:defRPr>
            </a:lvl6pPr>
            <a:lvl7pPr>
              <a:defRPr sz="2250" b="0">
                <a:solidFill>
                  <a:srgbClr val="596773"/>
                </a:solidFill>
                <a:latin typeface="Arial"/>
                <a:ea typeface="Arial"/>
                <a:cs typeface="Arial"/>
              </a:defRPr>
            </a:lvl7pPr>
            <a:lvl8pPr>
              <a:defRPr sz="2250" b="0">
                <a:solidFill>
                  <a:srgbClr val="596773"/>
                </a:solidFill>
                <a:latin typeface="Arial"/>
                <a:ea typeface="Arial"/>
                <a:cs typeface="Arial"/>
              </a:defRPr>
            </a:lvl8pPr>
            <a:lvl9pPr>
              <a:defRPr sz="2250" b="0">
                <a:solidFill>
                  <a:srgbClr val="596773"/>
                </a:solidFill>
                <a:latin typeface="Arial"/>
                <a:ea typeface="Arial"/>
                <a:cs typeface="Arial"/>
              </a:defRPr>
            </a:lvl9pPr>
          </a:lstStyle>
          <a:p xmlns:a="http://schemas.openxmlformats.org/drawingml/2006/main">
            <a:pPr>
              <a:defRPr sz="2250" b="0">
                <a:solidFill>
                  <a:srgbClr val="596773"/>
                </a:solidFill>
                <a:latin typeface="Arial"/>
                <a:ea typeface="Arial"/>
                <a:cs typeface="Arial"/>
              </a:defRPr>
            </a:pPr>
            <a:r>
              <a:rPr sz="2250" b="0">
                <a:solidFill>
                  <a:srgbClr val="596773"/>
                </a:solidFill>
                <a:latin typeface="Arial"/>
                <a:ea typeface="Arial"/>
                <a:cs typeface="Arial"/>
              </a:rPr>
              <a:t>Tutorium · Wintersemester 2026/27</a:t>
            </a:r>
          </a:p>
        </p:txBody>
      </p:sp>
      <p:sp>
        <p:nvSpPr>
          <p:cNvPr id="3" name="">
            <a:extLst xmlns:a="http://schemas.openxmlformats.org/drawingml/2006/main">
              <a:ext uri="{FF2B5EF4-FFF2-40B4-BE49-F238E27FC236}">
                <a16:creationId xmlns:a16="http://schemas.microsoft.com/office/drawing/2014/main" id="{530BD78C-55F4-408F-8F4A-6C759E5DEB73}"/>
              </a:ext>
            </a:extLst>
          </p:cNvPr>
          <p:cNvSpPr>
            <a:spLocks xmlns:a="http://schemas.openxmlformats.org/drawingml/2006/main" noGrp="1"/>
          </p:cNvSpPr>
          <p:nvPr/>
        </p:nvSpPr>
        <p:spPr>
          <a:xfrm xmlns:a="http://schemas.openxmlformats.org/drawingml/2006/main">
            <a:off x="609600" y="2076450"/>
            <a:ext cx="704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400" b="1">
                <a:solidFill>
                  <a:srgbClr val="005293"/>
                </a:solidFill>
                <a:latin typeface="Arial"/>
                <a:ea typeface="Arial"/>
                <a:cs typeface="Arial"/>
              </a:defRPr>
            </a:defPPr>
            <a:lvl1pPr>
              <a:defRPr sz="5400" b="1">
                <a:solidFill>
                  <a:srgbClr val="005293"/>
                </a:solidFill>
                <a:latin typeface="Arial"/>
                <a:ea typeface="Arial"/>
                <a:cs typeface="Arial"/>
              </a:defRPr>
            </a:lvl1pPr>
            <a:lvl2pPr>
              <a:defRPr sz="5400" b="1">
                <a:solidFill>
                  <a:srgbClr val="005293"/>
                </a:solidFill>
                <a:latin typeface="Arial"/>
                <a:ea typeface="Arial"/>
                <a:cs typeface="Arial"/>
              </a:defRPr>
            </a:lvl2pPr>
            <a:lvl3pPr>
              <a:defRPr sz="5400" b="1">
                <a:solidFill>
                  <a:srgbClr val="005293"/>
                </a:solidFill>
                <a:latin typeface="Arial"/>
                <a:ea typeface="Arial"/>
                <a:cs typeface="Arial"/>
              </a:defRPr>
            </a:lvl3pPr>
            <a:lvl4pPr>
              <a:defRPr sz="5400" b="1">
                <a:solidFill>
                  <a:srgbClr val="005293"/>
                </a:solidFill>
                <a:latin typeface="Arial"/>
                <a:ea typeface="Arial"/>
                <a:cs typeface="Arial"/>
              </a:defRPr>
            </a:lvl4pPr>
            <a:lvl5pPr>
              <a:defRPr sz="5400" b="1">
                <a:solidFill>
                  <a:srgbClr val="005293"/>
                </a:solidFill>
                <a:latin typeface="Arial"/>
                <a:ea typeface="Arial"/>
                <a:cs typeface="Arial"/>
              </a:defRPr>
            </a:lvl5pPr>
            <a:lvl6pPr>
              <a:defRPr sz="5400" b="1">
                <a:solidFill>
                  <a:srgbClr val="005293"/>
                </a:solidFill>
                <a:latin typeface="Arial"/>
                <a:ea typeface="Arial"/>
                <a:cs typeface="Arial"/>
              </a:defRPr>
            </a:lvl6pPr>
            <a:lvl7pPr>
              <a:defRPr sz="5400" b="1">
                <a:solidFill>
                  <a:srgbClr val="005293"/>
                </a:solidFill>
                <a:latin typeface="Arial"/>
                <a:ea typeface="Arial"/>
                <a:cs typeface="Arial"/>
              </a:defRPr>
            </a:lvl7pPr>
            <a:lvl8pPr>
              <a:defRPr sz="5400" b="1">
                <a:solidFill>
                  <a:srgbClr val="005293"/>
                </a:solidFill>
                <a:latin typeface="Arial"/>
                <a:ea typeface="Arial"/>
                <a:cs typeface="Arial"/>
              </a:defRPr>
            </a:lvl8pPr>
            <a:lvl9pPr>
              <a:defRPr sz="5400" b="1">
                <a:solidFill>
                  <a:srgbClr val="005293"/>
                </a:solidFill>
                <a:latin typeface="Arial"/>
                <a:ea typeface="Arial"/>
                <a:cs typeface="Arial"/>
              </a:defRPr>
            </a:lvl9pPr>
          </a:lstStyle>
          <a:p xmlns:a="http://schemas.openxmlformats.org/drawingml/2006/main">
            <a:pPr>
              <a:defRPr sz="5400" b="1">
                <a:solidFill>
                  <a:srgbClr val="005293"/>
                </a:solidFill>
                <a:latin typeface="Arial"/>
                <a:ea typeface="Arial"/>
                <a:cs typeface="Arial"/>
              </a:defRPr>
            </a:pPr>
            <a:r>
              <a:rPr sz="5400" b="1">
                <a:solidFill>
                  <a:srgbClr val="005293"/>
                </a:solidFill>
                <a:latin typeface="Arial"/>
                <a:ea typeface="Arial"/>
                <a:cs typeface="Arial"/>
              </a:rPr>
              <a:t>Woche 1</a:t>
            </a:r>
          </a:p>
        </p:txBody>
      </p:sp>
      <p:sp>
        <p:nvSpPr>
          <p:cNvPr id="4" name="">
            <a:extLst xmlns:a="http://schemas.openxmlformats.org/drawingml/2006/main">
              <a:ext uri="{FF2B5EF4-FFF2-40B4-BE49-F238E27FC236}">
                <a16:creationId xmlns:a16="http://schemas.microsoft.com/office/drawing/2014/main" id="{4F6421D4-A49C-4E28-A0A8-66EAA41C3267}"/>
              </a:ext>
            </a:extLst>
          </p:cNvPr>
          <p:cNvSpPr>
            <a:spLocks xmlns:a="http://schemas.openxmlformats.org/drawingml/2006/main" noGrp="1"/>
          </p:cNvSpPr>
          <p:nvPr/>
        </p:nvSpPr>
        <p:spPr>
          <a:xfrm xmlns:a="http://schemas.openxmlformats.org/drawingml/2006/main">
            <a:off x="609600" y="3000375"/>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0">
                <a:solidFill>
                  <a:srgbClr val="005293"/>
                </a:solidFill>
                <a:latin typeface="Arial"/>
                <a:ea typeface="Arial"/>
                <a:cs typeface="Arial"/>
              </a:defRPr>
            </a:defPPr>
            <a:lvl1pPr>
              <a:defRPr sz="2700" b="0">
                <a:solidFill>
                  <a:srgbClr val="005293"/>
                </a:solidFill>
                <a:latin typeface="Arial"/>
                <a:ea typeface="Arial"/>
                <a:cs typeface="Arial"/>
              </a:defRPr>
            </a:lvl1pPr>
            <a:lvl2pPr>
              <a:defRPr sz="2700" b="0">
                <a:solidFill>
                  <a:srgbClr val="005293"/>
                </a:solidFill>
                <a:latin typeface="Arial"/>
                <a:ea typeface="Arial"/>
                <a:cs typeface="Arial"/>
              </a:defRPr>
            </a:lvl2pPr>
            <a:lvl3pPr>
              <a:defRPr sz="2700" b="0">
                <a:solidFill>
                  <a:srgbClr val="005293"/>
                </a:solidFill>
                <a:latin typeface="Arial"/>
                <a:ea typeface="Arial"/>
                <a:cs typeface="Arial"/>
              </a:defRPr>
            </a:lvl3pPr>
            <a:lvl4pPr>
              <a:defRPr sz="2700" b="0">
                <a:solidFill>
                  <a:srgbClr val="005293"/>
                </a:solidFill>
                <a:latin typeface="Arial"/>
                <a:ea typeface="Arial"/>
                <a:cs typeface="Arial"/>
              </a:defRPr>
            </a:lvl4pPr>
            <a:lvl5pPr>
              <a:defRPr sz="2700" b="0">
                <a:solidFill>
                  <a:srgbClr val="005293"/>
                </a:solidFill>
                <a:latin typeface="Arial"/>
                <a:ea typeface="Arial"/>
                <a:cs typeface="Arial"/>
              </a:defRPr>
            </a:lvl5pPr>
            <a:lvl6pPr>
              <a:defRPr sz="2700" b="0">
                <a:solidFill>
                  <a:srgbClr val="005293"/>
                </a:solidFill>
                <a:latin typeface="Arial"/>
                <a:ea typeface="Arial"/>
                <a:cs typeface="Arial"/>
              </a:defRPr>
            </a:lvl6pPr>
            <a:lvl7pPr>
              <a:defRPr sz="2700" b="0">
                <a:solidFill>
                  <a:srgbClr val="005293"/>
                </a:solidFill>
                <a:latin typeface="Arial"/>
                <a:ea typeface="Arial"/>
                <a:cs typeface="Arial"/>
              </a:defRPr>
            </a:lvl7pPr>
            <a:lvl8pPr>
              <a:defRPr sz="2700" b="0">
                <a:solidFill>
                  <a:srgbClr val="005293"/>
                </a:solidFill>
                <a:latin typeface="Arial"/>
                <a:ea typeface="Arial"/>
                <a:cs typeface="Arial"/>
              </a:defRPr>
            </a:lvl8pPr>
            <a:lvl9pPr>
              <a:defRPr sz="2700" b="0">
                <a:solidFill>
                  <a:srgbClr val="005293"/>
                </a:solidFill>
                <a:latin typeface="Arial"/>
                <a:ea typeface="Arial"/>
                <a:cs typeface="Arial"/>
              </a:defRPr>
            </a:lvl9pPr>
          </a:lstStyle>
          <a:p xmlns:a="http://schemas.openxmlformats.org/drawingml/2006/main">
            <a:pPr>
              <a:defRPr sz="2700" b="0">
                <a:solidFill>
                  <a:srgbClr val="005293"/>
                </a:solidFill>
                <a:latin typeface="Arial"/>
                <a:ea typeface="Arial"/>
                <a:cs typeface="Arial"/>
              </a:defRPr>
            </a:pPr>
            <a:r>
              <a:rPr sz="2700" b="0">
                <a:solidFill>
                  <a:srgbClr val="005293"/>
                </a:solidFill>
                <a:latin typeface="Arial"/>
                <a:ea typeface="Arial"/>
                <a:cs typeface="Arial"/>
              </a:rPr>
              <a:t>Relationale Algebra</a:t>
            </a:r>
          </a:p>
        </p:txBody>
      </p:sp>
      <p:sp>
        <p:nvSpPr>
          <p:cNvPr id="5" name="">
            <a:extLst xmlns:a="http://schemas.openxmlformats.org/drawingml/2006/main">
              <a:ext uri="{FF2B5EF4-FFF2-40B4-BE49-F238E27FC236}">
                <a16:creationId xmlns:a16="http://schemas.microsoft.com/office/drawing/2014/main" id="{2C87FFA3-1851-4CF8-8B4A-45863214DCBD}"/>
              </a:ext>
            </a:extLst>
          </p:cNvPr>
          <p:cNvSpPr>
            <a:spLocks xmlns:a="http://schemas.openxmlformats.org/drawingml/2006/main" noGrp="1"/>
          </p:cNvSpPr>
          <p:nvPr/>
        </p:nvSpPr>
        <p:spPr>
          <a:xfrm xmlns:a="http://schemas.openxmlformats.org/drawingml/2006/main">
            <a:off x="609600" y="3695700"/>
            <a:ext cx="704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202B33"/>
                </a:solidFill>
                <a:latin typeface="Arial"/>
                <a:ea typeface="Arial"/>
                <a:cs typeface="Arial"/>
              </a:defRPr>
            </a:defPPr>
            <a:lvl1pPr>
              <a:defRPr sz="2700" b="1">
                <a:solidFill>
                  <a:srgbClr val="202B33"/>
                </a:solidFill>
                <a:latin typeface="Arial"/>
                <a:ea typeface="Arial"/>
                <a:cs typeface="Arial"/>
              </a:defRPr>
            </a:lvl1pPr>
            <a:lvl2pPr>
              <a:defRPr sz="2700" b="1">
                <a:solidFill>
                  <a:srgbClr val="202B33"/>
                </a:solidFill>
                <a:latin typeface="Arial"/>
                <a:ea typeface="Arial"/>
                <a:cs typeface="Arial"/>
              </a:defRPr>
            </a:lvl2pPr>
            <a:lvl3pPr>
              <a:defRPr sz="2700" b="1">
                <a:solidFill>
                  <a:srgbClr val="202B33"/>
                </a:solidFill>
                <a:latin typeface="Arial"/>
                <a:ea typeface="Arial"/>
                <a:cs typeface="Arial"/>
              </a:defRPr>
            </a:lvl3pPr>
            <a:lvl4pPr>
              <a:defRPr sz="2700" b="1">
                <a:solidFill>
                  <a:srgbClr val="202B33"/>
                </a:solidFill>
                <a:latin typeface="Arial"/>
                <a:ea typeface="Arial"/>
                <a:cs typeface="Arial"/>
              </a:defRPr>
            </a:lvl4pPr>
            <a:lvl5pPr>
              <a:defRPr sz="2700" b="1">
                <a:solidFill>
                  <a:srgbClr val="202B33"/>
                </a:solidFill>
                <a:latin typeface="Arial"/>
                <a:ea typeface="Arial"/>
                <a:cs typeface="Arial"/>
              </a:defRPr>
            </a:lvl5pPr>
            <a:lvl6pPr>
              <a:defRPr sz="2700" b="1">
                <a:solidFill>
                  <a:srgbClr val="202B33"/>
                </a:solidFill>
                <a:latin typeface="Arial"/>
                <a:ea typeface="Arial"/>
                <a:cs typeface="Arial"/>
              </a:defRPr>
            </a:lvl6pPr>
            <a:lvl7pPr>
              <a:defRPr sz="2700" b="1">
                <a:solidFill>
                  <a:srgbClr val="202B33"/>
                </a:solidFill>
                <a:latin typeface="Arial"/>
                <a:ea typeface="Arial"/>
                <a:cs typeface="Arial"/>
              </a:defRPr>
            </a:lvl7pPr>
            <a:lvl8pPr>
              <a:defRPr sz="2700" b="1">
                <a:solidFill>
                  <a:srgbClr val="202B33"/>
                </a:solidFill>
                <a:latin typeface="Arial"/>
                <a:ea typeface="Arial"/>
                <a:cs typeface="Arial"/>
              </a:defRPr>
            </a:lvl8pPr>
            <a:lvl9pPr>
              <a:defRPr sz="2700" b="1">
                <a:solidFill>
                  <a:srgbClr val="202B33"/>
                </a:solidFill>
                <a:latin typeface="Arial"/>
                <a:ea typeface="Arial"/>
                <a:cs typeface="Arial"/>
              </a:defRPr>
            </a:lvl9pPr>
          </a:lstStyle>
          <a:p xmlns:a="http://schemas.openxmlformats.org/drawingml/2006/main">
            <a:pPr>
              <a:defRPr sz="2700" b="1">
                <a:solidFill>
                  <a:srgbClr val="202B33"/>
                </a:solidFill>
                <a:latin typeface="Arial"/>
                <a:ea typeface="Arial"/>
                <a:cs typeface="Arial"/>
              </a:defRPr>
            </a:pPr>
            <a:r>
              <a:rPr sz="2700" b="1">
                <a:solidFill>
                  <a:srgbClr val="202B33"/>
                </a:solidFill>
                <a:latin typeface="Arial"/>
                <a:ea typeface="Arial"/>
                <a:cs typeface="Arial"/>
              </a:rPr>
              <a:t>Ilya Kats</a:t>
            </a:r>
          </a:p>
        </p:txBody>
      </p:sp>
      <p:sp>
        <p:nvSpPr>
          <p:cNvPr id="6" name="">
            <a:extLst xmlns:a="http://schemas.openxmlformats.org/drawingml/2006/main">
              <a:ext uri="{FF2B5EF4-FFF2-40B4-BE49-F238E27FC236}">
                <a16:creationId xmlns:a16="http://schemas.microsoft.com/office/drawing/2014/main" id="{32F7B05B-C76F-43B7-95DA-A1B420063716}"/>
              </a:ext>
            </a:extLst>
          </p:cNvPr>
          <p:cNvSpPr>
            <a:spLocks xmlns:a="http://schemas.openxmlformats.org/drawingml/2006/main" noGrp="1"/>
          </p:cNvSpPr>
          <p:nvPr/>
        </p:nvSpPr>
        <p:spPr>
          <a:xfrm xmlns:a="http://schemas.openxmlformats.org/drawingml/2006/main">
            <a:off x="609600" y="4476750"/>
            <a:ext cx="723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02B33"/>
                </a:solidFill>
                <a:latin typeface="Arial"/>
                <a:ea typeface="Arial"/>
                <a:cs typeface="Arial"/>
              </a:defRPr>
            </a:defPPr>
            <a:lvl1pPr>
              <a:defRPr sz="2100" b="0">
                <a:solidFill>
                  <a:srgbClr val="202B33"/>
                </a:solidFill>
                <a:latin typeface="Arial"/>
                <a:ea typeface="Arial"/>
                <a:cs typeface="Arial"/>
              </a:defRPr>
            </a:lvl1pPr>
            <a:lvl2pPr>
              <a:defRPr sz="2100" b="0">
                <a:solidFill>
                  <a:srgbClr val="202B33"/>
                </a:solidFill>
                <a:latin typeface="Arial"/>
                <a:ea typeface="Arial"/>
                <a:cs typeface="Arial"/>
              </a:defRPr>
            </a:lvl2pPr>
            <a:lvl3pPr>
              <a:defRPr sz="2100" b="0">
                <a:solidFill>
                  <a:srgbClr val="202B33"/>
                </a:solidFill>
                <a:latin typeface="Arial"/>
                <a:ea typeface="Arial"/>
                <a:cs typeface="Arial"/>
              </a:defRPr>
            </a:lvl3pPr>
            <a:lvl4pPr>
              <a:defRPr sz="2100" b="0">
                <a:solidFill>
                  <a:srgbClr val="202B33"/>
                </a:solidFill>
                <a:latin typeface="Arial"/>
                <a:ea typeface="Arial"/>
                <a:cs typeface="Arial"/>
              </a:defRPr>
            </a:lvl4pPr>
            <a:lvl5pPr>
              <a:defRPr sz="2100" b="0">
                <a:solidFill>
                  <a:srgbClr val="202B33"/>
                </a:solidFill>
                <a:latin typeface="Arial"/>
                <a:ea typeface="Arial"/>
                <a:cs typeface="Arial"/>
              </a:defRPr>
            </a:lvl5pPr>
            <a:lvl6pPr>
              <a:defRPr sz="2100" b="0">
                <a:solidFill>
                  <a:srgbClr val="202B33"/>
                </a:solidFill>
                <a:latin typeface="Arial"/>
                <a:ea typeface="Arial"/>
                <a:cs typeface="Arial"/>
              </a:defRPr>
            </a:lvl6pPr>
            <a:lvl7pPr>
              <a:defRPr sz="2100" b="0">
                <a:solidFill>
                  <a:srgbClr val="202B33"/>
                </a:solidFill>
                <a:latin typeface="Arial"/>
                <a:ea typeface="Arial"/>
                <a:cs typeface="Arial"/>
              </a:defRPr>
            </a:lvl7pPr>
            <a:lvl8pPr>
              <a:defRPr sz="2100" b="0">
                <a:solidFill>
                  <a:srgbClr val="202B33"/>
                </a:solidFill>
                <a:latin typeface="Arial"/>
                <a:ea typeface="Arial"/>
                <a:cs typeface="Arial"/>
              </a:defRPr>
            </a:lvl8pPr>
            <a:lvl9pPr>
              <a:defRPr sz="2100" b="0">
                <a:solidFill>
                  <a:srgbClr val="202B33"/>
                </a:solidFill>
                <a:latin typeface="Arial"/>
                <a:ea typeface="Arial"/>
                <a:cs typeface="Arial"/>
              </a:defRPr>
            </a:lvl9pPr>
          </a:lstStyle>
          <a:p xmlns:a="http://schemas.openxmlformats.org/drawingml/2006/main">
            <a:pPr>
              <a:defRPr sz="2100" b="0">
                <a:solidFill>
                  <a:srgbClr val="202B33"/>
                </a:solidFill>
                <a:latin typeface="Arial"/>
                <a:ea typeface="Arial"/>
                <a:cs typeface="Arial"/>
              </a:defRPr>
            </a:pPr>
            <a:r>
              <a:rPr sz="2100" b="0">
                <a:solidFill>
                  <a:srgbClr val="202B33"/>
                </a:solidFill>
                <a:latin typeface="Arial"/>
                <a:ea typeface="Arial"/>
                <a:cs typeface="Arial"/>
              </a:rPr>
              <a:t>Montag, 16:00 Uhr · Raum 02.11.018</a:t>
            </a:r>
          </a:p>
        </p:txBody>
      </p:sp>
      <p:sp>
        <p:nvSpPr>
          <p:cNvPr id="7" name="">
            <a:extLst xmlns:a="http://schemas.openxmlformats.org/drawingml/2006/main">
              <a:ext uri="{FF2B5EF4-FFF2-40B4-BE49-F238E27FC236}">
                <a16:creationId xmlns:a16="http://schemas.microsoft.com/office/drawing/2014/main" id="{C0E2EC36-4AD0-481C-8B83-0EEC10713C6A}"/>
              </a:ext>
            </a:extLst>
          </p:cNvPr>
          <p:cNvSpPr>
            <a:spLocks xmlns:a="http://schemas.openxmlformats.org/drawingml/2006/main" noGrp="1"/>
          </p:cNvSpPr>
          <p:nvPr/>
        </p:nvSpPr>
        <p:spPr>
          <a:xfrm xmlns:a="http://schemas.openxmlformats.org/drawingml/2006/main">
            <a:off x="609600" y="5086350"/>
            <a:ext cx="723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02B33"/>
                </a:solidFill>
                <a:latin typeface="Arial"/>
                <a:ea typeface="Arial"/>
                <a:cs typeface="Arial"/>
              </a:defRPr>
            </a:defPPr>
            <a:lvl1pPr>
              <a:defRPr sz="2100" b="0">
                <a:solidFill>
                  <a:srgbClr val="202B33"/>
                </a:solidFill>
                <a:latin typeface="Arial"/>
                <a:ea typeface="Arial"/>
                <a:cs typeface="Arial"/>
              </a:defRPr>
            </a:lvl1pPr>
            <a:lvl2pPr>
              <a:defRPr sz="2100" b="0">
                <a:solidFill>
                  <a:srgbClr val="202B33"/>
                </a:solidFill>
                <a:latin typeface="Arial"/>
                <a:ea typeface="Arial"/>
                <a:cs typeface="Arial"/>
              </a:defRPr>
            </a:lvl2pPr>
            <a:lvl3pPr>
              <a:defRPr sz="2100" b="0">
                <a:solidFill>
                  <a:srgbClr val="202B33"/>
                </a:solidFill>
                <a:latin typeface="Arial"/>
                <a:ea typeface="Arial"/>
                <a:cs typeface="Arial"/>
              </a:defRPr>
            </a:lvl3pPr>
            <a:lvl4pPr>
              <a:defRPr sz="2100" b="0">
                <a:solidFill>
                  <a:srgbClr val="202B33"/>
                </a:solidFill>
                <a:latin typeface="Arial"/>
                <a:ea typeface="Arial"/>
                <a:cs typeface="Arial"/>
              </a:defRPr>
            </a:lvl4pPr>
            <a:lvl5pPr>
              <a:defRPr sz="2100" b="0">
                <a:solidFill>
                  <a:srgbClr val="202B33"/>
                </a:solidFill>
                <a:latin typeface="Arial"/>
                <a:ea typeface="Arial"/>
                <a:cs typeface="Arial"/>
              </a:defRPr>
            </a:lvl5pPr>
            <a:lvl6pPr>
              <a:defRPr sz="2100" b="0">
                <a:solidFill>
                  <a:srgbClr val="202B33"/>
                </a:solidFill>
                <a:latin typeface="Arial"/>
                <a:ea typeface="Arial"/>
                <a:cs typeface="Arial"/>
              </a:defRPr>
            </a:lvl6pPr>
            <a:lvl7pPr>
              <a:defRPr sz="2100" b="0">
                <a:solidFill>
                  <a:srgbClr val="202B33"/>
                </a:solidFill>
                <a:latin typeface="Arial"/>
                <a:ea typeface="Arial"/>
                <a:cs typeface="Arial"/>
              </a:defRPr>
            </a:lvl7pPr>
            <a:lvl8pPr>
              <a:defRPr sz="2100" b="0">
                <a:solidFill>
                  <a:srgbClr val="202B33"/>
                </a:solidFill>
                <a:latin typeface="Arial"/>
                <a:ea typeface="Arial"/>
                <a:cs typeface="Arial"/>
              </a:defRPr>
            </a:lvl8pPr>
            <a:lvl9pPr>
              <a:defRPr sz="2100" b="0">
                <a:solidFill>
                  <a:srgbClr val="202B33"/>
                </a:solidFill>
                <a:latin typeface="Arial"/>
                <a:ea typeface="Arial"/>
                <a:cs typeface="Arial"/>
              </a:defRPr>
            </a:lvl9pPr>
          </a:lstStyle>
          <a:p xmlns:a="http://schemas.openxmlformats.org/drawingml/2006/main">
            <a:pPr>
              <a:defRPr sz="2100" b="0">
                <a:solidFill>
                  <a:srgbClr val="202B33"/>
                </a:solidFill>
                <a:latin typeface="Arial"/>
                <a:ea typeface="Arial"/>
                <a:cs typeface="Arial"/>
              </a:defRPr>
            </a:pPr>
            <a:r>
              <a:rPr sz="2100" b="0">
                <a:solidFill>
                  <a:srgbClr val="202B33"/>
                </a:solidFill>
                <a:latin typeface="Arial"/>
                <a:ea typeface="Arial"/>
                <a:cs typeface="Arial"/>
              </a:rPr>
              <a:t>Mittwoch, 08:00 Uhr · Raum 02.09.014</a:t>
            </a:r>
          </a:p>
        </p:txBody>
      </p:sp>
      <p:pic>
        <p:nvPicPr>
          <p:cNvPr id="8" name="">
            <a:extLst xmlns:a="http://schemas.openxmlformats.org/drawingml/2006/main">
              <a:ext uri="{FF2B5EF4-FFF2-40B4-BE49-F238E27FC236}">
                <a16:creationId xmlns:a16="http://schemas.microsoft.com/office/drawing/2014/main" id="{4987EA5A-04E0-4D8A-BC92-339605494D31}"/>
              </a:ext>
            </a:extLst>
          </p:cNvPr>
          <p:cNvPicPr>
            <a:picLocks xmlns:a="http://schemas.openxmlformats.org/drawingml/2006/main" noChangeAspect="1"/>
          </p:cNvPicPr>
          <p:nvPr/>
        </p:nvPicPr>
        <p:blipFill>
          <a:blip xmlns:r="http://schemas.openxmlformats.org/officeDocument/2006/relationships" xmlns:a="http://schemas.openxmlformats.org/drawingml/2006/main" r:embed="Ra6329462269f407e"/>
          <a:stretch xmlns:a="http://schemas.openxmlformats.org/drawingml/2006/main"/>
        </p:blipFill>
        <p:spPr>
          <a:xfrm xmlns:a="http://schemas.openxmlformats.org/drawingml/2006/main">
            <a:off x="8524875" y="2943225"/>
            <a:ext cx="2381250" cy="238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6C360E5-50CA-4ADB-9894-8CAB4AA28FE3}"/>
              </a:ext>
            </a:extLst>
          </p:cNvPr>
          <p:cNvSpPr>
            <a:spLocks xmlns:a="http://schemas.openxmlformats.org/drawingml/2006/main" noGrp="1"/>
          </p:cNvSpPr>
          <p:nvPr/>
        </p:nvSpPr>
        <p:spPr>
          <a:xfrm xmlns:a="http://schemas.openxmlformats.org/drawingml/2006/main">
            <a:off x="8010525" y="5476875"/>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5293"/>
                </a:solidFill>
                <a:latin typeface="Arial"/>
                <a:ea typeface="Arial"/>
                <a:cs typeface="Arial"/>
              </a:defRPr>
            </a:defPPr>
            <a:lvl1pPr>
              <a:defRPr sz="1950" b="1">
                <a:solidFill>
                  <a:srgbClr val="005293"/>
                </a:solidFill>
                <a:latin typeface="Arial"/>
                <a:ea typeface="Arial"/>
                <a:cs typeface="Arial"/>
              </a:defRPr>
            </a:lvl1pPr>
            <a:lvl2pPr>
              <a:defRPr sz="1950" b="1">
                <a:solidFill>
                  <a:srgbClr val="005293"/>
                </a:solidFill>
                <a:latin typeface="Arial"/>
                <a:ea typeface="Arial"/>
                <a:cs typeface="Arial"/>
              </a:defRPr>
            </a:lvl2pPr>
            <a:lvl3pPr>
              <a:defRPr sz="1950" b="1">
                <a:solidFill>
                  <a:srgbClr val="005293"/>
                </a:solidFill>
                <a:latin typeface="Arial"/>
                <a:ea typeface="Arial"/>
                <a:cs typeface="Arial"/>
              </a:defRPr>
            </a:lvl3pPr>
            <a:lvl4pPr>
              <a:defRPr sz="1950" b="1">
                <a:solidFill>
                  <a:srgbClr val="005293"/>
                </a:solidFill>
                <a:latin typeface="Arial"/>
                <a:ea typeface="Arial"/>
                <a:cs typeface="Arial"/>
              </a:defRPr>
            </a:lvl4pPr>
            <a:lvl5pPr>
              <a:defRPr sz="1950" b="1">
                <a:solidFill>
                  <a:srgbClr val="005293"/>
                </a:solidFill>
                <a:latin typeface="Arial"/>
                <a:ea typeface="Arial"/>
                <a:cs typeface="Arial"/>
              </a:defRPr>
            </a:lvl5pPr>
            <a:lvl6pPr>
              <a:defRPr sz="1950" b="1">
                <a:solidFill>
                  <a:srgbClr val="005293"/>
                </a:solidFill>
                <a:latin typeface="Arial"/>
                <a:ea typeface="Arial"/>
                <a:cs typeface="Arial"/>
              </a:defRPr>
            </a:lvl6pPr>
            <a:lvl7pPr>
              <a:defRPr sz="1950" b="1">
                <a:solidFill>
                  <a:srgbClr val="005293"/>
                </a:solidFill>
                <a:latin typeface="Arial"/>
                <a:ea typeface="Arial"/>
                <a:cs typeface="Arial"/>
              </a:defRPr>
            </a:lvl7pPr>
            <a:lvl8pPr>
              <a:defRPr sz="1950" b="1">
                <a:solidFill>
                  <a:srgbClr val="005293"/>
                </a:solidFill>
                <a:latin typeface="Arial"/>
                <a:ea typeface="Arial"/>
                <a:cs typeface="Arial"/>
              </a:defRPr>
            </a:lvl8pPr>
            <a:lvl9pPr>
              <a:defRPr sz="1950" b="1">
                <a:solidFill>
                  <a:srgbClr val="005293"/>
                </a:solidFill>
                <a:latin typeface="Arial"/>
                <a:ea typeface="Arial"/>
                <a:cs typeface="Arial"/>
              </a:defRPr>
            </a:lvl9pPr>
          </a:lstStyle>
          <a:p xmlns:a="http://schemas.openxmlformats.org/drawingml/2006/main">
            <a:pPr>
              <a:defRPr sz="1950" b="1">
                <a:solidFill>
                  <a:srgbClr val="005293"/>
                </a:solidFill>
                <a:latin typeface="Arial"/>
                <a:ea typeface="Arial"/>
                <a:cs typeface="Arial"/>
              </a:defRPr>
            </a:pPr>
            <a:r>
              <a:rPr sz="1950" b="1">
                <a:solidFill>
                  <a:srgbClr val="005293"/>
                </a:solidFill>
                <a:latin typeface="Arial"/>
                <a:ea typeface="Arial"/>
                <a:cs typeface="Arial"/>
              </a:rPr>
              <a:t>Folien und Materialien</a:t>
            </a:r>
          </a:p>
        </p:txBody>
      </p:sp>
      <p:sp>
        <p:nvSpPr>
          <p:cNvPr id="10" name="">
            <a:extLst xmlns:a="http://schemas.openxmlformats.org/drawingml/2006/main">
              <a:ext uri="{FF2B5EF4-FFF2-40B4-BE49-F238E27FC236}">
                <a16:creationId xmlns:a16="http://schemas.microsoft.com/office/drawing/2014/main" id="{5781187D-8890-4FDD-8A48-F38201A4EC41}"/>
              </a:ext>
            </a:extLst>
          </p:cNvPr>
          <p:cNvSpPr>
            <a:spLocks xmlns:a="http://schemas.openxmlformats.org/drawingml/2006/main" noGrp="1"/>
          </p:cNvSpPr>
          <p:nvPr/>
        </p:nvSpPr>
        <p:spPr>
          <a:xfrm xmlns:a="http://schemas.openxmlformats.org/drawingml/2006/main">
            <a:off x="609600" y="63150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005293"/>
                </a:solidFill>
                <a:latin typeface="Arial"/>
                <a:ea typeface="Arial"/>
                <a:cs typeface="Arial"/>
              </a:defRPr>
            </a:defPPr>
            <a:lvl1pPr>
              <a:defRPr sz="1575" b="0">
                <a:solidFill>
                  <a:srgbClr val="005293"/>
                </a:solidFill>
                <a:latin typeface="Arial"/>
                <a:ea typeface="Arial"/>
                <a:cs typeface="Arial"/>
              </a:defRPr>
            </a:lvl1pPr>
            <a:lvl2pPr>
              <a:defRPr sz="1575" b="0">
                <a:solidFill>
                  <a:srgbClr val="005293"/>
                </a:solidFill>
                <a:latin typeface="Arial"/>
                <a:ea typeface="Arial"/>
                <a:cs typeface="Arial"/>
              </a:defRPr>
            </a:lvl2pPr>
            <a:lvl3pPr>
              <a:defRPr sz="1575" b="0">
                <a:solidFill>
                  <a:srgbClr val="005293"/>
                </a:solidFill>
                <a:latin typeface="Arial"/>
                <a:ea typeface="Arial"/>
                <a:cs typeface="Arial"/>
              </a:defRPr>
            </a:lvl3pPr>
            <a:lvl4pPr>
              <a:defRPr sz="1575" b="0">
                <a:solidFill>
                  <a:srgbClr val="005293"/>
                </a:solidFill>
                <a:latin typeface="Arial"/>
                <a:ea typeface="Arial"/>
                <a:cs typeface="Arial"/>
              </a:defRPr>
            </a:lvl4pPr>
            <a:lvl5pPr>
              <a:defRPr sz="1575" b="0">
                <a:solidFill>
                  <a:srgbClr val="005293"/>
                </a:solidFill>
                <a:latin typeface="Arial"/>
                <a:ea typeface="Arial"/>
                <a:cs typeface="Arial"/>
              </a:defRPr>
            </a:lvl5pPr>
            <a:lvl6pPr>
              <a:defRPr sz="1575" b="0">
                <a:solidFill>
                  <a:srgbClr val="005293"/>
                </a:solidFill>
                <a:latin typeface="Arial"/>
                <a:ea typeface="Arial"/>
                <a:cs typeface="Arial"/>
              </a:defRPr>
            </a:lvl6pPr>
            <a:lvl7pPr>
              <a:defRPr sz="1575" b="0">
                <a:solidFill>
                  <a:srgbClr val="005293"/>
                </a:solidFill>
                <a:latin typeface="Arial"/>
                <a:ea typeface="Arial"/>
                <a:cs typeface="Arial"/>
              </a:defRPr>
            </a:lvl7pPr>
            <a:lvl8pPr>
              <a:defRPr sz="1575" b="0">
                <a:solidFill>
                  <a:srgbClr val="005293"/>
                </a:solidFill>
                <a:latin typeface="Arial"/>
                <a:ea typeface="Arial"/>
                <a:cs typeface="Arial"/>
              </a:defRPr>
            </a:lvl8pPr>
            <a:lvl9pPr>
              <a:defRPr sz="1575" b="0">
                <a:solidFill>
                  <a:srgbClr val="005293"/>
                </a:solidFill>
                <a:latin typeface="Arial"/>
                <a:ea typeface="Arial"/>
                <a:cs typeface="Arial"/>
              </a:defRPr>
            </a:lvl9pPr>
          </a:lstStyle>
          <a:p xmlns:a="http://schemas.openxmlformats.org/drawingml/2006/main">
            <a:pPr>
              <a:defRPr sz="1575" b="0">
                <a:solidFill>
                  <a:srgbClr val="005293"/>
                </a:solidFill>
                <a:latin typeface="Arial"/>
                <a:ea typeface="Arial"/>
                <a:cs typeface="Arial"/>
              </a:defRPr>
            </a:pPr>
            <a:r>
              <a:rPr sz="1575" b="0">
                <a:solidFill>
                  <a:srgbClr val="005293"/>
                </a:solidFill>
                <a:latin typeface="Arial"/>
                <a:ea typeface="Arial"/>
                <a:cs typeface="Arial"/>
                <a:hlinkClick xmlns:r="http://schemas.openxmlformats.org/officeDocument/2006/relationships" r:id="R2c4f3472e1cf469a"/>
              </a:rPr>
              <a:t>github.com/IlyaKats2005/GDB_2026-2027_Tutorium</a:t>
            </a:r>
          </a:p>
        </p:txBody>
      </p:sp>
    </p:spTree>
    <p:extLst>
      <p:ext uri="{BB962C8B-B14F-4D97-AF65-F5344CB8AC3E}">
        <p14:creationId xmlns:p14="http://schemas.microsoft.com/office/powerpoint/2010/main" val="92944369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1CEF341-8E52-41D7-AC32-60CFB1D10B54}"/>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Relation und Relationenschema</a:t>
            </a:r>
          </a:p>
        </p:txBody>
      </p:sp>
      <p:sp>
        <p:nvSpPr>
          <p:cNvPr id="2" name="">
            <a:extLst xmlns:a="http://schemas.openxmlformats.org/drawingml/2006/main">
              <a:ext uri="{FF2B5EF4-FFF2-40B4-BE49-F238E27FC236}">
                <a16:creationId xmlns:a16="http://schemas.microsoft.com/office/drawing/2014/main" id="{7ADBA916-60B7-4DE7-BA51-613C28557ABC}"/>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4118EC73-8532-4504-B20F-93F93F76EB6E}"/>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2</a:t>
            </a:r>
          </a:p>
        </p:txBody>
      </p:sp>
      <p:sp>
        <p:nvSpPr>
          <p:cNvPr id="4" name="">
            <a:extLst xmlns:a="http://schemas.openxmlformats.org/drawingml/2006/main">
              <a:ext uri="{FF2B5EF4-FFF2-40B4-BE49-F238E27FC236}">
                <a16:creationId xmlns:a16="http://schemas.microsoft.com/office/drawing/2014/main" id="{B2D68561-D5DB-47F8-9304-D1A2FE3DB730}"/>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5–9</a:t>
            </a:r>
          </a:p>
        </p:txBody>
      </p:sp>
      <p:sp>
        <p:nvSpPr>
          <p:cNvPr id="5" name="">
            <a:extLst xmlns:a="http://schemas.openxmlformats.org/drawingml/2006/main">
              <a:ext uri="{FF2B5EF4-FFF2-40B4-BE49-F238E27FC236}">
                <a16:creationId xmlns:a16="http://schemas.microsoft.com/office/drawing/2014/main" id="{D460E38A-5057-4AF7-91F7-EBFD963D63F1}"/>
              </a:ext>
            </a:extLst>
          </p:cNvPr>
          <p:cNvSpPr>
            <a:spLocks xmlns:a="http://schemas.openxmlformats.org/drawingml/2006/main" noGrp="1"/>
          </p:cNvSpPr>
          <p:nvPr/>
        </p:nvSpPr>
        <p:spPr>
          <a:xfrm xmlns:a="http://schemas.openxmlformats.org/drawingml/2006/main">
            <a:off x="609600" y="142875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Relationenschema: die Struktur</a:t>
            </a:r>
          </a:p>
        </p:txBody>
      </p:sp>
      <p:sp>
        <p:nvSpPr>
          <p:cNvPr id="6" name="">
            <a:extLst xmlns:a="http://schemas.openxmlformats.org/drawingml/2006/main">
              <a:ext uri="{FF2B5EF4-FFF2-40B4-BE49-F238E27FC236}">
                <a16:creationId xmlns:a16="http://schemas.microsoft.com/office/drawing/2014/main" id="{6F1D9B99-2E38-4374-AD49-A8D5A22B6193}"/>
              </a:ext>
            </a:extLst>
          </p:cNvPr>
          <p:cNvSpPr>
            <a:spLocks xmlns:a="http://schemas.openxmlformats.org/drawingml/2006/main" noGrp="1"/>
          </p:cNvSpPr>
          <p:nvPr/>
        </p:nvSpPr>
        <p:spPr>
          <a:xfrm xmlns:a="http://schemas.openxmlformats.org/drawingml/2006/main">
            <a:off x="609600" y="19240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02B33"/>
                </a:solidFill>
                <a:latin typeface="Arial"/>
                <a:ea typeface="Arial"/>
                <a:cs typeface="Arial"/>
              </a:defRPr>
            </a:defPPr>
            <a:lvl1pPr>
              <a:defRPr sz="2100" b="0">
                <a:solidFill>
                  <a:srgbClr val="202B33"/>
                </a:solidFill>
                <a:latin typeface="Arial"/>
                <a:ea typeface="Arial"/>
                <a:cs typeface="Arial"/>
              </a:defRPr>
            </a:lvl1pPr>
            <a:lvl2pPr>
              <a:defRPr sz="2100" b="0">
                <a:solidFill>
                  <a:srgbClr val="202B33"/>
                </a:solidFill>
                <a:latin typeface="Arial"/>
                <a:ea typeface="Arial"/>
                <a:cs typeface="Arial"/>
              </a:defRPr>
            </a:lvl2pPr>
            <a:lvl3pPr>
              <a:defRPr sz="2100" b="0">
                <a:solidFill>
                  <a:srgbClr val="202B33"/>
                </a:solidFill>
                <a:latin typeface="Arial"/>
                <a:ea typeface="Arial"/>
                <a:cs typeface="Arial"/>
              </a:defRPr>
            </a:lvl3pPr>
            <a:lvl4pPr>
              <a:defRPr sz="2100" b="0">
                <a:solidFill>
                  <a:srgbClr val="202B33"/>
                </a:solidFill>
                <a:latin typeface="Arial"/>
                <a:ea typeface="Arial"/>
                <a:cs typeface="Arial"/>
              </a:defRPr>
            </a:lvl4pPr>
            <a:lvl5pPr>
              <a:defRPr sz="2100" b="0">
                <a:solidFill>
                  <a:srgbClr val="202B33"/>
                </a:solidFill>
                <a:latin typeface="Arial"/>
                <a:ea typeface="Arial"/>
                <a:cs typeface="Arial"/>
              </a:defRPr>
            </a:lvl5pPr>
            <a:lvl6pPr>
              <a:defRPr sz="2100" b="0">
                <a:solidFill>
                  <a:srgbClr val="202B33"/>
                </a:solidFill>
                <a:latin typeface="Arial"/>
                <a:ea typeface="Arial"/>
                <a:cs typeface="Arial"/>
              </a:defRPr>
            </a:lvl6pPr>
            <a:lvl7pPr>
              <a:defRPr sz="2100" b="0">
                <a:solidFill>
                  <a:srgbClr val="202B33"/>
                </a:solidFill>
                <a:latin typeface="Arial"/>
                <a:ea typeface="Arial"/>
                <a:cs typeface="Arial"/>
              </a:defRPr>
            </a:lvl7pPr>
            <a:lvl8pPr>
              <a:defRPr sz="2100" b="0">
                <a:solidFill>
                  <a:srgbClr val="202B33"/>
                </a:solidFill>
                <a:latin typeface="Arial"/>
                <a:ea typeface="Arial"/>
                <a:cs typeface="Arial"/>
              </a:defRPr>
            </a:lvl8pPr>
            <a:lvl9pPr>
              <a:defRPr sz="2100" b="0">
                <a:solidFill>
                  <a:srgbClr val="202B33"/>
                </a:solidFill>
                <a:latin typeface="Arial"/>
                <a:ea typeface="Arial"/>
                <a:cs typeface="Arial"/>
              </a:defRPr>
            </a:lvl9pPr>
          </a:lstStyle>
          <a:p xmlns:a="http://schemas.openxmlformats.org/drawingml/2006/main">
            <a:pPr>
              <a:defRPr sz="2100" b="0">
                <a:solidFill>
                  <a:srgbClr val="202B33"/>
                </a:solidFill>
                <a:latin typeface="Arial"/>
                <a:ea typeface="Arial"/>
                <a:cs typeface="Arial"/>
              </a:defRPr>
            </a:pPr>
            <a:r>
              <a:rPr sz="2100" b="0">
                <a:solidFill>
                  <a:srgbClr val="202B33"/>
                </a:solidFill>
                <a:latin typeface="Arial"/>
                <a:ea typeface="Arial"/>
                <a:cs typeface="Arial"/>
              </a:rPr>
              <a:t>Name der Relation, Attributnamen und zugehörige Domänen.</a:t>
            </a:r>
          </a:p>
        </p:txBody>
      </p:sp>
      <p:sp>
        <p:nvSpPr>
          <p:cNvPr id="7" name="">
            <a:extLst xmlns:a="http://schemas.openxmlformats.org/drawingml/2006/main">
              <a:ext uri="{FF2B5EF4-FFF2-40B4-BE49-F238E27FC236}">
                <a16:creationId xmlns:a16="http://schemas.microsoft.com/office/drawing/2014/main" id="{C313C010-3A41-4FFD-9C7E-CD0101DB6A13}"/>
              </a:ext>
            </a:extLst>
          </p:cNvPr>
          <p:cNvSpPr>
            <a:spLocks xmlns:a="http://schemas.openxmlformats.org/drawingml/2006/main" noGrp="1"/>
          </p:cNvSpPr>
          <p:nvPr/>
        </p:nvSpPr>
        <p:spPr>
          <a:xfrm xmlns:a="http://schemas.openxmlformats.org/drawingml/2006/main">
            <a:off x="609600" y="24003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005293"/>
                </a:solidFill>
                <a:latin typeface="Arial"/>
                <a:ea typeface="Arial"/>
                <a:cs typeface="Arial"/>
              </a:defRPr>
            </a:defPPr>
            <a:lvl1pPr>
              <a:defRPr sz="2025" b="0">
                <a:solidFill>
                  <a:srgbClr val="005293"/>
                </a:solidFill>
                <a:latin typeface="Arial"/>
                <a:ea typeface="Arial"/>
                <a:cs typeface="Arial"/>
              </a:defRPr>
            </a:lvl1pPr>
            <a:lvl2pPr>
              <a:defRPr sz="2025" b="0">
                <a:solidFill>
                  <a:srgbClr val="005293"/>
                </a:solidFill>
                <a:latin typeface="Arial"/>
                <a:ea typeface="Arial"/>
                <a:cs typeface="Arial"/>
              </a:defRPr>
            </a:lvl2pPr>
            <a:lvl3pPr>
              <a:defRPr sz="2025" b="0">
                <a:solidFill>
                  <a:srgbClr val="005293"/>
                </a:solidFill>
                <a:latin typeface="Arial"/>
                <a:ea typeface="Arial"/>
                <a:cs typeface="Arial"/>
              </a:defRPr>
            </a:lvl3pPr>
            <a:lvl4pPr>
              <a:defRPr sz="2025" b="0">
                <a:solidFill>
                  <a:srgbClr val="005293"/>
                </a:solidFill>
                <a:latin typeface="Arial"/>
                <a:ea typeface="Arial"/>
                <a:cs typeface="Arial"/>
              </a:defRPr>
            </a:lvl4pPr>
            <a:lvl5pPr>
              <a:defRPr sz="2025" b="0">
                <a:solidFill>
                  <a:srgbClr val="005293"/>
                </a:solidFill>
                <a:latin typeface="Arial"/>
                <a:ea typeface="Arial"/>
                <a:cs typeface="Arial"/>
              </a:defRPr>
            </a:lvl5pPr>
            <a:lvl6pPr>
              <a:defRPr sz="2025" b="0">
                <a:solidFill>
                  <a:srgbClr val="005293"/>
                </a:solidFill>
                <a:latin typeface="Arial"/>
                <a:ea typeface="Arial"/>
                <a:cs typeface="Arial"/>
              </a:defRPr>
            </a:lvl6pPr>
            <a:lvl7pPr>
              <a:defRPr sz="2025" b="0">
                <a:solidFill>
                  <a:srgbClr val="005293"/>
                </a:solidFill>
                <a:latin typeface="Arial"/>
                <a:ea typeface="Arial"/>
                <a:cs typeface="Arial"/>
              </a:defRPr>
            </a:lvl7pPr>
            <a:lvl8pPr>
              <a:defRPr sz="2025" b="0">
                <a:solidFill>
                  <a:srgbClr val="005293"/>
                </a:solidFill>
                <a:latin typeface="Arial"/>
                <a:ea typeface="Arial"/>
                <a:cs typeface="Arial"/>
              </a:defRPr>
            </a:lvl8pPr>
            <a:lvl9pPr>
              <a:defRPr sz="2025" b="0">
                <a:solidFill>
                  <a:srgbClr val="005293"/>
                </a:solidFill>
                <a:latin typeface="Arial"/>
                <a:ea typeface="Arial"/>
                <a:cs typeface="Arial"/>
              </a:defRPr>
            </a:lvl9pPr>
          </a:lstStyle>
          <a:p xmlns:a="http://schemas.openxmlformats.org/drawingml/2006/main">
            <a:pPr>
              <a:defRPr sz="2025" b="0">
                <a:solidFill>
                  <a:srgbClr val="005293"/>
                </a:solidFill>
                <a:latin typeface="Arial"/>
                <a:ea typeface="Arial"/>
                <a:cs typeface="Arial"/>
              </a:defRPr>
            </a:pPr>
            <a:r>
              <a:rPr sz="2025" b="0">
                <a:solidFill>
                  <a:srgbClr val="005293"/>
                </a:solidFill>
                <a:latin typeface="Arial"/>
                <a:ea typeface="Arial"/>
                <a:cs typeface="Arial"/>
              </a:rPr>
              <a:t>Studenten(MatrNr: integer, Name: string, Semester: integer)</a:t>
            </a:r>
          </a:p>
        </p:txBody>
      </p:sp>
      <p:sp>
        <p:nvSpPr>
          <p:cNvPr id="8" name="">
            <a:extLst xmlns:a="http://schemas.openxmlformats.org/drawingml/2006/main">
              <a:ext uri="{FF2B5EF4-FFF2-40B4-BE49-F238E27FC236}">
                <a16:creationId xmlns:a16="http://schemas.microsoft.com/office/drawing/2014/main" id="{A2BD06D3-F464-472D-BDAF-1046C72FDA61}"/>
              </a:ext>
            </a:extLst>
          </p:cNvPr>
          <p:cNvSpPr>
            <a:spLocks xmlns:a="http://schemas.openxmlformats.org/drawingml/2006/main" noGrp="1"/>
          </p:cNvSpPr>
          <p:nvPr/>
        </p:nvSpPr>
        <p:spPr>
          <a:xfrm xmlns:a="http://schemas.openxmlformats.org/drawingml/2006/main">
            <a:off x="609600" y="32575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Relation (Instanz): der aktuelle Inhalt</a:t>
            </a:r>
          </a:p>
        </p:txBody>
      </p:sp>
      <p:graphicFrame>
        <p:nvGraphicFramePr>
          <p:cNvPr id="9" name="">
            <a:extLst xmlns:a="http://schemas.openxmlformats.org/drawingml/2006/main">
              <a:ext uri="{FF2B5EF4-FFF2-40B4-BE49-F238E27FC236}">
                <a16:creationId xmlns:a16="http://schemas.microsoft.com/office/drawing/2014/main" id="{B1AEFFB8-744E-48F4-AA38-A7D87087BC85}"/>
              </a:ext>
            </a:extLst>
          </p:cNvPr>
          <p:cNvGraphicFramePr/>
          <p:nvPr/>
        </p:nvGraphicFramePr>
        <p:xfrm>
          <a:off xmlns:a="http://schemas.openxmlformats.org/drawingml/2006/main" x="609600" y="3743325"/>
          <a:ext xmlns:a="http://schemas.openxmlformats.org/drawingml/2006/main" cx="7239000" cy="1676400"/>
        </p:xfrm>
        <a:graphic xmlns:a="http://schemas.openxmlformats.org/drawingml/2006/main">
          <a:graphicData uri="http://schemas.openxmlformats.org/drawingml/2006/table">
            <a:tbl>
              <a:tblPr/>
              <a:tblGrid>
                <a:gridCol w="1714500"/>
                <a:gridCol w="3429000"/>
                <a:gridCol w="2095500"/>
              </a:tblGrid>
              <a:tr h="419100">
                <a:tc>
                  <a:txBody>
                    <a:bodyPr/>
                    <a:lstStyle/>
                    <a:p>
                      <a:r>
                        <a:rPr sz="1950" b="1">
                          <a:solidFill>
                            <a:srgbClr val="FFFFFF"/>
                          </a:solidFill>
                          <a:latin typeface="Arial"/>
                          <a:ea typeface="Arial"/>
                          <a:cs typeface="Arial"/>
                        </a:rPr>
                        <a:t>MatrNr</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Name</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Semester</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419100">
                <a:tc>
                  <a:txBody>
                    <a:bodyPr/>
                    <a:lstStyle/>
                    <a:p>
                      <a:r>
                        <a:rPr sz="1950" b="0">
                          <a:solidFill>
                            <a:srgbClr val="202B33"/>
                          </a:solidFill>
                          <a:latin typeface="Arial"/>
                          <a:ea typeface="Arial"/>
                          <a:cs typeface="Arial"/>
                        </a:rPr>
                        <a:t>24002</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Xenokrates</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18</a:t>
                      </a:r>
                    </a:p>
                  </a:txBody>
                  <a:tcPr marL="95250" marR="66675" marT="28575" marB="28575" anchor="ctr">
                    <a:lnR w="6668">
                      <a:solidFill>
                        <a:srgbClr val="CBD8E1"/>
                      </a:solidFill>
                    </a:lnR>
                    <a:lnB w="6668">
                      <a:solidFill>
                        <a:srgbClr val="CBD8E1"/>
                      </a:solidFill>
                    </a:lnB>
                    <a:solidFill>
                      <a:srgbClr val="FFFFFF"/>
                    </a:solidFill>
                  </a:tcPr>
                </a:tc>
              </a:tr>
              <a:tr h="419100">
                <a:tc>
                  <a:txBody>
                    <a:bodyPr/>
                    <a:lstStyle/>
                    <a:p>
                      <a:r>
                        <a:rPr sz="1950" b="0">
                          <a:solidFill>
                            <a:srgbClr val="202B33"/>
                          </a:solidFill>
                          <a:latin typeface="Arial"/>
                          <a:ea typeface="Arial"/>
                          <a:cs typeface="Arial"/>
                        </a:rPr>
                        <a:t>25403</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Jonas</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12</a:t>
                      </a:r>
                    </a:p>
                  </a:txBody>
                  <a:tcPr marL="95250" marR="66675" marT="28575" marB="28575" anchor="ctr">
                    <a:lnR w="6668">
                      <a:solidFill>
                        <a:srgbClr val="CBD8E1"/>
                      </a:solidFill>
                    </a:lnR>
                    <a:lnB w="6668">
                      <a:solidFill>
                        <a:srgbClr val="CBD8E1"/>
                      </a:solidFill>
                    </a:lnB>
                    <a:solidFill>
                      <a:srgbClr val="EDF4F9"/>
                    </a:solidFill>
                  </a:tcPr>
                </a:tc>
              </a:tr>
              <a:tr h="419100">
                <a:tc>
                  <a:txBody>
                    <a:bodyPr/>
                    <a:lstStyle/>
                    <a:p>
                      <a:r>
                        <a:rPr sz="1950" b="0">
                          <a:solidFill>
                            <a:srgbClr val="202B33"/>
                          </a:solidFill>
                          <a:latin typeface="Arial"/>
                          <a:ea typeface="Arial"/>
                          <a:cs typeface="Arial"/>
                        </a:rPr>
                        <a:t>26120</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Fichte</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10</a:t>
                      </a:r>
                    </a:p>
                  </a:txBody>
                  <a:tcPr marL="95250" marR="66675" marT="28575" marB="28575" anchor="ctr">
                    <a:lnR w="6668">
                      <a:solidFill>
                        <a:srgbClr val="CBD8E1"/>
                      </a:solidFill>
                    </a:lnR>
                    <a:lnB w="6668">
                      <a:solidFill>
                        <a:srgbClr val="CBD8E1"/>
                      </a:solidFill>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21E28DB3-6EF0-43F9-8A3D-5E75E4C6E7FE}"/>
              </a:ext>
            </a:extLst>
          </p:cNvPr>
          <p:cNvSpPr>
            <a:spLocks xmlns:a="http://schemas.openxmlformats.org/drawingml/2006/main" noGrp="1"/>
          </p:cNvSpPr>
          <p:nvPr/>
        </p:nvSpPr>
        <p:spPr>
          <a:xfrm xmlns:a="http://schemas.openxmlformats.org/drawingml/2006/main">
            <a:off x="609600" y="5686425"/>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B33"/>
                </a:solidFill>
                <a:latin typeface="Arial"/>
                <a:ea typeface="Arial"/>
                <a:cs typeface="Arial"/>
              </a:defRPr>
            </a:defPPr>
            <a:lvl1pPr>
              <a:defRPr sz="2025" b="0">
                <a:solidFill>
                  <a:srgbClr val="202B33"/>
                </a:solidFill>
                <a:latin typeface="Arial"/>
                <a:ea typeface="Arial"/>
                <a:cs typeface="Arial"/>
              </a:defRPr>
            </a:lvl1pPr>
            <a:lvl2pPr>
              <a:defRPr sz="2025" b="0">
                <a:solidFill>
                  <a:srgbClr val="202B33"/>
                </a:solidFill>
                <a:latin typeface="Arial"/>
                <a:ea typeface="Arial"/>
                <a:cs typeface="Arial"/>
              </a:defRPr>
            </a:lvl2pPr>
            <a:lvl3pPr>
              <a:defRPr sz="2025" b="0">
                <a:solidFill>
                  <a:srgbClr val="202B33"/>
                </a:solidFill>
                <a:latin typeface="Arial"/>
                <a:ea typeface="Arial"/>
                <a:cs typeface="Arial"/>
              </a:defRPr>
            </a:lvl3pPr>
            <a:lvl4pPr>
              <a:defRPr sz="2025" b="0">
                <a:solidFill>
                  <a:srgbClr val="202B33"/>
                </a:solidFill>
                <a:latin typeface="Arial"/>
                <a:ea typeface="Arial"/>
                <a:cs typeface="Arial"/>
              </a:defRPr>
            </a:lvl4pPr>
            <a:lvl5pPr>
              <a:defRPr sz="2025" b="0">
                <a:solidFill>
                  <a:srgbClr val="202B33"/>
                </a:solidFill>
                <a:latin typeface="Arial"/>
                <a:ea typeface="Arial"/>
                <a:cs typeface="Arial"/>
              </a:defRPr>
            </a:lvl5pPr>
            <a:lvl6pPr>
              <a:defRPr sz="2025" b="0">
                <a:solidFill>
                  <a:srgbClr val="202B33"/>
                </a:solidFill>
                <a:latin typeface="Arial"/>
                <a:ea typeface="Arial"/>
                <a:cs typeface="Arial"/>
              </a:defRPr>
            </a:lvl6pPr>
            <a:lvl7pPr>
              <a:defRPr sz="2025" b="0">
                <a:solidFill>
                  <a:srgbClr val="202B33"/>
                </a:solidFill>
                <a:latin typeface="Arial"/>
                <a:ea typeface="Arial"/>
                <a:cs typeface="Arial"/>
              </a:defRPr>
            </a:lvl7pPr>
            <a:lvl8pPr>
              <a:defRPr sz="2025" b="0">
                <a:solidFill>
                  <a:srgbClr val="202B33"/>
                </a:solidFill>
                <a:latin typeface="Arial"/>
                <a:ea typeface="Arial"/>
                <a:cs typeface="Arial"/>
              </a:defRPr>
            </a:lvl8pPr>
            <a:lvl9pPr>
              <a:defRPr sz="2025" b="0">
                <a:solidFill>
                  <a:srgbClr val="202B33"/>
                </a:solidFill>
                <a:latin typeface="Arial"/>
                <a:ea typeface="Arial"/>
                <a:cs typeface="Arial"/>
              </a:defRPr>
            </a:lvl9pPr>
          </a:lstStyle>
          <a:p xmlns:a="http://schemas.openxmlformats.org/drawingml/2006/main">
            <a:pPr>
              <a:defRPr sz="2025" b="0">
                <a:solidFill>
                  <a:srgbClr val="202B33"/>
                </a:solidFill>
                <a:latin typeface="Arial"/>
                <a:ea typeface="Arial"/>
                <a:cs typeface="Arial"/>
              </a:defRPr>
            </a:pPr>
            <a:r>
              <a:rPr sz="2025" b="0">
                <a:solidFill>
                  <a:srgbClr val="202B33"/>
                </a:solidFill>
                <a:latin typeface="Arial"/>
                <a:ea typeface="Arial"/>
                <a:cs typeface="Arial"/>
              </a:rPr>
              <a:t>Zeile = Tupel</a:t>
            </a:r>
          </a:p>
        </p:txBody>
      </p:sp>
      <p:sp>
        <p:nvSpPr>
          <p:cNvPr id="11" name="">
            <a:extLst xmlns:a="http://schemas.openxmlformats.org/drawingml/2006/main">
              <a:ext uri="{FF2B5EF4-FFF2-40B4-BE49-F238E27FC236}">
                <a16:creationId xmlns:a16="http://schemas.microsoft.com/office/drawing/2014/main" id="{A054B17A-8B1E-49AB-B61A-19CC4B491A5C}"/>
              </a:ext>
            </a:extLst>
          </p:cNvPr>
          <p:cNvSpPr>
            <a:spLocks xmlns:a="http://schemas.openxmlformats.org/drawingml/2006/main" noGrp="1"/>
          </p:cNvSpPr>
          <p:nvPr/>
        </p:nvSpPr>
        <p:spPr>
          <a:xfrm xmlns:a="http://schemas.openxmlformats.org/drawingml/2006/main">
            <a:off x="3619500" y="56864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B33"/>
                </a:solidFill>
                <a:latin typeface="Arial"/>
                <a:ea typeface="Arial"/>
                <a:cs typeface="Arial"/>
              </a:defRPr>
            </a:defPPr>
            <a:lvl1pPr>
              <a:defRPr sz="2025" b="0">
                <a:solidFill>
                  <a:srgbClr val="202B33"/>
                </a:solidFill>
                <a:latin typeface="Arial"/>
                <a:ea typeface="Arial"/>
                <a:cs typeface="Arial"/>
              </a:defRPr>
            </a:lvl1pPr>
            <a:lvl2pPr>
              <a:defRPr sz="2025" b="0">
                <a:solidFill>
                  <a:srgbClr val="202B33"/>
                </a:solidFill>
                <a:latin typeface="Arial"/>
                <a:ea typeface="Arial"/>
                <a:cs typeface="Arial"/>
              </a:defRPr>
            </a:lvl2pPr>
            <a:lvl3pPr>
              <a:defRPr sz="2025" b="0">
                <a:solidFill>
                  <a:srgbClr val="202B33"/>
                </a:solidFill>
                <a:latin typeface="Arial"/>
                <a:ea typeface="Arial"/>
                <a:cs typeface="Arial"/>
              </a:defRPr>
            </a:lvl3pPr>
            <a:lvl4pPr>
              <a:defRPr sz="2025" b="0">
                <a:solidFill>
                  <a:srgbClr val="202B33"/>
                </a:solidFill>
                <a:latin typeface="Arial"/>
                <a:ea typeface="Arial"/>
                <a:cs typeface="Arial"/>
              </a:defRPr>
            </a:lvl4pPr>
            <a:lvl5pPr>
              <a:defRPr sz="2025" b="0">
                <a:solidFill>
                  <a:srgbClr val="202B33"/>
                </a:solidFill>
                <a:latin typeface="Arial"/>
                <a:ea typeface="Arial"/>
                <a:cs typeface="Arial"/>
              </a:defRPr>
            </a:lvl5pPr>
            <a:lvl6pPr>
              <a:defRPr sz="2025" b="0">
                <a:solidFill>
                  <a:srgbClr val="202B33"/>
                </a:solidFill>
                <a:latin typeface="Arial"/>
                <a:ea typeface="Arial"/>
                <a:cs typeface="Arial"/>
              </a:defRPr>
            </a:lvl6pPr>
            <a:lvl7pPr>
              <a:defRPr sz="2025" b="0">
                <a:solidFill>
                  <a:srgbClr val="202B33"/>
                </a:solidFill>
                <a:latin typeface="Arial"/>
                <a:ea typeface="Arial"/>
                <a:cs typeface="Arial"/>
              </a:defRPr>
            </a:lvl7pPr>
            <a:lvl8pPr>
              <a:defRPr sz="2025" b="0">
                <a:solidFill>
                  <a:srgbClr val="202B33"/>
                </a:solidFill>
                <a:latin typeface="Arial"/>
                <a:ea typeface="Arial"/>
                <a:cs typeface="Arial"/>
              </a:defRPr>
            </a:lvl8pPr>
            <a:lvl9pPr>
              <a:defRPr sz="2025" b="0">
                <a:solidFill>
                  <a:srgbClr val="202B33"/>
                </a:solidFill>
                <a:latin typeface="Arial"/>
                <a:ea typeface="Arial"/>
                <a:cs typeface="Arial"/>
              </a:defRPr>
            </a:lvl9pPr>
          </a:lstStyle>
          <a:p xmlns:a="http://schemas.openxmlformats.org/drawingml/2006/main">
            <a:pPr>
              <a:defRPr sz="2025" b="0">
                <a:solidFill>
                  <a:srgbClr val="202B33"/>
                </a:solidFill>
                <a:latin typeface="Arial"/>
                <a:ea typeface="Arial"/>
                <a:cs typeface="Arial"/>
              </a:defRPr>
            </a:pPr>
            <a:r>
              <a:rPr sz="2025" b="0">
                <a:solidFill>
                  <a:srgbClr val="202B33"/>
                </a:solidFill>
                <a:latin typeface="Arial"/>
                <a:ea typeface="Arial"/>
                <a:cs typeface="Arial"/>
              </a:rPr>
              <a:t>Spalte = Attribut</a:t>
            </a:r>
          </a:p>
        </p:txBody>
      </p:sp>
      <p:sp>
        <p:nvSpPr>
          <p:cNvPr id="12" name="">
            <a:extLst xmlns:a="http://schemas.openxmlformats.org/drawingml/2006/main">
              <a:ext uri="{FF2B5EF4-FFF2-40B4-BE49-F238E27FC236}">
                <a16:creationId xmlns:a16="http://schemas.microsoft.com/office/drawing/2014/main" id="{AB7BCE0A-F613-4FC0-BD9C-FD56216FACF5}"/>
              </a:ext>
            </a:extLst>
          </p:cNvPr>
          <p:cNvSpPr>
            <a:spLocks xmlns:a="http://schemas.openxmlformats.org/drawingml/2006/main" noGrp="1"/>
          </p:cNvSpPr>
          <p:nvPr/>
        </p:nvSpPr>
        <p:spPr>
          <a:xfrm xmlns:a="http://schemas.openxmlformats.org/drawingml/2006/main">
            <a:off x="6953250" y="5686425"/>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B33"/>
                </a:solidFill>
                <a:latin typeface="Arial"/>
                <a:ea typeface="Arial"/>
                <a:cs typeface="Arial"/>
              </a:defRPr>
            </a:defPPr>
            <a:lvl1pPr>
              <a:defRPr sz="2025" b="0">
                <a:solidFill>
                  <a:srgbClr val="202B33"/>
                </a:solidFill>
                <a:latin typeface="Arial"/>
                <a:ea typeface="Arial"/>
                <a:cs typeface="Arial"/>
              </a:defRPr>
            </a:lvl1pPr>
            <a:lvl2pPr>
              <a:defRPr sz="2025" b="0">
                <a:solidFill>
                  <a:srgbClr val="202B33"/>
                </a:solidFill>
                <a:latin typeface="Arial"/>
                <a:ea typeface="Arial"/>
                <a:cs typeface="Arial"/>
              </a:defRPr>
            </a:lvl2pPr>
            <a:lvl3pPr>
              <a:defRPr sz="2025" b="0">
                <a:solidFill>
                  <a:srgbClr val="202B33"/>
                </a:solidFill>
                <a:latin typeface="Arial"/>
                <a:ea typeface="Arial"/>
                <a:cs typeface="Arial"/>
              </a:defRPr>
            </a:lvl3pPr>
            <a:lvl4pPr>
              <a:defRPr sz="2025" b="0">
                <a:solidFill>
                  <a:srgbClr val="202B33"/>
                </a:solidFill>
                <a:latin typeface="Arial"/>
                <a:ea typeface="Arial"/>
                <a:cs typeface="Arial"/>
              </a:defRPr>
            </a:lvl4pPr>
            <a:lvl5pPr>
              <a:defRPr sz="2025" b="0">
                <a:solidFill>
                  <a:srgbClr val="202B33"/>
                </a:solidFill>
                <a:latin typeface="Arial"/>
                <a:ea typeface="Arial"/>
                <a:cs typeface="Arial"/>
              </a:defRPr>
            </a:lvl5pPr>
            <a:lvl6pPr>
              <a:defRPr sz="2025" b="0">
                <a:solidFill>
                  <a:srgbClr val="202B33"/>
                </a:solidFill>
                <a:latin typeface="Arial"/>
                <a:ea typeface="Arial"/>
                <a:cs typeface="Arial"/>
              </a:defRPr>
            </a:lvl6pPr>
            <a:lvl7pPr>
              <a:defRPr sz="2025" b="0">
                <a:solidFill>
                  <a:srgbClr val="202B33"/>
                </a:solidFill>
                <a:latin typeface="Arial"/>
                <a:ea typeface="Arial"/>
                <a:cs typeface="Arial"/>
              </a:defRPr>
            </a:lvl7pPr>
            <a:lvl8pPr>
              <a:defRPr sz="2025" b="0">
                <a:solidFill>
                  <a:srgbClr val="202B33"/>
                </a:solidFill>
                <a:latin typeface="Arial"/>
                <a:ea typeface="Arial"/>
                <a:cs typeface="Arial"/>
              </a:defRPr>
            </a:lvl8pPr>
            <a:lvl9pPr>
              <a:defRPr sz="2025" b="0">
                <a:solidFill>
                  <a:srgbClr val="202B33"/>
                </a:solidFill>
                <a:latin typeface="Arial"/>
                <a:ea typeface="Arial"/>
                <a:cs typeface="Arial"/>
              </a:defRPr>
            </a:lvl9pPr>
          </a:lstStyle>
          <a:p xmlns:a="http://schemas.openxmlformats.org/drawingml/2006/main">
            <a:pPr>
              <a:defRPr sz="2025" b="0">
                <a:solidFill>
                  <a:srgbClr val="202B33"/>
                </a:solidFill>
                <a:latin typeface="Arial"/>
                <a:ea typeface="Arial"/>
                <a:cs typeface="Arial"/>
              </a:defRPr>
            </a:pPr>
            <a:r>
              <a:rPr sz="2025" b="0">
                <a:solidFill>
                  <a:srgbClr val="202B33"/>
                </a:solidFill>
                <a:latin typeface="Arial"/>
                <a:ea typeface="Arial"/>
                <a:cs typeface="Arial"/>
              </a:rPr>
              <a:t>|R| = Anzahl der Tupel</a:t>
            </a:r>
          </a:p>
        </p:txBody>
      </p:sp>
    </p:spTree>
    <p:extLst>
      <p:ext uri="{BB962C8B-B14F-4D97-AF65-F5344CB8AC3E}">
        <p14:creationId xmlns:p14="http://schemas.microsoft.com/office/powerpoint/2010/main" val="77033086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61A63C1-1C63-4467-887C-A7FCE32A0ED6}"/>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Domänen und kartesisches Produkt</a:t>
            </a:r>
          </a:p>
        </p:txBody>
      </p:sp>
      <p:sp>
        <p:nvSpPr>
          <p:cNvPr id="2" name="">
            <a:extLst xmlns:a="http://schemas.openxmlformats.org/drawingml/2006/main">
              <a:ext uri="{FF2B5EF4-FFF2-40B4-BE49-F238E27FC236}">
                <a16:creationId xmlns:a16="http://schemas.microsoft.com/office/drawing/2014/main" id="{262EEB77-D17E-4681-888E-90FCD021F556}"/>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AD942EC1-EAB9-4315-8AF8-358EAA0328AC}"/>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3</a:t>
            </a:r>
          </a:p>
        </p:txBody>
      </p:sp>
      <p:sp>
        <p:nvSpPr>
          <p:cNvPr id="4" name="">
            <a:extLst xmlns:a="http://schemas.openxmlformats.org/drawingml/2006/main">
              <a:ext uri="{FF2B5EF4-FFF2-40B4-BE49-F238E27FC236}">
                <a16:creationId xmlns:a16="http://schemas.microsoft.com/office/drawing/2014/main" id="{0F40DBF0-AA11-4579-9A4F-65A1E3ADCA10}"/>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7–8</a:t>
            </a:r>
          </a:p>
        </p:txBody>
      </p:sp>
      <p:sp>
        <p:nvSpPr>
          <p:cNvPr id="5" name="">
            <a:extLst xmlns:a="http://schemas.openxmlformats.org/drawingml/2006/main">
              <a:ext uri="{FF2B5EF4-FFF2-40B4-BE49-F238E27FC236}">
                <a16:creationId xmlns:a16="http://schemas.microsoft.com/office/drawing/2014/main" id="{FD8FE87B-CD9F-4E81-83A6-2449013364F4}"/>
              </a:ext>
            </a:extLst>
          </p:cNvPr>
          <p:cNvSpPr>
            <a:spLocks xmlns:a="http://schemas.openxmlformats.org/drawingml/2006/main" noGrp="1"/>
          </p:cNvSpPr>
          <p:nvPr/>
        </p:nvSpPr>
        <p:spPr>
          <a:xfrm xmlns:a="http://schemas.openxmlformats.org/drawingml/2006/main">
            <a:off x="609600" y="13811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Das Schema ordnet jedem Attribut einen Wertebereich zu.</a:t>
            </a:r>
          </a:p>
        </p:txBody>
      </p:sp>
      <p:sp>
        <p:nvSpPr>
          <p:cNvPr id="6" name="">
            <a:extLst xmlns:a="http://schemas.openxmlformats.org/drawingml/2006/main">
              <a:ext uri="{FF2B5EF4-FFF2-40B4-BE49-F238E27FC236}">
                <a16:creationId xmlns:a16="http://schemas.microsoft.com/office/drawing/2014/main" id="{46224EE0-738A-4433-BD45-26A400B95760}"/>
              </a:ext>
            </a:extLst>
          </p:cNvPr>
          <p:cNvSpPr>
            <a:spLocks xmlns:a="http://schemas.openxmlformats.org/drawingml/2006/main" noGrp="1"/>
          </p:cNvSpPr>
          <p:nvPr/>
        </p:nvSpPr>
        <p:spPr>
          <a:xfrm xmlns:a="http://schemas.openxmlformats.org/drawingml/2006/main">
            <a:off x="609600" y="2095500"/>
            <a:ext cx="4176789" cy="6915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3300" b="0">
                <a:solidFill>
                  <a:srgbClr val="005293"/>
                </a:solidFill>
                <a:latin typeface="STIX Two Math"/>
                <a:ea typeface="STIX Two Math"/>
                <a:cs typeface="STIX Two Math"/>
              </a:defRPr>
            </a:defPPr>
            <a:lvl1pPr>
              <a:defRPr sz="3300" b="0">
                <a:solidFill>
                  <a:srgbClr val="005293"/>
                </a:solidFill>
                <a:latin typeface="STIX Two Math"/>
                <a:ea typeface="STIX Two Math"/>
                <a:cs typeface="STIX Two Math"/>
              </a:defRPr>
            </a:lvl1pPr>
            <a:lvl2pPr>
              <a:defRPr sz="3300" b="0">
                <a:solidFill>
                  <a:srgbClr val="005293"/>
                </a:solidFill>
                <a:latin typeface="STIX Two Math"/>
                <a:ea typeface="STIX Two Math"/>
                <a:cs typeface="STIX Two Math"/>
              </a:defRPr>
            </a:lvl2pPr>
            <a:lvl3pPr>
              <a:defRPr sz="3300" b="0">
                <a:solidFill>
                  <a:srgbClr val="005293"/>
                </a:solidFill>
                <a:latin typeface="STIX Two Math"/>
                <a:ea typeface="STIX Two Math"/>
                <a:cs typeface="STIX Two Math"/>
              </a:defRPr>
            </a:lvl3pPr>
            <a:lvl4pPr>
              <a:defRPr sz="3300" b="0">
                <a:solidFill>
                  <a:srgbClr val="005293"/>
                </a:solidFill>
                <a:latin typeface="STIX Two Math"/>
                <a:ea typeface="STIX Two Math"/>
                <a:cs typeface="STIX Two Math"/>
              </a:defRPr>
            </a:lvl4pPr>
            <a:lvl5pPr>
              <a:defRPr sz="3300" b="0">
                <a:solidFill>
                  <a:srgbClr val="005293"/>
                </a:solidFill>
                <a:latin typeface="STIX Two Math"/>
                <a:ea typeface="STIX Two Math"/>
                <a:cs typeface="STIX Two Math"/>
              </a:defRPr>
            </a:lvl5pPr>
            <a:lvl6pPr>
              <a:defRPr sz="3300" b="0">
                <a:solidFill>
                  <a:srgbClr val="005293"/>
                </a:solidFill>
                <a:latin typeface="STIX Two Math"/>
                <a:ea typeface="STIX Two Math"/>
                <a:cs typeface="STIX Two Math"/>
              </a:defRPr>
            </a:lvl6pPr>
            <a:lvl7pPr>
              <a:defRPr sz="3300" b="0">
                <a:solidFill>
                  <a:srgbClr val="005293"/>
                </a:solidFill>
                <a:latin typeface="STIX Two Math"/>
                <a:ea typeface="STIX Two Math"/>
                <a:cs typeface="STIX Two Math"/>
              </a:defRPr>
            </a:lvl7pPr>
            <a:lvl8pPr>
              <a:defRPr sz="3300" b="0">
                <a:solidFill>
                  <a:srgbClr val="005293"/>
                </a:solidFill>
                <a:latin typeface="STIX Two Math"/>
                <a:ea typeface="STIX Two Math"/>
                <a:cs typeface="STIX Two Math"/>
              </a:defRPr>
            </a:lvl8pPr>
            <a:lvl9pPr>
              <a:defRPr sz="3300" b="0">
                <a:solidFill>
                  <a:srgbClr val="005293"/>
                </a:solidFill>
                <a:latin typeface="STIX Two Math"/>
                <a:ea typeface="STIX Two Math"/>
                <a:cs typeface="STIX Two Math"/>
              </a:defRPr>
            </a:lvl9pPr>
          </a:lstStyle>
          <a:p xmlns:a="http://schemas.openxmlformats.org/drawingml/2006/main">
            <a:pPr>
              <a:defRPr sz="3300" b="0">
                <a:solidFill>
                  <a:srgbClr val="005293"/>
                </a:solidFill>
                <a:latin typeface="STIX Two Math"/>
                <a:ea typeface="STIX Two Math"/>
                <a:cs typeface="STIX Two Math"/>
              </a:defRPr>
            </a:pPr>
            <a:r>
              <a:rPr sz="3300" b="0">
                <a:solidFill>
                  <a:srgbClr val="005293"/>
                </a:solidFill>
                <a:latin typeface="STIX Two Math"/>
                <a:ea typeface="STIX Two Math"/>
                <a:cs typeface="STIX Two Math"/>
              </a:rPr>
              <a:t>R ⊆ D₁ × D₂ × … × Dₙ</a:t>
            </a:r>
          </a:p>
        </p:txBody>
      </p:sp>
      <p:sp>
        <p:nvSpPr>
          <p:cNvPr id="7" name="">
            <a:extLst xmlns:a="http://schemas.openxmlformats.org/drawingml/2006/main">
              <a:ext uri="{FF2B5EF4-FFF2-40B4-BE49-F238E27FC236}">
                <a16:creationId xmlns:a16="http://schemas.microsoft.com/office/drawing/2014/main" id="{1D0BF300-F368-4E7F-B47A-68469928A7E0}"/>
              </a:ext>
            </a:extLst>
          </p:cNvPr>
          <p:cNvSpPr>
            <a:spLocks xmlns:a="http://schemas.openxmlformats.org/drawingml/2006/main" noGrp="1"/>
          </p:cNvSpPr>
          <p:nvPr/>
        </p:nvSpPr>
        <p:spPr>
          <a:xfrm xmlns:a="http://schemas.openxmlformats.org/drawingml/2006/main">
            <a:off x="609600" y="2952750"/>
            <a:ext cx="5798515" cy="5815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2775" b="0">
                <a:solidFill>
                  <a:srgbClr val="005293"/>
                </a:solidFill>
                <a:latin typeface="STIX Two Math"/>
                <a:ea typeface="STIX Two Math"/>
                <a:cs typeface="STIX Two Math"/>
              </a:defRPr>
            </a:defPPr>
            <a:lvl1pPr>
              <a:defRPr sz="2775" b="0">
                <a:solidFill>
                  <a:srgbClr val="005293"/>
                </a:solidFill>
                <a:latin typeface="STIX Two Math"/>
                <a:ea typeface="STIX Two Math"/>
                <a:cs typeface="STIX Two Math"/>
              </a:defRPr>
            </a:lvl1pPr>
            <a:lvl2pPr>
              <a:defRPr sz="2775" b="0">
                <a:solidFill>
                  <a:srgbClr val="005293"/>
                </a:solidFill>
                <a:latin typeface="STIX Two Math"/>
                <a:ea typeface="STIX Two Math"/>
                <a:cs typeface="STIX Two Math"/>
              </a:defRPr>
            </a:lvl2pPr>
            <a:lvl3pPr>
              <a:defRPr sz="2775" b="0">
                <a:solidFill>
                  <a:srgbClr val="005293"/>
                </a:solidFill>
                <a:latin typeface="STIX Two Math"/>
                <a:ea typeface="STIX Two Math"/>
                <a:cs typeface="STIX Two Math"/>
              </a:defRPr>
            </a:lvl3pPr>
            <a:lvl4pPr>
              <a:defRPr sz="2775" b="0">
                <a:solidFill>
                  <a:srgbClr val="005293"/>
                </a:solidFill>
                <a:latin typeface="STIX Two Math"/>
                <a:ea typeface="STIX Two Math"/>
                <a:cs typeface="STIX Two Math"/>
              </a:defRPr>
            </a:lvl4pPr>
            <a:lvl5pPr>
              <a:defRPr sz="2775" b="0">
                <a:solidFill>
                  <a:srgbClr val="005293"/>
                </a:solidFill>
                <a:latin typeface="STIX Two Math"/>
                <a:ea typeface="STIX Two Math"/>
                <a:cs typeface="STIX Two Math"/>
              </a:defRPr>
            </a:lvl5pPr>
            <a:lvl6pPr>
              <a:defRPr sz="2775" b="0">
                <a:solidFill>
                  <a:srgbClr val="005293"/>
                </a:solidFill>
                <a:latin typeface="STIX Two Math"/>
                <a:ea typeface="STIX Two Math"/>
                <a:cs typeface="STIX Two Math"/>
              </a:defRPr>
            </a:lvl6pPr>
            <a:lvl7pPr>
              <a:defRPr sz="2775" b="0">
                <a:solidFill>
                  <a:srgbClr val="005293"/>
                </a:solidFill>
                <a:latin typeface="STIX Two Math"/>
                <a:ea typeface="STIX Two Math"/>
                <a:cs typeface="STIX Two Math"/>
              </a:defRPr>
            </a:lvl7pPr>
            <a:lvl8pPr>
              <a:defRPr sz="2775" b="0">
                <a:solidFill>
                  <a:srgbClr val="005293"/>
                </a:solidFill>
                <a:latin typeface="STIX Two Math"/>
                <a:ea typeface="STIX Two Math"/>
                <a:cs typeface="STIX Two Math"/>
              </a:defRPr>
            </a:lvl8pPr>
            <a:lvl9pPr>
              <a:defRPr sz="2775" b="0">
                <a:solidFill>
                  <a:srgbClr val="005293"/>
                </a:solidFill>
                <a:latin typeface="STIX Two Math"/>
                <a:ea typeface="STIX Two Math"/>
                <a:cs typeface="STIX Two Math"/>
              </a:defRPr>
            </a:lvl9pPr>
          </a:lstStyle>
          <a:p xmlns:a="http://schemas.openxmlformats.org/drawingml/2006/main">
            <a:pPr>
              <a:defRPr sz="2775" b="0">
                <a:solidFill>
                  <a:srgbClr val="005293"/>
                </a:solidFill>
                <a:latin typeface="STIX Two Math"/>
                <a:ea typeface="STIX Two Math"/>
                <a:cs typeface="STIX Two Math"/>
              </a:defRPr>
            </a:pPr>
            <a:r>
              <a:rPr sz="2775" b="0">
                <a:solidFill>
                  <a:srgbClr val="005293"/>
                </a:solidFill>
                <a:latin typeface="STIX Two Math"/>
                <a:ea typeface="STIX Two Math"/>
                <a:cs typeface="STIX Two Math"/>
              </a:rPr>
              <a:t>Studenten ⊆ integer × string × integer</a:t>
            </a:r>
          </a:p>
        </p:txBody>
      </p:sp>
      <p:sp>
        <p:nvSpPr>
          <p:cNvPr id="8" name="">
            <a:extLst xmlns:a="http://schemas.openxmlformats.org/drawingml/2006/main">
              <a:ext uri="{FF2B5EF4-FFF2-40B4-BE49-F238E27FC236}">
                <a16:creationId xmlns:a16="http://schemas.microsoft.com/office/drawing/2014/main" id="{8113843F-F7B2-4291-B4E6-7BE5F196F9CE}"/>
              </a:ext>
            </a:extLst>
          </p:cNvPr>
          <p:cNvSpPr>
            <a:spLocks xmlns:a="http://schemas.openxmlformats.org/drawingml/2006/main" noGrp="1"/>
          </p:cNvSpPr>
          <p:nvPr/>
        </p:nvSpPr>
        <p:spPr>
          <a:xfrm xmlns:a="http://schemas.openxmlformats.org/drawingml/2006/main">
            <a:off x="609600" y="39052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Das Produkt enthält alle typgerechten Kombinationen.</a:t>
            </a:r>
          </a:p>
        </p:txBody>
      </p:sp>
      <p:sp>
        <p:nvSpPr>
          <p:cNvPr id="9" name="">
            <a:extLst xmlns:a="http://schemas.openxmlformats.org/drawingml/2006/main">
              <a:ext uri="{FF2B5EF4-FFF2-40B4-BE49-F238E27FC236}">
                <a16:creationId xmlns:a16="http://schemas.microsoft.com/office/drawing/2014/main" id="{E19E1A67-E8BB-4D12-AC12-149D07948CCB}"/>
              </a:ext>
            </a:extLst>
          </p:cNvPr>
          <p:cNvSpPr>
            <a:spLocks xmlns:a="http://schemas.openxmlformats.org/drawingml/2006/main" noGrp="1"/>
          </p:cNvSpPr>
          <p:nvPr/>
        </p:nvSpPr>
        <p:spPr>
          <a:xfrm xmlns:a="http://schemas.openxmlformats.org/drawingml/2006/main">
            <a:off x="609600" y="45529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Die Instanz enthält die tatsächlich gespeicherten Tupel.</a:t>
            </a:r>
          </a:p>
        </p:txBody>
      </p:sp>
      <p:sp>
        <p:nvSpPr>
          <p:cNvPr id="10" name="">
            <a:extLst xmlns:a="http://schemas.openxmlformats.org/drawingml/2006/main">
              <a:ext uri="{FF2B5EF4-FFF2-40B4-BE49-F238E27FC236}">
                <a16:creationId xmlns:a16="http://schemas.microsoft.com/office/drawing/2014/main" id="{06A01C53-63FF-4B8D-861C-9109D07479FA}"/>
              </a:ext>
            </a:extLst>
          </p:cNvPr>
          <p:cNvSpPr>
            <a:spLocks xmlns:a="http://schemas.openxmlformats.org/drawingml/2006/main" noGrp="1"/>
          </p:cNvSpPr>
          <p:nvPr/>
        </p:nvSpPr>
        <p:spPr>
          <a:xfrm xmlns:a="http://schemas.openxmlformats.org/drawingml/2006/main">
            <a:off x="609600" y="5362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05293"/>
                </a:solidFill>
                <a:latin typeface="Arial"/>
                <a:ea typeface="Arial"/>
                <a:cs typeface="Arial"/>
              </a:defRPr>
            </a:defPPr>
            <a:lvl1pPr>
              <a:defRPr sz="2250" b="1">
                <a:solidFill>
                  <a:srgbClr val="005293"/>
                </a:solidFill>
                <a:latin typeface="Arial"/>
                <a:ea typeface="Arial"/>
                <a:cs typeface="Arial"/>
              </a:defRPr>
            </a:lvl1pPr>
            <a:lvl2pPr>
              <a:defRPr sz="2250" b="1">
                <a:solidFill>
                  <a:srgbClr val="005293"/>
                </a:solidFill>
                <a:latin typeface="Arial"/>
                <a:ea typeface="Arial"/>
                <a:cs typeface="Arial"/>
              </a:defRPr>
            </a:lvl2pPr>
            <a:lvl3pPr>
              <a:defRPr sz="2250" b="1">
                <a:solidFill>
                  <a:srgbClr val="005293"/>
                </a:solidFill>
                <a:latin typeface="Arial"/>
                <a:ea typeface="Arial"/>
                <a:cs typeface="Arial"/>
              </a:defRPr>
            </a:lvl3pPr>
            <a:lvl4pPr>
              <a:defRPr sz="2250" b="1">
                <a:solidFill>
                  <a:srgbClr val="005293"/>
                </a:solidFill>
                <a:latin typeface="Arial"/>
                <a:ea typeface="Arial"/>
                <a:cs typeface="Arial"/>
              </a:defRPr>
            </a:lvl4pPr>
            <a:lvl5pPr>
              <a:defRPr sz="2250" b="1">
                <a:solidFill>
                  <a:srgbClr val="005293"/>
                </a:solidFill>
                <a:latin typeface="Arial"/>
                <a:ea typeface="Arial"/>
                <a:cs typeface="Arial"/>
              </a:defRPr>
            </a:lvl5pPr>
            <a:lvl6pPr>
              <a:defRPr sz="2250" b="1">
                <a:solidFill>
                  <a:srgbClr val="005293"/>
                </a:solidFill>
                <a:latin typeface="Arial"/>
                <a:ea typeface="Arial"/>
                <a:cs typeface="Arial"/>
              </a:defRPr>
            </a:lvl6pPr>
            <a:lvl7pPr>
              <a:defRPr sz="2250" b="1">
                <a:solidFill>
                  <a:srgbClr val="005293"/>
                </a:solidFill>
                <a:latin typeface="Arial"/>
                <a:ea typeface="Arial"/>
                <a:cs typeface="Arial"/>
              </a:defRPr>
            </a:lvl7pPr>
            <a:lvl8pPr>
              <a:defRPr sz="2250" b="1">
                <a:solidFill>
                  <a:srgbClr val="005293"/>
                </a:solidFill>
                <a:latin typeface="Arial"/>
                <a:ea typeface="Arial"/>
                <a:cs typeface="Arial"/>
              </a:defRPr>
            </a:lvl8pPr>
            <a:lvl9pPr>
              <a:defRPr sz="2250" b="1">
                <a:solidFill>
                  <a:srgbClr val="005293"/>
                </a:solidFill>
                <a:latin typeface="Arial"/>
                <a:ea typeface="Arial"/>
                <a:cs typeface="Arial"/>
              </a:defRPr>
            </a:lvl9pPr>
          </a:lstStyle>
          <a:p xmlns:a="http://schemas.openxmlformats.org/drawingml/2006/main">
            <a:pPr>
              <a:defRPr sz="2250" b="1">
                <a:solidFill>
                  <a:srgbClr val="005293"/>
                </a:solidFill>
                <a:latin typeface="Arial"/>
                <a:ea typeface="Arial"/>
                <a:cs typeface="Arial"/>
              </a:defRPr>
            </a:pPr>
            <a:r>
              <a:rPr sz="2250" b="1">
                <a:solidFill>
                  <a:srgbClr val="005293"/>
                </a:solidFill>
                <a:latin typeface="Arial"/>
                <a:ea typeface="Arial"/>
                <a:cs typeface="Arial"/>
              </a:rPr>
              <a:t>Beispiel: (24002, „Xenokrates“, 18) ∈ Studenten</a:t>
            </a:r>
          </a:p>
        </p:txBody>
      </p:sp>
    </p:spTree>
    <p:extLst>
      <p:ext uri="{BB962C8B-B14F-4D97-AF65-F5344CB8AC3E}">
        <p14:creationId xmlns:p14="http://schemas.microsoft.com/office/powerpoint/2010/main" val="124928169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4EBA876-0304-409D-8FD6-C0D6B81EA582}"/>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Relationale Algebra: Grundprinzip</a:t>
            </a:r>
          </a:p>
        </p:txBody>
      </p:sp>
      <p:sp>
        <p:nvSpPr>
          <p:cNvPr id="2" name="">
            <a:extLst xmlns:a="http://schemas.openxmlformats.org/drawingml/2006/main">
              <a:ext uri="{FF2B5EF4-FFF2-40B4-BE49-F238E27FC236}">
                <a16:creationId xmlns:a16="http://schemas.microsoft.com/office/drawing/2014/main" id="{A7E5DF46-6ACF-44DF-A368-6014AF440FE3}"/>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C1B76D90-2F3A-41D1-A86D-F376554451FD}"/>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4</a:t>
            </a:r>
          </a:p>
        </p:txBody>
      </p:sp>
      <p:sp>
        <p:nvSpPr>
          <p:cNvPr id="4" name="">
            <a:extLst xmlns:a="http://schemas.openxmlformats.org/drawingml/2006/main">
              <a:ext uri="{FF2B5EF4-FFF2-40B4-BE49-F238E27FC236}">
                <a16:creationId xmlns:a16="http://schemas.microsoft.com/office/drawing/2014/main" id="{F43A2F47-C74F-41EA-8380-F832D86470A8}"/>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12, 15</a:t>
            </a:r>
          </a:p>
        </p:txBody>
      </p:sp>
      <p:sp>
        <p:nvSpPr>
          <p:cNvPr id="5" name="">
            <a:extLst xmlns:a="http://schemas.openxmlformats.org/drawingml/2006/main">
              <a:ext uri="{FF2B5EF4-FFF2-40B4-BE49-F238E27FC236}">
                <a16:creationId xmlns:a16="http://schemas.microsoft.com/office/drawing/2014/main" id="{4E1A95E3-2A1C-410F-9570-D4CB806A0B5E}"/>
              </a:ext>
            </a:extLst>
          </p:cNvPr>
          <p:cNvSpPr>
            <a:spLocks xmlns:a="http://schemas.openxmlformats.org/drawingml/2006/main" noGrp="1"/>
          </p:cNvSpPr>
          <p:nvPr/>
        </p:nvSpPr>
        <p:spPr>
          <a:xfrm xmlns:a="http://schemas.openxmlformats.org/drawingml/2006/main">
            <a:off x="609600" y="1428750"/>
            <a:ext cx="577405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3000" b="0">
                <a:solidFill>
                  <a:srgbClr val="005293"/>
                </a:solidFill>
                <a:latin typeface="STIX Two Math"/>
                <a:ea typeface="STIX Two Math"/>
                <a:cs typeface="STIX Two Math"/>
              </a:defRPr>
            </a:defPPr>
            <a:lvl1pPr>
              <a:defRPr sz="3000" b="0">
                <a:solidFill>
                  <a:srgbClr val="005293"/>
                </a:solidFill>
                <a:latin typeface="STIX Two Math"/>
                <a:ea typeface="STIX Two Math"/>
                <a:cs typeface="STIX Two Math"/>
              </a:defRPr>
            </a:lvl1pPr>
            <a:lvl2pPr>
              <a:defRPr sz="3000" b="0">
                <a:solidFill>
                  <a:srgbClr val="005293"/>
                </a:solidFill>
                <a:latin typeface="STIX Two Math"/>
                <a:ea typeface="STIX Two Math"/>
                <a:cs typeface="STIX Two Math"/>
              </a:defRPr>
            </a:lvl2pPr>
            <a:lvl3pPr>
              <a:defRPr sz="3000" b="0">
                <a:solidFill>
                  <a:srgbClr val="005293"/>
                </a:solidFill>
                <a:latin typeface="STIX Two Math"/>
                <a:ea typeface="STIX Two Math"/>
                <a:cs typeface="STIX Two Math"/>
              </a:defRPr>
            </a:lvl3pPr>
            <a:lvl4pPr>
              <a:defRPr sz="3000" b="0">
                <a:solidFill>
                  <a:srgbClr val="005293"/>
                </a:solidFill>
                <a:latin typeface="STIX Two Math"/>
                <a:ea typeface="STIX Two Math"/>
                <a:cs typeface="STIX Two Math"/>
              </a:defRPr>
            </a:lvl4pPr>
            <a:lvl5pPr>
              <a:defRPr sz="3000" b="0">
                <a:solidFill>
                  <a:srgbClr val="005293"/>
                </a:solidFill>
                <a:latin typeface="STIX Two Math"/>
                <a:ea typeface="STIX Two Math"/>
                <a:cs typeface="STIX Two Math"/>
              </a:defRPr>
            </a:lvl5pPr>
            <a:lvl6pPr>
              <a:defRPr sz="3000" b="0">
                <a:solidFill>
                  <a:srgbClr val="005293"/>
                </a:solidFill>
                <a:latin typeface="STIX Two Math"/>
                <a:ea typeface="STIX Two Math"/>
                <a:cs typeface="STIX Two Math"/>
              </a:defRPr>
            </a:lvl6pPr>
            <a:lvl7pPr>
              <a:defRPr sz="3000" b="0">
                <a:solidFill>
                  <a:srgbClr val="005293"/>
                </a:solidFill>
                <a:latin typeface="STIX Two Math"/>
                <a:ea typeface="STIX Two Math"/>
                <a:cs typeface="STIX Two Math"/>
              </a:defRPr>
            </a:lvl7pPr>
            <a:lvl8pPr>
              <a:defRPr sz="3000" b="0">
                <a:solidFill>
                  <a:srgbClr val="005293"/>
                </a:solidFill>
                <a:latin typeface="STIX Two Math"/>
                <a:ea typeface="STIX Two Math"/>
                <a:cs typeface="STIX Two Math"/>
              </a:defRPr>
            </a:lvl8pPr>
            <a:lvl9pPr>
              <a:defRPr sz="3000" b="0">
                <a:solidFill>
                  <a:srgbClr val="005293"/>
                </a:solidFill>
                <a:latin typeface="STIX Two Math"/>
                <a:ea typeface="STIX Two Math"/>
                <a:cs typeface="STIX Two Math"/>
              </a:defRPr>
            </a:lvl9pPr>
          </a:lstStyle>
          <a:p xmlns:a="http://schemas.openxmlformats.org/drawingml/2006/main">
            <a:pPr>
              <a:defRPr sz="3000" b="0">
                <a:solidFill>
                  <a:srgbClr val="005293"/>
                </a:solidFill>
                <a:latin typeface="STIX Two Math"/>
                <a:ea typeface="STIX Two Math"/>
                <a:cs typeface="STIX Two Math"/>
              </a:defRPr>
            </a:pPr>
            <a:r>
              <a:rPr sz="3000" b="0">
                <a:solidFill>
                  <a:srgbClr val="005293"/>
                </a:solidFill>
                <a:latin typeface="STIX Two Math"/>
                <a:ea typeface="STIX Two Math"/>
                <a:cs typeface="STIX Two Math"/>
              </a:rPr>
              <a:t>Relationen  →  Operator  →  Relation</a:t>
            </a:r>
          </a:p>
        </p:txBody>
      </p:sp>
      <p:sp>
        <p:nvSpPr>
          <p:cNvPr id="6" name="">
            <a:extLst xmlns:a="http://schemas.openxmlformats.org/drawingml/2006/main">
              <a:ext uri="{FF2B5EF4-FFF2-40B4-BE49-F238E27FC236}">
                <a16:creationId xmlns:a16="http://schemas.microsoft.com/office/drawing/2014/main" id="{7F7E9779-880D-424B-AB68-FE923C580388}"/>
              </a:ext>
            </a:extLst>
          </p:cNvPr>
          <p:cNvSpPr>
            <a:spLocks xmlns:a="http://schemas.openxmlformats.org/drawingml/2006/main" noGrp="1"/>
          </p:cNvSpPr>
          <p:nvPr/>
        </p:nvSpPr>
        <p:spPr>
          <a:xfrm xmlns:a="http://schemas.openxmlformats.org/drawingml/2006/main">
            <a:off x="609600" y="24765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Jeder Operator verarbeitet eine oder mehrere Relationen.</a:t>
            </a:r>
          </a:p>
        </p:txBody>
      </p:sp>
      <p:sp>
        <p:nvSpPr>
          <p:cNvPr id="7" name="">
            <a:extLst xmlns:a="http://schemas.openxmlformats.org/drawingml/2006/main">
              <a:ext uri="{FF2B5EF4-FFF2-40B4-BE49-F238E27FC236}">
                <a16:creationId xmlns:a16="http://schemas.microsoft.com/office/drawing/2014/main" id="{4B1F6BF9-E166-434F-B9DB-09025FC10439}"/>
              </a:ext>
            </a:extLst>
          </p:cNvPr>
          <p:cNvSpPr>
            <a:spLocks xmlns:a="http://schemas.openxmlformats.org/drawingml/2006/main" noGrp="1"/>
          </p:cNvSpPr>
          <p:nvPr/>
        </p:nvSpPr>
        <p:spPr>
          <a:xfrm xmlns:a="http://schemas.openxmlformats.org/drawingml/2006/main">
            <a:off x="609600" y="34290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Das Ergebnis ist wieder eine Relation: Operatoren sind kombinierbar.</a:t>
            </a:r>
          </a:p>
        </p:txBody>
      </p:sp>
      <p:sp>
        <p:nvSpPr>
          <p:cNvPr id="8" name="">
            <a:extLst xmlns:a="http://schemas.openxmlformats.org/drawingml/2006/main">
              <a:ext uri="{FF2B5EF4-FFF2-40B4-BE49-F238E27FC236}">
                <a16:creationId xmlns:a16="http://schemas.microsoft.com/office/drawing/2014/main" id="{F70A44E4-7DAA-4D5B-8FCD-054C15058DE8}"/>
              </a:ext>
            </a:extLst>
          </p:cNvPr>
          <p:cNvSpPr>
            <a:spLocks xmlns:a="http://schemas.openxmlformats.org/drawingml/2006/main" noGrp="1"/>
          </p:cNvSpPr>
          <p:nvPr/>
        </p:nvSpPr>
        <p:spPr>
          <a:xfrm xmlns:a="http://schemas.openxmlformats.org/drawingml/2006/main">
            <a:off x="609600" y="43815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Mengensemantik: keine doppelten Tupel und keine feste Zeilenreihenfolge.</a:t>
            </a:r>
          </a:p>
        </p:txBody>
      </p:sp>
    </p:spTree>
    <p:extLst>
      <p:ext uri="{BB962C8B-B14F-4D97-AF65-F5344CB8AC3E}">
        <p14:creationId xmlns:p14="http://schemas.microsoft.com/office/powerpoint/2010/main" val="82228138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C61AAAD-04A4-4CB7-B8E2-7940A5B5347E}"/>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Projektion</a:t>
            </a:r>
          </a:p>
        </p:txBody>
      </p:sp>
      <p:sp>
        <p:nvSpPr>
          <p:cNvPr id="2" name="">
            <a:extLst xmlns:a="http://schemas.openxmlformats.org/drawingml/2006/main">
              <a:ext uri="{FF2B5EF4-FFF2-40B4-BE49-F238E27FC236}">
                <a16:creationId xmlns:a16="http://schemas.microsoft.com/office/drawing/2014/main" id="{2349178A-5E49-437B-8C02-37B761058F59}"/>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66A7C564-6422-496E-97B9-88A80E1614BD}"/>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5</a:t>
            </a:r>
          </a:p>
        </p:txBody>
      </p:sp>
      <p:sp>
        <p:nvSpPr>
          <p:cNvPr id="4" name="">
            <a:extLst xmlns:a="http://schemas.openxmlformats.org/drawingml/2006/main">
              <a:ext uri="{FF2B5EF4-FFF2-40B4-BE49-F238E27FC236}">
                <a16:creationId xmlns:a16="http://schemas.microsoft.com/office/drawing/2014/main" id="{E18B079F-338B-4D6E-BBDC-D3A4FC64284C}"/>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13–16</a:t>
            </a:r>
          </a:p>
        </p:txBody>
      </p:sp>
      <p:sp>
        <p:nvSpPr>
          <p:cNvPr id="5" name="">
            <a:extLst xmlns:a="http://schemas.openxmlformats.org/drawingml/2006/main">
              <a:ext uri="{FF2B5EF4-FFF2-40B4-BE49-F238E27FC236}">
                <a16:creationId xmlns:a16="http://schemas.microsoft.com/office/drawing/2014/main" id="{BF595436-FC6E-435B-A6E3-70015CE56820}"/>
              </a:ext>
            </a:extLst>
          </p:cNvPr>
          <p:cNvSpPr>
            <a:spLocks xmlns:a="http://schemas.openxmlformats.org/drawingml/2006/main" noGrp="1"/>
          </p:cNvSpPr>
          <p:nvPr/>
        </p:nvSpPr>
        <p:spPr>
          <a:xfrm xmlns:a="http://schemas.openxmlformats.org/drawingml/2006/main">
            <a:off x="609600" y="1428750"/>
            <a:ext cx="291846"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3000" b="0">
                <a:solidFill>
                  <a:srgbClr val="005293"/>
                </a:solidFill>
                <a:latin typeface="STIX Two Math"/>
                <a:ea typeface="STIX Two Math"/>
                <a:cs typeface="STIX Two Math"/>
              </a:defRPr>
            </a:defPPr>
            <a:lvl1pPr>
              <a:defRPr sz="3000" b="0">
                <a:solidFill>
                  <a:srgbClr val="005293"/>
                </a:solidFill>
                <a:latin typeface="STIX Two Math"/>
                <a:ea typeface="STIX Two Math"/>
                <a:cs typeface="STIX Two Math"/>
              </a:defRPr>
            </a:lvl1pPr>
            <a:lvl2pPr>
              <a:defRPr sz="3000" b="0">
                <a:solidFill>
                  <a:srgbClr val="005293"/>
                </a:solidFill>
                <a:latin typeface="STIX Two Math"/>
                <a:ea typeface="STIX Two Math"/>
                <a:cs typeface="STIX Two Math"/>
              </a:defRPr>
            </a:lvl2pPr>
            <a:lvl3pPr>
              <a:defRPr sz="3000" b="0">
                <a:solidFill>
                  <a:srgbClr val="005293"/>
                </a:solidFill>
                <a:latin typeface="STIX Two Math"/>
                <a:ea typeface="STIX Two Math"/>
                <a:cs typeface="STIX Two Math"/>
              </a:defRPr>
            </a:lvl3pPr>
            <a:lvl4pPr>
              <a:defRPr sz="3000" b="0">
                <a:solidFill>
                  <a:srgbClr val="005293"/>
                </a:solidFill>
                <a:latin typeface="STIX Two Math"/>
                <a:ea typeface="STIX Two Math"/>
                <a:cs typeface="STIX Two Math"/>
              </a:defRPr>
            </a:lvl4pPr>
            <a:lvl5pPr>
              <a:defRPr sz="3000" b="0">
                <a:solidFill>
                  <a:srgbClr val="005293"/>
                </a:solidFill>
                <a:latin typeface="STIX Two Math"/>
                <a:ea typeface="STIX Two Math"/>
                <a:cs typeface="STIX Two Math"/>
              </a:defRPr>
            </a:lvl5pPr>
            <a:lvl6pPr>
              <a:defRPr sz="3000" b="0">
                <a:solidFill>
                  <a:srgbClr val="005293"/>
                </a:solidFill>
                <a:latin typeface="STIX Two Math"/>
                <a:ea typeface="STIX Two Math"/>
                <a:cs typeface="STIX Two Math"/>
              </a:defRPr>
            </a:lvl6pPr>
            <a:lvl7pPr>
              <a:defRPr sz="3000" b="0">
                <a:solidFill>
                  <a:srgbClr val="005293"/>
                </a:solidFill>
                <a:latin typeface="STIX Two Math"/>
                <a:ea typeface="STIX Two Math"/>
                <a:cs typeface="STIX Two Math"/>
              </a:defRPr>
            </a:lvl7pPr>
            <a:lvl8pPr>
              <a:defRPr sz="3000" b="0">
                <a:solidFill>
                  <a:srgbClr val="005293"/>
                </a:solidFill>
                <a:latin typeface="STIX Two Math"/>
                <a:ea typeface="STIX Two Math"/>
                <a:cs typeface="STIX Two Math"/>
              </a:defRPr>
            </a:lvl8pPr>
            <a:lvl9pPr>
              <a:defRPr sz="3000" b="0">
                <a:solidFill>
                  <a:srgbClr val="005293"/>
                </a:solidFill>
                <a:latin typeface="STIX Two Math"/>
                <a:ea typeface="STIX Two Math"/>
                <a:cs typeface="STIX Two Math"/>
              </a:defRPr>
            </a:lvl9pPr>
          </a:lstStyle>
          <a:p xmlns:a="http://schemas.openxmlformats.org/drawingml/2006/main">
            <a:pPr>
              <a:defRPr sz="3000" b="0">
                <a:solidFill>
                  <a:srgbClr val="005293"/>
                </a:solidFill>
                <a:latin typeface="STIX Two Math"/>
                <a:ea typeface="STIX Two Math"/>
                <a:cs typeface="STIX Two Math"/>
              </a:defRPr>
            </a:pPr>
            <a:r>
              <a:rPr sz="3000" b="0">
                <a:solidFill>
                  <a:srgbClr val="005293"/>
                </a:solidFill>
                <a:latin typeface="STIX Two Math"/>
                <a:ea typeface="STIX Two Math"/>
                <a:cs typeface="STIX Two Math"/>
              </a:rPr>
              <a:t>π</a:t>
            </a:r>
          </a:p>
        </p:txBody>
      </p:sp>
      <p:sp>
        <p:nvSpPr>
          <p:cNvPr id="6" name="">
            <a:extLst xmlns:a="http://schemas.openxmlformats.org/drawingml/2006/main">
              <a:ext uri="{FF2B5EF4-FFF2-40B4-BE49-F238E27FC236}">
                <a16:creationId xmlns:a16="http://schemas.microsoft.com/office/drawing/2014/main" id="{8C4EB2AC-5625-4E73-BADF-2A20CA00D76F}"/>
              </a:ext>
            </a:extLst>
          </p:cNvPr>
          <p:cNvSpPr>
            <a:spLocks xmlns:a="http://schemas.openxmlformats.org/drawingml/2006/main" noGrp="1"/>
          </p:cNvSpPr>
          <p:nvPr/>
        </p:nvSpPr>
        <p:spPr>
          <a:xfrm xmlns:a="http://schemas.openxmlformats.org/drawingml/2006/main">
            <a:off x="853821" y="1645920"/>
            <a:ext cx="1112006" cy="4086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1950" b="0">
                <a:solidFill>
                  <a:srgbClr val="005293"/>
                </a:solidFill>
                <a:latin typeface="STIX Two Math"/>
                <a:ea typeface="STIX Two Math"/>
                <a:cs typeface="STIX Two Math"/>
              </a:defRPr>
            </a:defPPr>
            <a:lvl1pPr>
              <a:defRPr sz="1950" b="0">
                <a:solidFill>
                  <a:srgbClr val="005293"/>
                </a:solidFill>
                <a:latin typeface="STIX Two Math"/>
                <a:ea typeface="STIX Two Math"/>
                <a:cs typeface="STIX Two Math"/>
              </a:defRPr>
            </a:lvl1pPr>
            <a:lvl2pPr>
              <a:defRPr sz="1950" b="0">
                <a:solidFill>
                  <a:srgbClr val="005293"/>
                </a:solidFill>
                <a:latin typeface="STIX Two Math"/>
                <a:ea typeface="STIX Two Math"/>
                <a:cs typeface="STIX Two Math"/>
              </a:defRPr>
            </a:lvl2pPr>
            <a:lvl3pPr>
              <a:defRPr sz="1950" b="0">
                <a:solidFill>
                  <a:srgbClr val="005293"/>
                </a:solidFill>
                <a:latin typeface="STIX Two Math"/>
                <a:ea typeface="STIX Two Math"/>
                <a:cs typeface="STIX Two Math"/>
              </a:defRPr>
            </a:lvl3pPr>
            <a:lvl4pPr>
              <a:defRPr sz="1950" b="0">
                <a:solidFill>
                  <a:srgbClr val="005293"/>
                </a:solidFill>
                <a:latin typeface="STIX Two Math"/>
                <a:ea typeface="STIX Two Math"/>
                <a:cs typeface="STIX Two Math"/>
              </a:defRPr>
            </a:lvl4pPr>
            <a:lvl5pPr>
              <a:defRPr sz="1950" b="0">
                <a:solidFill>
                  <a:srgbClr val="005293"/>
                </a:solidFill>
                <a:latin typeface="STIX Two Math"/>
                <a:ea typeface="STIX Two Math"/>
                <a:cs typeface="STIX Two Math"/>
              </a:defRPr>
            </a:lvl5pPr>
            <a:lvl6pPr>
              <a:defRPr sz="1950" b="0">
                <a:solidFill>
                  <a:srgbClr val="005293"/>
                </a:solidFill>
                <a:latin typeface="STIX Two Math"/>
                <a:ea typeface="STIX Two Math"/>
                <a:cs typeface="STIX Two Math"/>
              </a:defRPr>
            </a:lvl6pPr>
            <a:lvl7pPr>
              <a:defRPr sz="1950" b="0">
                <a:solidFill>
                  <a:srgbClr val="005293"/>
                </a:solidFill>
                <a:latin typeface="STIX Two Math"/>
                <a:ea typeface="STIX Two Math"/>
                <a:cs typeface="STIX Two Math"/>
              </a:defRPr>
            </a:lvl7pPr>
            <a:lvl8pPr>
              <a:defRPr sz="1950" b="0">
                <a:solidFill>
                  <a:srgbClr val="005293"/>
                </a:solidFill>
                <a:latin typeface="STIX Two Math"/>
                <a:ea typeface="STIX Two Math"/>
                <a:cs typeface="STIX Two Math"/>
              </a:defRPr>
            </a:lvl8pPr>
            <a:lvl9pPr>
              <a:defRPr sz="1950" b="0">
                <a:solidFill>
                  <a:srgbClr val="005293"/>
                </a:solidFill>
                <a:latin typeface="STIX Two Math"/>
                <a:ea typeface="STIX Two Math"/>
                <a:cs typeface="STIX Two Math"/>
              </a:defRPr>
            </a:lvl9pPr>
          </a:lstStyle>
          <a:p xmlns:a="http://schemas.openxmlformats.org/drawingml/2006/main">
            <a:pPr>
              <a:defRPr sz="1950" b="0">
                <a:solidFill>
                  <a:srgbClr val="005293"/>
                </a:solidFill>
                <a:latin typeface="STIX Two Math"/>
                <a:ea typeface="STIX Two Math"/>
                <a:cs typeface="STIX Two Math"/>
              </a:defRPr>
            </a:pPr>
            <a:r>
              <a:rPr sz="1950" b="0">
                <a:solidFill>
                  <a:srgbClr val="005293"/>
                </a:solidFill>
                <a:latin typeface="STIX Two Math"/>
                <a:ea typeface="STIX Two Math"/>
                <a:cs typeface="STIX Two Math"/>
              </a:rPr>
              <a:t>A₁, …, Aₙ</a:t>
            </a:r>
          </a:p>
        </p:txBody>
      </p:sp>
      <p:sp>
        <p:nvSpPr>
          <p:cNvPr id="7" name="">
            <a:extLst xmlns:a="http://schemas.openxmlformats.org/drawingml/2006/main">
              <a:ext uri="{FF2B5EF4-FFF2-40B4-BE49-F238E27FC236}">
                <a16:creationId xmlns:a16="http://schemas.microsoft.com/office/drawing/2014/main" id="{BC120BE5-FF45-422E-9624-26D84D9285CD}"/>
              </a:ext>
            </a:extLst>
          </p:cNvPr>
          <p:cNvSpPr>
            <a:spLocks xmlns:a="http://schemas.openxmlformats.org/drawingml/2006/main" noGrp="1"/>
          </p:cNvSpPr>
          <p:nvPr/>
        </p:nvSpPr>
        <p:spPr>
          <a:xfrm xmlns:a="http://schemas.openxmlformats.org/drawingml/2006/main">
            <a:off x="1918202" y="1428750"/>
            <a:ext cx="589788"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3000" b="0">
                <a:solidFill>
                  <a:srgbClr val="005293"/>
                </a:solidFill>
                <a:latin typeface="STIX Two Math"/>
                <a:ea typeface="STIX Two Math"/>
                <a:cs typeface="STIX Two Math"/>
              </a:defRPr>
            </a:defPPr>
            <a:lvl1pPr>
              <a:defRPr sz="3000" b="0">
                <a:solidFill>
                  <a:srgbClr val="005293"/>
                </a:solidFill>
                <a:latin typeface="STIX Two Math"/>
                <a:ea typeface="STIX Two Math"/>
                <a:cs typeface="STIX Two Math"/>
              </a:defRPr>
            </a:lvl1pPr>
            <a:lvl2pPr>
              <a:defRPr sz="3000" b="0">
                <a:solidFill>
                  <a:srgbClr val="005293"/>
                </a:solidFill>
                <a:latin typeface="STIX Two Math"/>
                <a:ea typeface="STIX Two Math"/>
                <a:cs typeface="STIX Two Math"/>
              </a:defRPr>
            </a:lvl2pPr>
            <a:lvl3pPr>
              <a:defRPr sz="3000" b="0">
                <a:solidFill>
                  <a:srgbClr val="005293"/>
                </a:solidFill>
                <a:latin typeface="STIX Two Math"/>
                <a:ea typeface="STIX Two Math"/>
                <a:cs typeface="STIX Two Math"/>
              </a:defRPr>
            </a:lvl3pPr>
            <a:lvl4pPr>
              <a:defRPr sz="3000" b="0">
                <a:solidFill>
                  <a:srgbClr val="005293"/>
                </a:solidFill>
                <a:latin typeface="STIX Two Math"/>
                <a:ea typeface="STIX Two Math"/>
                <a:cs typeface="STIX Two Math"/>
              </a:defRPr>
            </a:lvl4pPr>
            <a:lvl5pPr>
              <a:defRPr sz="3000" b="0">
                <a:solidFill>
                  <a:srgbClr val="005293"/>
                </a:solidFill>
                <a:latin typeface="STIX Two Math"/>
                <a:ea typeface="STIX Two Math"/>
                <a:cs typeface="STIX Two Math"/>
              </a:defRPr>
            </a:lvl5pPr>
            <a:lvl6pPr>
              <a:defRPr sz="3000" b="0">
                <a:solidFill>
                  <a:srgbClr val="005293"/>
                </a:solidFill>
                <a:latin typeface="STIX Two Math"/>
                <a:ea typeface="STIX Two Math"/>
                <a:cs typeface="STIX Two Math"/>
              </a:defRPr>
            </a:lvl6pPr>
            <a:lvl7pPr>
              <a:defRPr sz="3000" b="0">
                <a:solidFill>
                  <a:srgbClr val="005293"/>
                </a:solidFill>
                <a:latin typeface="STIX Two Math"/>
                <a:ea typeface="STIX Two Math"/>
                <a:cs typeface="STIX Two Math"/>
              </a:defRPr>
            </a:lvl7pPr>
            <a:lvl8pPr>
              <a:defRPr sz="3000" b="0">
                <a:solidFill>
                  <a:srgbClr val="005293"/>
                </a:solidFill>
                <a:latin typeface="STIX Two Math"/>
                <a:ea typeface="STIX Two Math"/>
                <a:cs typeface="STIX Two Math"/>
              </a:defRPr>
            </a:lvl8pPr>
            <a:lvl9pPr>
              <a:defRPr sz="3000" b="0">
                <a:solidFill>
                  <a:srgbClr val="005293"/>
                </a:solidFill>
                <a:latin typeface="STIX Two Math"/>
                <a:ea typeface="STIX Two Math"/>
                <a:cs typeface="STIX Two Math"/>
              </a:defRPr>
            </a:lvl9pPr>
          </a:lstStyle>
          <a:p xmlns:a="http://schemas.openxmlformats.org/drawingml/2006/main">
            <a:pPr>
              <a:defRPr sz="3000" b="0">
                <a:solidFill>
                  <a:srgbClr val="005293"/>
                </a:solidFill>
                <a:latin typeface="STIX Two Math"/>
                <a:ea typeface="STIX Two Math"/>
                <a:cs typeface="STIX Two Math"/>
              </a:defRPr>
            </a:pPr>
            <a:r>
              <a:rPr sz="3000" b="0">
                <a:solidFill>
                  <a:srgbClr val="005293"/>
                </a:solidFill>
                <a:latin typeface="STIX Two Math"/>
                <a:ea typeface="STIX Two Math"/>
                <a:cs typeface="STIX Two Math"/>
              </a:rPr>
              <a:t>(R)</a:t>
            </a:r>
          </a:p>
        </p:txBody>
      </p:sp>
      <p:sp>
        <p:nvSpPr>
          <p:cNvPr id="8" name="">
            <a:extLst xmlns:a="http://schemas.openxmlformats.org/drawingml/2006/main">
              <a:ext uri="{FF2B5EF4-FFF2-40B4-BE49-F238E27FC236}">
                <a16:creationId xmlns:a16="http://schemas.microsoft.com/office/drawing/2014/main" id="{6993A666-9AE2-46C5-AA00-48DC3958E363}"/>
              </a:ext>
            </a:extLst>
          </p:cNvPr>
          <p:cNvSpPr>
            <a:spLocks xmlns:a="http://schemas.openxmlformats.org/drawingml/2006/main" noGrp="1"/>
          </p:cNvSpPr>
          <p:nvPr/>
        </p:nvSpPr>
        <p:spPr>
          <a:xfrm xmlns:a="http://schemas.openxmlformats.org/drawingml/2006/main">
            <a:off x="609600" y="24765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Wählt die angegebenen Attribute (Spalten) aus.</a:t>
            </a:r>
          </a:p>
        </p:txBody>
      </p:sp>
      <p:sp>
        <p:nvSpPr>
          <p:cNvPr id="9" name="">
            <a:extLst xmlns:a="http://schemas.openxmlformats.org/drawingml/2006/main">
              <a:ext uri="{FF2B5EF4-FFF2-40B4-BE49-F238E27FC236}">
                <a16:creationId xmlns:a16="http://schemas.microsoft.com/office/drawing/2014/main" id="{BB8263E6-19A5-4BD5-AF0B-A48C4614028F}"/>
              </a:ext>
            </a:extLst>
          </p:cNvPr>
          <p:cNvSpPr>
            <a:spLocks xmlns:a="http://schemas.openxmlformats.org/drawingml/2006/main" noGrp="1"/>
          </p:cNvSpPr>
          <p:nvPr/>
        </p:nvSpPr>
        <p:spPr>
          <a:xfrm xmlns:a="http://schemas.openxmlformats.org/drawingml/2006/main">
            <a:off x="609600" y="34290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Andere Attribute entfallen.</a:t>
            </a:r>
          </a:p>
        </p:txBody>
      </p:sp>
      <p:sp>
        <p:nvSpPr>
          <p:cNvPr id="10" name="">
            <a:extLst xmlns:a="http://schemas.openxmlformats.org/drawingml/2006/main">
              <a:ext uri="{FF2B5EF4-FFF2-40B4-BE49-F238E27FC236}">
                <a16:creationId xmlns:a16="http://schemas.microsoft.com/office/drawing/2014/main" id="{D78BE8C6-7406-47C8-9345-F5992514F2B8}"/>
              </a:ext>
            </a:extLst>
          </p:cNvPr>
          <p:cNvSpPr>
            <a:spLocks xmlns:a="http://schemas.openxmlformats.org/drawingml/2006/main" noGrp="1"/>
          </p:cNvSpPr>
          <p:nvPr/>
        </p:nvSpPr>
        <p:spPr>
          <a:xfrm xmlns:a="http://schemas.openxmlformats.org/drawingml/2006/main">
            <a:off x="609600" y="43815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Identische Ergebnistupel erscheinen genau einmal.</a:t>
            </a:r>
          </a:p>
        </p:txBody>
      </p:sp>
    </p:spTree>
    <p:extLst>
      <p:ext uri="{BB962C8B-B14F-4D97-AF65-F5344CB8AC3E}">
        <p14:creationId xmlns:p14="http://schemas.microsoft.com/office/powerpoint/2010/main" val="25713994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4958F05-CE4B-40F3-8855-60A906888EA2}"/>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Projektion: Namen</a:t>
            </a:r>
          </a:p>
        </p:txBody>
      </p:sp>
      <p:sp>
        <p:nvSpPr>
          <p:cNvPr id="2" name="">
            <a:extLst xmlns:a="http://schemas.openxmlformats.org/drawingml/2006/main">
              <a:ext uri="{FF2B5EF4-FFF2-40B4-BE49-F238E27FC236}">
                <a16:creationId xmlns:a16="http://schemas.microsoft.com/office/drawing/2014/main" id="{0FC4DB52-C6ED-49D4-8618-D7CF051CBE66}"/>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3C29A5D5-9946-4852-ADFA-BA4434984EAA}"/>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6</a:t>
            </a:r>
          </a:p>
        </p:txBody>
      </p:sp>
      <p:sp>
        <p:nvSpPr>
          <p:cNvPr id="4" name="">
            <a:extLst xmlns:a="http://schemas.openxmlformats.org/drawingml/2006/main">
              <a:ext uri="{FF2B5EF4-FFF2-40B4-BE49-F238E27FC236}">
                <a16:creationId xmlns:a16="http://schemas.microsoft.com/office/drawing/2014/main" id="{32127D3B-2F8F-40A9-B558-25C865FD86B7}"/>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14</a:t>
            </a:r>
          </a:p>
        </p:txBody>
      </p:sp>
      <p:sp>
        <p:nvSpPr>
          <p:cNvPr id="5" name="">
            <a:extLst xmlns:a="http://schemas.openxmlformats.org/drawingml/2006/main">
              <a:ext uri="{FF2B5EF4-FFF2-40B4-BE49-F238E27FC236}">
                <a16:creationId xmlns:a16="http://schemas.microsoft.com/office/drawing/2014/main" id="{F79D8684-11A5-4EC5-9D09-B1FE91A64DB0}"/>
              </a:ext>
            </a:extLst>
          </p:cNvPr>
          <p:cNvSpPr>
            <a:spLocks xmlns:a="http://schemas.openxmlformats.org/drawingml/2006/main" noGrp="1"/>
          </p:cNvSpPr>
          <p:nvPr/>
        </p:nvSpPr>
        <p:spPr>
          <a:xfrm xmlns:a="http://schemas.openxmlformats.org/drawingml/2006/main">
            <a:off x="609600" y="12858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02B33"/>
                </a:solidFill>
                <a:latin typeface="Arial"/>
                <a:ea typeface="Arial"/>
                <a:cs typeface="Arial"/>
              </a:defRPr>
            </a:defPPr>
            <a:lvl1pPr>
              <a:defRPr sz="2100" b="0">
                <a:solidFill>
                  <a:srgbClr val="202B33"/>
                </a:solidFill>
                <a:latin typeface="Arial"/>
                <a:ea typeface="Arial"/>
                <a:cs typeface="Arial"/>
              </a:defRPr>
            </a:lvl1pPr>
            <a:lvl2pPr>
              <a:defRPr sz="2100" b="0">
                <a:solidFill>
                  <a:srgbClr val="202B33"/>
                </a:solidFill>
                <a:latin typeface="Arial"/>
                <a:ea typeface="Arial"/>
                <a:cs typeface="Arial"/>
              </a:defRPr>
            </a:lvl2pPr>
            <a:lvl3pPr>
              <a:defRPr sz="2100" b="0">
                <a:solidFill>
                  <a:srgbClr val="202B33"/>
                </a:solidFill>
                <a:latin typeface="Arial"/>
                <a:ea typeface="Arial"/>
                <a:cs typeface="Arial"/>
              </a:defRPr>
            </a:lvl3pPr>
            <a:lvl4pPr>
              <a:defRPr sz="2100" b="0">
                <a:solidFill>
                  <a:srgbClr val="202B33"/>
                </a:solidFill>
                <a:latin typeface="Arial"/>
                <a:ea typeface="Arial"/>
                <a:cs typeface="Arial"/>
              </a:defRPr>
            </a:lvl4pPr>
            <a:lvl5pPr>
              <a:defRPr sz="2100" b="0">
                <a:solidFill>
                  <a:srgbClr val="202B33"/>
                </a:solidFill>
                <a:latin typeface="Arial"/>
                <a:ea typeface="Arial"/>
                <a:cs typeface="Arial"/>
              </a:defRPr>
            </a:lvl5pPr>
            <a:lvl6pPr>
              <a:defRPr sz="2100" b="0">
                <a:solidFill>
                  <a:srgbClr val="202B33"/>
                </a:solidFill>
                <a:latin typeface="Arial"/>
                <a:ea typeface="Arial"/>
                <a:cs typeface="Arial"/>
              </a:defRPr>
            </a:lvl6pPr>
            <a:lvl7pPr>
              <a:defRPr sz="2100" b="0">
                <a:solidFill>
                  <a:srgbClr val="202B33"/>
                </a:solidFill>
                <a:latin typeface="Arial"/>
                <a:ea typeface="Arial"/>
                <a:cs typeface="Arial"/>
              </a:defRPr>
            </a:lvl7pPr>
            <a:lvl8pPr>
              <a:defRPr sz="2100" b="0">
                <a:solidFill>
                  <a:srgbClr val="202B33"/>
                </a:solidFill>
                <a:latin typeface="Arial"/>
                <a:ea typeface="Arial"/>
                <a:cs typeface="Arial"/>
              </a:defRPr>
            </a:lvl8pPr>
            <a:lvl9pPr>
              <a:defRPr sz="2100" b="0">
                <a:solidFill>
                  <a:srgbClr val="202B33"/>
                </a:solidFill>
                <a:latin typeface="Arial"/>
                <a:ea typeface="Arial"/>
                <a:cs typeface="Arial"/>
              </a:defRPr>
            </a:lvl9pPr>
          </a:lstStyle>
          <a:p xmlns:a="http://schemas.openxmlformats.org/drawingml/2006/main">
            <a:pPr>
              <a:defRPr sz="2100" b="0">
                <a:solidFill>
                  <a:srgbClr val="202B33"/>
                </a:solidFill>
                <a:latin typeface="Arial"/>
                <a:ea typeface="Arial"/>
                <a:cs typeface="Arial"/>
              </a:defRPr>
            </a:pPr>
            <a:r>
              <a:rPr sz="2100" b="0">
                <a:solidFill>
                  <a:srgbClr val="202B33"/>
                </a:solidFill>
                <a:latin typeface="Arial"/>
                <a:ea typeface="Arial"/>
                <a:cs typeface="Arial"/>
              </a:rPr>
              <a:t>„Gib die Namen aller Studenten aus.“</a:t>
            </a:r>
          </a:p>
        </p:txBody>
      </p:sp>
      <p:sp>
        <p:nvSpPr>
          <p:cNvPr id="6" name="">
            <a:extLst xmlns:a="http://schemas.openxmlformats.org/drawingml/2006/main">
              <a:ext uri="{FF2B5EF4-FFF2-40B4-BE49-F238E27FC236}">
                <a16:creationId xmlns:a16="http://schemas.microsoft.com/office/drawing/2014/main" id="{90347AE0-8710-43C0-ACE1-28DFAE77952F}"/>
              </a:ext>
            </a:extLst>
          </p:cNvPr>
          <p:cNvSpPr>
            <a:spLocks xmlns:a="http://schemas.openxmlformats.org/drawingml/2006/main" noGrp="1"/>
          </p:cNvSpPr>
          <p:nvPr/>
        </p:nvSpPr>
        <p:spPr>
          <a:xfrm xmlns:a="http://schemas.openxmlformats.org/drawingml/2006/main">
            <a:off x="609600" y="1857375"/>
            <a:ext cx="269329" cy="5657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2700" b="0">
                <a:solidFill>
                  <a:srgbClr val="005293"/>
                </a:solidFill>
                <a:latin typeface="STIX Two Math"/>
                <a:ea typeface="STIX Two Math"/>
                <a:cs typeface="STIX Two Math"/>
              </a:defRPr>
            </a:defPPr>
            <a:lvl1pPr>
              <a:defRPr sz="2700" b="0">
                <a:solidFill>
                  <a:srgbClr val="005293"/>
                </a:solidFill>
                <a:latin typeface="STIX Two Math"/>
                <a:ea typeface="STIX Two Math"/>
                <a:cs typeface="STIX Two Math"/>
              </a:defRPr>
            </a:lvl1pPr>
            <a:lvl2pPr>
              <a:defRPr sz="2700" b="0">
                <a:solidFill>
                  <a:srgbClr val="005293"/>
                </a:solidFill>
                <a:latin typeface="STIX Two Math"/>
                <a:ea typeface="STIX Two Math"/>
                <a:cs typeface="STIX Two Math"/>
              </a:defRPr>
            </a:lvl2pPr>
            <a:lvl3pPr>
              <a:defRPr sz="2700" b="0">
                <a:solidFill>
                  <a:srgbClr val="005293"/>
                </a:solidFill>
                <a:latin typeface="STIX Two Math"/>
                <a:ea typeface="STIX Two Math"/>
                <a:cs typeface="STIX Two Math"/>
              </a:defRPr>
            </a:lvl3pPr>
            <a:lvl4pPr>
              <a:defRPr sz="2700" b="0">
                <a:solidFill>
                  <a:srgbClr val="005293"/>
                </a:solidFill>
                <a:latin typeface="STIX Two Math"/>
                <a:ea typeface="STIX Two Math"/>
                <a:cs typeface="STIX Two Math"/>
              </a:defRPr>
            </a:lvl4pPr>
            <a:lvl5pPr>
              <a:defRPr sz="2700" b="0">
                <a:solidFill>
                  <a:srgbClr val="005293"/>
                </a:solidFill>
                <a:latin typeface="STIX Two Math"/>
                <a:ea typeface="STIX Two Math"/>
                <a:cs typeface="STIX Two Math"/>
              </a:defRPr>
            </a:lvl5pPr>
            <a:lvl6pPr>
              <a:defRPr sz="2700" b="0">
                <a:solidFill>
                  <a:srgbClr val="005293"/>
                </a:solidFill>
                <a:latin typeface="STIX Two Math"/>
                <a:ea typeface="STIX Two Math"/>
                <a:cs typeface="STIX Two Math"/>
              </a:defRPr>
            </a:lvl6pPr>
            <a:lvl7pPr>
              <a:defRPr sz="2700" b="0">
                <a:solidFill>
                  <a:srgbClr val="005293"/>
                </a:solidFill>
                <a:latin typeface="STIX Two Math"/>
                <a:ea typeface="STIX Two Math"/>
                <a:cs typeface="STIX Two Math"/>
              </a:defRPr>
            </a:lvl7pPr>
            <a:lvl8pPr>
              <a:defRPr sz="2700" b="0">
                <a:solidFill>
                  <a:srgbClr val="005293"/>
                </a:solidFill>
                <a:latin typeface="STIX Two Math"/>
                <a:ea typeface="STIX Two Math"/>
                <a:cs typeface="STIX Two Math"/>
              </a:defRPr>
            </a:lvl8pPr>
            <a:lvl9pPr>
              <a:defRPr sz="2700" b="0">
                <a:solidFill>
                  <a:srgbClr val="005293"/>
                </a:solidFill>
                <a:latin typeface="STIX Two Math"/>
                <a:ea typeface="STIX Two Math"/>
                <a:cs typeface="STIX Two Math"/>
              </a:defRPr>
            </a:lvl9pPr>
          </a:lstStyle>
          <a:p xmlns:a="http://schemas.openxmlformats.org/drawingml/2006/main">
            <a:pPr>
              <a:defRPr sz="2700" b="0">
                <a:solidFill>
                  <a:srgbClr val="005293"/>
                </a:solidFill>
                <a:latin typeface="STIX Two Math"/>
                <a:ea typeface="STIX Two Math"/>
                <a:cs typeface="STIX Two Math"/>
              </a:defRPr>
            </a:pPr>
            <a:r>
              <a:rPr sz="2700" b="0">
                <a:solidFill>
                  <a:srgbClr val="005293"/>
                </a:solidFill>
                <a:latin typeface="STIX Two Math"/>
                <a:ea typeface="STIX Two Math"/>
                <a:cs typeface="STIX Two Math"/>
              </a:rPr>
              <a:t>π</a:t>
            </a:r>
          </a:p>
        </p:txBody>
      </p:sp>
      <p:sp>
        <p:nvSpPr>
          <p:cNvPr id="7" name="">
            <a:extLst xmlns:a="http://schemas.openxmlformats.org/drawingml/2006/main">
              <a:ext uri="{FF2B5EF4-FFF2-40B4-BE49-F238E27FC236}">
                <a16:creationId xmlns:a16="http://schemas.microsoft.com/office/drawing/2014/main" id="{2444003D-F59F-430B-BF80-04953217F614}"/>
              </a:ext>
            </a:extLst>
          </p:cNvPr>
          <p:cNvSpPr>
            <a:spLocks xmlns:a="http://schemas.openxmlformats.org/drawingml/2006/main" noGrp="1"/>
          </p:cNvSpPr>
          <p:nvPr/>
        </p:nvSpPr>
        <p:spPr>
          <a:xfrm xmlns:a="http://schemas.openxmlformats.org/drawingml/2006/main">
            <a:off x="831304" y="2052828"/>
            <a:ext cx="632357" cy="367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1755" b="0">
                <a:solidFill>
                  <a:srgbClr val="005293"/>
                </a:solidFill>
                <a:latin typeface="STIX Two Math"/>
                <a:ea typeface="STIX Two Math"/>
                <a:cs typeface="STIX Two Math"/>
              </a:defRPr>
            </a:defPPr>
            <a:lvl1pPr>
              <a:defRPr sz="1755" b="0">
                <a:solidFill>
                  <a:srgbClr val="005293"/>
                </a:solidFill>
                <a:latin typeface="STIX Two Math"/>
                <a:ea typeface="STIX Two Math"/>
                <a:cs typeface="STIX Two Math"/>
              </a:defRPr>
            </a:lvl1pPr>
            <a:lvl2pPr>
              <a:defRPr sz="1755" b="0">
                <a:solidFill>
                  <a:srgbClr val="005293"/>
                </a:solidFill>
                <a:latin typeface="STIX Two Math"/>
                <a:ea typeface="STIX Two Math"/>
                <a:cs typeface="STIX Two Math"/>
              </a:defRPr>
            </a:lvl2pPr>
            <a:lvl3pPr>
              <a:defRPr sz="1755" b="0">
                <a:solidFill>
                  <a:srgbClr val="005293"/>
                </a:solidFill>
                <a:latin typeface="STIX Two Math"/>
                <a:ea typeface="STIX Two Math"/>
                <a:cs typeface="STIX Two Math"/>
              </a:defRPr>
            </a:lvl3pPr>
            <a:lvl4pPr>
              <a:defRPr sz="1755" b="0">
                <a:solidFill>
                  <a:srgbClr val="005293"/>
                </a:solidFill>
                <a:latin typeface="STIX Two Math"/>
                <a:ea typeface="STIX Two Math"/>
                <a:cs typeface="STIX Two Math"/>
              </a:defRPr>
            </a:lvl4pPr>
            <a:lvl5pPr>
              <a:defRPr sz="1755" b="0">
                <a:solidFill>
                  <a:srgbClr val="005293"/>
                </a:solidFill>
                <a:latin typeface="STIX Two Math"/>
                <a:ea typeface="STIX Two Math"/>
                <a:cs typeface="STIX Two Math"/>
              </a:defRPr>
            </a:lvl5pPr>
            <a:lvl6pPr>
              <a:defRPr sz="1755" b="0">
                <a:solidFill>
                  <a:srgbClr val="005293"/>
                </a:solidFill>
                <a:latin typeface="STIX Two Math"/>
                <a:ea typeface="STIX Two Math"/>
                <a:cs typeface="STIX Two Math"/>
              </a:defRPr>
            </a:lvl6pPr>
            <a:lvl7pPr>
              <a:defRPr sz="1755" b="0">
                <a:solidFill>
                  <a:srgbClr val="005293"/>
                </a:solidFill>
                <a:latin typeface="STIX Two Math"/>
                <a:ea typeface="STIX Two Math"/>
                <a:cs typeface="STIX Two Math"/>
              </a:defRPr>
            </a:lvl7pPr>
            <a:lvl8pPr>
              <a:defRPr sz="1755" b="0">
                <a:solidFill>
                  <a:srgbClr val="005293"/>
                </a:solidFill>
                <a:latin typeface="STIX Two Math"/>
                <a:ea typeface="STIX Two Math"/>
                <a:cs typeface="STIX Two Math"/>
              </a:defRPr>
            </a:lvl8pPr>
            <a:lvl9pPr>
              <a:defRPr sz="1755" b="0">
                <a:solidFill>
                  <a:srgbClr val="005293"/>
                </a:solidFill>
                <a:latin typeface="STIX Two Math"/>
                <a:ea typeface="STIX Two Math"/>
                <a:cs typeface="STIX Two Math"/>
              </a:defRPr>
            </a:lvl9pPr>
          </a:lstStyle>
          <a:p xmlns:a="http://schemas.openxmlformats.org/drawingml/2006/main">
            <a:pPr>
              <a:defRPr sz="1755" b="0">
                <a:solidFill>
                  <a:srgbClr val="005293"/>
                </a:solidFill>
                <a:latin typeface="STIX Two Math"/>
                <a:ea typeface="STIX Two Math"/>
                <a:cs typeface="STIX Two Math"/>
              </a:defRPr>
            </a:pPr>
            <a:r>
              <a:rPr sz="1755" b="0">
                <a:solidFill>
                  <a:srgbClr val="005293"/>
                </a:solidFill>
                <a:latin typeface="STIX Two Math"/>
                <a:ea typeface="STIX Two Math"/>
                <a:cs typeface="STIX Two Math"/>
              </a:rPr>
              <a:t>Name</a:t>
            </a:r>
          </a:p>
        </p:txBody>
      </p:sp>
      <p:sp>
        <p:nvSpPr>
          <p:cNvPr id="8" name="">
            <a:extLst xmlns:a="http://schemas.openxmlformats.org/drawingml/2006/main">
              <a:ext uri="{FF2B5EF4-FFF2-40B4-BE49-F238E27FC236}">
                <a16:creationId xmlns:a16="http://schemas.microsoft.com/office/drawing/2014/main" id="{7089595F-EB0E-4E4A-A4F6-97CC5D6E1E9E}"/>
              </a:ext>
            </a:extLst>
          </p:cNvPr>
          <p:cNvSpPr>
            <a:spLocks xmlns:a="http://schemas.openxmlformats.org/drawingml/2006/main" noGrp="1"/>
          </p:cNvSpPr>
          <p:nvPr/>
        </p:nvSpPr>
        <p:spPr>
          <a:xfrm xmlns:a="http://schemas.openxmlformats.org/drawingml/2006/main">
            <a:off x="1416036" y="1857375"/>
            <a:ext cx="1793862" cy="5657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2700" b="0">
                <a:solidFill>
                  <a:srgbClr val="005293"/>
                </a:solidFill>
                <a:latin typeface="STIX Two Math"/>
                <a:ea typeface="STIX Two Math"/>
                <a:cs typeface="STIX Two Math"/>
              </a:defRPr>
            </a:defPPr>
            <a:lvl1pPr>
              <a:defRPr sz="2700" b="0">
                <a:solidFill>
                  <a:srgbClr val="005293"/>
                </a:solidFill>
                <a:latin typeface="STIX Two Math"/>
                <a:ea typeface="STIX Two Math"/>
                <a:cs typeface="STIX Two Math"/>
              </a:defRPr>
            </a:lvl1pPr>
            <a:lvl2pPr>
              <a:defRPr sz="2700" b="0">
                <a:solidFill>
                  <a:srgbClr val="005293"/>
                </a:solidFill>
                <a:latin typeface="STIX Two Math"/>
                <a:ea typeface="STIX Two Math"/>
                <a:cs typeface="STIX Two Math"/>
              </a:defRPr>
            </a:lvl2pPr>
            <a:lvl3pPr>
              <a:defRPr sz="2700" b="0">
                <a:solidFill>
                  <a:srgbClr val="005293"/>
                </a:solidFill>
                <a:latin typeface="STIX Two Math"/>
                <a:ea typeface="STIX Two Math"/>
                <a:cs typeface="STIX Two Math"/>
              </a:defRPr>
            </a:lvl3pPr>
            <a:lvl4pPr>
              <a:defRPr sz="2700" b="0">
                <a:solidFill>
                  <a:srgbClr val="005293"/>
                </a:solidFill>
                <a:latin typeface="STIX Two Math"/>
                <a:ea typeface="STIX Two Math"/>
                <a:cs typeface="STIX Two Math"/>
              </a:defRPr>
            </a:lvl4pPr>
            <a:lvl5pPr>
              <a:defRPr sz="2700" b="0">
                <a:solidFill>
                  <a:srgbClr val="005293"/>
                </a:solidFill>
                <a:latin typeface="STIX Two Math"/>
                <a:ea typeface="STIX Two Math"/>
                <a:cs typeface="STIX Two Math"/>
              </a:defRPr>
            </a:lvl5pPr>
            <a:lvl6pPr>
              <a:defRPr sz="2700" b="0">
                <a:solidFill>
                  <a:srgbClr val="005293"/>
                </a:solidFill>
                <a:latin typeface="STIX Two Math"/>
                <a:ea typeface="STIX Two Math"/>
                <a:cs typeface="STIX Two Math"/>
              </a:defRPr>
            </a:lvl6pPr>
            <a:lvl7pPr>
              <a:defRPr sz="2700" b="0">
                <a:solidFill>
                  <a:srgbClr val="005293"/>
                </a:solidFill>
                <a:latin typeface="STIX Two Math"/>
                <a:ea typeface="STIX Two Math"/>
                <a:cs typeface="STIX Two Math"/>
              </a:defRPr>
            </a:lvl7pPr>
            <a:lvl8pPr>
              <a:defRPr sz="2700" b="0">
                <a:solidFill>
                  <a:srgbClr val="005293"/>
                </a:solidFill>
                <a:latin typeface="STIX Two Math"/>
                <a:ea typeface="STIX Two Math"/>
                <a:cs typeface="STIX Two Math"/>
              </a:defRPr>
            </a:lvl8pPr>
            <a:lvl9pPr>
              <a:defRPr sz="2700" b="0">
                <a:solidFill>
                  <a:srgbClr val="005293"/>
                </a:solidFill>
                <a:latin typeface="STIX Two Math"/>
                <a:ea typeface="STIX Two Math"/>
                <a:cs typeface="STIX Two Math"/>
              </a:defRPr>
            </a:lvl9pPr>
          </a:lstStyle>
          <a:p xmlns:a="http://schemas.openxmlformats.org/drawingml/2006/main">
            <a:pPr>
              <a:defRPr sz="2700" b="0">
                <a:solidFill>
                  <a:srgbClr val="005293"/>
                </a:solidFill>
                <a:latin typeface="STIX Two Math"/>
                <a:ea typeface="STIX Two Math"/>
                <a:cs typeface="STIX Two Math"/>
              </a:defRPr>
            </a:pPr>
            <a:r>
              <a:rPr sz="2700" b="0">
                <a:solidFill>
                  <a:srgbClr val="005293"/>
                </a:solidFill>
                <a:latin typeface="STIX Two Math"/>
                <a:ea typeface="STIX Two Math"/>
                <a:cs typeface="STIX Two Math"/>
              </a:rPr>
              <a:t>(Studenten)</a:t>
            </a:r>
          </a:p>
        </p:txBody>
      </p:sp>
      <p:sp>
        <p:nvSpPr>
          <p:cNvPr id="9" name="">
            <a:extLst xmlns:a="http://schemas.openxmlformats.org/drawingml/2006/main">
              <a:ext uri="{FF2B5EF4-FFF2-40B4-BE49-F238E27FC236}">
                <a16:creationId xmlns:a16="http://schemas.microsoft.com/office/drawing/2014/main" id="{6AB830DF-8AAB-4D4D-AD85-052A14DA2A28}"/>
              </a:ext>
            </a:extLst>
          </p:cNvPr>
          <p:cNvSpPr>
            <a:spLocks xmlns:a="http://schemas.openxmlformats.org/drawingml/2006/main" noGrp="1"/>
          </p:cNvSpPr>
          <p:nvPr/>
        </p:nvSpPr>
        <p:spPr>
          <a:xfrm xmlns:a="http://schemas.openxmlformats.org/drawingml/2006/main">
            <a:off x="609600" y="252412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Studenten</a:t>
            </a:r>
          </a:p>
        </p:txBody>
      </p:sp>
      <p:sp>
        <p:nvSpPr>
          <p:cNvPr id="10" name="">
            <a:extLst xmlns:a="http://schemas.openxmlformats.org/drawingml/2006/main">
              <a:ext uri="{FF2B5EF4-FFF2-40B4-BE49-F238E27FC236}">
                <a16:creationId xmlns:a16="http://schemas.microsoft.com/office/drawing/2014/main" id="{57A2B157-3189-4C96-97B3-FB9DD9686B41}"/>
              </a:ext>
            </a:extLst>
          </p:cNvPr>
          <p:cNvSpPr>
            <a:spLocks xmlns:a="http://schemas.openxmlformats.org/drawingml/2006/main" noGrp="1"/>
          </p:cNvSpPr>
          <p:nvPr/>
        </p:nvSpPr>
        <p:spPr>
          <a:xfrm xmlns:a="http://schemas.openxmlformats.org/drawingml/2006/main">
            <a:off x="7620000" y="252412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Ergebnis</a:t>
            </a:r>
          </a:p>
        </p:txBody>
      </p:sp>
      <p:graphicFrame>
        <p:nvGraphicFramePr>
          <p:cNvPr id="11" name="">
            <a:extLst xmlns:a="http://schemas.openxmlformats.org/drawingml/2006/main">
              <a:ext uri="{FF2B5EF4-FFF2-40B4-BE49-F238E27FC236}">
                <a16:creationId xmlns:a16="http://schemas.microsoft.com/office/drawing/2014/main" id="{8EB768DE-DB3E-4FDE-A06E-7FBC7658CE83}"/>
              </a:ext>
            </a:extLst>
          </p:cNvPr>
          <p:cNvGraphicFramePr/>
          <p:nvPr/>
        </p:nvGraphicFramePr>
        <p:xfrm>
          <a:off xmlns:a="http://schemas.openxmlformats.org/drawingml/2006/main" x="609600" y="2971800"/>
          <a:ext xmlns:a="http://schemas.openxmlformats.org/drawingml/2006/main" cx="6191250" cy="3000375"/>
        </p:xfrm>
        <a:graphic xmlns:a="http://schemas.openxmlformats.org/drawingml/2006/main">
          <a:graphicData uri="http://schemas.openxmlformats.org/drawingml/2006/table">
            <a:tbl>
              <a:tblPr/>
              <a:tblGrid>
                <a:gridCol w="1428750"/>
                <a:gridCol w="3143250"/>
                <a:gridCol w="1619250"/>
              </a:tblGrid>
              <a:tr h="333375">
                <a:tc>
                  <a:txBody>
                    <a:bodyPr/>
                    <a:lstStyle/>
                    <a:p>
                      <a:r>
                        <a:rPr sz="1725" b="1">
                          <a:solidFill>
                            <a:srgbClr val="FFFFFF"/>
                          </a:solidFill>
                          <a:latin typeface="Arial"/>
                          <a:ea typeface="Arial"/>
                          <a:cs typeface="Arial"/>
                        </a:rPr>
                        <a:t>MatrNr</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725" b="1">
                          <a:solidFill>
                            <a:srgbClr val="FFFFFF"/>
                          </a:solidFill>
                          <a:latin typeface="Arial"/>
                          <a:ea typeface="Arial"/>
                          <a:cs typeface="Arial"/>
                        </a:rPr>
                        <a:t>Name</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1725" b="1">
                          <a:solidFill>
                            <a:srgbClr val="FFFFFF"/>
                          </a:solidFill>
                          <a:latin typeface="Arial"/>
                          <a:ea typeface="Arial"/>
                          <a:cs typeface="Arial"/>
                        </a:rPr>
                        <a:t>Semester</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333375">
                <a:tc>
                  <a:txBody>
                    <a:bodyPr/>
                    <a:lstStyle/>
                    <a:p>
                      <a:r>
                        <a:rPr sz="1725" b="0">
                          <a:solidFill>
                            <a:srgbClr val="202B33"/>
                          </a:solidFill>
                          <a:latin typeface="Arial"/>
                          <a:ea typeface="Arial"/>
                          <a:cs typeface="Arial"/>
                        </a:rPr>
                        <a:t>24002</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725" b="0">
                          <a:solidFill>
                            <a:srgbClr val="202B33"/>
                          </a:solidFill>
                          <a:latin typeface="Arial"/>
                          <a:ea typeface="Arial"/>
                          <a:cs typeface="Arial"/>
                        </a:rPr>
                        <a:t>Xenokrates</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725" b="0">
                          <a:solidFill>
                            <a:srgbClr val="202B33"/>
                          </a:solidFill>
                          <a:latin typeface="Arial"/>
                          <a:ea typeface="Arial"/>
                          <a:cs typeface="Arial"/>
                        </a:rPr>
                        <a:t>18</a:t>
                      </a:r>
                    </a:p>
                  </a:txBody>
                  <a:tcPr marL="95250" marR="66675" marT="28575" marB="28575" anchor="ctr">
                    <a:lnR w="6668">
                      <a:solidFill>
                        <a:srgbClr val="CBD8E1"/>
                      </a:solidFill>
                    </a:lnR>
                    <a:lnB w="6668">
                      <a:solidFill>
                        <a:srgbClr val="CBD8E1"/>
                      </a:solidFill>
                    </a:lnB>
                    <a:solidFill>
                      <a:srgbClr val="FFFFFF"/>
                    </a:solidFill>
                  </a:tcPr>
                </a:tc>
              </a:tr>
              <a:tr h="333375">
                <a:tc>
                  <a:txBody>
                    <a:bodyPr/>
                    <a:lstStyle/>
                    <a:p>
                      <a:r>
                        <a:rPr sz="1725" b="0">
                          <a:solidFill>
                            <a:srgbClr val="202B33"/>
                          </a:solidFill>
                          <a:latin typeface="Arial"/>
                          <a:ea typeface="Arial"/>
                          <a:cs typeface="Arial"/>
                        </a:rPr>
                        <a:t>25403</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725" b="0">
                          <a:solidFill>
                            <a:srgbClr val="202B33"/>
                          </a:solidFill>
                          <a:latin typeface="Arial"/>
                          <a:ea typeface="Arial"/>
                          <a:cs typeface="Arial"/>
                        </a:rPr>
                        <a:t>Jonas</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725" b="0">
                          <a:solidFill>
                            <a:srgbClr val="202B33"/>
                          </a:solidFill>
                          <a:latin typeface="Arial"/>
                          <a:ea typeface="Arial"/>
                          <a:cs typeface="Arial"/>
                        </a:rPr>
                        <a:t>12</a:t>
                      </a:r>
                    </a:p>
                  </a:txBody>
                  <a:tcPr marL="95250" marR="66675" marT="28575" marB="28575" anchor="ctr">
                    <a:lnR w="6668">
                      <a:solidFill>
                        <a:srgbClr val="CBD8E1"/>
                      </a:solidFill>
                    </a:lnR>
                    <a:lnB w="6668">
                      <a:solidFill>
                        <a:srgbClr val="CBD8E1"/>
                      </a:solidFill>
                    </a:lnB>
                    <a:solidFill>
                      <a:srgbClr val="EDF4F9"/>
                    </a:solidFill>
                  </a:tcPr>
                </a:tc>
              </a:tr>
              <a:tr h="333375">
                <a:tc>
                  <a:txBody>
                    <a:bodyPr/>
                    <a:lstStyle/>
                    <a:p>
                      <a:r>
                        <a:rPr sz="1725" b="0">
                          <a:solidFill>
                            <a:srgbClr val="202B33"/>
                          </a:solidFill>
                          <a:latin typeface="Arial"/>
                          <a:ea typeface="Arial"/>
                          <a:cs typeface="Arial"/>
                        </a:rPr>
                        <a:t>26120</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725" b="0">
                          <a:solidFill>
                            <a:srgbClr val="202B33"/>
                          </a:solidFill>
                          <a:latin typeface="Arial"/>
                          <a:ea typeface="Arial"/>
                          <a:cs typeface="Arial"/>
                        </a:rPr>
                        <a:t>Fichte</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725" b="0">
                          <a:solidFill>
                            <a:srgbClr val="202B33"/>
                          </a:solidFill>
                          <a:latin typeface="Arial"/>
                          <a:ea typeface="Arial"/>
                          <a:cs typeface="Arial"/>
                        </a:rPr>
                        <a:t>10</a:t>
                      </a:r>
                    </a:p>
                  </a:txBody>
                  <a:tcPr marL="95250" marR="66675" marT="28575" marB="28575" anchor="ctr">
                    <a:lnR w="6668">
                      <a:solidFill>
                        <a:srgbClr val="CBD8E1"/>
                      </a:solidFill>
                    </a:lnR>
                    <a:lnB w="6668">
                      <a:solidFill>
                        <a:srgbClr val="CBD8E1"/>
                      </a:solidFill>
                    </a:lnB>
                    <a:solidFill>
                      <a:srgbClr val="FFFFFF"/>
                    </a:solidFill>
                  </a:tcPr>
                </a:tc>
              </a:tr>
              <a:tr h="333375">
                <a:tc>
                  <a:txBody>
                    <a:bodyPr/>
                    <a:lstStyle/>
                    <a:p>
                      <a:r>
                        <a:rPr sz="1725" b="0">
                          <a:solidFill>
                            <a:srgbClr val="202B33"/>
                          </a:solidFill>
                          <a:latin typeface="Arial"/>
                          <a:ea typeface="Arial"/>
                          <a:cs typeface="Arial"/>
                        </a:rPr>
                        <a:t>26830</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725" b="0">
                          <a:solidFill>
                            <a:srgbClr val="202B33"/>
                          </a:solidFill>
                          <a:latin typeface="Arial"/>
                          <a:ea typeface="Arial"/>
                          <a:cs typeface="Arial"/>
                        </a:rPr>
                        <a:t>Aristoxenos</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725" b="0">
                          <a:solidFill>
                            <a:srgbClr val="202B33"/>
                          </a:solidFill>
                          <a:latin typeface="Arial"/>
                          <a:ea typeface="Arial"/>
                          <a:cs typeface="Arial"/>
                        </a:rPr>
                        <a:t>8</a:t>
                      </a:r>
                    </a:p>
                  </a:txBody>
                  <a:tcPr marL="95250" marR="66675" marT="28575" marB="28575" anchor="ctr">
                    <a:lnR w="6668">
                      <a:solidFill>
                        <a:srgbClr val="CBD8E1"/>
                      </a:solidFill>
                    </a:lnR>
                    <a:lnB w="6668">
                      <a:solidFill>
                        <a:srgbClr val="CBD8E1"/>
                      </a:solidFill>
                    </a:lnB>
                    <a:solidFill>
                      <a:srgbClr val="EDF4F9"/>
                    </a:solidFill>
                  </a:tcPr>
                </a:tc>
              </a:tr>
              <a:tr h="333375">
                <a:tc>
                  <a:txBody>
                    <a:bodyPr/>
                    <a:lstStyle/>
                    <a:p>
                      <a:r>
                        <a:rPr sz="1725" b="0">
                          <a:solidFill>
                            <a:srgbClr val="202B33"/>
                          </a:solidFill>
                          <a:latin typeface="Arial"/>
                          <a:ea typeface="Arial"/>
                          <a:cs typeface="Arial"/>
                        </a:rPr>
                        <a:t>27550</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725" b="0">
                          <a:solidFill>
                            <a:srgbClr val="202B33"/>
                          </a:solidFill>
                          <a:latin typeface="Arial"/>
                          <a:ea typeface="Arial"/>
                          <a:cs typeface="Arial"/>
                        </a:rPr>
                        <a:t>Schopenhauer</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725" b="0">
                          <a:solidFill>
                            <a:srgbClr val="202B33"/>
                          </a:solidFill>
                          <a:latin typeface="Arial"/>
                          <a:ea typeface="Arial"/>
                          <a:cs typeface="Arial"/>
                        </a:rPr>
                        <a:t>6</a:t>
                      </a:r>
                    </a:p>
                  </a:txBody>
                  <a:tcPr marL="95250" marR="66675" marT="28575" marB="28575" anchor="ctr">
                    <a:lnR w="6668">
                      <a:solidFill>
                        <a:srgbClr val="CBD8E1"/>
                      </a:solidFill>
                    </a:lnR>
                    <a:lnB w="6668">
                      <a:solidFill>
                        <a:srgbClr val="CBD8E1"/>
                      </a:solidFill>
                    </a:lnB>
                    <a:solidFill>
                      <a:srgbClr val="FFFFFF"/>
                    </a:solidFill>
                  </a:tcPr>
                </a:tc>
              </a:tr>
              <a:tr h="333375">
                <a:tc>
                  <a:txBody>
                    <a:bodyPr/>
                    <a:lstStyle/>
                    <a:p>
                      <a:r>
                        <a:rPr sz="1725" b="0">
                          <a:solidFill>
                            <a:srgbClr val="202B33"/>
                          </a:solidFill>
                          <a:latin typeface="Arial"/>
                          <a:ea typeface="Arial"/>
                          <a:cs typeface="Arial"/>
                        </a:rPr>
                        <a:t>28106</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725" b="0">
                          <a:solidFill>
                            <a:srgbClr val="202B33"/>
                          </a:solidFill>
                          <a:latin typeface="Arial"/>
                          <a:ea typeface="Arial"/>
                          <a:cs typeface="Arial"/>
                        </a:rPr>
                        <a:t>Carnap</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725" b="0">
                          <a:solidFill>
                            <a:srgbClr val="202B33"/>
                          </a:solidFill>
                          <a:latin typeface="Arial"/>
                          <a:ea typeface="Arial"/>
                          <a:cs typeface="Arial"/>
                        </a:rPr>
                        <a:t>3</a:t>
                      </a:r>
                    </a:p>
                  </a:txBody>
                  <a:tcPr marL="95250" marR="66675" marT="28575" marB="28575" anchor="ctr">
                    <a:lnR w="6668">
                      <a:solidFill>
                        <a:srgbClr val="CBD8E1"/>
                      </a:solidFill>
                    </a:lnR>
                    <a:lnB w="6668">
                      <a:solidFill>
                        <a:srgbClr val="CBD8E1"/>
                      </a:solidFill>
                    </a:lnB>
                    <a:solidFill>
                      <a:srgbClr val="EDF4F9"/>
                    </a:solidFill>
                  </a:tcPr>
                </a:tc>
              </a:tr>
              <a:tr h="333375">
                <a:tc>
                  <a:txBody>
                    <a:bodyPr/>
                    <a:lstStyle/>
                    <a:p>
                      <a:r>
                        <a:rPr sz="1725" b="0">
                          <a:solidFill>
                            <a:srgbClr val="202B33"/>
                          </a:solidFill>
                          <a:latin typeface="Arial"/>
                          <a:ea typeface="Arial"/>
                          <a:cs typeface="Arial"/>
                        </a:rPr>
                        <a:t>29120</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725" b="0">
                          <a:solidFill>
                            <a:srgbClr val="202B33"/>
                          </a:solidFill>
                          <a:latin typeface="Arial"/>
                          <a:ea typeface="Arial"/>
                          <a:cs typeface="Arial"/>
                        </a:rPr>
                        <a:t>Theophrastos</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725" b="0">
                          <a:solidFill>
                            <a:srgbClr val="202B33"/>
                          </a:solidFill>
                          <a:latin typeface="Arial"/>
                          <a:ea typeface="Arial"/>
                          <a:cs typeface="Arial"/>
                        </a:rPr>
                        <a:t>2</a:t>
                      </a:r>
                    </a:p>
                  </a:txBody>
                  <a:tcPr marL="95250" marR="66675" marT="28575" marB="28575" anchor="ctr">
                    <a:lnR w="6668">
                      <a:solidFill>
                        <a:srgbClr val="CBD8E1"/>
                      </a:solidFill>
                    </a:lnR>
                    <a:lnB w="6668">
                      <a:solidFill>
                        <a:srgbClr val="CBD8E1"/>
                      </a:solidFill>
                    </a:lnB>
                    <a:solidFill>
                      <a:srgbClr val="FFFFFF"/>
                    </a:solidFill>
                  </a:tcPr>
                </a:tc>
              </a:tr>
              <a:tr h="333375">
                <a:tc>
                  <a:txBody>
                    <a:bodyPr/>
                    <a:lstStyle/>
                    <a:p>
                      <a:r>
                        <a:rPr sz="1725" b="0">
                          <a:solidFill>
                            <a:srgbClr val="202B33"/>
                          </a:solidFill>
                          <a:latin typeface="Arial"/>
                          <a:ea typeface="Arial"/>
                          <a:cs typeface="Arial"/>
                        </a:rPr>
                        <a:t>29555</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725" b="0">
                          <a:solidFill>
                            <a:srgbClr val="202B33"/>
                          </a:solidFill>
                          <a:latin typeface="Arial"/>
                          <a:ea typeface="Arial"/>
                          <a:cs typeface="Arial"/>
                        </a:rPr>
                        <a:t>Feuerbach</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725" b="0">
                          <a:solidFill>
                            <a:srgbClr val="202B33"/>
                          </a:solidFill>
                          <a:latin typeface="Arial"/>
                          <a:ea typeface="Arial"/>
                          <a:cs typeface="Arial"/>
                        </a:rPr>
                        <a:t>2</a:t>
                      </a:r>
                    </a:p>
                  </a:txBody>
                  <a:tcPr marL="95250" marR="66675" marT="28575" marB="28575" anchor="ctr">
                    <a:lnR w="6668">
                      <a:solidFill>
                        <a:srgbClr val="CBD8E1"/>
                      </a:solidFill>
                    </a:lnR>
                    <a:lnB w="6668">
                      <a:solidFill>
                        <a:srgbClr val="CBD8E1"/>
                      </a:solidFill>
                    </a:lnB>
                    <a:solidFill>
                      <a:srgbClr val="EDF4F9"/>
                    </a:solidFill>
                  </a:tcPr>
                </a:tc>
              </a:tr>
            </a:tbl>
          </a:graphicData>
        </a:graphic>
      </p:graphicFrame>
      <p:graphicFrame>
        <p:nvGraphicFramePr>
          <p:cNvPr id="12" name="">
            <a:extLst xmlns:a="http://schemas.openxmlformats.org/drawingml/2006/main">
              <a:ext uri="{FF2B5EF4-FFF2-40B4-BE49-F238E27FC236}">
                <a16:creationId xmlns:a16="http://schemas.microsoft.com/office/drawing/2014/main" id="{AB6F9E89-0DD7-4F73-B8F4-66390CB12BDC}"/>
              </a:ext>
            </a:extLst>
          </p:cNvPr>
          <p:cNvGraphicFramePr/>
          <p:nvPr/>
        </p:nvGraphicFramePr>
        <p:xfrm>
          <a:off xmlns:a="http://schemas.openxmlformats.org/drawingml/2006/main" x="7620000" y="2971800"/>
          <a:ext xmlns:a="http://schemas.openxmlformats.org/drawingml/2006/main" cx="3333750" cy="3000375"/>
        </p:xfrm>
        <a:graphic xmlns:a="http://schemas.openxmlformats.org/drawingml/2006/main">
          <a:graphicData uri="http://schemas.openxmlformats.org/drawingml/2006/table">
            <a:tbl>
              <a:tblPr/>
              <a:tblGrid>
                <a:gridCol w="3333750"/>
              </a:tblGrid>
              <a:tr h="333375">
                <a:tc>
                  <a:txBody>
                    <a:bodyPr/>
                    <a:lstStyle/>
                    <a:p>
                      <a:r>
                        <a:rPr sz="1725" b="1">
                          <a:solidFill>
                            <a:srgbClr val="FFFFFF"/>
                          </a:solidFill>
                          <a:latin typeface="Arial"/>
                          <a:ea typeface="Arial"/>
                          <a:cs typeface="Arial"/>
                        </a:rPr>
                        <a:t>Name</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r>
              <a:tr h="333375">
                <a:tc>
                  <a:txBody>
                    <a:bodyPr/>
                    <a:lstStyle/>
                    <a:p>
                      <a:r>
                        <a:rPr sz="1725" b="0">
                          <a:solidFill>
                            <a:srgbClr val="202B33"/>
                          </a:solidFill>
                          <a:latin typeface="Arial"/>
                          <a:ea typeface="Arial"/>
                          <a:cs typeface="Arial"/>
                        </a:rPr>
                        <a:t>Xenokrates</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r>
              <a:tr h="333375">
                <a:tc>
                  <a:txBody>
                    <a:bodyPr/>
                    <a:lstStyle/>
                    <a:p>
                      <a:r>
                        <a:rPr sz="1725" b="0">
                          <a:solidFill>
                            <a:srgbClr val="202B33"/>
                          </a:solidFill>
                          <a:latin typeface="Arial"/>
                          <a:ea typeface="Arial"/>
                          <a:cs typeface="Arial"/>
                        </a:rPr>
                        <a:t>Jonas</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r>
              <a:tr h="333375">
                <a:tc>
                  <a:txBody>
                    <a:bodyPr/>
                    <a:lstStyle/>
                    <a:p>
                      <a:r>
                        <a:rPr sz="1725" b="0">
                          <a:solidFill>
                            <a:srgbClr val="202B33"/>
                          </a:solidFill>
                          <a:latin typeface="Arial"/>
                          <a:ea typeface="Arial"/>
                          <a:cs typeface="Arial"/>
                        </a:rPr>
                        <a:t>Fichte</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r>
              <a:tr h="333375">
                <a:tc>
                  <a:txBody>
                    <a:bodyPr/>
                    <a:lstStyle/>
                    <a:p>
                      <a:r>
                        <a:rPr sz="1725" b="0">
                          <a:solidFill>
                            <a:srgbClr val="202B33"/>
                          </a:solidFill>
                          <a:latin typeface="Arial"/>
                          <a:ea typeface="Arial"/>
                          <a:cs typeface="Arial"/>
                        </a:rPr>
                        <a:t>Aristoxenos</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r>
              <a:tr h="333375">
                <a:tc>
                  <a:txBody>
                    <a:bodyPr/>
                    <a:lstStyle/>
                    <a:p>
                      <a:r>
                        <a:rPr sz="1725" b="0">
                          <a:solidFill>
                            <a:srgbClr val="202B33"/>
                          </a:solidFill>
                          <a:latin typeface="Arial"/>
                          <a:ea typeface="Arial"/>
                          <a:cs typeface="Arial"/>
                        </a:rPr>
                        <a:t>Schopenhauer</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r>
              <a:tr h="333375">
                <a:tc>
                  <a:txBody>
                    <a:bodyPr/>
                    <a:lstStyle/>
                    <a:p>
                      <a:r>
                        <a:rPr sz="1725" b="0">
                          <a:solidFill>
                            <a:srgbClr val="202B33"/>
                          </a:solidFill>
                          <a:latin typeface="Arial"/>
                          <a:ea typeface="Arial"/>
                          <a:cs typeface="Arial"/>
                        </a:rPr>
                        <a:t>Carnap</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r>
              <a:tr h="333375">
                <a:tc>
                  <a:txBody>
                    <a:bodyPr/>
                    <a:lstStyle/>
                    <a:p>
                      <a:r>
                        <a:rPr sz="1725" b="0">
                          <a:solidFill>
                            <a:srgbClr val="202B33"/>
                          </a:solidFill>
                          <a:latin typeface="Arial"/>
                          <a:ea typeface="Arial"/>
                          <a:cs typeface="Arial"/>
                        </a:rPr>
                        <a:t>Theophrastos</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r>
              <a:tr h="333375">
                <a:tc>
                  <a:txBody>
                    <a:bodyPr/>
                    <a:lstStyle/>
                    <a:p>
                      <a:r>
                        <a:rPr sz="1725" b="0">
                          <a:solidFill>
                            <a:srgbClr val="202B33"/>
                          </a:solidFill>
                          <a:latin typeface="Arial"/>
                          <a:ea typeface="Arial"/>
                          <a:cs typeface="Arial"/>
                        </a:rPr>
                        <a:t>Feuerbach</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r>
            </a:tbl>
          </a:graphicData>
        </a:graphic>
      </p:graphicFrame>
    </p:spTree>
    <p:extLst>
      <p:ext uri="{BB962C8B-B14F-4D97-AF65-F5344CB8AC3E}">
        <p14:creationId xmlns:p14="http://schemas.microsoft.com/office/powerpoint/2010/main" val="59062943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1D3A06C-B012-4B0D-B803-C821B641E6F7}"/>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Projektion: Semester ohne Duplikate</a:t>
            </a:r>
          </a:p>
        </p:txBody>
      </p:sp>
      <p:sp>
        <p:nvSpPr>
          <p:cNvPr id="2" name="">
            <a:extLst xmlns:a="http://schemas.openxmlformats.org/drawingml/2006/main">
              <a:ext uri="{FF2B5EF4-FFF2-40B4-BE49-F238E27FC236}">
                <a16:creationId xmlns:a16="http://schemas.microsoft.com/office/drawing/2014/main" id="{2A93A7A0-80C5-4FBD-AE04-56D26707420A}"/>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0C25E00F-689B-4A6A-8B95-5F30B1D9021B}"/>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7</a:t>
            </a:r>
          </a:p>
        </p:txBody>
      </p:sp>
      <p:sp>
        <p:nvSpPr>
          <p:cNvPr id="4" name="">
            <a:extLst xmlns:a="http://schemas.openxmlformats.org/drawingml/2006/main">
              <a:ext uri="{FF2B5EF4-FFF2-40B4-BE49-F238E27FC236}">
                <a16:creationId xmlns:a16="http://schemas.microsoft.com/office/drawing/2014/main" id="{7474E532-36E5-4AC6-9749-C0614AEBF43E}"/>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16</a:t>
            </a:r>
          </a:p>
        </p:txBody>
      </p:sp>
      <p:sp>
        <p:nvSpPr>
          <p:cNvPr id="5" name="">
            <a:extLst xmlns:a="http://schemas.openxmlformats.org/drawingml/2006/main">
              <a:ext uri="{FF2B5EF4-FFF2-40B4-BE49-F238E27FC236}">
                <a16:creationId xmlns:a16="http://schemas.microsoft.com/office/drawing/2014/main" id="{C3FC3843-E49A-4377-A80A-00479562BC96}"/>
              </a:ext>
            </a:extLst>
          </p:cNvPr>
          <p:cNvSpPr>
            <a:spLocks xmlns:a="http://schemas.openxmlformats.org/drawingml/2006/main" noGrp="1"/>
          </p:cNvSpPr>
          <p:nvPr/>
        </p:nvSpPr>
        <p:spPr>
          <a:xfrm xmlns:a="http://schemas.openxmlformats.org/drawingml/2006/main">
            <a:off x="609600" y="12858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02B33"/>
                </a:solidFill>
                <a:latin typeface="Arial"/>
                <a:ea typeface="Arial"/>
                <a:cs typeface="Arial"/>
              </a:defRPr>
            </a:defPPr>
            <a:lvl1pPr>
              <a:defRPr sz="2100" b="0">
                <a:solidFill>
                  <a:srgbClr val="202B33"/>
                </a:solidFill>
                <a:latin typeface="Arial"/>
                <a:ea typeface="Arial"/>
                <a:cs typeface="Arial"/>
              </a:defRPr>
            </a:lvl1pPr>
            <a:lvl2pPr>
              <a:defRPr sz="2100" b="0">
                <a:solidFill>
                  <a:srgbClr val="202B33"/>
                </a:solidFill>
                <a:latin typeface="Arial"/>
                <a:ea typeface="Arial"/>
                <a:cs typeface="Arial"/>
              </a:defRPr>
            </a:lvl2pPr>
            <a:lvl3pPr>
              <a:defRPr sz="2100" b="0">
                <a:solidFill>
                  <a:srgbClr val="202B33"/>
                </a:solidFill>
                <a:latin typeface="Arial"/>
                <a:ea typeface="Arial"/>
                <a:cs typeface="Arial"/>
              </a:defRPr>
            </a:lvl3pPr>
            <a:lvl4pPr>
              <a:defRPr sz="2100" b="0">
                <a:solidFill>
                  <a:srgbClr val="202B33"/>
                </a:solidFill>
                <a:latin typeface="Arial"/>
                <a:ea typeface="Arial"/>
                <a:cs typeface="Arial"/>
              </a:defRPr>
            </a:lvl4pPr>
            <a:lvl5pPr>
              <a:defRPr sz="2100" b="0">
                <a:solidFill>
                  <a:srgbClr val="202B33"/>
                </a:solidFill>
                <a:latin typeface="Arial"/>
                <a:ea typeface="Arial"/>
                <a:cs typeface="Arial"/>
              </a:defRPr>
            </a:lvl5pPr>
            <a:lvl6pPr>
              <a:defRPr sz="2100" b="0">
                <a:solidFill>
                  <a:srgbClr val="202B33"/>
                </a:solidFill>
                <a:latin typeface="Arial"/>
                <a:ea typeface="Arial"/>
                <a:cs typeface="Arial"/>
              </a:defRPr>
            </a:lvl6pPr>
            <a:lvl7pPr>
              <a:defRPr sz="2100" b="0">
                <a:solidFill>
                  <a:srgbClr val="202B33"/>
                </a:solidFill>
                <a:latin typeface="Arial"/>
                <a:ea typeface="Arial"/>
                <a:cs typeface="Arial"/>
              </a:defRPr>
            </a:lvl7pPr>
            <a:lvl8pPr>
              <a:defRPr sz="2100" b="0">
                <a:solidFill>
                  <a:srgbClr val="202B33"/>
                </a:solidFill>
                <a:latin typeface="Arial"/>
                <a:ea typeface="Arial"/>
                <a:cs typeface="Arial"/>
              </a:defRPr>
            </a:lvl8pPr>
            <a:lvl9pPr>
              <a:defRPr sz="2100" b="0">
                <a:solidFill>
                  <a:srgbClr val="202B33"/>
                </a:solidFill>
                <a:latin typeface="Arial"/>
                <a:ea typeface="Arial"/>
                <a:cs typeface="Arial"/>
              </a:defRPr>
            </a:lvl9pPr>
          </a:lstStyle>
          <a:p xmlns:a="http://schemas.openxmlformats.org/drawingml/2006/main">
            <a:pPr>
              <a:defRPr sz="2100" b="0">
                <a:solidFill>
                  <a:srgbClr val="202B33"/>
                </a:solidFill>
                <a:latin typeface="Arial"/>
                <a:ea typeface="Arial"/>
                <a:cs typeface="Arial"/>
              </a:defRPr>
            </a:pPr>
            <a:r>
              <a:rPr sz="2100" b="0">
                <a:solidFill>
                  <a:srgbClr val="202B33"/>
                </a:solidFill>
                <a:latin typeface="Arial"/>
                <a:ea typeface="Arial"/>
                <a:cs typeface="Arial"/>
              </a:rPr>
              <a:t>„Gib die Semester aller Studenten aus.“</a:t>
            </a:r>
          </a:p>
        </p:txBody>
      </p:sp>
      <p:sp>
        <p:nvSpPr>
          <p:cNvPr id="6" name="">
            <a:extLst xmlns:a="http://schemas.openxmlformats.org/drawingml/2006/main">
              <a:ext uri="{FF2B5EF4-FFF2-40B4-BE49-F238E27FC236}">
                <a16:creationId xmlns:a16="http://schemas.microsoft.com/office/drawing/2014/main" id="{1DC2DAFF-1907-426D-8DF2-3514891776AC}"/>
              </a:ext>
            </a:extLst>
          </p:cNvPr>
          <p:cNvSpPr>
            <a:spLocks xmlns:a="http://schemas.openxmlformats.org/drawingml/2006/main" noGrp="1"/>
          </p:cNvSpPr>
          <p:nvPr/>
        </p:nvSpPr>
        <p:spPr>
          <a:xfrm xmlns:a="http://schemas.openxmlformats.org/drawingml/2006/main">
            <a:off x="609600" y="1857375"/>
            <a:ext cx="269329" cy="5657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2700" b="0">
                <a:solidFill>
                  <a:srgbClr val="005293"/>
                </a:solidFill>
                <a:latin typeface="STIX Two Math"/>
                <a:ea typeface="STIX Two Math"/>
                <a:cs typeface="STIX Two Math"/>
              </a:defRPr>
            </a:defPPr>
            <a:lvl1pPr>
              <a:defRPr sz="2700" b="0">
                <a:solidFill>
                  <a:srgbClr val="005293"/>
                </a:solidFill>
                <a:latin typeface="STIX Two Math"/>
                <a:ea typeface="STIX Two Math"/>
                <a:cs typeface="STIX Two Math"/>
              </a:defRPr>
            </a:lvl1pPr>
            <a:lvl2pPr>
              <a:defRPr sz="2700" b="0">
                <a:solidFill>
                  <a:srgbClr val="005293"/>
                </a:solidFill>
                <a:latin typeface="STIX Two Math"/>
                <a:ea typeface="STIX Two Math"/>
                <a:cs typeface="STIX Two Math"/>
              </a:defRPr>
            </a:lvl2pPr>
            <a:lvl3pPr>
              <a:defRPr sz="2700" b="0">
                <a:solidFill>
                  <a:srgbClr val="005293"/>
                </a:solidFill>
                <a:latin typeface="STIX Two Math"/>
                <a:ea typeface="STIX Two Math"/>
                <a:cs typeface="STIX Two Math"/>
              </a:defRPr>
            </a:lvl3pPr>
            <a:lvl4pPr>
              <a:defRPr sz="2700" b="0">
                <a:solidFill>
                  <a:srgbClr val="005293"/>
                </a:solidFill>
                <a:latin typeface="STIX Two Math"/>
                <a:ea typeface="STIX Two Math"/>
                <a:cs typeface="STIX Two Math"/>
              </a:defRPr>
            </a:lvl4pPr>
            <a:lvl5pPr>
              <a:defRPr sz="2700" b="0">
                <a:solidFill>
                  <a:srgbClr val="005293"/>
                </a:solidFill>
                <a:latin typeface="STIX Two Math"/>
                <a:ea typeface="STIX Two Math"/>
                <a:cs typeface="STIX Two Math"/>
              </a:defRPr>
            </a:lvl5pPr>
            <a:lvl6pPr>
              <a:defRPr sz="2700" b="0">
                <a:solidFill>
                  <a:srgbClr val="005293"/>
                </a:solidFill>
                <a:latin typeface="STIX Two Math"/>
                <a:ea typeface="STIX Two Math"/>
                <a:cs typeface="STIX Two Math"/>
              </a:defRPr>
            </a:lvl6pPr>
            <a:lvl7pPr>
              <a:defRPr sz="2700" b="0">
                <a:solidFill>
                  <a:srgbClr val="005293"/>
                </a:solidFill>
                <a:latin typeface="STIX Two Math"/>
                <a:ea typeface="STIX Two Math"/>
                <a:cs typeface="STIX Two Math"/>
              </a:defRPr>
            </a:lvl7pPr>
            <a:lvl8pPr>
              <a:defRPr sz="2700" b="0">
                <a:solidFill>
                  <a:srgbClr val="005293"/>
                </a:solidFill>
                <a:latin typeface="STIX Two Math"/>
                <a:ea typeface="STIX Two Math"/>
                <a:cs typeface="STIX Two Math"/>
              </a:defRPr>
            </a:lvl8pPr>
            <a:lvl9pPr>
              <a:defRPr sz="2700" b="0">
                <a:solidFill>
                  <a:srgbClr val="005293"/>
                </a:solidFill>
                <a:latin typeface="STIX Two Math"/>
                <a:ea typeface="STIX Two Math"/>
                <a:cs typeface="STIX Two Math"/>
              </a:defRPr>
            </a:lvl9pPr>
          </a:lstStyle>
          <a:p xmlns:a="http://schemas.openxmlformats.org/drawingml/2006/main">
            <a:pPr>
              <a:defRPr sz="2700" b="0">
                <a:solidFill>
                  <a:srgbClr val="005293"/>
                </a:solidFill>
                <a:latin typeface="STIX Two Math"/>
                <a:ea typeface="STIX Two Math"/>
                <a:cs typeface="STIX Two Math"/>
              </a:defRPr>
            </a:pPr>
            <a:r>
              <a:rPr sz="2700" b="0">
                <a:solidFill>
                  <a:srgbClr val="005293"/>
                </a:solidFill>
                <a:latin typeface="STIX Two Math"/>
                <a:ea typeface="STIX Two Math"/>
                <a:cs typeface="STIX Two Math"/>
              </a:rPr>
              <a:t>π</a:t>
            </a:r>
          </a:p>
        </p:txBody>
      </p:sp>
      <p:sp>
        <p:nvSpPr>
          <p:cNvPr id="7" name="">
            <a:extLst xmlns:a="http://schemas.openxmlformats.org/drawingml/2006/main">
              <a:ext uri="{FF2B5EF4-FFF2-40B4-BE49-F238E27FC236}">
                <a16:creationId xmlns:a16="http://schemas.microsoft.com/office/drawing/2014/main" id="{DD79C611-075C-475E-A463-92D5E83A2EE7}"/>
              </a:ext>
            </a:extLst>
          </p:cNvPr>
          <p:cNvSpPr>
            <a:spLocks xmlns:a="http://schemas.openxmlformats.org/drawingml/2006/main" noGrp="1"/>
          </p:cNvSpPr>
          <p:nvPr/>
        </p:nvSpPr>
        <p:spPr>
          <a:xfrm xmlns:a="http://schemas.openxmlformats.org/drawingml/2006/main">
            <a:off x="831304" y="2052828"/>
            <a:ext cx="922108" cy="367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1755" b="0">
                <a:solidFill>
                  <a:srgbClr val="005293"/>
                </a:solidFill>
                <a:latin typeface="STIX Two Math"/>
                <a:ea typeface="STIX Two Math"/>
                <a:cs typeface="STIX Two Math"/>
              </a:defRPr>
            </a:defPPr>
            <a:lvl1pPr>
              <a:defRPr sz="1755" b="0">
                <a:solidFill>
                  <a:srgbClr val="005293"/>
                </a:solidFill>
                <a:latin typeface="STIX Two Math"/>
                <a:ea typeface="STIX Two Math"/>
                <a:cs typeface="STIX Two Math"/>
              </a:defRPr>
            </a:lvl1pPr>
            <a:lvl2pPr>
              <a:defRPr sz="1755" b="0">
                <a:solidFill>
                  <a:srgbClr val="005293"/>
                </a:solidFill>
                <a:latin typeface="STIX Two Math"/>
                <a:ea typeface="STIX Two Math"/>
                <a:cs typeface="STIX Two Math"/>
              </a:defRPr>
            </a:lvl2pPr>
            <a:lvl3pPr>
              <a:defRPr sz="1755" b="0">
                <a:solidFill>
                  <a:srgbClr val="005293"/>
                </a:solidFill>
                <a:latin typeface="STIX Two Math"/>
                <a:ea typeface="STIX Two Math"/>
                <a:cs typeface="STIX Two Math"/>
              </a:defRPr>
            </a:lvl3pPr>
            <a:lvl4pPr>
              <a:defRPr sz="1755" b="0">
                <a:solidFill>
                  <a:srgbClr val="005293"/>
                </a:solidFill>
                <a:latin typeface="STIX Two Math"/>
                <a:ea typeface="STIX Two Math"/>
                <a:cs typeface="STIX Two Math"/>
              </a:defRPr>
            </a:lvl4pPr>
            <a:lvl5pPr>
              <a:defRPr sz="1755" b="0">
                <a:solidFill>
                  <a:srgbClr val="005293"/>
                </a:solidFill>
                <a:latin typeface="STIX Two Math"/>
                <a:ea typeface="STIX Two Math"/>
                <a:cs typeface="STIX Two Math"/>
              </a:defRPr>
            </a:lvl5pPr>
            <a:lvl6pPr>
              <a:defRPr sz="1755" b="0">
                <a:solidFill>
                  <a:srgbClr val="005293"/>
                </a:solidFill>
                <a:latin typeface="STIX Two Math"/>
                <a:ea typeface="STIX Two Math"/>
                <a:cs typeface="STIX Two Math"/>
              </a:defRPr>
            </a:lvl6pPr>
            <a:lvl7pPr>
              <a:defRPr sz="1755" b="0">
                <a:solidFill>
                  <a:srgbClr val="005293"/>
                </a:solidFill>
                <a:latin typeface="STIX Two Math"/>
                <a:ea typeface="STIX Two Math"/>
                <a:cs typeface="STIX Two Math"/>
              </a:defRPr>
            </a:lvl7pPr>
            <a:lvl8pPr>
              <a:defRPr sz="1755" b="0">
                <a:solidFill>
                  <a:srgbClr val="005293"/>
                </a:solidFill>
                <a:latin typeface="STIX Two Math"/>
                <a:ea typeface="STIX Two Math"/>
                <a:cs typeface="STIX Two Math"/>
              </a:defRPr>
            </a:lvl8pPr>
            <a:lvl9pPr>
              <a:defRPr sz="1755" b="0">
                <a:solidFill>
                  <a:srgbClr val="005293"/>
                </a:solidFill>
                <a:latin typeface="STIX Two Math"/>
                <a:ea typeface="STIX Two Math"/>
                <a:cs typeface="STIX Two Math"/>
              </a:defRPr>
            </a:lvl9pPr>
          </a:lstStyle>
          <a:p xmlns:a="http://schemas.openxmlformats.org/drawingml/2006/main">
            <a:pPr>
              <a:defRPr sz="1755" b="0">
                <a:solidFill>
                  <a:srgbClr val="005293"/>
                </a:solidFill>
                <a:latin typeface="STIX Two Math"/>
                <a:ea typeface="STIX Two Math"/>
                <a:cs typeface="STIX Two Math"/>
              </a:defRPr>
            </a:pPr>
            <a:r>
              <a:rPr sz="1755" b="0">
                <a:solidFill>
                  <a:srgbClr val="005293"/>
                </a:solidFill>
                <a:latin typeface="STIX Two Math"/>
                <a:ea typeface="STIX Two Math"/>
                <a:cs typeface="STIX Two Math"/>
              </a:rPr>
              <a:t>Semester</a:t>
            </a:r>
          </a:p>
        </p:txBody>
      </p:sp>
      <p:sp>
        <p:nvSpPr>
          <p:cNvPr id="8" name="">
            <a:extLst xmlns:a="http://schemas.openxmlformats.org/drawingml/2006/main">
              <a:ext uri="{FF2B5EF4-FFF2-40B4-BE49-F238E27FC236}">
                <a16:creationId xmlns:a16="http://schemas.microsoft.com/office/drawing/2014/main" id="{23193EA2-98A6-4375-92EE-F4DF5A98A147}"/>
              </a:ext>
            </a:extLst>
          </p:cNvPr>
          <p:cNvSpPr>
            <a:spLocks xmlns:a="http://schemas.openxmlformats.org/drawingml/2006/main" noGrp="1"/>
          </p:cNvSpPr>
          <p:nvPr/>
        </p:nvSpPr>
        <p:spPr>
          <a:xfrm xmlns:a="http://schemas.openxmlformats.org/drawingml/2006/main">
            <a:off x="1705787" y="1857375"/>
            <a:ext cx="1793862" cy="5657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2700" b="0">
                <a:solidFill>
                  <a:srgbClr val="005293"/>
                </a:solidFill>
                <a:latin typeface="STIX Two Math"/>
                <a:ea typeface="STIX Two Math"/>
                <a:cs typeface="STIX Two Math"/>
              </a:defRPr>
            </a:defPPr>
            <a:lvl1pPr>
              <a:defRPr sz="2700" b="0">
                <a:solidFill>
                  <a:srgbClr val="005293"/>
                </a:solidFill>
                <a:latin typeface="STIX Two Math"/>
                <a:ea typeface="STIX Two Math"/>
                <a:cs typeface="STIX Two Math"/>
              </a:defRPr>
            </a:lvl1pPr>
            <a:lvl2pPr>
              <a:defRPr sz="2700" b="0">
                <a:solidFill>
                  <a:srgbClr val="005293"/>
                </a:solidFill>
                <a:latin typeface="STIX Two Math"/>
                <a:ea typeface="STIX Two Math"/>
                <a:cs typeface="STIX Two Math"/>
              </a:defRPr>
            </a:lvl2pPr>
            <a:lvl3pPr>
              <a:defRPr sz="2700" b="0">
                <a:solidFill>
                  <a:srgbClr val="005293"/>
                </a:solidFill>
                <a:latin typeface="STIX Two Math"/>
                <a:ea typeface="STIX Two Math"/>
                <a:cs typeface="STIX Two Math"/>
              </a:defRPr>
            </a:lvl3pPr>
            <a:lvl4pPr>
              <a:defRPr sz="2700" b="0">
                <a:solidFill>
                  <a:srgbClr val="005293"/>
                </a:solidFill>
                <a:latin typeface="STIX Two Math"/>
                <a:ea typeface="STIX Two Math"/>
                <a:cs typeface="STIX Two Math"/>
              </a:defRPr>
            </a:lvl4pPr>
            <a:lvl5pPr>
              <a:defRPr sz="2700" b="0">
                <a:solidFill>
                  <a:srgbClr val="005293"/>
                </a:solidFill>
                <a:latin typeface="STIX Two Math"/>
                <a:ea typeface="STIX Two Math"/>
                <a:cs typeface="STIX Two Math"/>
              </a:defRPr>
            </a:lvl5pPr>
            <a:lvl6pPr>
              <a:defRPr sz="2700" b="0">
                <a:solidFill>
                  <a:srgbClr val="005293"/>
                </a:solidFill>
                <a:latin typeface="STIX Two Math"/>
                <a:ea typeface="STIX Two Math"/>
                <a:cs typeface="STIX Two Math"/>
              </a:defRPr>
            </a:lvl6pPr>
            <a:lvl7pPr>
              <a:defRPr sz="2700" b="0">
                <a:solidFill>
                  <a:srgbClr val="005293"/>
                </a:solidFill>
                <a:latin typeface="STIX Two Math"/>
                <a:ea typeface="STIX Two Math"/>
                <a:cs typeface="STIX Two Math"/>
              </a:defRPr>
            </a:lvl7pPr>
            <a:lvl8pPr>
              <a:defRPr sz="2700" b="0">
                <a:solidFill>
                  <a:srgbClr val="005293"/>
                </a:solidFill>
                <a:latin typeface="STIX Two Math"/>
                <a:ea typeface="STIX Two Math"/>
                <a:cs typeface="STIX Two Math"/>
              </a:defRPr>
            </a:lvl8pPr>
            <a:lvl9pPr>
              <a:defRPr sz="2700" b="0">
                <a:solidFill>
                  <a:srgbClr val="005293"/>
                </a:solidFill>
                <a:latin typeface="STIX Two Math"/>
                <a:ea typeface="STIX Two Math"/>
                <a:cs typeface="STIX Two Math"/>
              </a:defRPr>
            </a:lvl9pPr>
          </a:lstStyle>
          <a:p xmlns:a="http://schemas.openxmlformats.org/drawingml/2006/main">
            <a:pPr>
              <a:defRPr sz="2700" b="0">
                <a:solidFill>
                  <a:srgbClr val="005293"/>
                </a:solidFill>
                <a:latin typeface="STIX Two Math"/>
                <a:ea typeface="STIX Two Math"/>
                <a:cs typeface="STIX Two Math"/>
              </a:defRPr>
            </a:pPr>
            <a:r>
              <a:rPr sz="2700" b="0">
                <a:solidFill>
                  <a:srgbClr val="005293"/>
                </a:solidFill>
                <a:latin typeface="STIX Two Math"/>
                <a:ea typeface="STIX Two Math"/>
                <a:cs typeface="STIX Two Math"/>
              </a:rPr>
              <a:t>(Studenten)</a:t>
            </a:r>
          </a:p>
        </p:txBody>
      </p:sp>
      <p:sp>
        <p:nvSpPr>
          <p:cNvPr id="9" name="">
            <a:extLst xmlns:a="http://schemas.openxmlformats.org/drawingml/2006/main">
              <a:ext uri="{FF2B5EF4-FFF2-40B4-BE49-F238E27FC236}">
                <a16:creationId xmlns:a16="http://schemas.microsoft.com/office/drawing/2014/main" id="{5831BDE1-E211-4E5B-9AF7-7F770BB96133}"/>
              </a:ext>
            </a:extLst>
          </p:cNvPr>
          <p:cNvSpPr>
            <a:spLocks xmlns:a="http://schemas.openxmlformats.org/drawingml/2006/main" noGrp="1"/>
          </p:cNvSpPr>
          <p:nvPr/>
        </p:nvSpPr>
        <p:spPr>
          <a:xfrm xmlns:a="http://schemas.openxmlformats.org/drawingml/2006/main">
            <a:off x="609600" y="252412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Studenten</a:t>
            </a:r>
          </a:p>
        </p:txBody>
      </p:sp>
      <p:sp>
        <p:nvSpPr>
          <p:cNvPr id="10" name="">
            <a:extLst xmlns:a="http://schemas.openxmlformats.org/drawingml/2006/main">
              <a:ext uri="{FF2B5EF4-FFF2-40B4-BE49-F238E27FC236}">
                <a16:creationId xmlns:a16="http://schemas.microsoft.com/office/drawing/2014/main" id="{29F8A9CB-6417-4F1A-BF45-FC88F702CA26}"/>
              </a:ext>
            </a:extLst>
          </p:cNvPr>
          <p:cNvSpPr>
            <a:spLocks xmlns:a="http://schemas.openxmlformats.org/drawingml/2006/main" noGrp="1"/>
          </p:cNvSpPr>
          <p:nvPr/>
        </p:nvSpPr>
        <p:spPr>
          <a:xfrm xmlns:a="http://schemas.openxmlformats.org/drawingml/2006/main">
            <a:off x="7620000" y="252412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Ergebnis</a:t>
            </a:r>
          </a:p>
        </p:txBody>
      </p:sp>
      <p:graphicFrame>
        <p:nvGraphicFramePr>
          <p:cNvPr id="11" name="">
            <a:extLst xmlns:a="http://schemas.openxmlformats.org/drawingml/2006/main">
              <a:ext uri="{FF2B5EF4-FFF2-40B4-BE49-F238E27FC236}">
                <a16:creationId xmlns:a16="http://schemas.microsoft.com/office/drawing/2014/main" id="{6CE5FDBA-2DC7-45C0-BFEA-2565EEC7D6FC}"/>
              </a:ext>
            </a:extLst>
          </p:cNvPr>
          <p:cNvGraphicFramePr/>
          <p:nvPr/>
        </p:nvGraphicFramePr>
        <p:xfrm>
          <a:off xmlns:a="http://schemas.openxmlformats.org/drawingml/2006/main" x="609600" y="2971800"/>
          <a:ext xmlns:a="http://schemas.openxmlformats.org/drawingml/2006/main" cx="6191250" cy="3000375"/>
        </p:xfrm>
        <a:graphic xmlns:a="http://schemas.openxmlformats.org/drawingml/2006/main">
          <a:graphicData uri="http://schemas.openxmlformats.org/drawingml/2006/table">
            <a:tbl>
              <a:tblPr/>
              <a:tblGrid>
                <a:gridCol w="1428750"/>
                <a:gridCol w="3143250"/>
                <a:gridCol w="1619250"/>
              </a:tblGrid>
              <a:tr h="333375">
                <a:tc>
                  <a:txBody>
                    <a:bodyPr/>
                    <a:lstStyle/>
                    <a:p>
                      <a:r>
                        <a:rPr sz="1725" b="1">
                          <a:solidFill>
                            <a:srgbClr val="FFFFFF"/>
                          </a:solidFill>
                          <a:latin typeface="Arial"/>
                          <a:ea typeface="Arial"/>
                          <a:cs typeface="Arial"/>
                        </a:rPr>
                        <a:t>MatrNr</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725" b="1">
                          <a:solidFill>
                            <a:srgbClr val="FFFFFF"/>
                          </a:solidFill>
                          <a:latin typeface="Arial"/>
                          <a:ea typeface="Arial"/>
                          <a:cs typeface="Arial"/>
                        </a:rPr>
                        <a:t>Name</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1725" b="1">
                          <a:solidFill>
                            <a:srgbClr val="FFFFFF"/>
                          </a:solidFill>
                          <a:latin typeface="Arial"/>
                          <a:ea typeface="Arial"/>
                          <a:cs typeface="Arial"/>
                        </a:rPr>
                        <a:t>Semester</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333375">
                <a:tc>
                  <a:txBody>
                    <a:bodyPr/>
                    <a:lstStyle/>
                    <a:p>
                      <a:r>
                        <a:rPr sz="1725" b="0">
                          <a:solidFill>
                            <a:srgbClr val="202B33"/>
                          </a:solidFill>
                          <a:latin typeface="Arial"/>
                          <a:ea typeface="Arial"/>
                          <a:cs typeface="Arial"/>
                        </a:rPr>
                        <a:t>24002</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725" b="0">
                          <a:solidFill>
                            <a:srgbClr val="202B33"/>
                          </a:solidFill>
                          <a:latin typeface="Arial"/>
                          <a:ea typeface="Arial"/>
                          <a:cs typeface="Arial"/>
                        </a:rPr>
                        <a:t>Xenokrates</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725" b="0">
                          <a:solidFill>
                            <a:srgbClr val="202B33"/>
                          </a:solidFill>
                          <a:latin typeface="Arial"/>
                          <a:ea typeface="Arial"/>
                          <a:cs typeface="Arial"/>
                        </a:rPr>
                        <a:t>18</a:t>
                      </a:r>
                    </a:p>
                  </a:txBody>
                  <a:tcPr marL="95250" marR="66675" marT="28575" marB="28575" anchor="ctr">
                    <a:lnR w="6668">
                      <a:solidFill>
                        <a:srgbClr val="CBD8E1"/>
                      </a:solidFill>
                    </a:lnR>
                    <a:lnB w="6668">
                      <a:solidFill>
                        <a:srgbClr val="CBD8E1"/>
                      </a:solidFill>
                    </a:lnB>
                    <a:solidFill>
                      <a:srgbClr val="FFFFFF"/>
                    </a:solidFill>
                  </a:tcPr>
                </a:tc>
              </a:tr>
              <a:tr h="333375">
                <a:tc>
                  <a:txBody>
                    <a:bodyPr/>
                    <a:lstStyle/>
                    <a:p>
                      <a:r>
                        <a:rPr sz="1725" b="0">
                          <a:solidFill>
                            <a:srgbClr val="202B33"/>
                          </a:solidFill>
                          <a:latin typeface="Arial"/>
                          <a:ea typeface="Arial"/>
                          <a:cs typeface="Arial"/>
                        </a:rPr>
                        <a:t>25403</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725" b="0">
                          <a:solidFill>
                            <a:srgbClr val="202B33"/>
                          </a:solidFill>
                          <a:latin typeface="Arial"/>
                          <a:ea typeface="Arial"/>
                          <a:cs typeface="Arial"/>
                        </a:rPr>
                        <a:t>Jonas</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725" b="0">
                          <a:solidFill>
                            <a:srgbClr val="202B33"/>
                          </a:solidFill>
                          <a:latin typeface="Arial"/>
                          <a:ea typeface="Arial"/>
                          <a:cs typeface="Arial"/>
                        </a:rPr>
                        <a:t>12</a:t>
                      </a:r>
                    </a:p>
                  </a:txBody>
                  <a:tcPr marL="95250" marR="66675" marT="28575" marB="28575" anchor="ctr">
                    <a:lnR w="6668">
                      <a:solidFill>
                        <a:srgbClr val="CBD8E1"/>
                      </a:solidFill>
                    </a:lnR>
                    <a:lnB w="6668">
                      <a:solidFill>
                        <a:srgbClr val="CBD8E1"/>
                      </a:solidFill>
                    </a:lnB>
                    <a:solidFill>
                      <a:srgbClr val="EDF4F9"/>
                    </a:solidFill>
                  </a:tcPr>
                </a:tc>
              </a:tr>
              <a:tr h="333375">
                <a:tc>
                  <a:txBody>
                    <a:bodyPr/>
                    <a:lstStyle/>
                    <a:p>
                      <a:r>
                        <a:rPr sz="1725" b="0">
                          <a:solidFill>
                            <a:srgbClr val="202B33"/>
                          </a:solidFill>
                          <a:latin typeface="Arial"/>
                          <a:ea typeface="Arial"/>
                          <a:cs typeface="Arial"/>
                        </a:rPr>
                        <a:t>26120</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725" b="0">
                          <a:solidFill>
                            <a:srgbClr val="202B33"/>
                          </a:solidFill>
                          <a:latin typeface="Arial"/>
                          <a:ea typeface="Arial"/>
                          <a:cs typeface="Arial"/>
                        </a:rPr>
                        <a:t>Fichte</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725" b="0">
                          <a:solidFill>
                            <a:srgbClr val="202B33"/>
                          </a:solidFill>
                          <a:latin typeface="Arial"/>
                          <a:ea typeface="Arial"/>
                          <a:cs typeface="Arial"/>
                        </a:rPr>
                        <a:t>10</a:t>
                      </a:r>
                    </a:p>
                  </a:txBody>
                  <a:tcPr marL="95250" marR="66675" marT="28575" marB="28575" anchor="ctr">
                    <a:lnR w="6668">
                      <a:solidFill>
                        <a:srgbClr val="CBD8E1"/>
                      </a:solidFill>
                    </a:lnR>
                    <a:lnB w="6668">
                      <a:solidFill>
                        <a:srgbClr val="CBD8E1"/>
                      </a:solidFill>
                    </a:lnB>
                    <a:solidFill>
                      <a:srgbClr val="FFFFFF"/>
                    </a:solidFill>
                  </a:tcPr>
                </a:tc>
              </a:tr>
              <a:tr h="333375">
                <a:tc>
                  <a:txBody>
                    <a:bodyPr/>
                    <a:lstStyle/>
                    <a:p>
                      <a:r>
                        <a:rPr sz="1725" b="0">
                          <a:solidFill>
                            <a:srgbClr val="202B33"/>
                          </a:solidFill>
                          <a:latin typeface="Arial"/>
                          <a:ea typeface="Arial"/>
                          <a:cs typeface="Arial"/>
                        </a:rPr>
                        <a:t>26830</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725" b="0">
                          <a:solidFill>
                            <a:srgbClr val="202B33"/>
                          </a:solidFill>
                          <a:latin typeface="Arial"/>
                          <a:ea typeface="Arial"/>
                          <a:cs typeface="Arial"/>
                        </a:rPr>
                        <a:t>Aristoxenos</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725" b="0">
                          <a:solidFill>
                            <a:srgbClr val="202B33"/>
                          </a:solidFill>
                          <a:latin typeface="Arial"/>
                          <a:ea typeface="Arial"/>
                          <a:cs typeface="Arial"/>
                        </a:rPr>
                        <a:t>8</a:t>
                      </a:r>
                    </a:p>
                  </a:txBody>
                  <a:tcPr marL="95250" marR="66675" marT="28575" marB="28575" anchor="ctr">
                    <a:lnR w="6668">
                      <a:solidFill>
                        <a:srgbClr val="CBD8E1"/>
                      </a:solidFill>
                    </a:lnR>
                    <a:lnB w="6668">
                      <a:solidFill>
                        <a:srgbClr val="CBD8E1"/>
                      </a:solidFill>
                    </a:lnB>
                    <a:solidFill>
                      <a:srgbClr val="EDF4F9"/>
                    </a:solidFill>
                  </a:tcPr>
                </a:tc>
              </a:tr>
              <a:tr h="333375">
                <a:tc>
                  <a:txBody>
                    <a:bodyPr/>
                    <a:lstStyle/>
                    <a:p>
                      <a:r>
                        <a:rPr sz="1725" b="0">
                          <a:solidFill>
                            <a:srgbClr val="202B33"/>
                          </a:solidFill>
                          <a:latin typeface="Arial"/>
                          <a:ea typeface="Arial"/>
                          <a:cs typeface="Arial"/>
                        </a:rPr>
                        <a:t>27550</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725" b="0">
                          <a:solidFill>
                            <a:srgbClr val="202B33"/>
                          </a:solidFill>
                          <a:latin typeface="Arial"/>
                          <a:ea typeface="Arial"/>
                          <a:cs typeface="Arial"/>
                        </a:rPr>
                        <a:t>Schopenhauer</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725" b="0">
                          <a:solidFill>
                            <a:srgbClr val="202B33"/>
                          </a:solidFill>
                          <a:latin typeface="Arial"/>
                          <a:ea typeface="Arial"/>
                          <a:cs typeface="Arial"/>
                        </a:rPr>
                        <a:t>6</a:t>
                      </a:r>
                    </a:p>
                  </a:txBody>
                  <a:tcPr marL="95250" marR="66675" marT="28575" marB="28575" anchor="ctr">
                    <a:lnR w="6668">
                      <a:solidFill>
                        <a:srgbClr val="CBD8E1"/>
                      </a:solidFill>
                    </a:lnR>
                    <a:lnB w="6668">
                      <a:solidFill>
                        <a:srgbClr val="CBD8E1"/>
                      </a:solidFill>
                    </a:lnB>
                    <a:solidFill>
                      <a:srgbClr val="FFFFFF"/>
                    </a:solidFill>
                  </a:tcPr>
                </a:tc>
              </a:tr>
              <a:tr h="333375">
                <a:tc>
                  <a:txBody>
                    <a:bodyPr/>
                    <a:lstStyle/>
                    <a:p>
                      <a:r>
                        <a:rPr sz="1725" b="0">
                          <a:solidFill>
                            <a:srgbClr val="202B33"/>
                          </a:solidFill>
                          <a:latin typeface="Arial"/>
                          <a:ea typeface="Arial"/>
                          <a:cs typeface="Arial"/>
                        </a:rPr>
                        <a:t>28106</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725" b="0">
                          <a:solidFill>
                            <a:srgbClr val="202B33"/>
                          </a:solidFill>
                          <a:latin typeface="Arial"/>
                          <a:ea typeface="Arial"/>
                          <a:cs typeface="Arial"/>
                        </a:rPr>
                        <a:t>Carnap</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725" b="0">
                          <a:solidFill>
                            <a:srgbClr val="202B33"/>
                          </a:solidFill>
                          <a:latin typeface="Arial"/>
                          <a:ea typeface="Arial"/>
                          <a:cs typeface="Arial"/>
                        </a:rPr>
                        <a:t>3</a:t>
                      </a:r>
                    </a:p>
                  </a:txBody>
                  <a:tcPr marL="95250" marR="66675" marT="28575" marB="28575" anchor="ctr">
                    <a:lnR w="6668">
                      <a:solidFill>
                        <a:srgbClr val="CBD8E1"/>
                      </a:solidFill>
                    </a:lnR>
                    <a:lnB w="6668">
                      <a:solidFill>
                        <a:srgbClr val="CBD8E1"/>
                      </a:solidFill>
                    </a:lnB>
                    <a:solidFill>
                      <a:srgbClr val="EDF4F9"/>
                    </a:solidFill>
                  </a:tcPr>
                </a:tc>
              </a:tr>
              <a:tr h="333375">
                <a:tc>
                  <a:txBody>
                    <a:bodyPr/>
                    <a:lstStyle/>
                    <a:p>
                      <a:r>
                        <a:rPr sz="1725" b="0">
                          <a:solidFill>
                            <a:srgbClr val="202B33"/>
                          </a:solidFill>
                          <a:latin typeface="Arial"/>
                          <a:ea typeface="Arial"/>
                          <a:cs typeface="Arial"/>
                        </a:rPr>
                        <a:t>29120</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725" b="0">
                          <a:solidFill>
                            <a:srgbClr val="202B33"/>
                          </a:solidFill>
                          <a:latin typeface="Arial"/>
                          <a:ea typeface="Arial"/>
                          <a:cs typeface="Arial"/>
                        </a:rPr>
                        <a:t>Theophrastos</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725" b="0">
                          <a:solidFill>
                            <a:srgbClr val="202B33"/>
                          </a:solidFill>
                          <a:latin typeface="Arial"/>
                          <a:ea typeface="Arial"/>
                          <a:cs typeface="Arial"/>
                        </a:rPr>
                        <a:t>2</a:t>
                      </a:r>
                    </a:p>
                  </a:txBody>
                  <a:tcPr marL="95250" marR="66675" marT="28575" marB="28575" anchor="ctr">
                    <a:lnR w="6668">
                      <a:solidFill>
                        <a:srgbClr val="CBD8E1"/>
                      </a:solidFill>
                    </a:lnR>
                    <a:lnB w="6668">
                      <a:solidFill>
                        <a:srgbClr val="CBD8E1"/>
                      </a:solidFill>
                    </a:lnB>
                    <a:solidFill>
                      <a:srgbClr val="FFFFFF"/>
                    </a:solidFill>
                  </a:tcPr>
                </a:tc>
              </a:tr>
              <a:tr h="333375">
                <a:tc>
                  <a:txBody>
                    <a:bodyPr/>
                    <a:lstStyle/>
                    <a:p>
                      <a:r>
                        <a:rPr sz="1725" b="0">
                          <a:solidFill>
                            <a:srgbClr val="202B33"/>
                          </a:solidFill>
                          <a:latin typeface="Arial"/>
                          <a:ea typeface="Arial"/>
                          <a:cs typeface="Arial"/>
                        </a:rPr>
                        <a:t>29555</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725" b="0">
                          <a:solidFill>
                            <a:srgbClr val="202B33"/>
                          </a:solidFill>
                          <a:latin typeface="Arial"/>
                          <a:ea typeface="Arial"/>
                          <a:cs typeface="Arial"/>
                        </a:rPr>
                        <a:t>Feuerbach</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725" b="0">
                          <a:solidFill>
                            <a:srgbClr val="202B33"/>
                          </a:solidFill>
                          <a:latin typeface="Arial"/>
                          <a:ea typeface="Arial"/>
                          <a:cs typeface="Arial"/>
                        </a:rPr>
                        <a:t>2</a:t>
                      </a:r>
                    </a:p>
                  </a:txBody>
                  <a:tcPr marL="95250" marR="66675" marT="28575" marB="28575" anchor="ctr">
                    <a:lnR w="6668">
                      <a:solidFill>
                        <a:srgbClr val="CBD8E1"/>
                      </a:solidFill>
                    </a:lnR>
                    <a:lnB w="6668">
                      <a:solidFill>
                        <a:srgbClr val="CBD8E1"/>
                      </a:solidFill>
                    </a:lnB>
                    <a:solidFill>
                      <a:srgbClr val="EDF4F9"/>
                    </a:solidFill>
                  </a:tcPr>
                </a:tc>
              </a:tr>
            </a:tbl>
          </a:graphicData>
        </a:graphic>
      </p:graphicFrame>
      <p:graphicFrame>
        <p:nvGraphicFramePr>
          <p:cNvPr id="12" name="">
            <a:extLst xmlns:a="http://schemas.openxmlformats.org/drawingml/2006/main">
              <a:ext uri="{FF2B5EF4-FFF2-40B4-BE49-F238E27FC236}">
                <a16:creationId xmlns:a16="http://schemas.microsoft.com/office/drawing/2014/main" id="{C166CB99-B89E-460B-9575-8535C2045880}"/>
              </a:ext>
            </a:extLst>
          </p:cNvPr>
          <p:cNvGraphicFramePr/>
          <p:nvPr/>
        </p:nvGraphicFramePr>
        <p:xfrm>
          <a:off xmlns:a="http://schemas.openxmlformats.org/drawingml/2006/main" x="7620000" y="2971800"/>
          <a:ext xmlns:a="http://schemas.openxmlformats.org/drawingml/2006/main" cx="3333750" cy="2667000"/>
        </p:xfrm>
        <a:graphic xmlns:a="http://schemas.openxmlformats.org/drawingml/2006/main">
          <a:graphicData uri="http://schemas.openxmlformats.org/drawingml/2006/table">
            <a:tbl>
              <a:tblPr/>
              <a:tblGrid>
                <a:gridCol w="3333750"/>
              </a:tblGrid>
              <a:tr h="333375">
                <a:tc>
                  <a:txBody>
                    <a:bodyPr/>
                    <a:lstStyle/>
                    <a:p>
                      <a:r>
                        <a:rPr sz="1725" b="1">
                          <a:solidFill>
                            <a:srgbClr val="FFFFFF"/>
                          </a:solidFill>
                          <a:latin typeface="Arial"/>
                          <a:ea typeface="Arial"/>
                          <a:cs typeface="Arial"/>
                        </a:rPr>
                        <a:t>Semester</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r>
              <a:tr h="333375">
                <a:tc>
                  <a:txBody>
                    <a:bodyPr/>
                    <a:lstStyle/>
                    <a:p>
                      <a:r>
                        <a:rPr sz="1725" b="0">
                          <a:solidFill>
                            <a:srgbClr val="202B33"/>
                          </a:solidFill>
                          <a:latin typeface="Arial"/>
                          <a:ea typeface="Arial"/>
                          <a:cs typeface="Arial"/>
                        </a:rPr>
                        <a:t>18</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r>
              <a:tr h="333375">
                <a:tc>
                  <a:txBody>
                    <a:bodyPr/>
                    <a:lstStyle/>
                    <a:p>
                      <a:r>
                        <a:rPr sz="1725" b="0">
                          <a:solidFill>
                            <a:srgbClr val="202B33"/>
                          </a:solidFill>
                          <a:latin typeface="Arial"/>
                          <a:ea typeface="Arial"/>
                          <a:cs typeface="Arial"/>
                        </a:rPr>
                        <a:t>12</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r>
              <a:tr h="333375">
                <a:tc>
                  <a:txBody>
                    <a:bodyPr/>
                    <a:lstStyle/>
                    <a:p>
                      <a:r>
                        <a:rPr sz="1725" b="0">
                          <a:solidFill>
                            <a:srgbClr val="202B33"/>
                          </a:solidFill>
                          <a:latin typeface="Arial"/>
                          <a:ea typeface="Arial"/>
                          <a:cs typeface="Arial"/>
                        </a:rPr>
                        <a:t>10</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r>
              <a:tr h="333375">
                <a:tc>
                  <a:txBody>
                    <a:bodyPr/>
                    <a:lstStyle/>
                    <a:p>
                      <a:r>
                        <a:rPr sz="1725" b="0">
                          <a:solidFill>
                            <a:srgbClr val="202B33"/>
                          </a:solidFill>
                          <a:latin typeface="Arial"/>
                          <a:ea typeface="Arial"/>
                          <a:cs typeface="Arial"/>
                        </a:rPr>
                        <a:t>8</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r>
              <a:tr h="333375">
                <a:tc>
                  <a:txBody>
                    <a:bodyPr/>
                    <a:lstStyle/>
                    <a:p>
                      <a:r>
                        <a:rPr sz="1725" b="0">
                          <a:solidFill>
                            <a:srgbClr val="202B33"/>
                          </a:solidFill>
                          <a:latin typeface="Arial"/>
                          <a:ea typeface="Arial"/>
                          <a:cs typeface="Arial"/>
                        </a:rPr>
                        <a:t>6</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r>
              <a:tr h="333375">
                <a:tc>
                  <a:txBody>
                    <a:bodyPr/>
                    <a:lstStyle/>
                    <a:p>
                      <a:r>
                        <a:rPr sz="1725" b="0">
                          <a:solidFill>
                            <a:srgbClr val="202B33"/>
                          </a:solidFill>
                          <a:latin typeface="Arial"/>
                          <a:ea typeface="Arial"/>
                          <a:cs typeface="Arial"/>
                        </a:rPr>
                        <a:t>3</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r>
              <a:tr h="333375">
                <a:tc>
                  <a:txBody>
                    <a:bodyPr/>
                    <a:lstStyle/>
                    <a:p>
                      <a:r>
                        <a:rPr sz="1725" b="0">
                          <a:solidFill>
                            <a:srgbClr val="202B33"/>
                          </a:solidFill>
                          <a:latin typeface="Arial"/>
                          <a:ea typeface="Arial"/>
                          <a:cs typeface="Arial"/>
                        </a:rPr>
                        <a:t>2</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r>
            </a:tbl>
          </a:graphicData>
        </a:graphic>
      </p:graphicFrame>
      <p:sp>
        <p:nvSpPr>
          <p:cNvPr id="13" name="">
            <a:extLst xmlns:a="http://schemas.openxmlformats.org/drawingml/2006/main">
              <a:ext uri="{FF2B5EF4-FFF2-40B4-BE49-F238E27FC236}">
                <a16:creationId xmlns:a16="http://schemas.microsoft.com/office/drawing/2014/main" id="{DC11EA7C-D8D0-45F7-88EE-123E45C2546C}"/>
              </a:ext>
            </a:extLst>
          </p:cNvPr>
          <p:cNvSpPr>
            <a:spLocks xmlns:a="http://schemas.openxmlformats.org/drawingml/2006/main" noGrp="1"/>
          </p:cNvSpPr>
          <p:nvPr/>
        </p:nvSpPr>
        <p:spPr>
          <a:xfrm xmlns:a="http://schemas.openxmlformats.org/drawingml/2006/main">
            <a:off x="609600" y="60483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5293"/>
                </a:solidFill>
                <a:latin typeface="Arial"/>
                <a:ea typeface="Arial"/>
                <a:cs typeface="Arial"/>
              </a:defRPr>
            </a:defPPr>
            <a:lvl1pPr>
              <a:defRPr sz="1725" b="1">
                <a:solidFill>
                  <a:srgbClr val="005293"/>
                </a:solidFill>
                <a:latin typeface="Arial"/>
                <a:ea typeface="Arial"/>
                <a:cs typeface="Arial"/>
              </a:defRPr>
            </a:lvl1pPr>
            <a:lvl2pPr>
              <a:defRPr sz="1725" b="1">
                <a:solidFill>
                  <a:srgbClr val="005293"/>
                </a:solidFill>
                <a:latin typeface="Arial"/>
                <a:ea typeface="Arial"/>
                <a:cs typeface="Arial"/>
              </a:defRPr>
            </a:lvl2pPr>
            <a:lvl3pPr>
              <a:defRPr sz="1725" b="1">
                <a:solidFill>
                  <a:srgbClr val="005293"/>
                </a:solidFill>
                <a:latin typeface="Arial"/>
                <a:ea typeface="Arial"/>
                <a:cs typeface="Arial"/>
              </a:defRPr>
            </a:lvl3pPr>
            <a:lvl4pPr>
              <a:defRPr sz="1725" b="1">
                <a:solidFill>
                  <a:srgbClr val="005293"/>
                </a:solidFill>
                <a:latin typeface="Arial"/>
                <a:ea typeface="Arial"/>
                <a:cs typeface="Arial"/>
              </a:defRPr>
            </a:lvl4pPr>
            <a:lvl5pPr>
              <a:defRPr sz="1725" b="1">
                <a:solidFill>
                  <a:srgbClr val="005293"/>
                </a:solidFill>
                <a:latin typeface="Arial"/>
                <a:ea typeface="Arial"/>
                <a:cs typeface="Arial"/>
              </a:defRPr>
            </a:lvl5pPr>
            <a:lvl6pPr>
              <a:defRPr sz="1725" b="1">
                <a:solidFill>
                  <a:srgbClr val="005293"/>
                </a:solidFill>
                <a:latin typeface="Arial"/>
                <a:ea typeface="Arial"/>
                <a:cs typeface="Arial"/>
              </a:defRPr>
            </a:lvl6pPr>
            <a:lvl7pPr>
              <a:defRPr sz="1725" b="1">
                <a:solidFill>
                  <a:srgbClr val="005293"/>
                </a:solidFill>
                <a:latin typeface="Arial"/>
                <a:ea typeface="Arial"/>
                <a:cs typeface="Arial"/>
              </a:defRPr>
            </a:lvl7pPr>
            <a:lvl8pPr>
              <a:defRPr sz="1725" b="1">
                <a:solidFill>
                  <a:srgbClr val="005293"/>
                </a:solidFill>
                <a:latin typeface="Arial"/>
                <a:ea typeface="Arial"/>
                <a:cs typeface="Arial"/>
              </a:defRPr>
            </a:lvl8pPr>
            <a:lvl9pPr>
              <a:defRPr sz="1725" b="1">
                <a:solidFill>
                  <a:srgbClr val="005293"/>
                </a:solidFill>
                <a:latin typeface="Arial"/>
                <a:ea typeface="Arial"/>
                <a:cs typeface="Arial"/>
              </a:defRPr>
            </a:lvl9pPr>
          </a:lstStyle>
          <a:p xmlns:a="http://schemas.openxmlformats.org/drawingml/2006/main">
            <a:pPr>
              <a:defRPr sz="1725" b="1">
                <a:solidFill>
                  <a:srgbClr val="005293"/>
                </a:solidFill>
                <a:latin typeface="Arial"/>
                <a:ea typeface="Arial"/>
                <a:cs typeface="Arial"/>
              </a:defRPr>
            </a:pPr>
            <a:r>
              <a:rPr sz="1725" b="1">
                <a:solidFill>
                  <a:srgbClr val="005293"/>
                </a:solidFill>
                <a:latin typeface="Arial"/>
                <a:ea typeface="Arial"/>
                <a:cs typeface="Arial"/>
              </a:rPr>
              <a:t>Semester 2 kommt im Ergebnis nur einmal vor.</a:t>
            </a:r>
          </a:p>
        </p:txBody>
      </p:sp>
    </p:spTree>
    <p:extLst>
      <p:ext uri="{BB962C8B-B14F-4D97-AF65-F5344CB8AC3E}">
        <p14:creationId xmlns:p14="http://schemas.microsoft.com/office/powerpoint/2010/main" val="131820896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C2533E7-9A03-4762-A101-056B4686A36C}"/>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Selektion</a:t>
            </a:r>
          </a:p>
        </p:txBody>
      </p:sp>
      <p:sp>
        <p:nvSpPr>
          <p:cNvPr id="2" name="">
            <a:extLst xmlns:a="http://schemas.openxmlformats.org/drawingml/2006/main">
              <a:ext uri="{FF2B5EF4-FFF2-40B4-BE49-F238E27FC236}">
                <a16:creationId xmlns:a16="http://schemas.microsoft.com/office/drawing/2014/main" id="{06BA7040-AA84-48C1-AD6C-F10AE51CDEEE}"/>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A2F9A709-6A6B-43E7-958B-4FE4AEA29FFD}"/>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8</a:t>
            </a:r>
          </a:p>
        </p:txBody>
      </p:sp>
      <p:sp>
        <p:nvSpPr>
          <p:cNvPr id="4" name="">
            <a:extLst xmlns:a="http://schemas.openxmlformats.org/drawingml/2006/main">
              <a:ext uri="{FF2B5EF4-FFF2-40B4-BE49-F238E27FC236}">
                <a16:creationId xmlns:a16="http://schemas.microsoft.com/office/drawing/2014/main" id="{D00D2D01-8788-4EF3-AC1C-7ECBE247E4B5}"/>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17–18</a:t>
            </a:r>
          </a:p>
        </p:txBody>
      </p:sp>
      <p:sp>
        <p:nvSpPr>
          <p:cNvPr id="5" name="">
            <a:extLst xmlns:a="http://schemas.openxmlformats.org/drawingml/2006/main">
              <a:ext uri="{FF2B5EF4-FFF2-40B4-BE49-F238E27FC236}">
                <a16:creationId xmlns:a16="http://schemas.microsoft.com/office/drawing/2014/main" id="{71D542BB-69C7-4D5C-A46B-829E271CD0EF}"/>
              </a:ext>
            </a:extLst>
          </p:cNvPr>
          <p:cNvSpPr>
            <a:spLocks xmlns:a="http://schemas.openxmlformats.org/drawingml/2006/main" noGrp="1"/>
          </p:cNvSpPr>
          <p:nvPr/>
        </p:nvSpPr>
        <p:spPr>
          <a:xfrm xmlns:a="http://schemas.openxmlformats.org/drawingml/2006/main">
            <a:off x="609600" y="1428750"/>
            <a:ext cx="27432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3000" b="0">
                <a:solidFill>
                  <a:srgbClr val="005293"/>
                </a:solidFill>
                <a:latin typeface="STIX Two Math"/>
                <a:ea typeface="STIX Two Math"/>
                <a:cs typeface="STIX Two Math"/>
              </a:defRPr>
            </a:defPPr>
            <a:lvl1pPr>
              <a:defRPr sz="3000" b="0">
                <a:solidFill>
                  <a:srgbClr val="005293"/>
                </a:solidFill>
                <a:latin typeface="STIX Two Math"/>
                <a:ea typeface="STIX Two Math"/>
                <a:cs typeface="STIX Two Math"/>
              </a:defRPr>
            </a:lvl1pPr>
            <a:lvl2pPr>
              <a:defRPr sz="3000" b="0">
                <a:solidFill>
                  <a:srgbClr val="005293"/>
                </a:solidFill>
                <a:latin typeface="STIX Two Math"/>
                <a:ea typeface="STIX Two Math"/>
                <a:cs typeface="STIX Two Math"/>
              </a:defRPr>
            </a:lvl2pPr>
            <a:lvl3pPr>
              <a:defRPr sz="3000" b="0">
                <a:solidFill>
                  <a:srgbClr val="005293"/>
                </a:solidFill>
                <a:latin typeface="STIX Two Math"/>
                <a:ea typeface="STIX Two Math"/>
                <a:cs typeface="STIX Two Math"/>
              </a:defRPr>
            </a:lvl3pPr>
            <a:lvl4pPr>
              <a:defRPr sz="3000" b="0">
                <a:solidFill>
                  <a:srgbClr val="005293"/>
                </a:solidFill>
                <a:latin typeface="STIX Two Math"/>
                <a:ea typeface="STIX Two Math"/>
                <a:cs typeface="STIX Two Math"/>
              </a:defRPr>
            </a:lvl4pPr>
            <a:lvl5pPr>
              <a:defRPr sz="3000" b="0">
                <a:solidFill>
                  <a:srgbClr val="005293"/>
                </a:solidFill>
                <a:latin typeface="STIX Two Math"/>
                <a:ea typeface="STIX Two Math"/>
                <a:cs typeface="STIX Two Math"/>
              </a:defRPr>
            </a:lvl5pPr>
            <a:lvl6pPr>
              <a:defRPr sz="3000" b="0">
                <a:solidFill>
                  <a:srgbClr val="005293"/>
                </a:solidFill>
                <a:latin typeface="STIX Two Math"/>
                <a:ea typeface="STIX Two Math"/>
                <a:cs typeface="STIX Two Math"/>
              </a:defRPr>
            </a:lvl6pPr>
            <a:lvl7pPr>
              <a:defRPr sz="3000" b="0">
                <a:solidFill>
                  <a:srgbClr val="005293"/>
                </a:solidFill>
                <a:latin typeface="STIX Two Math"/>
                <a:ea typeface="STIX Two Math"/>
                <a:cs typeface="STIX Two Math"/>
              </a:defRPr>
            </a:lvl7pPr>
            <a:lvl8pPr>
              <a:defRPr sz="3000" b="0">
                <a:solidFill>
                  <a:srgbClr val="005293"/>
                </a:solidFill>
                <a:latin typeface="STIX Two Math"/>
                <a:ea typeface="STIX Two Math"/>
                <a:cs typeface="STIX Two Math"/>
              </a:defRPr>
            </a:lvl8pPr>
            <a:lvl9pPr>
              <a:defRPr sz="3000" b="0">
                <a:solidFill>
                  <a:srgbClr val="005293"/>
                </a:solidFill>
                <a:latin typeface="STIX Two Math"/>
                <a:ea typeface="STIX Two Math"/>
                <a:cs typeface="STIX Two Math"/>
              </a:defRPr>
            </a:lvl9pPr>
          </a:lstStyle>
          <a:p xmlns:a="http://schemas.openxmlformats.org/drawingml/2006/main">
            <a:pPr>
              <a:defRPr sz="3000" b="0">
                <a:solidFill>
                  <a:srgbClr val="005293"/>
                </a:solidFill>
                <a:latin typeface="STIX Two Math"/>
                <a:ea typeface="STIX Two Math"/>
                <a:cs typeface="STIX Two Math"/>
              </a:defRPr>
            </a:pPr>
            <a:r>
              <a:rPr sz="3000" b="0">
                <a:solidFill>
                  <a:srgbClr val="005293"/>
                </a:solidFill>
                <a:latin typeface="STIX Two Math"/>
                <a:ea typeface="STIX Two Math"/>
                <a:cs typeface="STIX Two Math"/>
              </a:rPr>
              <a:t>σ</a:t>
            </a:r>
          </a:p>
        </p:txBody>
      </p:sp>
      <p:sp>
        <p:nvSpPr>
          <p:cNvPr id="6" name="">
            <a:extLst xmlns:a="http://schemas.openxmlformats.org/drawingml/2006/main">
              <a:ext uri="{FF2B5EF4-FFF2-40B4-BE49-F238E27FC236}">
                <a16:creationId xmlns:a16="http://schemas.microsoft.com/office/drawing/2014/main" id="{A080F9E2-D583-49B4-8B08-F7F38BE9F690}"/>
              </a:ext>
            </a:extLst>
          </p:cNvPr>
          <p:cNvSpPr>
            <a:spLocks xmlns:a="http://schemas.openxmlformats.org/drawingml/2006/main" noGrp="1"/>
          </p:cNvSpPr>
          <p:nvPr/>
        </p:nvSpPr>
        <p:spPr>
          <a:xfrm xmlns:a="http://schemas.openxmlformats.org/drawingml/2006/main">
            <a:off x="836295" y="1645920"/>
            <a:ext cx="199663" cy="4086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1950" b="0">
                <a:solidFill>
                  <a:srgbClr val="005293"/>
                </a:solidFill>
                <a:latin typeface="STIX Two Math"/>
                <a:ea typeface="STIX Two Math"/>
                <a:cs typeface="STIX Two Math"/>
              </a:defRPr>
            </a:defPPr>
            <a:lvl1pPr>
              <a:defRPr sz="1950" b="0">
                <a:solidFill>
                  <a:srgbClr val="005293"/>
                </a:solidFill>
                <a:latin typeface="STIX Two Math"/>
                <a:ea typeface="STIX Two Math"/>
                <a:cs typeface="STIX Two Math"/>
              </a:defRPr>
            </a:lvl1pPr>
            <a:lvl2pPr>
              <a:defRPr sz="1950" b="0">
                <a:solidFill>
                  <a:srgbClr val="005293"/>
                </a:solidFill>
                <a:latin typeface="STIX Two Math"/>
                <a:ea typeface="STIX Two Math"/>
                <a:cs typeface="STIX Two Math"/>
              </a:defRPr>
            </a:lvl2pPr>
            <a:lvl3pPr>
              <a:defRPr sz="1950" b="0">
                <a:solidFill>
                  <a:srgbClr val="005293"/>
                </a:solidFill>
                <a:latin typeface="STIX Two Math"/>
                <a:ea typeface="STIX Two Math"/>
                <a:cs typeface="STIX Two Math"/>
              </a:defRPr>
            </a:lvl3pPr>
            <a:lvl4pPr>
              <a:defRPr sz="1950" b="0">
                <a:solidFill>
                  <a:srgbClr val="005293"/>
                </a:solidFill>
                <a:latin typeface="STIX Two Math"/>
                <a:ea typeface="STIX Two Math"/>
                <a:cs typeface="STIX Two Math"/>
              </a:defRPr>
            </a:lvl4pPr>
            <a:lvl5pPr>
              <a:defRPr sz="1950" b="0">
                <a:solidFill>
                  <a:srgbClr val="005293"/>
                </a:solidFill>
                <a:latin typeface="STIX Two Math"/>
                <a:ea typeface="STIX Two Math"/>
                <a:cs typeface="STIX Two Math"/>
              </a:defRPr>
            </a:lvl5pPr>
            <a:lvl6pPr>
              <a:defRPr sz="1950" b="0">
                <a:solidFill>
                  <a:srgbClr val="005293"/>
                </a:solidFill>
                <a:latin typeface="STIX Two Math"/>
                <a:ea typeface="STIX Two Math"/>
                <a:cs typeface="STIX Two Math"/>
              </a:defRPr>
            </a:lvl6pPr>
            <a:lvl7pPr>
              <a:defRPr sz="1950" b="0">
                <a:solidFill>
                  <a:srgbClr val="005293"/>
                </a:solidFill>
                <a:latin typeface="STIX Two Math"/>
                <a:ea typeface="STIX Two Math"/>
                <a:cs typeface="STIX Two Math"/>
              </a:defRPr>
            </a:lvl7pPr>
            <a:lvl8pPr>
              <a:defRPr sz="1950" b="0">
                <a:solidFill>
                  <a:srgbClr val="005293"/>
                </a:solidFill>
                <a:latin typeface="STIX Two Math"/>
                <a:ea typeface="STIX Two Math"/>
                <a:cs typeface="STIX Two Math"/>
              </a:defRPr>
            </a:lvl8pPr>
            <a:lvl9pPr>
              <a:defRPr sz="1950" b="0">
                <a:solidFill>
                  <a:srgbClr val="005293"/>
                </a:solidFill>
                <a:latin typeface="STIX Two Math"/>
                <a:ea typeface="STIX Two Math"/>
                <a:cs typeface="STIX Two Math"/>
              </a:defRPr>
            </a:lvl9pPr>
          </a:lstStyle>
          <a:p xmlns:a="http://schemas.openxmlformats.org/drawingml/2006/main">
            <a:pPr>
              <a:defRPr sz="1950" b="0">
                <a:solidFill>
                  <a:srgbClr val="005293"/>
                </a:solidFill>
                <a:latin typeface="STIX Two Math"/>
                <a:ea typeface="STIX Two Math"/>
                <a:cs typeface="STIX Two Math"/>
              </a:defRPr>
            </a:pPr>
            <a:r>
              <a:rPr sz="1950" b="0">
                <a:solidFill>
                  <a:srgbClr val="005293"/>
                </a:solidFill>
                <a:latin typeface="STIX Two Math"/>
                <a:ea typeface="STIX Two Math"/>
                <a:cs typeface="STIX Two Math"/>
              </a:rPr>
              <a:t>p</a:t>
            </a:r>
          </a:p>
        </p:txBody>
      </p:sp>
      <p:sp>
        <p:nvSpPr>
          <p:cNvPr id="7" name="">
            <a:extLst xmlns:a="http://schemas.openxmlformats.org/drawingml/2006/main">
              <a:ext uri="{FF2B5EF4-FFF2-40B4-BE49-F238E27FC236}">
                <a16:creationId xmlns:a16="http://schemas.microsoft.com/office/drawing/2014/main" id="{78EF0BD9-88A1-40D1-9B8A-4DAFFEC7DE49}"/>
              </a:ext>
            </a:extLst>
          </p:cNvPr>
          <p:cNvSpPr>
            <a:spLocks xmlns:a="http://schemas.openxmlformats.org/drawingml/2006/main" noGrp="1"/>
          </p:cNvSpPr>
          <p:nvPr/>
        </p:nvSpPr>
        <p:spPr>
          <a:xfrm xmlns:a="http://schemas.openxmlformats.org/drawingml/2006/main">
            <a:off x="988333" y="1428750"/>
            <a:ext cx="589788"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3000" b="0">
                <a:solidFill>
                  <a:srgbClr val="005293"/>
                </a:solidFill>
                <a:latin typeface="STIX Two Math"/>
                <a:ea typeface="STIX Two Math"/>
                <a:cs typeface="STIX Two Math"/>
              </a:defRPr>
            </a:defPPr>
            <a:lvl1pPr>
              <a:defRPr sz="3000" b="0">
                <a:solidFill>
                  <a:srgbClr val="005293"/>
                </a:solidFill>
                <a:latin typeface="STIX Two Math"/>
                <a:ea typeface="STIX Two Math"/>
                <a:cs typeface="STIX Two Math"/>
              </a:defRPr>
            </a:lvl1pPr>
            <a:lvl2pPr>
              <a:defRPr sz="3000" b="0">
                <a:solidFill>
                  <a:srgbClr val="005293"/>
                </a:solidFill>
                <a:latin typeface="STIX Two Math"/>
                <a:ea typeface="STIX Two Math"/>
                <a:cs typeface="STIX Two Math"/>
              </a:defRPr>
            </a:lvl2pPr>
            <a:lvl3pPr>
              <a:defRPr sz="3000" b="0">
                <a:solidFill>
                  <a:srgbClr val="005293"/>
                </a:solidFill>
                <a:latin typeface="STIX Two Math"/>
                <a:ea typeface="STIX Two Math"/>
                <a:cs typeface="STIX Two Math"/>
              </a:defRPr>
            </a:lvl3pPr>
            <a:lvl4pPr>
              <a:defRPr sz="3000" b="0">
                <a:solidFill>
                  <a:srgbClr val="005293"/>
                </a:solidFill>
                <a:latin typeface="STIX Two Math"/>
                <a:ea typeface="STIX Two Math"/>
                <a:cs typeface="STIX Two Math"/>
              </a:defRPr>
            </a:lvl4pPr>
            <a:lvl5pPr>
              <a:defRPr sz="3000" b="0">
                <a:solidFill>
                  <a:srgbClr val="005293"/>
                </a:solidFill>
                <a:latin typeface="STIX Two Math"/>
                <a:ea typeface="STIX Two Math"/>
                <a:cs typeface="STIX Two Math"/>
              </a:defRPr>
            </a:lvl5pPr>
            <a:lvl6pPr>
              <a:defRPr sz="3000" b="0">
                <a:solidFill>
                  <a:srgbClr val="005293"/>
                </a:solidFill>
                <a:latin typeface="STIX Two Math"/>
                <a:ea typeface="STIX Two Math"/>
                <a:cs typeface="STIX Two Math"/>
              </a:defRPr>
            </a:lvl6pPr>
            <a:lvl7pPr>
              <a:defRPr sz="3000" b="0">
                <a:solidFill>
                  <a:srgbClr val="005293"/>
                </a:solidFill>
                <a:latin typeface="STIX Two Math"/>
                <a:ea typeface="STIX Two Math"/>
                <a:cs typeface="STIX Two Math"/>
              </a:defRPr>
            </a:lvl7pPr>
            <a:lvl8pPr>
              <a:defRPr sz="3000" b="0">
                <a:solidFill>
                  <a:srgbClr val="005293"/>
                </a:solidFill>
                <a:latin typeface="STIX Two Math"/>
                <a:ea typeface="STIX Two Math"/>
                <a:cs typeface="STIX Two Math"/>
              </a:defRPr>
            </a:lvl8pPr>
            <a:lvl9pPr>
              <a:defRPr sz="3000" b="0">
                <a:solidFill>
                  <a:srgbClr val="005293"/>
                </a:solidFill>
                <a:latin typeface="STIX Two Math"/>
                <a:ea typeface="STIX Two Math"/>
                <a:cs typeface="STIX Two Math"/>
              </a:defRPr>
            </a:lvl9pPr>
          </a:lstStyle>
          <a:p xmlns:a="http://schemas.openxmlformats.org/drawingml/2006/main">
            <a:pPr>
              <a:defRPr sz="3000" b="0">
                <a:solidFill>
                  <a:srgbClr val="005293"/>
                </a:solidFill>
                <a:latin typeface="STIX Two Math"/>
                <a:ea typeface="STIX Two Math"/>
                <a:cs typeface="STIX Two Math"/>
              </a:defRPr>
            </a:pPr>
            <a:r>
              <a:rPr sz="3000" b="0">
                <a:solidFill>
                  <a:srgbClr val="005293"/>
                </a:solidFill>
                <a:latin typeface="STIX Two Math"/>
                <a:ea typeface="STIX Two Math"/>
                <a:cs typeface="STIX Two Math"/>
              </a:rPr>
              <a:t>(R)</a:t>
            </a:r>
          </a:p>
        </p:txBody>
      </p:sp>
      <p:sp>
        <p:nvSpPr>
          <p:cNvPr id="8" name="">
            <a:extLst xmlns:a="http://schemas.openxmlformats.org/drawingml/2006/main">
              <a:ext uri="{FF2B5EF4-FFF2-40B4-BE49-F238E27FC236}">
                <a16:creationId xmlns:a16="http://schemas.microsoft.com/office/drawing/2014/main" id="{7109DCE1-6A5E-4AA5-97C8-BEAE449697A1}"/>
              </a:ext>
            </a:extLst>
          </p:cNvPr>
          <p:cNvSpPr>
            <a:spLocks xmlns:a="http://schemas.openxmlformats.org/drawingml/2006/main" noGrp="1"/>
          </p:cNvSpPr>
          <p:nvPr/>
        </p:nvSpPr>
        <p:spPr>
          <a:xfrm xmlns:a="http://schemas.openxmlformats.org/drawingml/2006/main">
            <a:off x="609600" y="24765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Wählt genau die Tupel aus, die das Prädikat p erfüllen.</a:t>
            </a:r>
          </a:p>
        </p:txBody>
      </p:sp>
      <p:sp>
        <p:nvSpPr>
          <p:cNvPr id="9" name="">
            <a:extLst xmlns:a="http://schemas.openxmlformats.org/drawingml/2006/main">
              <a:ext uri="{FF2B5EF4-FFF2-40B4-BE49-F238E27FC236}">
                <a16:creationId xmlns:a16="http://schemas.microsoft.com/office/drawing/2014/main" id="{3F9257C1-9762-4543-B2F1-9A2DA894DC16}"/>
              </a:ext>
            </a:extLst>
          </p:cNvPr>
          <p:cNvSpPr>
            <a:spLocks xmlns:a="http://schemas.openxmlformats.org/drawingml/2006/main" noGrp="1"/>
          </p:cNvSpPr>
          <p:nvPr/>
        </p:nvSpPr>
        <p:spPr>
          <a:xfrm xmlns:a="http://schemas.openxmlformats.org/drawingml/2006/main">
            <a:off x="609600" y="34290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Vergleiche: =, ≠, &lt;, ≤, &gt;, ≥. Verknüpfungen: ∧, ∨, ¬.</a:t>
            </a:r>
          </a:p>
        </p:txBody>
      </p:sp>
      <p:sp>
        <p:nvSpPr>
          <p:cNvPr id="10" name="">
            <a:extLst xmlns:a="http://schemas.openxmlformats.org/drawingml/2006/main">
              <a:ext uri="{FF2B5EF4-FFF2-40B4-BE49-F238E27FC236}">
                <a16:creationId xmlns:a16="http://schemas.microsoft.com/office/drawing/2014/main" id="{8F8491E3-12C6-4587-A0CA-434CB6A68794}"/>
              </a:ext>
            </a:extLst>
          </p:cNvPr>
          <p:cNvSpPr>
            <a:spLocks xmlns:a="http://schemas.openxmlformats.org/drawingml/2006/main" noGrp="1"/>
          </p:cNvSpPr>
          <p:nvPr/>
        </p:nvSpPr>
        <p:spPr>
          <a:xfrm xmlns:a="http://schemas.openxmlformats.org/drawingml/2006/main">
            <a:off x="609600" y="43815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Das Schema bleibt unverändert. Die Tupelanzahl kann sinken.</a:t>
            </a:r>
          </a:p>
        </p:txBody>
      </p:sp>
    </p:spTree>
    <p:extLst>
      <p:ext uri="{BB962C8B-B14F-4D97-AF65-F5344CB8AC3E}">
        <p14:creationId xmlns:p14="http://schemas.microsoft.com/office/powerpoint/2010/main" val="163272040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66880AD-61F0-4080-B5C3-7D8F2CC48708}"/>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Selektion: zwei Bedingungen</a:t>
            </a:r>
          </a:p>
        </p:txBody>
      </p:sp>
      <p:sp>
        <p:nvSpPr>
          <p:cNvPr id="2" name="">
            <a:extLst xmlns:a="http://schemas.openxmlformats.org/drawingml/2006/main">
              <a:ext uri="{FF2B5EF4-FFF2-40B4-BE49-F238E27FC236}">
                <a16:creationId xmlns:a16="http://schemas.microsoft.com/office/drawing/2014/main" id="{DB1F97F1-4E2A-48F2-A619-8E7C87607290}"/>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72256234-113D-47C5-B78C-0652862C7388}"/>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9</a:t>
            </a:r>
          </a:p>
        </p:txBody>
      </p:sp>
      <p:sp>
        <p:nvSpPr>
          <p:cNvPr id="4" name="">
            <a:extLst xmlns:a="http://schemas.openxmlformats.org/drawingml/2006/main">
              <a:ext uri="{FF2B5EF4-FFF2-40B4-BE49-F238E27FC236}">
                <a16:creationId xmlns:a16="http://schemas.microsoft.com/office/drawing/2014/main" id="{CE951FFB-DE24-42D6-ACDC-142C5DBF22FF}"/>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18</a:t>
            </a:r>
          </a:p>
        </p:txBody>
      </p:sp>
      <p:sp>
        <p:nvSpPr>
          <p:cNvPr id="5" name="">
            <a:extLst xmlns:a="http://schemas.openxmlformats.org/drawingml/2006/main">
              <a:ext uri="{FF2B5EF4-FFF2-40B4-BE49-F238E27FC236}">
                <a16:creationId xmlns:a16="http://schemas.microsoft.com/office/drawing/2014/main" id="{BB789693-E43C-4F1C-8DE1-2740D0A9F1A3}"/>
              </a:ext>
            </a:extLst>
          </p:cNvPr>
          <p:cNvSpPr>
            <a:spLocks xmlns:a="http://schemas.openxmlformats.org/drawingml/2006/main" noGrp="1"/>
          </p:cNvSpPr>
          <p:nvPr/>
        </p:nvSpPr>
        <p:spPr>
          <a:xfrm xmlns:a="http://schemas.openxmlformats.org/drawingml/2006/main">
            <a:off x="609600" y="12858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B33"/>
                </a:solidFill>
                <a:latin typeface="Arial"/>
                <a:ea typeface="Arial"/>
                <a:cs typeface="Arial"/>
              </a:defRPr>
            </a:defPPr>
            <a:lvl1pPr>
              <a:defRPr sz="2025" b="0">
                <a:solidFill>
                  <a:srgbClr val="202B33"/>
                </a:solidFill>
                <a:latin typeface="Arial"/>
                <a:ea typeface="Arial"/>
                <a:cs typeface="Arial"/>
              </a:defRPr>
            </a:lvl1pPr>
            <a:lvl2pPr>
              <a:defRPr sz="2025" b="0">
                <a:solidFill>
                  <a:srgbClr val="202B33"/>
                </a:solidFill>
                <a:latin typeface="Arial"/>
                <a:ea typeface="Arial"/>
                <a:cs typeface="Arial"/>
              </a:defRPr>
            </a:lvl2pPr>
            <a:lvl3pPr>
              <a:defRPr sz="2025" b="0">
                <a:solidFill>
                  <a:srgbClr val="202B33"/>
                </a:solidFill>
                <a:latin typeface="Arial"/>
                <a:ea typeface="Arial"/>
                <a:cs typeface="Arial"/>
              </a:defRPr>
            </a:lvl3pPr>
            <a:lvl4pPr>
              <a:defRPr sz="2025" b="0">
                <a:solidFill>
                  <a:srgbClr val="202B33"/>
                </a:solidFill>
                <a:latin typeface="Arial"/>
                <a:ea typeface="Arial"/>
                <a:cs typeface="Arial"/>
              </a:defRPr>
            </a:lvl4pPr>
            <a:lvl5pPr>
              <a:defRPr sz="2025" b="0">
                <a:solidFill>
                  <a:srgbClr val="202B33"/>
                </a:solidFill>
                <a:latin typeface="Arial"/>
                <a:ea typeface="Arial"/>
                <a:cs typeface="Arial"/>
              </a:defRPr>
            </a:lvl5pPr>
            <a:lvl6pPr>
              <a:defRPr sz="2025" b="0">
                <a:solidFill>
                  <a:srgbClr val="202B33"/>
                </a:solidFill>
                <a:latin typeface="Arial"/>
                <a:ea typeface="Arial"/>
                <a:cs typeface="Arial"/>
              </a:defRPr>
            </a:lvl6pPr>
            <a:lvl7pPr>
              <a:defRPr sz="2025" b="0">
                <a:solidFill>
                  <a:srgbClr val="202B33"/>
                </a:solidFill>
                <a:latin typeface="Arial"/>
                <a:ea typeface="Arial"/>
                <a:cs typeface="Arial"/>
              </a:defRPr>
            </a:lvl7pPr>
            <a:lvl8pPr>
              <a:defRPr sz="2025" b="0">
                <a:solidFill>
                  <a:srgbClr val="202B33"/>
                </a:solidFill>
                <a:latin typeface="Arial"/>
                <a:ea typeface="Arial"/>
                <a:cs typeface="Arial"/>
              </a:defRPr>
            </a:lvl8pPr>
            <a:lvl9pPr>
              <a:defRPr sz="2025" b="0">
                <a:solidFill>
                  <a:srgbClr val="202B33"/>
                </a:solidFill>
                <a:latin typeface="Arial"/>
                <a:ea typeface="Arial"/>
                <a:cs typeface="Arial"/>
              </a:defRPr>
            </a:lvl9pPr>
          </a:lstStyle>
          <a:p xmlns:a="http://schemas.openxmlformats.org/drawingml/2006/main">
            <a:pPr>
              <a:defRPr sz="2025" b="0">
                <a:solidFill>
                  <a:srgbClr val="202B33"/>
                </a:solidFill>
                <a:latin typeface="Arial"/>
                <a:ea typeface="Arial"/>
                <a:cs typeface="Arial"/>
              </a:defRPr>
            </a:pPr>
            <a:r>
              <a:rPr sz="2025" b="0">
                <a:solidFill>
                  <a:srgbClr val="202B33"/>
                </a:solidFill>
                <a:latin typeface="Arial"/>
                <a:ea typeface="Arial"/>
                <a:cs typeface="Arial"/>
              </a:rPr>
              <a:t>„Gib alle Studenten mit MatrNr &lt; 26000 und Semester &gt; 8 aus.“</a:t>
            </a:r>
          </a:p>
        </p:txBody>
      </p:sp>
      <p:sp>
        <p:nvSpPr>
          <p:cNvPr id="6" name="">
            <a:extLst xmlns:a="http://schemas.openxmlformats.org/drawingml/2006/main">
              <a:ext uri="{FF2B5EF4-FFF2-40B4-BE49-F238E27FC236}">
                <a16:creationId xmlns:a16="http://schemas.microsoft.com/office/drawing/2014/main" id="{845E604C-BFAC-4BA5-9086-D1D0660111F8}"/>
              </a:ext>
            </a:extLst>
          </p:cNvPr>
          <p:cNvSpPr>
            <a:spLocks xmlns:a="http://schemas.openxmlformats.org/drawingml/2006/main" noGrp="1"/>
          </p:cNvSpPr>
          <p:nvPr/>
        </p:nvSpPr>
        <p:spPr>
          <a:xfrm xmlns:a="http://schemas.openxmlformats.org/drawingml/2006/main">
            <a:off x="609600" y="1857375"/>
            <a:ext cx="253556" cy="5657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2700" b="0">
                <a:solidFill>
                  <a:srgbClr val="005293"/>
                </a:solidFill>
                <a:latin typeface="STIX Two Math"/>
                <a:ea typeface="STIX Two Math"/>
                <a:cs typeface="STIX Two Math"/>
              </a:defRPr>
            </a:defPPr>
            <a:lvl1pPr>
              <a:defRPr sz="2700" b="0">
                <a:solidFill>
                  <a:srgbClr val="005293"/>
                </a:solidFill>
                <a:latin typeface="STIX Two Math"/>
                <a:ea typeface="STIX Two Math"/>
                <a:cs typeface="STIX Two Math"/>
              </a:defRPr>
            </a:lvl1pPr>
            <a:lvl2pPr>
              <a:defRPr sz="2700" b="0">
                <a:solidFill>
                  <a:srgbClr val="005293"/>
                </a:solidFill>
                <a:latin typeface="STIX Two Math"/>
                <a:ea typeface="STIX Two Math"/>
                <a:cs typeface="STIX Two Math"/>
              </a:defRPr>
            </a:lvl2pPr>
            <a:lvl3pPr>
              <a:defRPr sz="2700" b="0">
                <a:solidFill>
                  <a:srgbClr val="005293"/>
                </a:solidFill>
                <a:latin typeface="STIX Two Math"/>
                <a:ea typeface="STIX Two Math"/>
                <a:cs typeface="STIX Two Math"/>
              </a:defRPr>
            </a:lvl3pPr>
            <a:lvl4pPr>
              <a:defRPr sz="2700" b="0">
                <a:solidFill>
                  <a:srgbClr val="005293"/>
                </a:solidFill>
                <a:latin typeface="STIX Two Math"/>
                <a:ea typeface="STIX Two Math"/>
                <a:cs typeface="STIX Two Math"/>
              </a:defRPr>
            </a:lvl4pPr>
            <a:lvl5pPr>
              <a:defRPr sz="2700" b="0">
                <a:solidFill>
                  <a:srgbClr val="005293"/>
                </a:solidFill>
                <a:latin typeface="STIX Two Math"/>
                <a:ea typeface="STIX Two Math"/>
                <a:cs typeface="STIX Two Math"/>
              </a:defRPr>
            </a:lvl5pPr>
            <a:lvl6pPr>
              <a:defRPr sz="2700" b="0">
                <a:solidFill>
                  <a:srgbClr val="005293"/>
                </a:solidFill>
                <a:latin typeface="STIX Two Math"/>
                <a:ea typeface="STIX Two Math"/>
                <a:cs typeface="STIX Two Math"/>
              </a:defRPr>
            </a:lvl6pPr>
            <a:lvl7pPr>
              <a:defRPr sz="2700" b="0">
                <a:solidFill>
                  <a:srgbClr val="005293"/>
                </a:solidFill>
                <a:latin typeface="STIX Two Math"/>
                <a:ea typeface="STIX Two Math"/>
                <a:cs typeface="STIX Two Math"/>
              </a:defRPr>
            </a:lvl7pPr>
            <a:lvl8pPr>
              <a:defRPr sz="2700" b="0">
                <a:solidFill>
                  <a:srgbClr val="005293"/>
                </a:solidFill>
                <a:latin typeface="STIX Two Math"/>
                <a:ea typeface="STIX Two Math"/>
                <a:cs typeface="STIX Two Math"/>
              </a:defRPr>
            </a:lvl8pPr>
            <a:lvl9pPr>
              <a:defRPr sz="2700" b="0">
                <a:solidFill>
                  <a:srgbClr val="005293"/>
                </a:solidFill>
                <a:latin typeface="STIX Two Math"/>
                <a:ea typeface="STIX Two Math"/>
                <a:cs typeface="STIX Two Math"/>
              </a:defRPr>
            </a:lvl9pPr>
          </a:lstStyle>
          <a:p xmlns:a="http://schemas.openxmlformats.org/drawingml/2006/main">
            <a:pPr>
              <a:defRPr sz="2700" b="0">
                <a:solidFill>
                  <a:srgbClr val="005293"/>
                </a:solidFill>
                <a:latin typeface="STIX Two Math"/>
                <a:ea typeface="STIX Two Math"/>
                <a:cs typeface="STIX Two Math"/>
              </a:defRPr>
            </a:pPr>
            <a:r>
              <a:rPr sz="2700" b="0">
                <a:solidFill>
                  <a:srgbClr val="005293"/>
                </a:solidFill>
                <a:latin typeface="STIX Two Math"/>
                <a:ea typeface="STIX Two Math"/>
                <a:cs typeface="STIX Two Math"/>
              </a:rPr>
              <a:t>σ</a:t>
            </a:r>
          </a:p>
        </p:txBody>
      </p:sp>
      <p:sp>
        <p:nvSpPr>
          <p:cNvPr id="7" name="">
            <a:extLst xmlns:a="http://schemas.openxmlformats.org/drawingml/2006/main">
              <a:ext uri="{FF2B5EF4-FFF2-40B4-BE49-F238E27FC236}">
                <a16:creationId xmlns:a16="http://schemas.microsoft.com/office/drawing/2014/main" id="{5DE14C40-D72A-4CC8-B415-6FD51558B6E3}"/>
              </a:ext>
            </a:extLst>
          </p:cNvPr>
          <p:cNvSpPr>
            <a:spLocks xmlns:a="http://schemas.openxmlformats.org/drawingml/2006/main" noGrp="1"/>
          </p:cNvSpPr>
          <p:nvPr/>
        </p:nvSpPr>
        <p:spPr>
          <a:xfrm xmlns:a="http://schemas.openxmlformats.org/drawingml/2006/main">
            <a:off x="815531" y="2052828"/>
            <a:ext cx="3072502" cy="367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1755" b="0">
                <a:solidFill>
                  <a:srgbClr val="005293"/>
                </a:solidFill>
                <a:latin typeface="STIX Two Math"/>
                <a:ea typeface="STIX Two Math"/>
                <a:cs typeface="STIX Two Math"/>
              </a:defRPr>
            </a:defPPr>
            <a:lvl1pPr>
              <a:defRPr sz="1755" b="0">
                <a:solidFill>
                  <a:srgbClr val="005293"/>
                </a:solidFill>
                <a:latin typeface="STIX Two Math"/>
                <a:ea typeface="STIX Two Math"/>
                <a:cs typeface="STIX Two Math"/>
              </a:defRPr>
            </a:lvl1pPr>
            <a:lvl2pPr>
              <a:defRPr sz="1755" b="0">
                <a:solidFill>
                  <a:srgbClr val="005293"/>
                </a:solidFill>
                <a:latin typeface="STIX Two Math"/>
                <a:ea typeface="STIX Two Math"/>
                <a:cs typeface="STIX Two Math"/>
              </a:defRPr>
            </a:lvl2pPr>
            <a:lvl3pPr>
              <a:defRPr sz="1755" b="0">
                <a:solidFill>
                  <a:srgbClr val="005293"/>
                </a:solidFill>
                <a:latin typeface="STIX Two Math"/>
                <a:ea typeface="STIX Two Math"/>
                <a:cs typeface="STIX Two Math"/>
              </a:defRPr>
            </a:lvl3pPr>
            <a:lvl4pPr>
              <a:defRPr sz="1755" b="0">
                <a:solidFill>
                  <a:srgbClr val="005293"/>
                </a:solidFill>
                <a:latin typeface="STIX Two Math"/>
                <a:ea typeface="STIX Two Math"/>
                <a:cs typeface="STIX Two Math"/>
              </a:defRPr>
            </a:lvl4pPr>
            <a:lvl5pPr>
              <a:defRPr sz="1755" b="0">
                <a:solidFill>
                  <a:srgbClr val="005293"/>
                </a:solidFill>
                <a:latin typeface="STIX Two Math"/>
                <a:ea typeface="STIX Two Math"/>
                <a:cs typeface="STIX Two Math"/>
              </a:defRPr>
            </a:lvl5pPr>
            <a:lvl6pPr>
              <a:defRPr sz="1755" b="0">
                <a:solidFill>
                  <a:srgbClr val="005293"/>
                </a:solidFill>
                <a:latin typeface="STIX Two Math"/>
                <a:ea typeface="STIX Two Math"/>
                <a:cs typeface="STIX Two Math"/>
              </a:defRPr>
            </a:lvl6pPr>
            <a:lvl7pPr>
              <a:defRPr sz="1755" b="0">
                <a:solidFill>
                  <a:srgbClr val="005293"/>
                </a:solidFill>
                <a:latin typeface="STIX Two Math"/>
                <a:ea typeface="STIX Two Math"/>
                <a:cs typeface="STIX Two Math"/>
              </a:defRPr>
            </a:lvl7pPr>
            <a:lvl8pPr>
              <a:defRPr sz="1755" b="0">
                <a:solidFill>
                  <a:srgbClr val="005293"/>
                </a:solidFill>
                <a:latin typeface="STIX Two Math"/>
                <a:ea typeface="STIX Two Math"/>
                <a:cs typeface="STIX Two Math"/>
              </a:defRPr>
            </a:lvl8pPr>
            <a:lvl9pPr>
              <a:defRPr sz="1755" b="0">
                <a:solidFill>
                  <a:srgbClr val="005293"/>
                </a:solidFill>
                <a:latin typeface="STIX Two Math"/>
                <a:ea typeface="STIX Two Math"/>
                <a:cs typeface="STIX Two Math"/>
              </a:defRPr>
            </a:lvl9pPr>
          </a:lstStyle>
          <a:p xmlns:a="http://schemas.openxmlformats.org/drawingml/2006/main">
            <a:pPr>
              <a:defRPr sz="1755" b="0">
                <a:solidFill>
                  <a:srgbClr val="005293"/>
                </a:solidFill>
                <a:latin typeface="STIX Two Math"/>
                <a:ea typeface="STIX Two Math"/>
                <a:cs typeface="STIX Two Math"/>
              </a:defRPr>
            </a:pPr>
            <a:r>
              <a:rPr sz="1755" b="0">
                <a:solidFill>
                  <a:srgbClr val="005293"/>
                </a:solidFill>
                <a:latin typeface="STIX Two Math"/>
                <a:ea typeface="STIX Two Math"/>
                <a:cs typeface="STIX Two Math"/>
              </a:rPr>
              <a:t>MatrNr &lt; 26000 ∧ Semester &gt; 8</a:t>
            </a:r>
          </a:p>
        </p:txBody>
      </p:sp>
      <p:sp>
        <p:nvSpPr>
          <p:cNvPr id="8" name="">
            <a:extLst xmlns:a="http://schemas.openxmlformats.org/drawingml/2006/main">
              <a:ext uri="{FF2B5EF4-FFF2-40B4-BE49-F238E27FC236}">
                <a16:creationId xmlns:a16="http://schemas.microsoft.com/office/drawing/2014/main" id="{89F022BD-01CF-4F1D-A94D-41ECEEB3139C}"/>
              </a:ext>
            </a:extLst>
          </p:cNvPr>
          <p:cNvSpPr>
            <a:spLocks xmlns:a="http://schemas.openxmlformats.org/drawingml/2006/main" noGrp="1"/>
          </p:cNvSpPr>
          <p:nvPr/>
        </p:nvSpPr>
        <p:spPr>
          <a:xfrm xmlns:a="http://schemas.openxmlformats.org/drawingml/2006/main">
            <a:off x="3840408" y="1857375"/>
            <a:ext cx="1793862" cy="5657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2700" b="0">
                <a:solidFill>
                  <a:srgbClr val="005293"/>
                </a:solidFill>
                <a:latin typeface="STIX Two Math"/>
                <a:ea typeface="STIX Two Math"/>
                <a:cs typeface="STIX Two Math"/>
              </a:defRPr>
            </a:defPPr>
            <a:lvl1pPr>
              <a:defRPr sz="2700" b="0">
                <a:solidFill>
                  <a:srgbClr val="005293"/>
                </a:solidFill>
                <a:latin typeface="STIX Two Math"/>
                <a:ea typeface="STIX Two Math"/>
                <a:cs typeface="STIX Two Math"/>
              </a:defRPr>
            </a:lvl1pPr>
            <a:lvl2pPr>
              <a:defRPr sz="2700" b="0">
                <a:solidFill>
                  <a:srgbClr val="005293"/>
                </a:solidFill>
                <a:latin typeface="STIX Two Math"/>
                <a:ea typeface="STIX Two Math"/>
                <a:cs typeface="STIX Two Math"/>
              </a:defRPr>
            </a:lvl2pPr>
            <a:lvl3pPr>
              <a:defRPr sz="2700" b="0">
                <a:solidFill>
                  <a:srgbClr val="005293"/>
                </a:solidFill>
                <a:latin typeface="STIX Two Math"/>
                <a:ea typeface="STIX Two Math"/>
                <a:cs typeface="STIX Two Math"/>
              </a:defRPr>
            </a:lvl3pPr>
            <a:lvl4pPr>
              <a:defRPr sz="2700" b="0">
                <a:solidFill>
                  <a:srgbClr val="005293"/>
                </a:solidFill>
                <a:latin typeface="STIX Two Math"/>
                <a:ea typeface="STIX Two Math"/>
                <a:cs typeface="STIX Two Math"/>
              </a:defRPr>
            </a:lvl4pPr>
            <a:lvl5pPr>
              <a:defRPr sz="2700" b="0">
                <a:solidFill>
                  <a:srgbClr val="005293"/>
                </a:solidFill>
                <a:latin typeface="STIX Two Math"/>
                <a:ea typeface="STIX Two Math"/>
                <a:cs typeface="STIX Two Math"/>
              </a:defRPr>
            </a:lvl5pPr>
            <a:lvl6pPr>
              <a:defRPr sz="2700" b="0">
                <a:solidFill>
                  <a:srgbClr val="005293"/>
                </a:solidFill>
                <a:latin typeface="STIX Two Math"/>
                <a:ea typeface="STIX Two Math"/>
                <a:cs typeface="STIX Two Math"/>
              </a:defRPr>
            </a:lvl6pPr>
            <a:lvl7pPr>
              <a:defRPr sz="2700" b="0">
                <a:solidFill>
                  <a:srgbClr val="005293"/>
                </a:solidFill>
                <a:latin typeface="STIX Two Math"/>
                <a:ea typeface="STIX Two Math"/>
                <a:cs typeface="STIX Two Math"/>
              </a:defRPr>
            </a:lvl7pPr>
            <a:lvl8pPr>
              <a:defRPr sz="2700" b="0">
                <a:solidFill>
                  <a:srgbClr val="005293"/>
                </a:solidFill>
                <a:latin typeface="STIX Two Math"/>
                <a:ea typeface="STIX Two Math"/>
                <a:cs typeface="STIX Two Math"/>
              </a:defRPr>
            </a:lvl8pPr>
            <a:lvl9pPr>
              <a:defRPr sz="2700" b="0">
                <a:solidFill>
                  <a:srgbClr val="005293"/>
                </a:solidFill>
                <a:latin typeface="STIX Two Math"/>
                <a:ea typeface="STIX Two Math"/>
                <a:cs typeface="STIX Two Math"/>
              </a:defRPr>
            </a:lvl9pPr>
          </a:lstStyle>
          <a:p xmlns:a="http://schemas.openxmlformats.org/drawingml/2006/main">
            <a:pPr>
              <a:defRPr sz="2700" b="0">
                <a:solidFill>
                  <a:srgbClr val="005293"/>
                </a:solidFill>
                <a:latin typeface="STIX Two Math"/>
                <a:ea typeface="STIX Two Math"/>
                <a:cs typeface="STIX Two Math"/>
              </a:defRPr>
            </a:pPr>
            <a:r>
              <a:rPr sz="2700" b="0">
                <a:solidFill>
                  <a:srgbClr val="005293"/>
                </a:solidFill>
                <a:latin typeface="STIX Two Math"/>
                <a:ea typeface="STIX Two Math"/>
                <a:cs typeface="STIX Two Math"/>
              </a:rPr>
              <a:t>(Studenten)</a:t>
            </a:r>
          </a:p>
        </p:txBody>
      </p:sp>
      <p:sp>
        <p:nvSpPr>
          <p:cNvPr id="9" name="">
            <a:extLst xmlns:a="http://schemas.openxmlformats.org/drawingml/2006/main">
              <a:ext uri="{FF2B5EF4-FFF2-40B4-BE49-F238E27FC236}">
                <a16:creationId xmlns:a16="http://schemas.microsoft.com/office/drawing/2014/main" id="{816F5BBA-631F-460F-A7B9-C8EB78372BAC}"/>
              </a:ext>
            </a:extLst>
          </p:cNvPr>
          <p:cNvSpPr>
            <a:spLocks xmlns:a="http://schemas.openxmlformats.org/drawingml/2006/main" noGrp="1"/>
          </p:cNvSpPr>
          <p:nvPr/>
        </p:nvSpPr>
        <p:spPr>
          <a:xfrm xmlns:a="http://schemas.openxmlformats.org/drawingml/2006/main">
            <a:off x="609600" y="254317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Studenten</a:t>
            </a:r>
          </a:p>
        </p:txBody>
      </p:sp>
      <p:sp>
        <p:nvSpPr>
          <p:cNvPr id="10" name="">
            <a:extLst xmlns:a="http://schemas.openxmlformats.org/drawingml/2006/main">
              <a:ext uri="{FF2B5EF4-FFF2-40B4-BE49-F238E27FC236}">
                <a16:creationId xmlns:a16="http://schemas.microsoft.com/office/drawing/2014/main" id="{D01D266E-5A22-49A8-B4B7-E2DA524C696E}"/>
              </a:ext>
            </a:extLst>
          </p:cNvPr>
          <p:cNvSpPr>
            <a:spLocks xmlns:a="http://schemas.openxmlformats.org/drawingml/2006/main" noGrp="1"/>
          </p:cNvSpPr>
          <p:nvPr/>
        </p:nvSpPr>
        <p:spPr>
          <a:xfrm xmlns:a="http://schemas.openxmlformats.org/drawingml/2006/main">
            <a:off x="7143750" y="2543175"/>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Ergebnis</a:t>
            </a:r>
          </a:p>
        </p:txBody>
      </p:sp>
      <p:graphicFrame>
        <p:nvGraphicFramePr>
          <p:cNvPr id="11" name="">
            <a:extLst xmlns:a="http://schemas.openxmlformats.org/drawingml/2006/main">
              <a:ext uri="{FF2B5EF4-FFF2-40B4-BE49-F238E27FC236}">
                <a16:creationId xmlns:a16="http://schemas.microsoft.com/office/drawing/2014/main" id="{EADD756A-3710-45D4-AFFE-008E67327481}"/>
              </a:ext>
            </a:extLst>
          </p:cNvPr>
          <p:cNvGraphicFramePr/>
          <p:nvPr/>
        </p:nvGraphicFramePr>
        <p:xfrm>
          <a:off xmlns:a="http://schemas.openxmlformats.org/drawingml/2006/main" x="609600" y="2990850"/>
          <a:ext xmlns:a="http://schemas.openxmlformats.org/drawingml/2006/main" cx="5953125" cy="3000375"/>
        </p:xfrm>
        <a:graphic xmlns:a="http://schemas.openxmlformats.org/drawingml/2006/main">
          <a:graphicData uri="http://schemas.openxmlformats.org/drawingml/2006/table">
            <a:tbl>
              <a:tblPr/>
              <a:tblGrid>
                <a:gridCol w="1381125"/>
                <a:gridCol w="2952750"/>
                <a:gridCol w="1619250"/>
              </a:tblGrid>
              <a:tr h="333375">
                <a:tc>
                  <a:txBody>
                    <a:bodyPr/>
                    <a:lstStyle/>
                    <a:p>
                      <a:r>
                        <a:rPr sz="1725" b="1">
                          <a:solidFill>
                            <a:srgbClr val="FFFFFF"/>
                          </a:solidFill>
                          <a:latin typeface="Arial"/>
                          <a:ea typeface="Arial"/>
                          <a:cs typeface="Arial"/>
                        </a:rPr>
                        <a:t>MatrNr</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725" b="1">
                          <a:solidFill>
                            <a:srgbClr val="FFFFFF"/>
                          </a:solidFill>
                          <a:latin typeface="Arial"/>
                          <a:ea typeface="Arial"/>
                          <a:cs typeface="Arial"/>
                        </a:rPr>
                        <a:t>Name</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1725" b="1">
                          <a:solidFill>
                            <a:srgbClr val="FFFFFF"/>
                          </a:solidFill>
                          <a:latin typeface="Arial"/>
                          <a:ea typeface="Arial"/>
                          <a:cs typeface="Arial"/>
                        </a:rPr>
                        <a:t>Semester</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333375">
                <a:tc>
                  <a:txBody>
                    <a:bodyPr/>
                    <a:lstStyle/>
                    <a:p>
                      <a:r>
                        <a:rPr sz="1725" b="0">
                          <a:solidFill>
                            <a:srgbClr val="202B33"/>
                          </a:solidFill>
                          <a:latin typeface="Arial"/>
                          <a:ea typeface="Arial"/>
                          <a:cs typeface="Arial"/>
                        </a:rPr>
                        <a:t>24002</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725" b="0">
                          <a:solidFill>
                            <a:srgbClr val="202B33"/>
                          </a:solidFill>
                          <a:latin typeface="Arial"/>
                          <a:ea typeface="Arial"/>
                          <a:cs typeface="Arial"/>
                        </a:rPr>
                        <a:t>Xenokrates</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725" b="0">
                          <a:solidFill>
                            <a:srgbClr val="202B33"/>
                          </a:solidFill>
                          <a:latin typeface="Arial"/>
                          <a:ea typeface="Arial"/>
                          <a:cs typeface="Arial"/>
                        </a:rPr>
                        <a:t>18</a:t>
                      </a:r>
                    </a:p>
                  </a:txBody>
                  <a:tcPr marL="95250" marR="66675" marT="28575" marB="28575" anchor="ctr">
                    <a:lnR w="6668">
                      <a:solidFill>
                        <a:srgbClr val="CBD8E1"/>
                      </a:solidFill>
                    </a:lnR>
                    <a:lnB w="6668">
                      <a:solidFill>
                        <a:srgbClr val="CBD8E1"/>
                      </a:solidFill>
                    </a:lnB>
                    <a:solidFill>
                      <a:srgbClr val="FFFFFF"/>
                    </a:solidFill>
                  </a:tcPr>
                </a:tc>
              </a:tr>
              <a:tr h="333375">
                <a:tc>
                  <a:txBody>
                    <a:bodyPr/>
                    <a:lstStyle/>
                    <a:p>
                      <a:r>
                        <a:rPr sz="1725" b="0">
                          <a:solidFill>
                            <a:srgbClr val="202B33"/>
                          </a:solidFill>
                          <a:latin typeface="Arial"/>
                          <a:ea typeface="Arial"/>
                          <a:cs typeface="Arial"/>
                        </a:rPr>
                        <a:t>25403</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725" b="0">
                          <a:solidFill>
                            <a:srgbClr val="202B33"/>
                          </a:solidFill>
                          <a:latin typeface="Arial"/>
                          <a:ea typeface="Arial"/>
                          <a:cs typeface="Arial"/>
                        </a:rPr>
                        <a:t>Jonas</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725" b="0">
                          <a:solidFill>
                            <a:srgbClr val="202B33"/>
                          </a:solidFill>
                          <a:latin typeface="Arial"/>
                          <a:ea typeface="Arial"/>
                          <a:cs typeface="Arial"/>
                        </a:rPr>
                        <a:t>12</a:t>
                      </a:r>
                    </a:p>
                  </a:txBody>
                  <a:tcPr marL="95250" marR="66675" marT="28575" marB="28575" anchor="ctr">
                    <a:lnR w="6668">
                      <a:solidFill>
                        <a:srgbClr val="CBD8E1"/>
                      </a:solidFill>
                    </a:lnR>
                    <a:lnB w="6668">
                      <a:solidFill>
                        <a:srgbClr val="CBD8E1"/>
                      </a:solidFill>
                    </a:lnB>
                    <a:solidFill>
                      <a:srgbClr val="EDF4F9"/>
                    </a:solidFill>
                  </a:tcPr>
                </a:tc>
              </a:tr>
              <a:tr h="333375">
                <a:tc>
                  <a:txBody>
                    <a:bodyPr/>
                    <a:lstStyle/>
                    <a:p>
                      <a:r>
                        <a:rPr sz="1725" b="0">
                          <a:solidFill>
                            <a:srgbClr val="202B33"/>
                          </a:solidFill>
                          <a:latin typeface="Arial"/>
                          <a:ea typeface="Arial"/>
                          <a:cs typeface="Arial"/>
                        </a:rPr>
                        <a:t>26120</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725" b="0">
                          <a:solidFill>
                            <a:srgbClr val="202B33"/>
                          </a:solidFill>
                          <a:latin typeface="Arial"/>
                          <a:ea typeface="Arial"/>
                          <a:cs typeface="Arial"/>
                        </a:rPr>
                        <a:t>Fichte</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725" b="0">
                          <a:solidFill>
                            <a:srgbClr val="202B33"/>
                          </a:solidFill>
                          <a:latin typeface="Arial"/>
                          <a:ea typeface="Arial"/>
                          <a:cs typeface="Arial"/>
                        </a:rPr>
                        <a:t>10</a:t>
                      </a:r>
                    </a:p>
                  </a:txBody>
                  <a:tcPr marL="95250" marR="66675" marT="28575" marB="28575" anchor="ctr">
                    <a:lnR w="6668">
                      <a:solidFill>
                        <a:srgbClr val="CBD8E1"/>
                      </a:solidFill>
                    </a:lnR>
                    <a:lnB w="6668">
                      <a:solidFill>
                        <a:srgbClr val="CBD8E1"/>
                      </a:solidFill>
                    </a:lnB>
                    <a:solidFill>
                      <a:srgbClr val="FFFFFF"/>
                    </a:solidFill>
                  </a:tcPr>
                </a:tc>
              </a:tr>
              <a:tr h="333375">
                <a:tc>
                  <a:txBody>
                    <a:bodyPr/>
                    <a:lstStyle/>
                    <a:p>
                      <a:r>
                        <a:rPr sz="1725" b="0">
                          <a:solidFill>
                            <a:srgbClr val="202B33"/>
                          </a:solidFill>
                          <a:latin typeface="Arial"/>
                          <a:ea typeface="Arial"/>
                          <a:cs typeface="Arial"/>
                        </a:rPr>
                        <a:t>26830</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725" b="0">
                          <a:solidFill>
                            <a:srgbClr val="202B33"/>
                          </a:solidFill>
                          <a:latin typeface="Arial"/>
                          <a:ea typeface="Arial"/>
                          <a:cs typeface="Arial"/>
                        </a:rPr>
                        <a:t>Aristoxenos</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725" b="0">
                          <a:solidFill>
                            <a:srgbClr val="202B33"/>
                          </a:solidFill>
                          <a:latin typeface="Arial"/>
                          <a:ea typeface="Arial"/>
                          <a:cs typeface="Arial"/>
                        </a:rPr>
                        <a:t>8</a:t>
                      </a:r>
                    </a:p>
                  </a:txBody>
                  <a:tcPr marL="95250" marR="66675" marT="28575" marB="28575" anchor="ctr">
                    <a:lnR w="6668">
                      <a:solidFill>
                        <a:srgbClr val="CBD8E1"/>
                      </a:solidFill>
                    </a:lnR>
                    <a:lnB w="6668">
                      <a:solidFill>
                        <a:srgbClr val="CBD8E1"/>
                      </a:solidFill>
                    </a:lnB>
                    <a:solidFill>
                      <a:srgbClr val="EDF4F9"/>
                    </a:solidFill>
                  </a:tcPr>
                </a:tc>
              </a:tr>
              <a:tr h="333375">
                <a:tc>
                  <a:txBody>
                    <a:bodyPr/>
                    <a:lstStyle/>
                    <a:p>
                      <a:r>
                        <a:rPr sz="1725" b="0">
                          <a:solidFill>
                            <a:srgbClr val="202B33"/>
                          </a:solidFill>
                          <a:latin typeface="Arial"/>
                          <a:ea typeface="Arial"/>
                          <a:cs typeface="Arial"/>
                        </a:rPr>
                        <a:t>27550</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725" b="0">
                          <a:solidFill>
                            <a:srgbClr val="202B33"/>
                          </a:solidFill>
                          <a:latin typeface="Arial"/>
                          <a:ea typeface="Arial"/>
                          <a:cs typeface="Arial"/>
                        </a:rPr>
                        <a:t>Schopenhauer</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725" b="0">
                          <a:solidFill>
                            <a:srgbClr val="202B33"/>
                          </a:solidFill>
                          <a:latin typeface="Arial"/>
                          <a:ea typeface="Arial"/>
                          <a:cs typeface="Arial"/>
                        </a:rPr>
                        <a:t>6</a:t>
                      </a:r>
                    </a:p>
                  </a:txBody>
                  <a:tcPr marL="95250" marR="66675" marT="28575" marB="28575" anchor="ctr">
                    <a:lnR w="6668">
                      <a:solidFill>
                        <a:srgbClr val="CBD8E1"/>
                      </a:solidFill>
                    </a:lnR>
                    <a:lnB w="6668">
                      <a:solidFill>
                        <a:srgbClr val="CBD8E1"/>
                      </a:solidFill>
                    </a:lnB>
                    <a:solidFill>
                      <a:srgbClr val="FFFFFF"/>
                    </a:solidFill>
                  </a:tcPr>
                </a:tc>
              </a:tr>
              <a:tr h="333375">
                <a:tc>
                  <a:txBody>
                    <a:bodyPr/>
                    <a:lstStyle/>
                    <a:p>
                      <a:r>
                        <a:rPr sz="1725" b="0">
                          <a:solidFill>
                            <a:srgbClr val="202B33"/>
                          </a:solidFill>
                          <a:latin typeface="Arial"/>
                          <a:ea typeface="Arial"/>
                          <a:cs typeface="Arial"/>
                        </a:rPr>
                        <a:t>28106</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725" b="0">
                          <a:solidFill>
                            <a:srgbClr val="202B33"/>
                          </a:solidFill>
                          <a:latin typeface="Arial"/>
                          <a:ea typeface="Arial"/>
                          <a:cs typeface="Arial"/>
                        </a:rPr>
                        <a:t>Carnap</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725" b="0">
                          <a:solidFill>
                            <a:srgbClr val="202B33"/>
                          </a:solidFill>
                          <a:latin typeface="Arial"/>
                          <a:ea typeface="Arial"/>
                          <a:cs typeface="Arial"/>
                        </a:rPr>
                        <a:t>3</a:t>
                      </a:r>
                    </a:p>
                  </a:txBody>
                  <a:tcPr marL="95250" marR="66675" marT="28575" marB="28575" anchor="ctr">
                    <a:lnR w="6668">
                      <a:solidFill>
                        <a:srgbClr val="CBD8E1"/>
                      </a:solidFill>
                    </a:lnR>
                    <a:lnB w="6668">
                      <a:solidFill>
                        <a:srgbClr val="CBD8E1"/>
                      </a:solidFill>
                    </a:lnB>
                    <a:solidFill>
                      <a:srgbClr val="EDF4F9"/>
                    </a:solidFill>
                  </a:tcPr>
                </a:tc>
              </a:tr>
              <a:tr h="333375">
                <a:tc>
                  <a:txBody>
                    <a:bodyPr/>
                    <a:lstStyle/>
                    <a:p>
                      <a:r>
                        <a:rPr sz="1725" b="0">
                          <a:solidFill>
                            <a:srgbClr val="202B33"/>
                          </a:solidFill>
                          <a:latin typeface="Arial"/>
                          <a:ea typeface="Arial"/>
                          <a:cs typeface="Arial"/>
                        </a:rPr>
                        <a:t>29120</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725" b="0">
                          <a:solidFill>
                            <a:srgbClr val="202B33"/>
                          </a:solidFill>
                          <a:latin typeface="Arial"/>
                          <a:ea typeface="Arial"/>
                          <a:cs typeface="Arial"/>
                        </a:rPr>
                        <a:t>Theophrastos</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725" b="0">
                          <a:solidFill>
                            <a:srgbClr val="202B33"/>
                          </a:solidFill>
                          <a:latin typeface="Arial"/>
                          <a:ea typeface="Arial"/>
                          <a:cs typeface="Arial"/>
                        </a:rPr>
                        <a:t>2</a:t>
                      </a:r>
                    </a:p>
                  </a:txBody>
                  <a:tcPr marL="95250" marR="66675" marT="28575" marB="28575" anchor="ctr">
                    <a:lnR w="6668">
                      <a:solidFill>
                        <a:srgbClr val="CBD8E1"/>
                      </a:solidFill>
                    </a:lnR>
                    <a:lnB w="6668">
                      <a:solidFill>
                        <a:srgbClr val="CBD8E1"/>
                      </a:solidFill>
                    </a:lnB>
                    <a:solidFill>
                      <a:srgbClr val="FFFFFF"/>
                    </a:solidFill>
                  </a:tcPr>
                </a:tc>
              </a:tr>
              <a:tr h="333375">
                <a:tc>
                  <a:txBody>
                    <a:bodyPr/>
                    <a:lstStyle/>
                    <a:p>
                      <a:r>
                        <a:rPr sz="1725" b="0">
                          <a:solidFill>
                            <a:srgbClr val="202B33"/>
                          </a:solidFill>
                          <a:latin typeface="Arial"/>
                          <a:ea typeface="Arial"/>
                          <a:cs typeface="Arial"/>
                        </a:rPr>
                        <a:t>29555</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725" b="0">
                          <a:solidFill>
                            <a:srgbClr val="202B33"/>
                          </a:solidFill>
                          <a:latin typeface="Arial"/>
                          <a:ea typeface="Arial"/>
                          <a:cs typeface="Arial"/>
                        </a:rPr>
                        <a:t>Feuerbach</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725" b="0">
                          <a:solidFill>
                            <a:srgbClr val="202B33"/>
                          </a:solidFill>
                          <a:latin typeface="Arial"/>
                          <a:ea typeface="Arial"/>
                          <a:cs typeface="Arial"/>
                        </a:rPr>
                        <a:t>2</a:t>
                      </a:r>
                    </a:p>
                  </a:txBody>
                  <a:tcPr marL="95250" marR="66675" marT="28575" marB="28575" anchor="ctr">
                    <a:lnR w="6668">
                      <a:solidFill>
                        <a:srgbClr val="CBD8E1"/>
                      </a:solidFill>
                    </a:lnR>
                    <a:lnB w="6668">
                      <a:solidFill>
                        <a:srgbClr val="CBD8E1"/>
                      </a:solidFill>
                    </a:lnB>
                    <a:solidFill>
                      <a:srgbClr val="EDF4F9"/>
                    </a:solidFill>
                  </a:tcPr>
                </a:tc>
              </a:tr>
            </a:tbl>
          </a:graphicData>
        </a:graphic>
      </p:graphicFrame>
      <p:graphicFrame>
        <p:nvGraphicFramePr>
          <p:cNvPr id="12" name="">
            <a:extLst xmlns:a="http://schemas.openxmlformats.org/drawingml/2006/main">
              <a:ext uri="{FF2B5EF4-FFF2-40B4-BE49-F238E27FC236}">
                <a16:creationId xmlns:a16="http://schemas.microsoft.com/office/drawing/2014/main" id="{78154401-4588-4627-B741-A8EEAAD3A078}"/>
              </a:ext>
            </a:extLst>
          </p:cNvPr>
          <p:cNvGraphicFramePr/>
          <p:nvPr/>
        </p:nvGraphicFramePr>
        <p:xfrm>
          <a:off xmlns:a="http://schemas.openxmlformats.org/drawingml/2006/main" x="7143750" y="2990850"/>
          <a:ext xmlns:a="http://schemas.openxmlformats.org/drawingml/2006/main" cx="4429125" cy="1257300"/>
        </p:xfrm>
        <a:graphic xmlns:a="http://schemas.openxmlformats.org/drawingml/2006/main">
          <a:graphicData uri="http://schemas.openxmlformats.org/drawingml/2006/table">
            <a:tbl>
              <a:tblPr/>
              <a:tblGrid>
                <a:gridCol w="1095375"/>
                <a:gridCol w="2000250"/>
                <a:gridCol w="1333500"/>
              </a:tblGrid>
              <a:tr h="419100">
                <a:tc>
                  <a:txBody>
                    <a:bodyPr/>
                    <a:lstStyle/>
                    <a:p>
                      <a:r>
                        <a:rPr sz="1650" b="1">
                          <a:solidFill>
                            <a:srgbClr val="FFFFFF"/>
                          </a:solidFill>
                          <a:latin typeface="Arial"/>
                          <a:ea typeface="Arial"/>
                          <a:cs typeface="Arial"/>
                        </a:rPr>
                        <a:t>MatrNr</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650" b="1">
                          <a:solidFill>
                            <a:srgbClr val="FFFFFF"/>
                          </a:solidFill>
                          <a:latin typeface="Arial"/>
                          <a:ea typeface="Arial"/>
                          <a:cs typeface="Arial"/>
                        </a:rPr>
                        <a:t>Name</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1650" b="1">
                          <a:solidFill>
                            <a:srgbClr val="FFFFFF"/>
                          </a:solidFill>
                          <a:latin typeface="Arial"/>
                          <a:ea typeface="Arial"/>
                          <a:cs typeface="Arial"/>
                        </a:rPr>
                        <a:t>Semester</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419100">
                <a:tc>
                  <a:txBody>
                    <a:bodyPr/>
                    <a:lstStyle/>
                    <a:p>
                      <a:r>
                        <a:rPr sz="1650" b="0">
                          <a:solidFill>
                            <a:srgbClr val="202B33"/>
                          </a:solidFill>
                          <a:latin typeface="Arial"/>
                          <a:ea typeface="Arial"/>
                          <a:cs typeface="Arial"/>
                        </a:rPr>
                        <a:t>24002</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650" b="0">
                          <a:solidFill>
                            <a:srgbClr val="202B33"/>
                          </a:solidFill>
                          <a:latin typeface="Arial"/>
                          <a:ea typeface="Arial"/>
                          <a:cs typeface="Arial"/>
                        </a:rPr>
                        <a:t>Xenokrates</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650" b="0">
                          <a:solidFill>
                            <a:srgbClr val="202B33"/>
                          </a:solidFill>
                          <a:latin typeface="Arial"/>
                          <a:ea typeface="Arial"/>
                          <a:cs typeface="Arial"/>
                        </a:rPr>
                        <a:t>18</a:t>
                      </a:r>
                    </a:p>
                  </a:txBody>
                  <a:tcPr marL="95250" marR="66675" marT="28575" marB="28575" anchor="ctr">
                    <a:lnR w="6668">
                      <a:solidFill>
                        <a:srgbClr val="CBD8E1"/>
                      </a:solidFill>
                    </a:lnR>
                    <a:lnB w="6668">
                      <a:solidFill>
                        <a:srgbClr val="CBD8E1"/>
                      </a:solidFill>
                    </a:lnB>
                    <a:solidFill>
                      <a:srgbClr val="FFFFFF"/>
                    </a:solidFill>
                  </a:tcPr>
                </a:tc>
              </a:tr>
              <a:tr h="419100">
                <a:tc>
                  <a:txBody>
                    <a:bodyPr/>
                    <a:lstStyle/>
                    <a:p>
                      <a:r>
                        <a:rPr sz="1650" b="0">
                          <a:solidFill>
                            <a:srgbClr val="202B33"/>
                          </a:solidFill>
                          <a:latin typeface="Arial"/>
                          <a:ea typeface="Arial"/>
                          <a:cs typeface="Arial"/>
                        </a:rPr>
                        <a:t>25403</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650" b="0">
                          <a:solidFill>
                            <a:srgbClr val="202B33"/>
                          </a:solidFill>
                          <a:latin typeface="Arial"/>
                          <a:ea typeface="Arial"/>
                          <a:cs typeface="Arial"/>
                        </a:rPr>
                        <a:t>Jonas</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650" b="0">
                          <a:solidFill>
                            <a:srgbClr val="202B33"/>
                          </a:solidFill>
                          <a:latin typeface="Arial"/>
                          <a:ea typeface="Arial"/>
                          <a:cs typeface="Arial"/>
                        </a:rPr>
                        <a:t>12</a:t>
                      </a:r>
                    </a:p>
                  </a:txBody>
                  <a:tcPr marL="95250" marR="66675" marT="28575" marB="28575" anchor="ctr">
                    <a:lnR w="6668">
                      <a:solidFill>
                        <a:srgbClr val="CBD8E1"/>
                      </a:solidFill>
                    </a:lnR>
                    <a:lnB w="6668">
                      <a:solidFill>
                        <a:srgbClr val="CBD8E1"/>
                      </a:solidFill>
                    </a:lnB>
                    <a:solidFill>
                      <a:srgbClr val="EDF4F9"/>
                    </a:solidFill>
                  </a:tcPr>
                </a:tc>
              </a:tr>
            </a:tbl>
          </a:graphicData>
        </a:graphic>
      </p:graphicFrame>
    </p:spTree>
    <p:extLst>
      <p:ext uri="{BB962C8B-B14F-4D97-AF65-F5344CB8AC3E}">
        <p14:creationId xmlns:p14="http://schemas.microsoft.com/office/powerpoint/2010/main" val="167547432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22653CB-647F-4ABF-902D-9C33FB4B5034}"/>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Kartesisches Produkt / Kreuzprodukt</a:t>
            </a:r>
          </a:p>
        </p:txBody>
      </p:sp>
      <p:sp>
        <p:nvSpPr>
          <p:cNvPr id="2" name="">
            <a:extLst xmlns:a="http://schemas.openxmlformats.org/drawingml/2006/main">
              <a:ext uri="{FF2B5EF4-FFF2-40B4-BE49-F238E27FC236}">
                <a16:creationId xmlns:a16="http://schemas.microsoft.com/office/drawing/2014/main" id="{89E3C6E1-7EEE-4316-9A23-D6CE6BFED9E2}"/>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FDFE0269-35ED-48FC-AF9C-5F41D72F18C5}"/>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FC3D0CAC-DCEE-4DF3-B6F5-09D4DA280692}"/>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19–21</a:t>
            </a:r>
          </a:p>
        </p:txBody>
      </p:sp>
      <p:sp>
        <p:nvSpPr>
          <p:cNvPr id="5" name="">
            <a:extLst xmlns:a="http://schemas.openxmlformats.org/drawingml/2006/main">
              <a:ext uri="{FF2B5EF4-FFF2-40B4-BE49-F238E27FC236}">
                <a16:creationId xmlns:a16="http://schemas.microsoft.com/office/drawing/2014/main" id="{308F4209-F4DE-4EF3-81D6-766F6CD93030}"/>
              </a:ext>
            </a:extLst>
          </p:cNvPr>
          <p:cNvSpPr>
            <a:spLocks xmlns:a="http://schemas.openxmlformats.org/drawingml/2006/main" noGrp="1"/>
          </p:cNvSpPr>
          <p:nvPr/>
        </p:nvSpPr>
        <p:spPr>
          <a:xfrm xmlns:a="http://schemas.openxmlformats.org/drawingml/2006/main">
            <a:off x="609600" y="1428750"/>
            <a:ext cx="963168"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3000" b="0">
                <a:solidFill>
                  <a:srgbClr val="005293"/>
                </a:solidFill>
                <a:latin typeface="STIX Two Math"/>
                <a:ea typeface="STIX Two Math"/>
                <a:cs typeface="STIX Two Math"/>
              </a:defRPr>
            </a:defPPr>
            <a:lvl1pPr>
              <a:defRPr sz="3000" b="0">
                <a:solidFill>
                  <a:srgbClr val="005293"/>
                </a:solidFill>
                <a:latin typeface="STIX Two Math"/>
                <a:ea typeface="STIX Two Math"/>
                <a:cs typeface="STIX Two Math"/>
              </a:defRPr>
            </a:lvl1pPr>
            <a:lvl2pPr>
              <a:defRPr sz="3000" b="0">
                <a:solidFill>
                  <a:srgbClr val="005293"/>
                </a:solidFill>
                <a:latin typeface="STIX Two Math"/>
                <a:ea typeface="STIX Two Math"/>
                <a:cs typeface="STIX Two Math"/>
              </a:defRPr>
            </a:lvl2pPr>
            <a:lvl3pPr>
              <a:defRPr sz="3000" b="0">
                <a:solidFill>
                  <a:srgbClr val="005293"/>
                </a:solidFill>
                <a:latin typeface="STIX Two Math"/>
                <a:ea typeface="STIX Two Math"/>
                <a:cs typeface="STIX Two Math"/>
              </a:defRPr>
            </a:lvl3pPr>
            <a:lvl4pPr>
              <a:defRPr sz="3000" b="0">
                <a:solidFill>
                  <a:srgbClr val="005293"/>
                </a:solidFill>
                <a:latin typeface="STIX Two Math"/>
                <a:ea typeface="STIX Two Math"/>
                <a:cs typeface="STIX Two Math"/>
              </a:defRPr>
            </a:lvl4pPr>
            <a:lvl5pPr>
              <a:defRPr sz="3000" b="0">
                <a:solidFill>
                  <a:srgbClr val="005293"/>
                </a:solidFill>
                <a:latin typeface="STIX Two Math"/>
                <a:ea typeface="STIX Two Math"/>
                <a:cs typeface="STIX Two Math"/>
              </a:defRPr>
            </a:lvl5pPr>
            <a:lvl6pPr>
              <a:defRPr sz="3000" b="0">
                <a:solidFill>
                  <a:srgbClr val="005293"/>
                </a:solidFill>
                <a:latin typeface="STIX Two Math"/>
                <a:ea typeface="STIX Two Math"/>
                <a:cs typeface="STIX Two Math"/>
              </a:defRPr>
            </a:lvl6pPr>
            <a:lvl7pPr>
              <a:defRPr sz="3000" b="0">
                <a:solidFill>
                  <a:srgbClr val="005293"/>
                </a:solidFill>
                <a:latin typeface="STIX Two Math"/>
                <a:ea typeface="STIX Two Math"/>
                <a:cs typeface="STIX Two Math"/>
              </a:defRPr>
            </a:lvl7pPr>
            <a:lvl8pPr>
              <a:defRPr sz="3000" b="0">
                <a:solidFill>
                  <a:srgbClr val="005293"/>
                </a:solidFill>
                <a:latin typeface="STIX Two Math"/>
                <a:ea typeface="STIX Two Math"/>
                <a:cs typeface="STIX Two Math"/>
              </a:defRPr>
            </a:lvl8pPr>
            <a:lvl9pPr>
              <a:defRPr sz="3000" b="0">
                <a:solidFill>
                  <a:srgbClr val="005293"/>
                </a:solidFill>
                <a:latin typeface="STIX Two Math"/>
                <a:ea typeface="STIX Two Math"/>
                <a:cs typeface="STIX Two Math"/>
              </a:defRPr>
            </a:lvl9pPr>
          </a:lstStyle>
          <a:p xmlns:a="http://schemas.openxmlformats.org/drawingml/2006/main">
            <a:pPr>
              <a:defRPr sz="3000" b="0">
                <a:solidFill>
                  <a:srgbClr val="005293"/>
                </a:solidFill>
                <a:latin typeface="STIX Two Math"/>
                <a:ea typeface="STIX Two Math"/>
                <a:cs typeface="STIX Two Math"/>
              </a:defRPr>
            </a:pPr>
            <a:r>
              <a:rPr sz="3000" b="0">
                <a:solidFill>
                  <a:srgbClr val="005293"/>
                </a:solidFill>
                <a:latin typeface="STIX Two Math"/>
                <a:ea typeface="STIX Two Math"/>
                <a:cs typeface="STIX Two Math"/>
              </a:rPr>
              <a:t>R × S</a:t>
            </a:r>
          </a:p>
        </p:txBody>
      </p:sp>
      <p:sp>
        <p:nvSpPr>
          <p:cNvPr id="6" name="">
            <a:extLst xmlns:a="http://schemas.openxmlformats.org/drawingml/2006/main">
              <a:ext uri="{FF2B5EF4-FFF2-40B4-BE49-F238E27FC236}">
                <a16:creationId xmlns:a16="http://schemas.microsoft.com/office/drawing/2014/main" id="{82C27475-8E77-4371-B910-5291EC3EAD90}"/>
              </a:ext>
            </a:extLst>
          </p:cNvPr>
          <p:cNvSpPr>
            <a:spLocks xmlns:a="http://schemas.openxmlformats.org/drawingml/2006/main" noGrp="1"/>
          </p:cNvSpPr>
          <p:nvPr/>
        </p:nvSpPr>
        <p:spPr>
          <a:xfrm xmlns:a="http://schemas.openxmlformats.org/drawingml/2006/main">
            <a:off x="609600" y="24765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Kombiniert jedes Tupel aus R mit jedem Tupel aus S.</a:t>
            </a:r>
          </a:p>
        </p:txBody>
      </p:sp>
      <p:sp>
        <p:nvSpPr>
          <p:cNvPr id="7" name="">
            <a:extLst xmlns:a="http://schemas.openxmlformats.org/drawingml/2006/main">
              <a:ext uri="{FF2B5EF4-FFF2-40B4-BE49-F238E27FC236}">
                <a16:creationId xmlns:a16="http://schemas.microsoft.com/office/drawing/2014/main" id="{20826390-75B0-4620-A36B-8CEA1DB8C881}"/>
              </a:ext>
            </a:extLst>
          </p:cNvPr>
          <p:cNvSpPr>
            <a:spLocks xmlns:a="http://schemas.openxmlformats.org/drawingml/2006/main" noGrp="1"/>
          </p:cNvSpPr>
          <p:nvPr/>
        </p:nvSpPr>
        <p:spPr>
          <a:xfrm xmlns:a="http://schemas.openxmlformats.org/drawingml/2006/main">
            <a:off x="609600" y="34290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Die Ausgabe enthält die Attribute beider Eingaben.</a:t>
            </a:r>
          </a:p>
        </p:txBody>
      </p:sp>
      <p:sp>
        <p:nvSpPr>
          <p:cNvPr id="8" name="">
            <a:extLst xmlns:a="http://schemas.openxmlformats.org/drawingml/2006/main">
              <a:ext uri="{FF2B5EF4-FFF2-40B4-BE49-F238E27FC236}">
                <a16:creationId xmlns:a16="http://schemas.microsoft.com/office/drawing/2014/main" id="{DEDB8E52-11EC-4C73-A966-7C449130A959}"/>
              </a:ext>
            </a:extLst>
          </p:cNvPr>
          <p:cNvSpPr>
            <a:spLocks xmlns:a="http://schemas.openxmlformats.org/drawingml/2006/main" noGrp="1"/>
          </p:cNvSpPr>
          <p:nvPr/>
        </p:nvSpPr>
        <p:spPr>
          <a:xfrm xmlns:a="http://schemas.openxmlformats.org/drawingml/2006/main">
            <a:off x="609600" y="43815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Es gilt |R × S| = |R| · |S|. Gleichnamige Attribute vorher umbenennen.</a:t>
            </a:r>
          </a:p>
        </p:txBody>
      </p:sp>
    </p:spTree>
    <p:extLst>
      <p:ext uri="{BB962C8B-B14F-4D97-AF65-F5344CB8AC3E}">
        <p14:creationId xmlns:p14="http://schemas.microsoft.com/office/powerpoint/2010/main" val="33341366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A685C9F-A67A-40EC-91A5-F192A7EBAF3F}"/>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Kreuzprodukt: Eingaben</a:t>
            </a:r>
          </a:p>
        </p:txBody>
      </p:sp>
      <p:sp>
        <p:nvSpPr>
          <p:cNvPr id="2" name="">
            <a:extLst xmlns:a="http://schemas.openxmlformats.org/drawingml/2006/main">
              <a:ext uri="{FF2B5EF4-FFF2-40B4-BE49-F238E27FC236}">
                <a16:creationId xmlns:a16="http://schemas.microsoft.com/office/drawing/2014/main" id="{53BFD140-92FA-44C7-B3BC-F7E166D2E654}"/>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DF1CD40B-5A4E-4B4C-8897-E61E4A5BA551}"/>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5D253860-A6BF-419C-81CA-64AE197E8B8E}"/>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20</a:t>
            </a:r>
          </a:p>
        </p:txBody>
      </p:sp>
      <p:sp>
        <p:nvSpPr>
          <p:cNvPr id="5" name="">
            <a:extLst xmlns:a="http://schemas.openxmlformats.org/drawingml/2006/main">
              <a:ext uri="{FF2B5EF4-FFF2-40B4-BE49-F238E27FC236}">
                <a16:creationId xmlns:a16="http://schemas.microsoft.com/office/drawing/2014/main" id="{D7021DD8-338D-4E19-99D6-81570C2982FE}"/>
              </a:ext>
            </a:extLst>
          </p:cNvPr>
          <p:cNvSpPr>
            <a:spLocks xmlns:a="http://schemas.openxmlformats.org/drawingml/2006/main" noGrp="1"/>
          </p:cNvSpPr>
          <p:nvPr/>
        </p:nvSpPr>
        <p:spPr>
          <a:xfrm xmlns:a="http://schemas.openxmlformats.org/drawingml/2006/main">
            <a:off x="609600" y="1476375"/>
            <a:ext cx="4241406" cy="597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2850" b="0">
                <a:solidFill>
                  <a:srgbClr val="005293"/>
                </a:solidFill>
                <a:latin typeface="STIX Two Math"/>
                <a:ea typeface="STIX Two Math"/>
                <a:cs typeface="STIX Two Math"/>
              </a:defRPr>
            </a:defPPr>
            <a:lvl1pPr>
              <a:defRPr sz="2850" b="0">
                <a:solidFill>
                  <a:srgbClr val="005293"/>
                </a:solidFill>
                <a:latin typeface="STIX Two Math"/>
                <a:ea typeface="STIX Two Math"/>
                <a:cs typeface="STIX Two Math"/>
              </a:defRPr>
            </a:lvl1pPr>
            <a:lvl2pPr>
              <a:defRPr sz="2850" b="0">
                <a:solidFill>
                  <a:srgbClr val="005293"/>
                </a:solidFill>
                <a:latin typeface="STIX Two Math"/>
                <a:ea typeface="STIX Two Math"/>
                <a:cs typeface="STIX Two Math"/>
              </a:defRPr>
            </a:lvl2pPr>
            <a:lvl3pPr>
              <a:defRPr sz="2850" b="0">
                <a:solidFill>
                  <a:srgbClr val="005293"/>
                </a:solidFill>
                <a:latin typeface="STIX Two Math"/>
                <a:ea typeface="STIX Two Math"/>
                <a:cs typeface="STIX Two Math"/>
              </a:defRPr>
            </a:lvl3pPr>
            <a:lvl4pPr>
              <a:defRPr sz="2850" b="0">
                <a:solidFill>
                  <a:srgbClr val="005293"/>
                </a:solidFill>
                <a:latin typeface="STIX Two Math"/>
                <a:ea typeface="STIX Two Math"/>
                <a:cs typeface="STIX Two Math"/>
              </a:defRPr>
            </a:lvl4pPr>
            <a:lvl5pPr>
              <a:defRPr sz="2850" b="0">
                <a:solidFill>
                  <a:srgbClr val="005293"/>
                </a:solidFill>
                <a:latin typeface="STIX Two Math"/>
                <a:ea typeface="STIX Two Math"/>
                <a:cs typeface="STIX Two Math"/>
              </a:defRPr>
            </a:lvl5pPr>
            <a:lvl6pPr>
              <a:defRPr sz="2850" b="0">
                <a:solidFill>
                  <a:srgbClr val="005293"/>
                </a:solidFill>
                <a:latin typeface="STIX Two Math"/>
                <a:ea typeface="STIX Two Math"/>
                <a:cs typeface="STIX Two Math"/>
              </a:defRPr>
            </a:lvl6pPr>
            <a:lvl7pPr>
              <a:defRPr sz="2850" b="0">
                <a:solidFill>
                  <a:srgbClr val="005293"/>
                </a:solidFill>
                <a:latin typeface="STIX Two Math"/>
                <a:ea typeface="STIX Two Math"/>
                <a:cs typeface="STIX Two Math"/>
              </a:defRPr>
            </a:lvl7pPr>
            <a:lvl8pPr>
              <a:defRPr sz="2850" b="0">
                <a:solidFill>
                  <a:srgbClr val="005293"/>
                </a:solidFill>
                <a:latin typeface="STIX Two Math"/>
                <a:ea typeface="STIX Two Math"/>
                <a:cs typeface="STIX Two Math"/>
              </a:defRPr>
            </a:lvl8pPr>
            <a:lvl9pPr>
              <a:defRPr sz="2850" b="0">
                <a:solidFill>
                  <a:srgbClr val="005293"/>
                </a:solidFill>
                <a:latin typeface="STIX Two Math"/>
                <a:ea typeface="STIX Two Math"/>
                <a:cs typeface="STIX Two Math"/>
              </a:defRPr>
            </a:lvl9pPr>
          </a:lstStyle>
          <a:p xmlns:a="http://schemas.openxmlformats.org/drawingml/2006/main">
            <a:pPr>
              <a:defRPr sz="2850" b="0">
                <a:solidFill>
                  <a:srgbClr val="005293"/>
                </a:solidFill>
                <a:latin typeface="STIX Two Math"/>
                <a:ea typeface="STIX Two Math"/>
                <a:cs typeface="STIX Two Math"/>
              </a:defRPr>
            </a:pPr>
            <a:r>
              <a:rPr sz="2850" b="0">
                <a:solidFill>
                  <a:srgbClr val="005293"/>
                </a:solidFill>
                <a:latin typeface="STIX Two Math"/>
                <a:ea typeface="STIX Two Math"/>
                <a:cs typeface="STIX Two Math"/>
              </a:rPr>
              <a:t>Vorlesungen × Professoren</a:t>
            </a:r>
          </a:p>
        </p:txBody>
      </p:sp>
      <p:sp>
        <p:nvSpPr>
          <p:cNvPr id="6" name="">
            <a:extLst xmlns:a="http://schemas.openxmlformats.org/drawingml/2006/main">
              <a:ext uri="{FF2B5EF4-FFF2-40B4-BE49-F238E27FC236}">
                <a16:creationId xmlns:a16="http://schemas.microsoft.com/office/drawing/2014/main" id="{450B0F60-BFAC-434A-AA6C-9700F3DFD635}"/>
              </a:ext>
            </a:extLst>
          </p:cNvPr>
          <p:cNvSpPr>
            <a:spLocks xmlns:a="http://schemas.openxmlformats.org/drawingml/2006/main" noGrp="1"/>
          </p:cNvSpPr>
          <p:nvPr/>
        </p:nvSpPr>
        <p:spPr>
          <a:xfrm xmlns:a="http://schemas.openxmlformats.org/drawingml/2006/main">
            <a:off x="609600" y="247650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Vorlesungen (Ausschnitt)</a:t>
            </a:r>
          </a:p>
        </p:txBody>
      </p:sp>
      <p:sp>
        <p:nvSpPr>
          <p:cNvPr id="7" name="">
            <a:extLst xmlns:a="http://schemas.openxmlformats.org/drawingml/2006/main">
              <a:ext uri="{FF2B5EF4-FFF2-40B4-BE49-F238E27FC236}">
                <a16:creationId xmlns:a16="http://schemas.microsoft.com/office/drawing/2014/main" id="{252DAB3A-6D19-4C5E-83B6-DBA14FBE2A0E}"/>
              </a:ext>
            </a:extLst>
          </p:cNvPr>
          <p:cNvSpPr>
            <a:spLocks xmlns:a="http://schemas.openxmlformats.org/drawingml/2006/main" noGrp="1"/>
          </p:cNvSpPr>
          <p:nvPr/>
        </p:nvSpPr>
        <p:spPr>
          <a:xfrm xmlns:a="http://schemas.openxmlformats.org/drawingml/2006/main">
            <a:off x="6858000" y="247650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Professoren (Ausschnitt)</a:t>
            </a:r>
          </a:p>
        </p:txBody>
      </p:sp>
      <p:graphicFrame>
        <p:nvGraphicFramePr>
          <p:cNvPr id="8" name="">
            <a:extLst xmlns:a="http://schemas.openxmlformats.org/drawingml/2006/main">
              <a:ext uri="{FF2B5EF4-FFF2-40B4-BE49-F238E27FC236}">
                <a16:creationId xmlns:a16="http://schemas.microsoft.com/office/drawing/2014/main" id="{AFF10EF5-264A-47BA-8D88-61618141F187}"/>
              </a:ext>
            </a:extLst>
          </p:cNvPr>
          <p:cNvGraphicFramePr/>
          <p:nvPr/>
        </p:nvGraphicFramePr>
        <p:xfrm>
          <a:off xmlns:a="http://schemas.openxmlformats.org/drawingml/2006/main" x="609600" y="2952750"/>
          <a:ext xmlns:a="http://schemas.openxmlformats.org/drawingml/2006/main" cx="4762500" cy="2381250"/>
        </p:xfrm>
        <a:graphic xmlns:a="http://schemas.openxmlformats.org/drawingml/2006/main">
          <a:graphicData uri="http://schemas.openxmlformats.org/drawingml/2006/table">
            <a:tbl>
              <a:tblPr/>
              <a:tblGrid>
                <a:gridCol w="1905000"/>
                <a:gridCol w="2857500"/>
              </a:tblGrid>
              <a:tr h="476250">
                <a:tc>
                  <a:txBody>
                    <a:bodyPr/>
                    <a:lstStyle/>
                    <a:p>
                      <a:r>
                        <a:rPr sz="2025" b="1">
                          <a:solidFill>
                            <a:srgbClr val="FFFFFF"/>
                          </a:solidFill>
                          <a:latin typeface="Arial"/>
                          <a:ea typeface="Arial"/>
                          <a:cs typeface="Arial"/>
                        </a:rPr>
                        <a:t>VorlNr</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2025" b="1">
                          <a:solidFill>
                            <a:srgbClr val="FFFFFF"/>
                          </a:solidFill>
                          <a:latin typeface="Arial"/>
                          <a:ea typeface="Arial"/>
                          <a:cs typeface="Arial"/>
                        </a:rPr>
                        <a:t>gelesenVon</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476250">
                <a:tc>
                  <a:txBody>
                    <a:bodyPr/>
                    <a:lstStyle/>
                    <a:p>
                      <a:r>
                        <a:rPr sz="2025" b="0">
                          <a:solidFill>
                            <a:srgbClr val="202B33"/>
                          </a:solidFill>
                          <a:latin typeface="Arial"/>
                          <a:ea typeface="Arial"/>
                          <a:cs typeface="Arial"/>
                        </a:rPr>
                        <a:t>5041</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2025" b="0">
                          <a:solidFill>
                            <a:srgbClr val="202B33"/>
                          </a:solidFill>
                          <a:latin typeface="Arial"/>
                          <a:ea typeface="Arial"/>
                          <a:cs typeface="Arial"/>
                        </a:rPr>
                        <a:t>2125</a:t>
                      </a:r>
                    </a:p>
                  </a:txBody>
                  <a:tcPr marL="95250" marR="66675" marT="28575" marB="28575" anchor="ctr">
                    <a:lnR w="6668">
                      <a:solidFill>
                        <a:srgbClr val="CBD8E1"/>
                      </a:solidFill>
                    </a:lnR>
                    <a:lnB w="6668">
                      <a:solidFill>
                        <a:srgbClr val="CBD8E1"/>
                      </a:solidFill>
                    </a:lnB>
                    <a:solidFill>
                      <a:srgbClr val="FFFFFF"/>
                    </a:solidFill>
                  </a:tcPr>
                </a:tc>
              </a:tr>
              <a:tr h="476250">
                <a:tc>
                  <a:txBody>
                    <a:bodyPr/>
                    <a:lstStyle/>
                    <a:p>
                      <a:r>
                        <a:rPr sz="2025" b="0">
                          <a:solidFill>
                            <a:srgbClr val="202B33"/>
                          </a:solidFill>
                          <a:latin typeface="Arial"/>
                          <a:ea typeface="Arial"/>
                          <a:cs typeface="Arial"/>
                        </a:rPr>
                        <a:t>5049</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2025" b="0">
                          <a:solidFill>
                            <a:srgbClr val="202B33"/>
                          </a:solidFill>
                          <a:latin typeface="Arial"/>
                          <a:ea typeface="Arial"/>
                          <a:cs typeface="Arial"/>
                        </a:rPr>
                        <a:t>2125</a:t>
                      </a:r>
                    </a:p>
                  </a:txBody>
                  <a:tcPr marL="95250" marR="66675" marT="28575" marB="28575" anchor="ctr">
                    <a:lnR w="6668">
                      <a:solidFill>
                        <a:srgbClr val="CBD8E1"/>
                      </a:solidFill>
                    </a:lnR>
                    <a:lnB w="6668">
                      <a:solidFill>
                        <a:srgbClr val="CBD8E1"/>
                      </a:solidFill>
                    </a:lnB>
                    <a:solidFill>
                      <a:srgbClr val="EDF4F9"/>
                    </a:solidFill>
                  </a:tcPr>
                </a:tc>
              </a:tr>
              <a:tr h="476250">
                <a:tc>
                  <a:txBody>
                    <a:bodyPr/>
                    <a:lstStyle/>
                    <a:p>
                      <a:r>
                        <a:rPr sz="2025" b="0">
                          <a:solidFill>
                            <a:srgbClr val="202B33"/>
                          </a:solidFill>
                          <a:latin typeface="Arial"/>
                          <a:ea typeface="Arial"/>
                          <a:cs typeface="Arial"/>
                        </a:rPr>
                        <a:t>5001</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2025" b="0">
                          <a:solidFill>
                            <a:srgbClr val="202B33"/>
                          </a:solidFill>
                          <a:latin typeface="Arial"/>
                          <a:ea typeface="Arial"/>
                          <a:cs typeface="Arial"/>
                        </a:rPr>
                        <a:t>2137</a:t>
                      </a:r>
                    </a:p>
                  </a:txBody>
                  <a:tcPr marL="95250" marR="66675" marT="28575" marB="28575" anchor="ctr">
                    <a:lnR w="6668">
                      <a:solidFill>
                        <a:srgbClr val="CBD8E1"/>
                      </a:solidFill>
                    </a:lnR>
                    <a:lnB w="6668">
                      <a:solidFill>
                        <a:srgbClr val="CBD8E1"/>
                      </a:solidFill>
                    </a:lnB>
                    <a:solidFill>
                      <a:srgbClr val="FFFFFF"/>
                    </a:solidFill>
                  </a:tcPr>
                </a:tc>
              </a:tr>
              <a:tr h="476250">
                <a:tc>
                  <a:txBody>
                    <a:bodyPr/>
                    <a:lstStyle/>
                    <a:p>
                      <a:r>
                        <a:rPr sz="2025" b="0">
                          <a:solidFill>
                            <a:srgbClr val="202B33"/>
                          </a:solidFill>
                          <a:latin typeface="Arial"/>
                          <a:ea typeface="Arial"/>
                          <a:cs typeface="Arial"/>
                        </a:rPr>
                        <a:t>4630</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2025" b="0">
                          <a:solidFill>
                            <a:srgbClr val="202B33"/>
                          </a:solidFill>
                          <a:latin typeface="Arial"/>
                          <a:ea typeface="Arial"/>
                          <a:cs typeface="Arial"/>
                        </a:rPr>
                        <a:t>2137</a:t>
                      </a:r>
                    </a:p>
                  </a:txBody>
                  <a:tcPr marL="95250" marR="66675" marT="28575" marB="28575" anchor="ctr">
                    <a:lnR w="6668">
                      <a:solidFill>
                        <a:srgbClr val="CBD8E1"/>
                      </a:solidFill>
                    </a:lnR>
                    <a:lnB w="6668">
                      <a:solidFill>
                        <a:srgbClr val="CBD8E1"/>
                      </a:solidFill>
                    </a:lnB>
                    <a:solidFill>
                      <a:srgbClr val="EDF4F9"/>
                    </a:solidFill>
                  </a:tcPr>
                </a:tc>
              </a:tr>
            </a:tbl>
          </a:graphicData>
        </a:graphic>
      </p:graphicFrame>
      <p:graphicFrame>
        <p:nvGraphicFramePr>
          <p:cNvPr id="9" name="">
            <a:extLst xmlns:a="http://schemas.openxmlformats.org/drawingml/2006/main">
              <a:ext uri="{FF2B5EF4-FFF2-40B4-BE49-F238E27FC236}">
                <a16:creationId xmlns:a16="http://schemas.microsoft.com/office/drawing/2014/main" id="{C3C3BEE2-6EDC-4446-8688-37FA931F028A}"/>
              </a:ext>
            </a:extLst>
          </p:cNvPr>
          <p:cNvGraphicFramePr/>
          <p:nvPr/>
        </p:nvGraphicFramePr>
        <p:xfrm>
          <a:off xmlns:a="http://schemas.openxmlformats.org/drawingml/2006/main" x="6858000" y="2952750"/>
          <a:ext xmlns:a="http://schemas.openxmlformats.org/drawingml/2006/main" cx="4667250" cy="1428750"/>
        </p:xfrm>
        <a:graphic xmlns:a="http://schemas.openxmlformats.org/drawingml/2006/main">
          <a:graphicData uri="http://schemas.openxmlformats.org/drawingml/2006/table">
            <a:tbl>
              <a:tblPr/>
              <a:tblGrid>
                <a:gridCol w="1714500"/>
                <a:gridCol w="2952750"/>
              </a:tblGrid>
              <a:tr h="476250">
                <a:tc>
                  <a:txBody>
                    <a:bodyPr/>
                    <a:lstStyle/>
                    <a:p>
                      <a:r>
                        <a:rPr sz="2025" b="1">
                          <a:solidFill>
                            <a:srgbClr val="FFFFFF"/>
                          </a:solidFill>
                          <a:latin typeface="Arial"/>
                          <a:ea typeface="Arial"/>
                          <a:cs typeface="Arial"/>
                        </a:rPr>
                        <a:t>PersNr</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2025" b="1">
                          <a:solidFill>
                            <a:srgbClr val="FFFFFF"/>
                          </a:solidFill>
                          <a:latin typeface="Arial"/>
                          <a:ea typeface="Arial"/>
                          <a:cs typeface="Arial"/>
                        </a:rPr>
                        <a:t>Name</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476250">
                <a:tc>
                  <a:txBody>
                    <a:bodyPr/>
                    <a:lstStyle/>
                    <a:p>
                      <a:r>
                        <a:rPr sz="2025" b="0">
                          <a:solidFill>
                            <a:srgbClr val="202B33"/>
                          </a:solidFill>
                          <a:latin typeface="Arial"/>
                          <a:ea typeface="Arial"/>
                          <a:cs typeface="Arial"/>
                        </a:rPr>
                        <a:t>2125</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2025" b="0">
                          <a:solidFill>
                            <a:srgbClr val="202B33"/>
                          </a:solidFill>
                          <a:latin typeface="Arial"/>
                          <a:ea typeface="Arial"/>
                          <a:cs typeface="Arial"/>
                        </a:rPr>
                        <a:t>Sokrates</a:t>
                      </a:r>
                    </a:p>
                  </a:txBody>
                  <a:tcPr marL="95250" marR="66675" marT="28575" marB="28575" anchor="ctr">
                    <a:lnR w="6668">
                      <a:solidFill>
                        <a:srgbClr val="CBD8E1"/>
                      </a:solidFill>
                    </a:lnR>
                    <a:lnB w="6668">
                      <a:solidFill>
                        <a:srgbClr val="CBD8E1"/>
                      </a:solidFill>
                    </a:lnB>
                    <a:solidFill>
                      <a:srgbClr val="FFFFFF"/>
                    </a:solidFill>
                  </a:tcPr>
                </a:tc>
              </a:tr>
              <a:tr h="476250">
                <a:tc>
                  <a:txBody>
                    <a:bodyPr/>
                    <a:lstStyle/>
                    <a:p>
                      <a:r>
                        <a:rPr sz="2025" b="0">
                          <a:solidFill>
                            <a:srgbClr val="202B33"/>
                          </a:solidFill>
                          <a:latin typeface="Arial"/>
                          <a:ea typeface="Arial"/>
                          <a:cs typeface="Arial"/>
                        </a:rPr>
                        <a:t>2137</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2025" b="0">
                          <a:solidFill>
                            <a:srgbClr val="202B33"/>
                          </a:solidFill>
                          <a:latin typeface="Arial"/>
                          <a:ea typeface="Arial"/>
                          <a:cs typeface="Arial"/>
                        </a:rPr>
                        <a:t>Kant</a:t>
                      </a:r>
                    </a:p>
                  </a:txBody>
                  <a:tcPr marL="95250" marR="66675" marT="28575" marB="28575" anchor="ctr">
                    <a:lnR w="6668">
                      <a:solidFill>
                        <a:srgbClr val="CBD8E1"/>
                      </a:solidFill>
                    </a:lnR>
                    <a:lnB w="6668">
                      <a:solidFill>
                        <a:srgbClr val="CBD8E1"/>
                      </a:solidFill>
                    </a:lnB>
                    <a:solidFill>
                      <a:srgbClr val="EDF4F9"/>
                    </a:solidFill>
                  </a:tcPr>
                </a:tc>
              </a:tr>
            </a:tbl>
          </a:graphicData>
        </a:graphic>
      </p:graphicFrame>
      <p:sp>
        <p:nvSpPr>
          <p:cNvPr id="10" name="">
            <a:extLst xmlns:a="http://schemas.openxmlformats.org/drawingml/2006/main">
              <a:ext uri="{FF2B5EF4-FFF2-40B4-BE49-F238E27FC236}">
                <a16:creationId xmlns:a16="http://schemas.microsoft.com/office/drawing/2014/main" id="{9AF238C2-2D44-40E5-8411-5F6DB9A50334}"/>
              </a:ext>
            </a:extLst>
          </p:cNvPr>
          <p:cNvSpPr>
            <a:spLocks xmlns:a="http://schemas.openxmlformats.org/drawingml/2006/main" noGrp="1"/>
          </p:cNvSpPr>
          <p:nvPr/>
        </p:nvSpPr>
        <p:spPr>
          <a:xfrm xmlns:a="http://schemas.openxmlformats.org/drawingml/2006/main">
            <a:off x="609600" y="56292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05293"/>
                </a:solidFill>
                <a:latin typeface="Arial"/>
                <a:ea typeface="Arial"/>
                <a:cs typeface="Arial"/>
              </a:defRPr>
            </a:defPPr>
            <a:lvl1pPr>
              <a:defRPr sz="2250" b="1">
                <a:solidFill>
                  <a:srgbClr val="005293"/>
                </a:solidFill>
                <a:latin typeface="Arial"/>
                <a:ea typeface="Arial"/>
                <a:cs typeface="Arial"/>
              </a:defRPr>
            </a:lvl1pPr>
            <a:lvl2pPr>
              <a:defRPr sz="2250" b="1">
                <a:solidFill>
                  <a:srgbClr val="005293"/>
                </a:solidFill>
                <a:latin typeface="Arial"/>
                <a:ea typeface="Arial"/>
                <a:cs typeface="Arial"/>
              </a:defRPr>
            </a:lvl2pPr>
            <a:lvl3pPr>
              <a:defRPr sz="2250" b="1">
                <a:solidFill>
                  <a:srgbClr val="005293"/>
                </a:solidFill>
                <a:latin typeface="Arial"/>
                <a:ea typeface="Arial"/>
                <a:cs typeface="Arial"/>
              </a:defRPr>
            </a:lvl3pPr>
            <a:lvl4pPr>
              <a:defRPr sz="2250" b="1">
                <a:solidFill>
                  <a:srgbClr val="005293"/>
                </a:solidFill>
                <a:latin typeface="Arial"/>
                <a:ea typeface="Arial"/>
                <a:cs typeface="Arial"/>
              </a:defRPr>
            </a:lvl4pPr>
            <a:lvl5pPr>
              <a:defRPr sz="2250" b="1">
                <a:solidFill>
                  <a:srgbClr val="005293"/>
                </a:solidFill>
                <a:latin typeface="Arial"/>
                <a:ea typeface="Arial"/>
                <a:cs typeface="Arial"/>
              </a:defRPr>
            </a:lvl5pPr>
            <a:lvl6pPr>
              <a:defRPr sz="2250" b="1">
                <a:solidFill>
                  <a:srgbClr val="005293"/>
                </a:solidFill>
                <a:latin typeface="Arial"/>
                <a:ea typeface="Arial"/>
                <a:cs typeface="Arial"/>
              </a:defRPr>
            </a:lvl6pPr>
            <a:lvl7pPr>
              <a:defRPr sz="2250" b="1">
                <a:solidFill>
                  <a:srgbClr val="005293"/>
                </a:solidFill>
                <a:latin typeface="Arial"/>
                <a:ea typeface="Arial"/>
                <a:cs typeface="Arial"/>
              </a:defRPr>
            </a:lvl7pPr>
            <a:lvl8pPr>
              <a:defRPr sz="2250" b="1">
                <a:solidFill>
                  <a:srgbClr val="005293"/>
                </a:solidFill>
                <a:latin typeface="Arial"/>
                <a:ea typeface="Arial"/>
                <a:cs typeface="Arial"/>
              </a:defRPr>
            </a:lvl8pPr>
            <a:lvl9pPr>
              <a:defRPr sz="2250" b="1">
                <a:solidFill>
                  <a:srgbClr val="005293"/>
                </a:solidFill>
                <a:latin typeface="Arial"/>
                <a:ea typeface="Arial"/>
                <a:cs typeface="Arial"/>
              </a:defRPr>
            </a:lvl9pPr>
          </a:lstStyle>
          <a:p xmlns:a="http://schemas.openxmlformats.org/drawingml/2006/main">
            <a:pPr>
              <a:defRPr sz="2250" b="1">
                <a:solidFill>
                  <a:srgbClr val="005293"/>
                </a:solidFill>
                <a:latin typeface="Arial"/>
                <a:ea typeface="Arial"/>
                <a:cs typeface="Arial"/>
              </a:defRPr>
            </a:pPr>
            <a:r>
              <a:rPr sz="2250" b="1">
                <a:solidFill>
                  <a:srgbClr val="005293"/>
                </a:solidFill>
                <a:latin typeface="Arial"/>
                <a:ea typeface="Arial"/>
                <a:cs typeface="Arial"/>
              </a:rPr>
              <a:t>4 Vorlesungen × 2 Professoren = 8 Kombinationen</a:t>
            </a:r>
          </a:p>
        </p:txBody>
      </p:sp>
    </p:spTree>
    <p:extLst>
      <p:ext uri="{BB962C8B-B14F-4D97-AF65-F5344CB8AC3E}">
        <p14:creationId xmlns:p14="http://schemas.microsoft.com/office/powerpoint/2010/main" val="105853711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6489B37-A1B6-41B1-B324-CA8CB23A6EA9}"/>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Kreuzprodukt: alle Kombinationen</a:t>
            </a:r>
          </a:p>
        </p:txBody>
      </p:sp>
      <p:sp>
        <p:nvSpPr>
          <p:cNvPr id="2" name="">
            <a:extLst xmlns:a="http://schemas.openxmlformats.org/drawingml/2006/main">
              <a:ext uri="{FF2B5EF4-FFF2-40B4-BE49-F238E27FC236}">
                <a16:creationId xmlns:a16="http://schemas.microsoft.com/office/drawing/2014/main" id="{4F43ACA9-A644-4650-B6AA-526D64F54852}"/>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7CF13CA7-4632-4FA2-8E1D-D0C94EA81994}"/>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CA1514E9-92D5-4C4A-A6CB-FEB5EB3A71CB}"/>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21</a:t>
            </a:r>
          </a:p>
        </p:txBody>
      </p:sp>
      <p:sp>
        <p:nvSpPr>
          <p:cNvPr id="5" name="">
            <a:extLst xmlns:a="http://schemas.openxmlformats.org/drawingml/2006/main">
              <a:ext uri="{FF2B5EF4-FFF2-40B4-BE49-F238E27FC236}">
                <a16:creationId xmlns:a16="http://schemas.microsoft.com/office/drawing/2014/main" id="{FD3F79F5-A073-4183-A43B-86BA3C799145}"/>
              </a:ext>
            </a:extLst>
          </p:cNvPr>
          <p:cNvSpPr>
            <a:spLocks xmlns:a="http://schemas.openxmlformats.org/drawingml/2006/main" noGrp="1"/>
          </p:cNvSpPr>
          <p:nvPr/>
        </p:nvSpPr>
        <p:spPr>
          <a:xfrm xmlns:a="http://schemas.openxmlformats.org/drawingml/2006/main">
            <a:off x="609600" y="1381125"/>
            <a:ext cx="4021684" cy="5657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2700" b="0">
                <a:solidFill>
                  <a:srgbClr val="005293"/>
                </a:solidFill>
                <a:latin typeface="STIX Two Math"/>
                <a:ea typeface="STIX Two Math"/>
                <a:cs typeface="STIX Two Math"/>
              </a:defRPr>
            </a:defPPr>
            <a:lvl1pPr>
              <a:defRPr sz="2700" b="0">
                <a:solidFill>
                  <a:srgbClr val="005293"/>
                </a:solidFill>
                <a:latin typeface="STIX Two Math"/>
                <a:ea typeface="STIX Two Math"/>
                <a:cs typeface="STIX Two Math"/>
              </a:defRPr>
            </a:lvl1pPr>
            <a:lvl2pPr>
              <a:defRPr sz="2700" b="0">
                <a:solidFill>
                  <a:srgbClr val="005293"/>
                </a:solidFill>
                <a:latin typeface="STIX Two Math"/>
                <a:ea typeface="STIX Two Math"/>
                <a:cs typeface="STIX Two Math"/>
              </a:defRPr>
            </a:lvl2pPr>
            <a:lvl3pPr>
              <a:defRPr sz="2700" b="0">
                <a:solidFill>
                  <a:srgbClr val="005293"/>
                </a:solidFill>
                <a:latin typeface="STIX Two Math"/>
                <a:ea typeface="STIX Two Math"/>
                <a:cs typeface="STIX Two Math"/>
              </a:defRPr>
            </a:lvl3pPr>
            <a:lvl4pPr>
              <a:defRPr sz="2700" b="0">
                <a:solidFill>
                  <a:srgbClr val="005293"/>
                </a:solidFill>
                <a:latin typeface="STIX Two Math"/>
                <a:ea typeface="STIX Two Math"/>
                <a:cs typeface="STIX Two Math"/>
              </a:defRPr>
            </a:lvl4pPr>
            <a:lvl5pPr>
              <a:defRPr sz="2700" b="0">
                <a:solidFill>
                  <a:srgbClr val="005293"/>
                </a:solidFill>
                <a:latin typeface="STIX Two Math"/>
                <a:ea typeface="STIX Two Math"/>
                <a:cs typeface="STIX Two Math"/>
              </a:defRPr>
            </a:lvl5pPr>
            <a:lvl6pPr>
              <a:defRPr sz="2700" b="0">
                <a:solidFill>
                  <a:srgbClr val="005293"/>
                </a:solidFill>
                <a:latin typeface="STIX Two Math"/>
                <a:ea typeface="STIX Two Math"/>
                <a:cs typeface="STIX Two Math"/>
              </a:defRPr>
            </a:lvl6pPr>
            <a:lvl7pPr>
              <a:defRPr sz="2700" b="0">
                <a:solidFill>
                  <a:srgbClr val="005293"/>
                </a:solidFill>
                <a:latin typeface="STIX Two Math"/>
                <a:ea typeface="STIX Two Math"/>
                <a:cs typeface="STIX Two Math"/>
              </a:defRPr>
            </a:lvl7pPr>
            <a:lvl8pPr>
              <a:defRPr sz="2700" b="0">
                <a:solidFill>
                  <a:srgbClr val="005293"/>
                </a:solidFill>
                <a:latin typeface="STIX Two Math"/>
                <a:ea typeface="STIX Two Math"/>
                <a:cs typeface="STIX Two Math"/>
              </a:defRPr>
            </a:lvl8pPr>
            <a:lvl9pPr>
              <a:defRPr sz="2700" b="0">
                <a:solidFill>
                  <a:srgbClr val="005293"/>
                </a:solidFill>
                <a:latin typeface="STIX Two Math"/>
                <a:ea typeface="STIX Two Math"/>
                <a:cs typeface="STIX Two Math"/>
              </a:defRPr>
            </a:lvl9pPr>
          </a:lstStyle>
          <a:p xmlns:a="http://schemas.openxmlformats.org/drawingml/2006/main">
            <a:pPr>
              <a:defRPr sz="2700" b="0">
                <a:solidFill>
                  <a:srgbClr val="005293"/>
                </a:solidFill>
                <a:latin typeface="STIX Two Math"/>
                <a:ea typeface="STIX Two Math"/>
                <a:cs typeface="STIX Two Math"/>
              </a:defRPr>
            </a:pPr>
            <a:r>
              <a:rPr sz="2700" b="0">
                <a:solidFill>
                  <a:srgbClr val="005293"/>
                </a:solidFill>
                <a:latin typeface="STIX Two Math"/>
                <a:ea typeface="STIX Two Math"/>
                <a:cs typeface="STIX Two Math"/>
              </a:rPr>
              <a:t>Vorlesungen × Professoren</a:t>
            </a:r>
          </a:p>
        </p:txBody>
      </p:sp>
      <p:graphicFrame>
        <p:nvGraphicFramePr>
          <p:cNvPr id="6" name="">
            <a:extLst xmlns:a="http://schemas.openxmlformats.org/drawingml/2006/main">
              <a:ext uri="{FF2B5EF4-FFF2-40B4-BE49-F238E27FC236}">
                <a16:creationId xmlns:a16="http://schemas.microsoft.com/office/drawing/2014/main" id="{46974C3D-1BDC-4EE9-9452-C7B6535B4487}"/>
              </a:ext>
            </a:extLst>
          </p:cNvPr>
          <p:cNvGraphicFramePr/>
          <p:nvPr/>
        </p:nvGraphicFramePr>
        <p:xfrm>
          <a:off xmlns:a="http://schemas.openxmlformats.org/drawingml/2006/main" x="609600" y="2238375"/>
          <a:ext xmlns:a="http://schemas.openxmlformats.org/drawingml/2006/main" cx="10972800" cy="3343275"/>
        </p:xfrm>
        <a:graphic xmlns:a="http://schemas.openxmlformats.org/drawingml/2006/main">
          <a:graphicData uri="http://schemas.openxmlformats.org/drawingml/2006/table">
            <a:tbl>
              <a:tblPr/>
              <a:tblGrid>
                <a:gridCol w="2190750"/>
                <a:gridCol w="2857500"/>
                <a:gridCol w="2190750"/>
                <a:gridCol w="3733800"/>
              </a:tblGrid>
              <a:tr h="371475">
                <a:tc>
                  <a:txBody>
                    <a:bodyPr/>
                    <a:lstStyle/>
                    <a:p>
                      <a:r>
                        <a:rPr sz="1950" b="1">
                          <a:solidFill>
                            <a:srgbClr val="FFFFFF"/>
                          </a:solidFill>
                          <a:latin typeface="Arial"/>
                          <a:ea typeface="Arial"/>
                          <a:cs typeface="Arial"/>
                        </a:rPr>
                        <a:t>VorlNr</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gelesenVon</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PersNr</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Name</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371475">
                <a:tc>
                  <a:txBody>
                    <a:bodyPr/>
                    <a:lstStyle/>
                    <a:p>
                      <a:r>
                        <a:rPr sz="1950" b="0">
                          <a:solidFill>
                            <a:srgbClr val="202B33"/>
                          </a:solidFill>
                          <a:latin typeface="Arial"/>
                          <a:ea typeface="Arial"/>
                          <a:cs typeface="Arial"/>
                        </a:rPr>
                        <a:t>5041</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2125</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2125</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Sokrates</a:t>
                      </a:r>
                    </a:p>
                  </a:txBody>
                  <a:tcPr marL="95250" marR="66675" marT="28575" marB="28575" anchor="ctr">
                    <a:lnR w="6668">
                      <a:solidFill>
                        <a:srgbClr val="CBD8E1"/>
                      </a:solidFill>
                    </a:lnR>
                    <a:lnB w="6668">
                      <a:solidFill>
                        <a:srgbClr val="CBD8E1"/>
                      </a:solidFill>
                    </a:lnB>
                    <a:solidFill>
                      <a:srgbClr val="FFFFFF"/>
                    </a:solidFill>
                  </a:tcPr>
                </a:tc>
              </a:tr>
              <a:tr h="371475">
                <a:tc>
                  <a:txBody>
                    <a:bodyPr/>
                    <a:lstStyle/>
                    <a:p>
                      <a:r>
                        <a:rPr sz="1950" b="0">
                          <a:solidFill>
                            <a:srgbClr val="202B33"/>
                          </a:solidFill>
                          <a:latin typeface="Arial"/>
                          <a:ea typeface="Arial"/>
                          <a:cs typeface="Arial"/>
                        </a:rPr>
                        <a:t>5041</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2125</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2137</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Kant</a:t>
                      </a:r>
                    </a:p>
                  </a:txBody>
                  <a:tcPr marL="95250" marR="66675" marT="28575" marB="28575" anchor="ctr">
                    <a:lnR w="6668">
                      <a:solidFill>
                        <a:srgbClr val="CBD8E1"/>
                      </a:solidFill>
                    </a:lnR>
                    <a:lnB w="6668">
                      <a:solidFill>
                        <a:srgbClr val="CBD8E1"/>
                      </a:solidFill>
                    </a:lnB>
                    <a:solidFill>
                      <a:srgbClr val="EDF4F9"/>
                    </a:solidFill>
                  </a:tcPr>
                </a:tc>
              </a:tr>
              <a:tr h="371475">
                <a:tc>
                  <a:txBody>
                    <a:bodyPr/>
                    <a:lstStyle/>
                    <a:p>
                      <a:r>
                        <a:rPr sz="1950" b="0">
                          <a:solidFill>
                            <a:srgbClr val="202B33"/>
                          </a:solidFill>
                          <a:latin typeface="Arial"/>
                          <a:ea typeface="Arial"/>
                          <a:cs typeface="Arial"/>
                        </a:rPr>
                        <a:t>5049</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2125</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2125</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Sokrates</a:t>
                      </a:r>
                    </a:p>
                  </a:txBody>
                  <a:tcPr marL="95250" marR="66675" marT="28575" marB="28575" anchor="ctr">
                    <a:lnR w="6668">
                      <a:solidFill>
                        <a:srgbClr val="CBD8E1"/>
                      </a:solidFill>
                    </a:lnR>
                    <a:lnB w="6668">
                      <a:solidFill>
                        <a:srgbClr val="CBD8E1"/>
                      </a:solidFill>
                    </a:lnB>
                    <a:solidFill>
                      <a:srgbClr val="FFFFFF"/>
                    </a:solidFill>
                  </a:tcPr>
                </a:tc>
              </a:tr>
              <a:tr h="371475">
                <a:tc>
                  <a:txBody>
                    <a:bodyPr/>
                    <a:lstStyle/>
                    <a:p>
                      <a:r>
                        <a:rPr sz="1950" b="0">
                          <a:solidFill>
                            <a:srgbClr val="202B33"/>
                          </a:solidFill>
                          <a:latin typeface="Arial"/>
                          <a:ea typeface="Arial"/>
                          <a:cs typeface="Arial"/>
                        </a:rPr>
                        <a:t>5049</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2125</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2137</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Kant</a:t>
                      </a:r>
                    </a:p>
                  </a:txBody>
                  <a:tcPr marL="95250" marR="66675" marT="28575" marB="28575" anchor="ctr">
                    <a:lnR w="6668">
                      <a:solidFill>
                        <a:srgbClr val="CBD8E1"/>
                      </a:solidFill>
                    </a:lnR>
                    <a:lnB w="6668">
                      <a:solidFill>
                        <a:srgbClr val="CBD8E1"/>
                      </a:solidFill>
                    </a:lnB>
                    <a:solidFill>
                      <a:srgbClr val="EDF4F9"/>
                    </a:solidFill>
                  </a:tcPr>
                </a:tc>
              </a:tr>
              <a:tr h="371475">
                <a:tc>
                  <a:txBody>
                    <a:bodyPr/>
                    <a:lstStyle/>
                    <a:p>
                      <a:r>
                        <a:rPr sz="1950" b="0">
                          <a:solidFill>
                            <a:srgbClr val="202B33"/>
                          </a:solidFill>
                          <a:latin typeface="Arial"/>
                          <a:ea typeface="Arial"/>
                          <a:cs typeface="Arial"/>
                        </a:rPr>
                        <a:t>5001</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2137</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2125</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Sokrates</a:t>
                      </a:r>
                    </a:p>
                  </a:txBody>
                  <a:tcPr marL="95250" marR="66675" marT="28575" marB="28575" anchor="ctr">
                    <a:lnR w="6668">
                      <a:solidFill>
                        <a:srgbClr val="CBD8E1"/>
                      </a:solidFill>
                    </a:lnR>
                    <a:lnB w="6668">
                      <a:solidFill>
                        <a:srgbClr val="CBD8E1"/>
                      </a:solidFill>
                    </a:lnB>
                    <a:solidFill>
                      <a:srgbClr val="FFFFFF"/>
                    </a:solidFill>
                  </a:tcPr>
                </a:tc>
              </a:tr>
              <a:tr h="371475">
                <a:tc>
                  <a:txBody>
                    <a:bodyPr/>
                    <a:lstStyle/>
                    <a:p>
                      <a:r>
                        <a:rPr sz="1950" b="0">
                          <a:solidFill>
                            <a:srgbClr val="202B33"/>
                          </a:solidFill>
                          <a:latin typeface="Arial"/>
                          <a:ea typeface="Arial"/>
                          <a:cs typeface="Arial"/>
                        </a:rPr>
                        <a:t>5001</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2137</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2137</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Kant</a:t>
                      </a:r>
                    </a:p>
                  </a:txBody>
                  <a:tcPr marL="95250" marR="66675" marT="28575" marB="28575" anchor="ctr">
                    <a:lnR w="6668">
                      <a:solidFill>
                        <a:srgbClr val="CBD8E1"/>
                      </a:solidFill>
                    </a:lnR>
                    <a:lnB w="6668">
                      <a:solidFill>
                        <a:srgbClr val="CBD8E1"/>
                      </a:solidFill>
                    </a:lnB>
                    <a:solidFill>
                      <a:srgbClr val="EDF4F9"/>
                    </a:solidFill>
                  </a:tcPr>
                </a:tc>
              </a:tr>
              <a:tr h="371475">
                <a:tc>
                  <a:txBody>
                    <a:bodyPr/>
                    <a:lstStyle/>
                    <a:p>
                      <a:r>
                        <a:rPr sz="1950" b="0">
                          <a:solidFill>
                            <a:srgbClr val="202B33"/>
                          </a:solidFill>
                          <a:latin typeface="Arial"/>
                          <a:ea typeface="Arial"/>
                          <a:cs typeface="Arial"/>
                        </a:rPr>
                        <a:t>4630</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2137</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2125</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Sokrates</a:t>
                      </a:r>
                    </a:p>
                  </a:txBody>
                  <a:tcPr marL="95250" marR="66675" marT="28575" marB="28575" anchor="ctr">
                    <a:lnR w="6668">
                      <a:solidFill>
                        <a:srgbClr val="CBD8E1"/>
                      </a:solidFill>
                    </a:lnR>
                    <a:lnB w="6668">
                      <a:solidFill>
                        <a:srgbClr val="CBD8E1"/>
                      </a:solidFill>
                    </a:lnB>
                    <a:solidFill>
                      <a:srgbClr val="FFFFFF"/>
                    </a:solidFill>
                  </a:tcPr>
                </a:tc>
              </a:tr>
              <a:tr h="371475">
                <a:tc>
                  <a:txBody>
                    <a:bodyPr/>
                    <a:lstStyle/>
                    <a:p>
                      <a:r>
                        <a:rPr sz="1950" b="0">
                          <a:solidFill>
                            <a:srgbClr val="202B33"/>
                          </a:solidFill>
                          <a:latin typeface="Arial"/>
                          <a:ea typeface="Arial"/>
                          <a:cs typeface="Arial"/>
                        </a:rPr>
                        <a:t>4630</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2137</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2137</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Kant</a:t>
                      </a:r>
                    </a:p>
                  </a:txBody>
                  <a:tcPr marL="95250" marR="66675" marT="28575" marB="28575" anchor="ctr">
                    <a:lnR w="6668">
                      <a:solidFill>
                        <a:srgbClr val="CBD8E1"/>
                      </a:solidFill>
                    </a:lnR>
                    <a:lnB w="6668">
                      <a:solidFill>
                        <a:srgbClr val="CBD8E1"/>
                      </a:solidFill>
                    </a:lnB>
                    <a:solidFill>
                      <a:srgbClr val="EDF4F9"/>
                    </a:solidFill>
                  </a:tcPr>
                </a:tc>
              </a:tr>
            </a:tbl>
          </a:graphicData>
        </a:graphic>
      </p:graphicFrame>
      <p:sp>
        <p:nvSpPr>
          <p:cNvPr id="7" name="">
            <a:extLst xmlns:a="http://schemas.openxmlformats.org/drawingml/2006/main">
              <a:ext uri="{FF2B5EF4-FFF2-40B4-BE49-F238E27FC236}">
                <a16:creationId xmlns:a16="http://schemas.microsoft.com/office/drawing/2014/main" id="{D048ECF4-24A7-46A3-9A3A-D7C973AFA7EA}"/>
              </a:ext>
            </a:extLst>
          </p:cNvPr>
          <p:cNvSpPr>
            <a:spLocks xmlns:a="http://schemas.openxmlformats.org/drawingml/2006/main" noGrp="1"/>
          </p:cNvSpPr>
          <p:nvPr/>
        </p:nvSpPr>
        <p:spPr>
          <a:xfrm xmlns:a="http://schemas.openxmlformats.org/drawingml/2006/main">
            <a:off x="609600" y="58388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5293"/>
                </a:solidFill>
                <a:latin typeface="Arial"/>
                <a:ea typeface="Arial"/>
                <a:cs typeface="Arial"/>
              </a:defRPr>
            </a:defPPr>
            <a:lvl1pPr>
              <a:defRPr sz="2025" b="1">
                <a:solidFill>
                  <a:srgbClr val="005293"/>
                </a:solidFill>
                <a:latin typeface="Arial"/>
                <a:ea typeface="Arial"/>
                <a:cs typeface="Arial"/>
              </a:defRPr>
            </a:lvl1pPr>
            <a:lvl2pPr>
              <a:defRPr sz="2025" b="1">
                <a:solidFill>
                  <a:srgbClr val="005293"/>
                </a:solidFill>
                <a:latin typeface="Arial"/>
                <a:ea typeface="Arial"/>
                <a:cs typeface="Arial"/>
              </a:defRPr>
            </a:lvl2pPr>
            <a:lvl3pPr>
              <a:defRPr sz="2025" b="1">
                <a:solidFill>
                  <a:srgbClr val="005293"/>
                </a:solidFill>
                <a:latin typeface="Arial"/>
                <a:ea typeface="Arial"/>
                <a:cs typeface="Arial"/>
              </a:defRPr>
            </a:lvl3pPr>
            <a:lvl4pPr>
              <a:defRPr sz="2025" b="1">
                <a:solidFill>
                  <a:srgbClr val="005293"/>
                </a:solidFill>
                <a:latin typeface="Arial"/>
                <a:ea typeface="Arial"/>
                <a:cs typeface="Arial"/>
              </a:defRPr>
            </a:lvl4pPr>
            <a:lvl5pPr>
              <a:defRPr sz="2025" b="1">
                <a:solidFill>
                  <a:srgbClr val="005293"/>
                </a:solidFill>
                <a:latin typeface="Arial"/>
                <a:ea typeface="Arial"/>
                <a:cs typeface="Arial"/>
              </a:defRPr>
            </a:lvl5pPr>
            <a:lvl6pPr>
              <a:defRPr sz="2025" b="1">
                <a:solidFill>
                  <a:srgbClr val="005293"/>
                </a:solidFill>
                <a:latin typeface="Arial"/>
                <a:ea typeface="Arial"/>
                <a:cs typeface="Arial"/>
              </a:defRPr>
            </a:lvl6pPr>
            <a:lvl7pPr>
              <a:defRPr sz="2025" b="1">
                <a:solidFill>
                  <a:srgbClr val="005293"/>
                </a:solidFill>
                <a:latin typeface="Arial"/>
                <a:ea typeface="Arial"/>
                <a:cs typeface="Arial"/>
              </a:defRPr>
            </a:lvl7pPr>
            <a:lvl8pPr>
              <a:defRPr sz="2025" b="1">
                <a:solidFill>
                  <a:srgbClr val="005293"/>
                </a:solidFill>
                <a:latin typeface="Arial"/>
                <a:ea typeface="Arial"/>
                <a:cs typeface="Arial"/>
              </a:defRPr>
            </a:lvl8pPr>
            <a:lvl9pPr>
              <a:defRPr sz="2025" b="1">
                <a:solidFill>
                  <a:srgbClr val="005293"/>
                </a:solidFill>
                <a:latin typeface="Arial"/>
                <a:ea typeface="Arial"/>
                <a:cs typeface="Arial"/>
              </a:defRPr>
            </a:lvl9pPr>
          </a:lstStyle>
          <a:p xmlns:a="http://schemas.openxmlformats.org/drawingml/2006/main">
            <a:pPr>
              <a:defRPr sz="2025" b="1">
                <a:solidFill>
                  <a:srgbClr val="005293"/>
                </a:solidFill>
                <a:latin typeface="Arial"/>
                <a:ea typeface="Arial"/>
                <a:cs typeface="Arial"/>
              </a:defRPr>
            </a:pPr>
            <a:r>
              <a:rPr sz="2025" b="1">
                <a:solidFill>
                  <a:srgbClr val="005293"/>
                </a:solidFill>
                <a:latin typeface="Arial"/>
                <a:ea typeface="Arial"/>
                <a:cs typeface="Arial"/>
              </a:rPr>
              <a:t>Auch Kombinationen mit gelesenVon ≠ PersNr gehören zum Produkt.</a:t>
            </a:r>
          </a:p>
        </p:txBody>
      </p:sp>
    </p:spTree>
    <p:extLst>
      <p:ext uri="{BB962C8B-B14F-4D97-AF65-F5344CB8AC3E}">
        <p14:creationId xmlns:p14="http://schemas.microsoft.com/office/powerpoint/2010/main" val="54600860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CF7DCA1-D6AE-4CBF-8F36-E5E160893BB8}"/>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Umbenennung</a:t>
            </a:r>
          </a:p>
        </p:txBody>
      </p:sp>
      <p:sp>
        <p:nvSpPr>
          <p:cNvPr id="2" name="">
            <a:extLst xmlns:a="http://schemas.openxmlformats.org/drawingml/2006/main">
              <a:ext uri="{FF2B5EF4-FFF2-40B4-BE49-F238E27FC236}">
                <a16:creationId xmlns:a16="http://schemas.microsoft.com/office/drawing/2014/main" id="{0724DA3C-F83E-474E-8FE6-FA279DE03EE0}"/>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5A9BBFCF-B4A1-4016-97A7-71ABB70C131F}"/>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84C81BEE-FB48-4BFA-BB3A-E91BDC3FBCE0}"/>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24</a:t>
            </a:r>
          </a:p>
        </p:txBody>
      </p:sp>
      <p:sp>
        <p:nvSpPr>
          <p:cNvPr id="5" name="">
            <a:extLst xmlns:a="http://schemas.openxmlformats.org/drawingml/2006/main">
              <a:ext uri="{FF2B5EF4-FFF2-40B4-BE49-F238E27FC236}">
                <a16:creationId xmlns:a16="http://schemas.microsoft.com/office/drawing/2014/main" id="{88D69EB9-3F5D-42A2-B176-702C4C10BFB7}"/>
              </a:ext>
            </a:extLst>
          </p:cNvPr>
          <p:cNvSpPr>
            <a:spLocks xmlns:a="http://schemas.openxmlformats.org/drawingml/2006/main" noGrp="1"/>
          </p:cNvSpPr>
          <p:nvPr/>
        </p:nvSpPr>
        <p:spPr>
          <a:xfrm xmlns:a="http://schemas.openxmlformats.org/drawingml/2006/main">
            <a:off x="609600" y="1428750"/>
            <a:ext cx="26289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3000" b="0">
                <a:solidFill>
                  <a:srgbClr val="005293"/>
                </a:solidFill>
                <a:latin typeface="STIX Two Math"/>
                <a:ea typeface="STIX Two Math"/>
                <a:cs typeface="STIX Two Math"/>
              </a:defRPr>
            </a:defPPr>
            <a:lvl1pPr>
              <a:defRPr sz="3000" b="0">
                <a:solidFill>
                  <a:srgbClr val="005293"/>
                </a:solidFill>
                <a:latin typeface="STIX Two Math"/>
                <a:ea typeface="STIX Two Math"/>
                <a:cs typeface="STIX Two Math"/>
              </a:defRPr>
            </a:lvl1pPr>
            <a:lvl2pPr>
              <a:defRPr sz="3000" b="0">
                <a:solidFill>
                  <a:srgbClr val="005293"/>
                </a:solidFill>
                <a:latin typeface="STIX Two Math"/>
                <a:ea typeface="STIX Two Math"/>
                <a:cs typeface="STIX Two Math"/>
              </a:defRPr>
            </a:lvl2pPr>
            <a:lvl3pPr>
              <a:defRPr sz="3000" b="0">
                <a:solidFill>
                  <a:srgbClr val="005293"/>
                </a:solidFill>
                <a:latin typeface="STIX Two Math"/>
                <a:ea typeface="STIX Two Math"/>
                <a:cs typeface="STIX Two Math"/>
              </a:defRPr>
            </a:lvl3pPr>
            <a:lvl4pPr>
              <a:defRPr sz="3000" b="0">
                <a:solidFill>
                  <a:srgbClr val="005293"/>
                </a:solidFill>
                <a:latin typeface="STIX Two Math"/>
                <a:ea typeface="STIX Two Math"/>
                <a:cs typeface="STIX Two Math"/>
              </a:defRPr>
            </a:lvl4pPr>
            <a:lvl5pPr>
              <a:defRPr sz="3000" b="0">
                <a:solidFill>
                  <a:srgbClr val="005293"/>
                </a:solidFill>
                <a:latin typeface="STIX Two Math"/>
                <a:ea typeface="STIX Two Math"/>
                <a:cs typeface="STIX Two Math"/>
              </a:defRPr>
            </a:lvl5pPr>
            <a:lvl6pPr>
              <a:defRPr sz="3000" b="0">
                <a:solidFill>
                  <a:srgbClr val="005293"/>
                </a:solidFill>
                <a:latin typeface="STIX Two Math"/>
                <a:ea typeface="STIX Two Math"/>
                <a:cs typeface="STIX Two Math"/>
              </a:defRPr>
            </a:lvl6pPr>
            <a:lvl7pPr>
              <a:defRPr sz="3000" b="0">
                <a:solidFill>
                  <a:srgbClr val="005293"/>
                </a:solidFill>
                <a:latin typeface="STIX Two Math"/>
                <a:ea typeface="STIX Two Math"/>
                <a:cs typeface="STIX Two Math"/>
              </a:defRPr>
            </a:lvl7pPr>
            <a:lvl8pPr>
              <a:defRPr sz="3000" b="0">
                <a:solidFill>
                  <a:srgbClr val="005293"/>
                </a:solidFill>
                <a:latin typeface="STIX Two Math"/>
                <a:ea typeface="STIX Two Math"/>
                <a:cs typeface="STIX Two Math"/>
              </a:defRPr>
            </a:lvl8pPr>
            <a:lvl9pPr>
              <a:defRPr sz="3000" b="0">
                <a:solidFill>
                  <a:srgbClr val="005293"/>
                </a:solidFill>
                <a:latin typeface="STIX Two Math"/>
                <a:ea typeface="STIX Two Math"/>
                <a:cs typeface="STIX Two Math"/>
              </a:defRPr>
            </a:lvl9pPr>
          </a:lstStyle>
          <a:p xmlns:a="http://schemas.openxmlformats.org/drawingml/2006/main">
            <a:pPr>
              <a:defRPr sz="3000" b="0">
                <a:solidFill>
                  <a:srgbClr val="005293"/>
                </a:solidFill>
                <a:latin typeface="STIX Two Math"/>
                <a:ea typeface="STIX Two Math"/>
                <a:cs typeface="STIX Two Math"/>
              </a:defRPr>
            </a:pPr>
            <a:r>
              <a:rPr sz="3000" b="0">
                <a:solidFill>
                  <a:srgbClr val="005293"/>
                </a:solidFill>
                <a:latin typeface="STIX Two Math"/>
                <a:ea typeface="STIX Two Math"/>
                <a:cs typeface="STIX Two Math"/>
              </a:rPr>
              <a:t>ρ</a:t>
            </a:r>
          </a:p>
        </p:txBody>
      </p:sp>
      <p:sp>
        <p:nvSpPr>
          <p:cNvPr id="6" name="">
            <a:extLst xmlns:a="http://schemas.openxmlformats.org/drawingml/2006/main">
              <a:ext uri="{FF2B5EF4-FFF2-40B4-BE49-F238E27FC236}">
                <a16:creationId xmlns:a16="http://schemas.microsoft.com/office/drawing/2014/main" id="{7FCEC4BC-1087-4C05-9478-5AD141733CAE}"/>
              </a:ext>
            </a:extLst>
          </p:cNvPr>
          <p:cNvSpPr>
            <a:spLocks xmlns:a="http://schemas.openxmlformats.org/drawingml/2006/main" noGrp="1"/>
          </p:cNvSpPr>
          <p:nvPr/>
        </p:nvSpPr>
        <p:spPr>
          <a:xfrm xmlns:a="http://schemas.openxmlformats.org/drawingml/2006/main">
            <a:off x="824865" y="1645920"/>
            <a:ext cx="748703" cy="4086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1950" b="0">
                <a:solidFill>
                  <a:srgbClr val="005293"/>
                </a:solidFill>
                <a:latin typeface="STIX Two Math"/>
                <a:ea typeface="STIX Two Math"/>
                <a:cs typeface="STIX Two Math"/>
              </a:defRPr>
            </a:defPPr>
            <a:lvl1pPr>
              <a:defRPr sz="1950" b="0">
                <a:solidFill>
                  <a:srgbClr val="005293"/>
                </a:solidFill>
                <a:latin typeface="STIX Two Math"/>
                <a:ea typeface="STIX Two Math"/>
                <a:cs typeface="STIX Two Math"/>
              </a:defRPr>
            </a:lvl1pPr>
            <a:lvl2pPr>
              <a:defRPr sz="1950" b="0">
                <a:solidFill>
                  <a:srgbClr val="005293"/>
                </a:solidFill>
                <a:latin typeface="STIX Two Math"/>
                <a:ea typeface="STIX Two Math"/>
                <a:cs typeface="STIX Two Math"/>
              </a:defRPr>
            </a:lvl2pPr>
            <a:lvl3pPr>
              <a:defRPr sz="1950" b="0">
                <a:solidFill>
                  <a:srgbClr val="005293"/>
                </a:solidFill>
                <a:latin typeface="STIX Two Math"/>
                <a:ea typeface="STIX Two Math"/>
                <a:cs typeface="STIX Two Math"/>
              </a:defRPr>
            </a:lvl3pPr>
            <a:lvl4pPr>
              <a:defRPr sz="1950" b="0">
                <a:solidFill>
                  <a:srgbClr val="005293"/>
                </a:solidFill>
                <a:latin typeface="STIX Two Math"/>
                <a:ea typeface="STIX Two Math"/>
                <a:cs typeface="STIX Two Math"/>
              </a:defRPr>
            </a:lvl4pPr>
            <a:lvl5pPr>
              <a:defRPr sz="1950" b="0">
                <a:solidFill>
                  <a:srgbClr val="005293"/>
                </a:solidFill>
                <a:latin typeface="STIX Two Math"/>
                <a:ea typeface="STIX Two Math"/>
                <a:cs typeface="STIX Two Math"/>
              </a:defRPr>
            </a:lvl5pPr>
            <a:lvl6pPr>
              <a:defRPr sz="1950" b="0">
                <a:solidFill>
                  <a:srgbClr val="005293"/>
                </a:solidFill>
                <a:latin typeface="STIX Two Math"/>
                <a:ea typeface="STIX Two Math"/>
                <a:cs typeface="STIX Two Math"/>
              </a:defRPr>
            </a:lvl6pPr>
            <a:lvl7pPr>
              <a:defRPr sz="1950" b="0">
                <a:solidFill>
                  <a:srgbClr val="005293"/>
                </a:solidFill>
                <a:latin typeface="STIX Two Math"/>
                <a:ea typeface="STIX Two Math"/>
                <a:cs typeface="STIX Two Math"/>
              </a:defRPr>
            </a:lvl7pPr>
            <a:lvl8pPr>
              <a:defRPr sz="1950" b="0">
                <a:solidFill>
                  <a:srgbClr val="005293"/>
                </a:solidFill>
                <a:latin typeface="STIX Two Math"/>
                <a:ea typeface="STIX Two Math"/>
                <a:cs typeface="STIX Two Math"/>
              </a:defRPr>
            </a:lvl8pPr>
            <a:lvl9pPr>
              <a:defRPr sz="1950" b="0">
                <a:solidFill>
                  <a:srgbClr val="005293"/>
                </a:solidFill>
                <a:latin typeface="STIX Two Math"/>
                <a:ea typeface="STIX Two Math"/>
                <a:cs typeface="STIX Two Math"/>
              </a:defRPr>
            </a:lvl9pPr>
          </a:lstStyle>
          <a:p xmlns:a="http://schemas.openxmlformats.org/drawingml/2006/main">
            <a:pPr>
              <a:defRPr sz="1950" b="0">
                <a:solidFill>
                  <a:srgbClr val="005293"/>
                </a:solidFill>
                <a:latin typeface="STIX Two Math"/>
                <a:ea typeface="STIX Two Math"/>
                <a:cs typeface="STIX Two Math"/>
              </a:defRPr>
            </a:pPr>
            <a:r>
              <a:rPr sz="1950" b="0">
                <a:solidFill>
                  <a:srgbClr val="005293"/>
                </a:solidFill>
                <a:latin typeface="STIX Two Math"/>
                <a:ea typeface="STIX Two Math"/>
                <a:cs typeface="STIX Two Math"/>
              </a:rPr>
              <a:t>B ← A</a:t>
            </a:r>
          </a:p>
        </p:txBody>
      </p:sp>
      <p:sp>
        <p:nvSpPr>
          <p:cNvPr id="7" name="">
            <a:extLst xmlns:a="http://schemas.openxmlformats.org/drawingml/2006/main">
              <a:ext uri="{FF2B5EF4-FFF2-40B4-BE49-F238E27FC236}">
                <a16:creationId xmlns:a16="http://schemas.microsoft.com/office/drawing/2014/main" id="{4E7F39E4-8F12-4715-8AB3-00C4D33EC11F}"/>
              </a:ext>
            </a:extLst>
          </p:cNvPr>
          <p:cNvSpPr>
            <a:spLocks xmlns:a="http://schemas.openxmlformats.org/drawingml/2006/main" noGrp="1"/>
          </p:cNvSpPr>
          <p:nvPr/>
        </p:nvSpPr>
        <p:spPr>
          <a:xfrm xmlns:a="http://schemas.openxmlformats.org/drawingml/2006/main">
            <a:off x="1525943" y="1428750"/>
            <a:ext cx="2323338"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3000" b="0">
                <a:solidFill>
                  <a:srgbClr val="005293"/>
                </a:solidFill>
                <a:latin typeface="STIX Two Math"/>
                <a:ea typeface="STIX Two Math"/>
                <a:cs typeface="STIX Two Math"/>
              </a:defRPr>
            </a:defPPr>
            <a:lvl1pPr>
              <a:defRPr sz="3000" b="0">
                <a:solidFill>
                  <a:srgbClr val="005293"/>
                </a:solidFill>
                <a:latin typeface="STIX Two Math"/>
                <a:ea typeface="STIX Two Math"/>
                <a:cs typeface="STIX Two Math"/>
              </a:defRPr>
            </a:lvl1pPr>
            <a:lvl2pPr>
              <a:defRPr sz="3000" b="0">
                <a:solidFill>
                  <a:srgbClr val="005293"/>
                </a:solidFill>
                <a:latin typeface="STIX Two Math"/>
                <a:ea typeface="STIX Two Math"/>
                <a:cs typeface="STIX Two Math"/>
              </a:defRPr>
            </a:lvl2pPr>
            <a:lvl3pPr>
              <a:defRPr sz="3000" b="0">
                <a:solidFill>
                  <a:srgbClr val="005293"/>
                </a:solidFill>
                <a:latin typeface="STIX Two Math"/>
                <a:ea typeface="STIX Two Math"/>
                <a:cs typeface="STIX Two Math"/>
              </a:defRPr>
            </a:lvl3pPr>
            <a:lvl4pPr>
              <a:defRPr sz="3000" b="0">
                <a:solidFill>
                  <a:srgbClr val="005293"/>
                </a:solidFill>
                <a:latin typeface="STIX Two Math"/>
                <a:ea typeface="STIX Two Math"/>
                <a:cs typeface="STIX Two Math"/>
              </a:defRPr>
            </a:lvl4pPr>
            <a:lvl5pPr>
              <a:defRPr sz="3000" b="0">
                <a:solidFill>
                  <a:srgbClr val="005293"/>
                </a:solidFill>
                <a:latin typeface="STIX Two Math"/>
                <a:ea typeface="STIX Two Math"/>
                <a:cs typeface="STIX Two Math"/>
              </a:defRPr>
            </a:lvl5pPr>
            <a:lvl6pPr>
              <a:defRPr sz="3000" b="0">
                <a:solidFill>
                  <a:srgbClr val="005293"/>
                </a:solidFill>
                <a:latin typeface="STIX Two Math"/>
                <a:ea typeface="STIX Two Math"/>
                <a:cs typeface="STIX Two Math"/>
              </a:defRPr>
            </a:lvl6pPr>
            <a:lvl7pPr>
              <a:defRPr sz="3000" b="0">
                <a:solidFill>
                  <a:srgbClr val="005293"/>
                </a:solidFill>
                <a:latin typeface="STIX Two Math"/>
                <a:ea typeface="STIX Two Math"/>
                <a:cs typeface="STIX Two Math"/>
              </a:defRPr>
            </a:lvl7pPr>
            <a:lvl8pPr>
              <a:defRPr sz="3000" b="0">
                <a:solidFill>
                  <a:srgbClr val="005293"/>
                </a:solidFill>
                <a:latin typeface="STIX Two Math"/>
                <a:ea typeface="STIX Two Math"/>
                <a:cs typeface="STIX Two Math"/>
              </a:defRPr>
            </a:lvl8pPr>
            <a:lvl9pPr>
              <a:defRPr sz="3000" b="0">
                <a:solidFill>
                  <a:srgbClr val="005293"/>
                </a:solidFill>
                <a:latin typeface="STIX Two Math"/>
                <a:ea typeface="STIX Two Math"/>
                <a:cs typeface="STIX Two Math"/>
              </a:defRPr>
            </a:lvl9pPr>
          </a:lstStyle>
          <a:p xmlns:a="http://schemas.openxmlformats.org/drawingml/2006/main">
            <a:pPr>
              <a:defRPr sz="3000" b="0">
                <a:solidFill>
                  <a:srgbClr val="005293"/>
                </a:solidFill>
                <a:latin typeface="STIX Two Math"/>
                <a:ea typeface="STIX Two Math"/>
                <a:cs typeface="STIX Two Math"/>
              </a:defRPr>
            </a:pPr>
            <a:r>
              <a:rPr sz="3000" b="0">
                <a:solidFill>
                  <a:srgbClr val="005293"/>
                </a:solidFill>
                <a:latin typeface="STIX Two Math"/>
                <a:ea typeface="STIX Two Math"/>
                <a:cs typeface="STIX Two Math"/>
              </a:rPr>
              <a:t>(R)     und     ρ</a:t>
            </a:r>
          </a:p>
        </p:txBody>
      </p:sp>
      <p:sp>
        <p:nvSpPr>
          <p:cNvPr id="8" name="">
            <a:extLst xmlns:a="http://schemas.openxmlformats.org/drawingml/2006/main">
              <a:ext uri="{FF2B5EF4-FFF2-40B4-BE49-F238E27FC236}">
                <a16:creationId xmlns:a16="http://schemas.microsoft.com/office/drawing/2014/main" id="{305D77D0-9121-46CC-92D9-A3F63CB0F4A9}"/>
              </a:ext>
            </a:extLst>
          </p:cNvPr>
          <p:cNvSpPr>
            <a:spLocks xmlns:a="http://schemas.openxmlformats.org/drawingml/2006/main" noGrp="1"/>
          </p:cNvSpPr>
          <p:nvPr/>
        </p:nvSpPr>
        <p:spPr>
          <a:xfrm xmlns:a="http://schemas.openxmlformats.org/drawingml/2006/main">
            <a:off x="3801656" y="1645920"/>
            <a:ext cx="160782" cy="4086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1950" b="0">
                <a:solidFill>
                  <a:srgbClr val="005293"/>
                </a:solidFill>
                <a:latin typeface="STIX Two Math"/>
                <a:ea typeface="STIX Two Math"/>
                <a:cs typeface="STIX Two Math"/>
              </a:defRPr>
            </a:defPPr>
            <a:lvl1pPr>
              <a:defRPr sz="1950" b="0">
                <a:solidFill>
                  <a:srgbClr val="005293"/>
                </a:solidFill>
                <a:latin typeface="STIX Two Math"/>
                <a:ea typeface="STIX Two Math"/>
                <a:cs typeface="STIX Two Math"/>
              </a:defRPr>
            </a:lvl1pPr>
            <a:lvl2pPr>
              <a:defRPr sz="1950" b="0">
                <a:solidFill>
                  <a:srgbClr val="005293"/>
                </a:solidFill>
                <a:latin typeface="STIX Two Math"/>
                <a:ea typeface="STIX Two Math"/>
                <a:cs typeface="STIX Two Math"/>
              </a:defRPr>
            </a:lvl2pPr>
            <a:lvl3pPr>
              <a:defRPr sz="1950" b="0">
                <a:solidFill>
                  <a:srgbClr val="005293"/>
                </a:solidFill>
                <a:latin typeface="STIX Two Math"/>
                <a:ea typeface="STIX Two Math"/>
                <a:cs typeface="STIX Two Math"/>
              </a:defRPr>
            </a:lvl3pPr>
            <a:lvl4pPr>
              <a:defRPr sz="1950" b="0">
                <a:solidFill>
                  <a:srgbClr val="005293"/>
                </a:solidFill>
                <a:latin typeface="STIX Two Math"/>
                <a:ea typeface="STIX Two Math"/>
                <a:cs typeface="STIX Two Math"/>
              </a:defRPr>
            </a:lvl4pPr>
            <a:lvl5pPr>
              <a:defRPr sz="1950" b="0">
                <a:solidFill>
                  <a:srgbClr val="005293"/>
                </a:solidFill>
                <a:latin typeface="STIX Two Math"/>
                <a:ea typeface="STIX Two Math"/>
                <a:cs typeface="STIX Two Math"/>
              </a:defRPr>
            </a:lvl5pPr>
            <a:lvl6pPr>
              <a:defRPr sz="1950" b="0">
                <a:solidFill>
                  <a:srgbClr val="005293"/>
                </a:solidFill>
                <a:latin typeface="STIX Two Math"/>
                <a:ea typeface="STIX Two Math"/>
                <a:cs typeface="STIX Two Math"/>
              </a:defRPr>
            </a:lvl6pPr>
            <a:lvl7pPr>
              <a:defRPr sz="1950" b="0">
                <a:solidFill>
                  <a:srgbClr val="005293"/>
                </a:solidFill>
                <a:latin typeface="STIX Two Math"/>
                <a:ea typeface="STIX Two Math"/>
                <a:cs typeface="STIX Two Math"/>
              </a:defRPr>
            </a:lvl7pPr>
            <a:lvl8pPr>
              <a:defRPr sz="1950" b="0">
                <a:solidFill>
                  <a:srgbClr val="005293"/>
                </a:solidFill>
                <a:latin typeface="STIX Two Math"/>
                <a:ea typeface="STIX Two Math"/>
                <a:cs typeface="STIX Two Math"/>
              </a:defRPr>
            </a:lvl8pPr>
            <a:lvl9pPr>
              <a:defRPr sz="1950" b="0">
                <a:solidFill>
                  <a:srgbClr val="005293"/>
                </a:solidFill>
                <a:latin typeface="STIX Two Math"/>
                <a:ea typeface="STIX Two Math"/>
                <a:cs typeface="STIX Two Math"/>
              </a:defRPr>
            </a:lvl9pPr>
          </a:lstStyle>
          <a:p xmlns:a="http://schemas.openxmlformats.org/drawingml/2006/main">
            <a:pPr>
              <a:defRPr sz="1950" b="0">
                <a:solidFill>
                  <a:srgbClr val="005293"/>
                </a:solidFill>
                <a:latin typeface="STIX Two Math"/>
                <a:ea typeface="STIX Two Math"/>
                <a:cs typeface="STIX Two Math"/>
              </a:defRPr>
            </a:pPr>
            <a:r>
              <a:rPr sz="1950" b="0">
                <a:solidFill>
                  <a:srgbClr val="005293"/>
                </a:solidFill>
                <a:latin typeface="STIX Two Math"/>
                <a:ea typeface="STIX Two Math"/>
                <a:cs typeface="STIX Two Math"/>
              </a:rPr>
              <a:t>r</a:t>
            </a:r>
          </a:p>
        </p:txBody>
      </p:sp>
      <p:sp>
        <p:nvSpPr>
          <p:cNvPr id="9" name="">
            <a:extLst xmlns:a="http://schemas.openxmlformats.org/drawingml/2006/main">
              <a:ext uri="{FF2B5EF4-FFF2-40B4-BE49-F238E27FC236}">
                <a16:creationId xmlns:a16="http://schemas.microsoft.com/office/drawing/2014/main" id="{D95E2037-DD4D-40BB-BDCF-1FDD862A24B5}"/>
              </a:ext>
            </a:extLst>
          </p:cNvPr>
          <p:cNvSpPr>
            <a:spLocks xmlns:a="http://schemas.openxmlformats.org/drawingml/2006/main" noGrp="1"/>
          </p:cNvSpPr>
          <p:nvPr/>
        </p:nvSpPr>
        <p:spPr>
          <a:xfrm xmlns:a="http://schemas.openxmlformats.org/drawingml/2006/main">
            <a:off x="3914813" y="1428750"/>
            <a:ext cx="589788"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3000" b="0">
                <a:solidFill>
                  <a:srgbClr val="005293"/>
                </a:solidFill>
                <a:latin typeface="STIX Two Math"/>
                <a:ea typeface="STIX Two Math"/>
                <a:cs typeface="STIX Two Math"/>
              </a:defRPr>
            </a:defPPr>
            <a:lvl1pPr>
              <a:defRPr sz="3000" b="0">
                <a:solidFill>
                  <a:srgbClr val="005293"/>
                </a:solidFill>
                <a:latin typeface="STIX Two Math"/>
                <a:ea typeface="STIX Two Math"/>
                <a:cs typeface="STIX Two Math"/>
              </a:defRPr>
            </a:lvl1pPr>
            <a:lvl2pPr>
              <a:defRPr sz="3000" b="0">
                <a:solidFill>
                  <a:srgbClr val="005293"/>
                </a:solidFill>
                <a:latin typeface="STIX Two Math"/>
                <a:ea typeface="STIX Two Math"/>
                <a:cs typeface="STIX Two Math"/>
              </a:defRPr>
            </a:lvl2pPr>
            <a:lvl3pPr>
              <a:defRPr sz="3000" b="0">
                <a:solidFill>
                  <a:srgbClr val="005293"/>
                </a:solidFill>
                <a:latin typeface="STIX Two Math"/>
                <a:ea typeface="STIX Two Math"/>
                <a:cs typeface="STIX Two Math"/>
              </a:defRPr>
            </a:lvl3pPr>
            <a:lvl4pPr>
              <a:defRPr sz="3000" b="0">
                <a:solidFill>
                  <a:srgbClr val="005293"/>
                </a:solidFill>
                <a:latin typeface="STIX Two Math"/>
                <a:ea typeface="STIX Two Math"/>
                <a:cs typeface="STIX Two Math"/>
              </a:defRPr>
            </a:lvl4pPr>
            <a:lvl5pPr>
              <a:defRPr sz="3000" b="0">
                <a:solidFill>
                  <a:srgbClr val="005293"/>
                </a:solidFill>
                <a:latin typeface="STIX Two Math"/>
                <a:ea typeface="STIX Two Math"/>
                <a:cs typeface="STIX Two Math"/>
              </a:defRPr>
            </a:lvl5pPr>
            <a:lvl6pPr>
              <a:defRPr sz="3000" b="0">
                <a:solidFill>
                  <a:srgbClr val="005293"/>
                </a:solidFill>
                <a:latin typeface="STIX Two Math"/>
                <a:ea typeface="STIX Two Math"/>
                <a:cs typeface="STIX Two Math"/>
              </a:defRPr>
            </a:lvl6pPr>
            <a:lvl7pPr>
              <a:defRPr sz="3000" b="0">
                <a:solidFill>
                  <a:srgbClr val="005293"/>
                </a:solidFill>
                <a:latin typeface="STIX Two Math"/>
                <a:ea typeface="STIX Two Math"/>
                <a:cs typeface="STIX Two Math"/>
              </a:defRPr>
            </a:lvl7pPr>
            <a:lvl8pPr>
              <a:defRPr sz="3000" b="0">
                <a:solidFill>
                  <a:srgbClr val="005293"/>
                </a:solidFill>
                <a:latin typeface="STIX Two Math"/>
                <a:ea typeface="STIX Two Math"/>
                <a:cs typeface="STIX Two Math"/>
              </a:defRPr>
            </a:lvl8pPr>
            <a:lvl9pPr>
              <a:defRPr sz="3000" b="0">
                <a:solidFill>
                  <a:srgbClr val="005293"/>
                </a:solidFill>
                <a:latin typeface="STIX Two Math"/>
                <a:ea typeface="STIX Two Math"/>
                <a:cs typeface="STIX Two Math"/>
              </a:defRPr>
            </a:lvl9pPr>
          </a:lstStyle>
          <a:p xmlns:a="http://schemas.openxmlformats.org/drawingml/2006/main">
            <a:pPr>
              <a:defRPr sz="3000" b="0">
                <a:solidFill>
                  <a:srgbClr val="005293"/>
                </a:solidFill>
                <a:latin typeface="STIX Two Math"/>
                <a:ea typeface="STIX Two Math"/>
                <a:cs typeface="STIX Two Math"/>
              </a:defRPr>
            </a:pPr>
            <a:r>
              <a:rPr sz="3000" b="0">
                <a:solidFill>
                  <a:srgbClr val="005293"/>
                </a:solidFill>
                <a:latin typeface="STIX Two Math"/>
                <a:ea typeface="STIX Two Math"/>
                <a:cs typeface="STIX Two Math"/>
              </a:rPr>
              <a:t>(R)</a:t>
            </a:r>
          </a:p>
        </p:txBody>
      </p:sp>
      <p:sp>
        <p:nvSpPr>
          <p:cNvPr id="10" name="">
            <a:extLst xmlns:a="http://schemas.openxmlformats.org/drawingml/2006/main">
              <a:ext uri="{FF2B5EF4-FFF2-40B4-BE49-F238E27FC236}">
                <a16:creationId xmlns:a16="http://schemas.microsoft.com/office/drawing/2014/main" id="{D9C837A3-84DF-45E1-AAA1-7CC018CEE89A}"/>
              </a:ext>
            </a:extLst>
          </p:cNvPr>
          <p:cNvSpPr>
            <a:spLocks xmlns:a="http://schemas.openxmlformats.org/drawingml/2006/main" noGrp="1"/>
          </p:cNvSpPr>
          <p:nvPr/>
        </p:nvSpPr>
        <p:spPr>
          <a:xfrm xmlns:a="http://schemas.openxmlformats.org/drawingml/2006/main">
            <a:off x="609600" y="24765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Benennt ein Attribut A in B um oder vergibt einen Relationsalias r.</a:t>
            </a:r>
          </a:p>
        </p:txBody>
      </p:sp>
      <p:sp>
        <p:nvSpPr>
          <p:cNvPr id="11" name="">
            <a:extLst xmlns:a="http://schemas.openxmlformats.org/drawingml/2006/main">
              <a:ext uri="{FF2B5EF4-FFF2-40B4-BE49-F238E27FC236}">
                <a16:creationId xmlns:a16="http://schemas.microsoft.com/office/drawing/2014/main" id="{7E2A9C58-C714-4AAE-8863-BAF56020512A}"/>
              </a:ext>
            </a:extLst>
          </p:cNvPr>
          <p:cNvSpPr>
            <a:spLocks xmlns:a="http://schemas.openxmlformats.org/drawingml/2006/main" noGrp="1"/>
          </p:cNvSpPr>
          <p:nvPr/>
        </p:nvSpPr>
        <p:spPr>
          <a:xfrm xmlns:a="http://schemas.openxmlformats.org/drawingml/2006/main">
            <a:off x="609600" y="34290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Die gespeicherten Werte und die Tupelanzahl bleiben unverändert.</a:t>
            </a:r>
          </a:p>
        </p:txBody>
      </p:sp>
      <p:sp>
        <p:nvSpPr>
          <p:cNvPr id="12" name="">
            <a:extLst xmlns:a="http://schemas.openxmlformats.org/drawingml/2006/main">
              <a:ext uri="{FF2B5EF4-FFF2-40B4-BE49-F238E27FC236}">
                <a16:creationId xmlns:a16="http://schemas.microsoft.com/office/drawing/2014/main" id="{EF0FF3E0-DCA9-4335-B585-60EB26B0F649}"/>
              </a:ext>
            </a:extLst>
          </p:cNvPr>
          <p:cNvSpPr>
            <a:spLocks xmlns:a="http://schemas.openxmlformats.org/drawingml/2006/main" noGrp="1"/>
          </p:cNvSpPr>
          <p:nvPr/>
        </p:nvSpPr>
        <p:spPr>
          <a:xfrm xmlns:a="http://schemas.openxmlformats.org/drawingml/2006/main">
            <a:off x="609600" y="43815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Hilft bei Namenskonflikten und bei mehreren Kopien derselben Relation.</a:t>
            </a:r>
          </a:p>
        </p:txBody>
      </p:sp>
    </p:spTree>
    <p:extLst>
      <p:ext uri="{BB962C8B-B14F-4D97-AF65-F5344CB8AC3E}">
        <p14:creationId xmlns:p14="http://schemas.microsoft.com/office/powerpoint/2010/main" val="82599714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14E1D22-FA7F-48BB-91CD-5A0A01CF9DB5}"/>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Umbenennung: Assistenten und Professoren</a:t>
            </a:r>
          </a:p>
        </p:txBody>
      </p:sp>
      <p:sp>
        <p:nvSpPr>
          <p:cNvPr id="2" name="">
            <a:extLst xmlns:a="http://schemas.openxmlformats.org/drawingml/2006/main">
              <a:ext uri="{FF2B5EF4-FFF2-40B4-BE49-F238E27FC236}">
                <a16:creationId xmlns:a16="http://schemas.microsoft.com/office/drawing/2014/main" id="{010E3B76-9BC3-45C5-99E7-C62038A23A56}"/>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DD5410C9-12CD-4F71-A216-7AAA513FC623}"/>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D899C692-DD7D-491F-93B8-FC0908EAE59E}"/>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24</a:t>
            </a:r>
          </a:p>
        </p:txBody>
      </p:sp>
      <p:sp>
        <p:nvSpPr>
          <p:cNvPr id="5" name="">
            <a:extLst xmlns:a="http://schemas.openxmlformats.org/drawingml/2006/main">
              <a:ext uri="{FF2B5EF4-FFF2-40B4-BE49-F238E27FC236}">
                <a16:creationId xmlns:a16="http://schemas.microsoft.com/office/drawing/2014/main" id="{5F95B5FB-0050-43B9-B698-9A615DC9F0A0}"/>
              </a:ext>
            </a:extLst>
          </p:cNvPr>
          <p:cNvSpPr>
            <a:spLocks xmlns:a="http://schemas.openxmlformats.org/drawingml/2006/main" noGrp="1"/>
          </p:cNvSpPr>
          <p:nvPr/>
        </p:nvSpPr>
        <p:spPr>
          <a:xfrm xmlns:a="http://schemas.openxmlformats.org/drawingml/2006/main">
            <a:off x="609600" y="13525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02B33"/>
                </a:solidFill>
                <a:latin typeface="Arial"/>
                <a:ea typeface="Arial"/>
                <a:cs typeface="Arial"/>
              </a:defRPr>
            </a:defPPr>
            <a:lvl1pPr>
              <a:defRPr sz="2100" b="0">
                <a:solidFill>
                  <a:srgbClr val="202B33"/>
                </a:solidFill>
                <a:latin typeface="Arial"/>
                <a:ea typeface="Arial"/>
                <a:cs typeface="Arial"/>
              </a:defRPr>
            </a:lvl1pPr>
            <a:lvl2pPr>
              <a:defRPr sz="2100" b="0">
                <a:solidFill>
                  <a:srgbClr val="202B33"/>
                </a:solidFill>
                <a:latin typeface="Arial"/>
                <a:ea typeface="Arial"/>
                <a:cs typeface="Arial"/>
              </a:defRPr>
            </a:lvl2pPr>
            <a:lvl3pPr>
              <a:defRPr sz="2100" b="0">
                <a:solidFill>
                  <a:srgbClr val="202B33"/>
                </a:solidFill>
                <a:latin typeface="Arial"/>
                <a:ea typeface="Arial"/>
                <a:cs typeface="Arial"/>
              </a:defRPr>
            </a:lvl3pPr>
            <a:lvl4pPr>
              <a:defRPr sz="2100" b="0">
                <a:solidFill>
                  <a:srgbClr val="202B33"/>
                </a:solidFill>
                <a:latin typeface="Arial"/>
                <a:ea typeface="Arial"/>
                <a:cs typeface="Arial"/>
              </a:defRPr>
            </a:lvl4pPr>
            <a:lvl5pPr>
              <a:defRPr sz="2100" b="0">
                <a:solidFill>
                  <a:srgbClr val="202B33"/>
                </a:solidFill>
                <a:latin typeface="Arial"/>
                <a:ea typeface="Arial"/>
                <a:cs typeface="Arial"/>
              </a:defRPr>
            </a:lvl5pPr>
            <a:lvl6pPr>
              <a:defRPr sz="2100" b="0">
                <a:solidFill>
                  <a:srgbClr val="202B33"/>
                </a:solidFill>
                <a:latin typeface="Arial"/>
                <a:ea typeface="Arial"/>
                <a:cs typeface="Arial"/>
              </a:defRPr>
            </a:lvl6pPr>
            <a:lvl7pPr>
              <a:defRPr sz="2100" b="0">
                <a:solidFill>
                  <a:srgbClr val="202B33"/>
                </a:solidFill>
                <a:latin typeface="Arial"/>
                <a:ea typeface="Arial"/>
                <a:cs typeface="Arial"/>
              </a:defRPr>
            </a:lvl7pPr>
            <a:lvl8pPr>
              <a:defRPr sz="2100" b="0">
                <a:solidFill>
                  <a:srgbClr val="202B33"/>
                </a:solidFill>
                <a:latin typeface="Arial"/>
                <a:ea typeface="Arial"/>
                <a:cs typeface="Arial"/>
              </a:defRPr>
            </a:lvl8pPr>
            <a:lvl9pPr>
              <a:defRPr sz="2100" b="0">
                <a:solidFill>
                  <a:srgbClr val="202B33"/>
                </a:solidFill>
                <a:latin typeface="Arial"/>
                <a:ea typeface="Arial"/>
                <a:cs typeface="Arial"/>
              </a:defRPr>
            </a:lvl9pPr>
          </a:lstStyle>
          <a:p xmlns:a="http://schemas.openxmlformats.org/drawingml/2006/main">
            <a:pPr>
              <a:defRPr sz="2100" b="0">
                <a:solidFill>
                  <a:srgbClr val="202B33"/>
                </a:solidFill>
                <a:latin typeface="Arial"/>
                <a:ea typeface="Arial"/>
                <a:cs typeface="Arial"/>
              </a:defRPr>
            </a:pPr>
            <a:r>
              <a:rPr sz="2100" b="0">
                <a:solidFill>
                  <a:srgbClr val="202B33"/>
                </a:solidFill>
                <a:latin typeface="Arial"/>
                <a:ea typeface="Arial"/>
                <a:cs typeface="Arial"/>
              </a:rPr>
              <a:t>Beide Relationen besitzen PersNr und Name.</a:t>
            </a:r>
          </a:p>
        </p:txBody>
      </p:sp>
      <p:sp>
        <p:nvSpPr>
          <p:cNvPr id="6" name="">
            <a:extLst xmlns:a="http://schemas.openxmlformats.org/drawingml/2006/main">
              <a:ext uri="{FF2B5EF4-FFF2-40B4-BE49-F238E27FC236}">
                <a16:creationId xmlns:a16="http://schemas.microsoft.com/office/drawing/2014/main" id="{CEC4F447-F794-4CA3-B496-F422ADA4E624}"/>
              </a:ext>
            </a:extLst>
          </p:cNvPr>
          <p:cNvSpPr>
            <a:spLocks xmlns:a="http://schemas.openxmlformats.org/drawingml/2006/main" noGrp="1"/>
          </p:cNvSpPr>
          <p:nvPr/>
        </p:nvSpPr>
        <p:spPr>
          <a:xfrm xmlns:a="http://schemas.openxmlformats.org/drawingml/2006/main">
            <a:off x="609600" y="20097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B33"/>
                </a:solidFill>
                <a:latin typeface="Arial"/>
                <a:ea typeface="Arial"/>
                <a:cs typeface="Arial"/>
              </a:defRPr>
            </a:defPPr>
            <a:lvl1pPr>
              <a:defRPr sz="2025" b="0">
                <a:solidFill>
                  <a:srgbClr val="202B33"/>
                </a:solidFill>
                <a:latin typeface="Arial"/>
                <a:ea typeface="Arial"/>
                <a:cs typeface="Arial"/>
              </a:defRPr>
            </a:lvl1pPr>
            <a:lvl2pPr>
              <a:defRPr sz="2025" b="0">
                <a:solidFill>
                  <a:srgbClr val="202B33"/>
                </a:solidFill>
                <a:latin typeface="Arial"/>
                <a:ea typeface="Arial"/>
                <a:cs typeface="Arial"/>
              </a:defRPr>
            </a:lvl2pPr>
            <a:lvl3pPr>
              <a:defRPr sz="2025" b="0">
                <a:solidFill>
                  <a:srgbClr val="202B33"/>
                </a:solidFill>
                <a:latin typeface="Arial"/>
                <a:ea typeface="Arial"/>
                <a:cs typeface="Arial"/>
              </a:defRPr>
            </a:lvl3pPr>
            <a:lvl4pPr>
              <a:defRPr sz="2025" b="0">
                <a:solidFill>
                  <a:srgbClr val="202B33"/>
                </a:solidFill>
                <a:latin typeface="Arial"/>
                <a:ea typeface="Arial"/>
                <a:cs typeface="Arial"/>
              </a:defRPr>
            </a:lvl4pPr>
            <a:lvl5pPr>
              <a:defRPr sz="2025" b="0">
                <a:solidFill>
                  <a:srgbClr val="202B33"/>
                </a:solidFill>
                <a:latin typeface="Arial"/>
                <a:ea typeface="Arial"/>
                <a:cs typeface="Arial"/>
              </a:defRPr>
            </a:lvl5pPr>
            <a:lvl6pPr>
              <a:defRPr sz="2025" b="0">
                <a:solidFill>
                  <a:srgbClr val="202B33"/>
                </a:solidFill>
                <a:latin typeface="Arial"/>
                <a:ea typeface="Arial"/>
                <a:cs typeface="Arial"/>
              </a:defRPr>
            </a:lvl6pPr>
            <a:lvl7pPr>
              <a:defRPr sz="2025" b="0">
                <a:solidFill>
                  <a:srgbClr val="202B33"/>
                </a:solidFill>
                <a:latin typeface="Arial"/>
                <a:ea typeface="Arial"/>
                <a:cs typeface="Arial"/>
              </a:defRPr>
            </a:lvl7pPr>
            <a:lvl8pPr>
              <a:defRPr sz="2025" b="0">
                <a:solidFill>
                  <a:srgbClr val="202B33"/>
                </a:solidFill>
                <a:latin typeface="Arial"/>
                <a:ea typeface="Arial"/>
                <a:cs typeface="Arial"/>
              </a:defRPr>
            </a:lvl8pPr>
            <a:lvl9pPr>
              <a:defRPr sz="2025" b="0">
                <a:solidFill>
                  <a:srgbClr val="202B33"/>
                </a:solidFill>
                <a:latin typeface="Arial"/>
                <a:ea typeface="Arial"/>
                <a:cs typeface="Arial"/>
              </a:defRPr>
            </a:lvl9pPr>
          </a:lstStyle>
          <a:p xmlns:a="http://schemas.openxmlformats.org/drawingml/2006/main">
            <a:pPr>
              <a:defRPr sz="2025" b="0">
                <a:solidFill>
                  <a:srgbClr val="202B33"/>
                </a:solidFill>
                <a:latin typeface="Arial"/>
                <a:ea typeface="Arial"/>
                <a:cs typeface="Arial"/>
              </a:defRPr>
            </a:pPr>
            <a:r>
              <a:rPr sz="2025" b="0">
                <a:solidFill>
                  <a:srgbClr val="202B33"/>
                </a:solidFill>
                <a:latin typeface="Arial"/>
                <a:ea typeface="Arial"/>
                <a:cs typeface="Arial"/>
              </a:rPr>
              <a:t>Assistenten(PersNr, Name, Fachgebiet, Boss)</a:t>
            </a:r>
          </a:p>
        </p:txBody>
      </p:sp>
      <p:sp>
        <p:nvSpPr>
          <p:cNvPr id="7" name="">
            <a:extLst xmlns:a="http://schemas.openxmlformats.org/drawingml/2006/main">
              <a:ext uri="{FF2B5EF4-FFF2-40B4-BE49-F238E27FC236}">
                <a16:creationId xmlns:a16="http://schemas.microsoft.com/office/drawing/2014/main" id="{3BAB3AC1-F7E3-4362-B062-F25EFAD848CC}"/>
              </a:ext>
            </a:extLst>
          </p:cNvPr>
          <p:cNvSpPr>
            <a:spLocks xmlns:a="http://schemas.openxmlformats.org/drawingml/2006/main" noGrp="1"/>
          </p:cNvSpPr>
          <p:nvPr/>
        </p:nvSpPr>
        <p:spPr>
          <a:xfrm xmlns:a="http://schemas.openxmlformats.org/drawingml/2006/main">
            <a:off x="609600" y="24955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B33"/>
                </a:solidFill>
                <a:latin typeface="Arial"/>
                <a:ea typeface="Arial"/>
                <a:cs typeface="Arial"/>
              </a:defRPr>
            </a:defPPr>
            <a:lvl1pPr>
              <a:defRPr sz="2025" b="0">
                <a:solidFill>
                  <a:srgbClr val="202B33"/>
                </a:solidFill>
                <a:latin typeface="Arial"/>
                <a:ea typeface="Arial"/>
                <a:cs typeface="Arial"/>
              </a:defRPr>
            </a:lvl1pPr>
            <a:lvl2pPr>
              <a:defRPr sz="2025" b="0">
                <a:solidFill>
                  <a:srgbClr val="202B33"/>
                </a:solidFill>
                <a:latin typeface="Arial"/>
                <a:ea typeface="Arial"/>
                <a:cs typeface="Arial"/>
              </a:defRPr>
            </a:lvl2pPr>
            <a:lvl3pPr>
              <a:defRPr sz="2025" b="0">
                <a:solidFill>
                  <a:srgbClr val="202B33"/>
                </a:solidFill>
                <a:latin typeface="Arial"/>
                <a:ea typeface="Arial"/>
                <a:cs typeface="Arial"/>
              </a:defRPr>
            </a:lvl3pPr>
            <a:lvl4pPr>
              <a:defRPr sz="2025" b="0">
                <a:solidFill>
                  <a:srgbClr val="202B33"/>
                </a:solidFill>
                <a:latin typeface="Arial"/>
                <a:ea typeface="Arial"/>
                <a:cs typeface="Arial"/>
              </a:defRPr>
            </a:lvl4pPr>
            <a:lvl5pPr>
              <a:defRPr sz="2025" b="0">
                <a:solidFill>
                  <a:srgbClr val="202B33"/>
                </a:solidFill>
                <a:latin typeface="Arial"/>
                <a:ea typeface="Arial"/>
                <a:cs typeface="Arial"/>
              </a:defRPr>
            </a:lvl5pPr>
            <a:lvl6pPr>
              <a:defRPr sz="2025" b="0">
                <a:solidFill>
                  <a:srgbClr val="202B33"/>
                </a:solidFill>
                <a:latin typeface="Arial"/>
                <a:ea typeface="Arial"/>
                <a:cs typeface="Arial"/>
              </a:defRPr>
            </a:lvl6pPr>
            <a:lvl7pPr>
              <a:defRPr sz="2025" b="0">
                <a:solidFill>
                  <a:srgbClr val="202B33"/>
                </a:solidFill>
                <a:latin typeface="Arial"/>
                <a:ea typeface="Arial"/>
                <a:cs typeface="Arial"/>
              </a:defRPr>
            </a:lvl7pPr>
            <a:lvl8pPr>
              <a:defRPr sz="2025" b="0">
                <a:solidFill>
                  <a:srgbClr val="202B33"/>
                </a:solidFill>
                <a:latin typeface="Arial"/>
                <a:ea typeface="Arial"/>
                <a:cs typeface="Arial"/>
              </a:defRPr>
            </a:lvl8pPr>
            <a:lvl9pPr>
              <a:defRPr sz="2025" b="0">
                <a:solidFill>
                  <a:srgbClr val="202B33"/>
                </a:solidFill>
                <a:latin typeface="Arial"/>
                <a:ea typeface="Arial"/>
                <a:cs typeface="Arial"/>
              </a:defRPr>
            </a:lvl9pPr>
          </a:lstStyle>
          <a:p xmlns:a="http://schemas.openxmlformats.org/drawingml/2006/main">
            <a:pPr>
              <a:defRPr sz="2025" b="0">
                <a:solidFill>
                  <a:srgbClr val="202B33"/>
                </a:solidFill>
                <a:latin typeface="Arial"/>
                <a:ea typeface="Arial"/>
                <a:cs typeface="Arial"/>
              </a:defRPr>
            </a:pPr>
            <a:r>
              <a:rPr sz="2025" b="0">
                <a:solidFill>
                  <a:srgbClr val="202B33"/>
                </a:solidFill>
                <a:latin typeface="Arial"/>
                <a:ea typeface="Arial"/>
                <a:cs typeface="Arial"/>
              </a:rPr>
              <a:t>Professoren(PersNr, Name, Rang, Raum)</a:t>
            </a:r>
          </a:p>
        </p:txBody>
      </p:sp>
      <p:sp>
        <p:nvSpPr>
          <p:cNvPr id="8" name="">
            <a:extLst xmlns:a="http://schemas.openxmlformats.org/drawingml/2006/main">
              <a:ext uri="{FF2B5EF4-FFF2-40B4-BE49-F238E27FC236}">
                <a16:creationId xmlns:a16="http://schemas.microsoft.com/office/drawing/2014/main" id="{16B0F810-E37F-4AD0-91EF-DC06D5414D5F}"/>
              </a:ext>
            </a:extLst>
          </p:cNvPr>
          <p:cNvSpPr>
            <a:spLocks xmlns:a="http://schemas.openxmlformats.org/drawingml/2006/main" noGrp="1"/>
          </p:cNvSpPr>
          <p:nvPr/>
        </p:nvSpPr>
        <p:spPr>
          <a:xfrm xmlns:a="http://schemas.openxmlformats.org/drawingml/2006/main">
            <a:off x="609600" y="3286125"/>
            <a:ext cx="782126" cy="4872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2325" b="0">
                <a:solidFill>
                  <a:srgbClr val="005293"/>
                </a:solidFill>
                <a:latin typeface="STIX Two Math"/>
                <a:ea typeface="STIX Two Math"/>
                <a:cs typeface="STIX Two Math"/>
              </a:defRPr>
            </a:defPPr>
            <a:lvl1pPr>
              <a:defRPr sz="2325" b="0">
                <a:solidFill>
                  <a:srgbClr val="005293"/>
                </a:solidFill>
                <a:latin typeface="STIX Two Math"/>
                <a:ea typeface="STIX Two Math"/>
                <a:cs typeface="STIX Two Math"/>
              </a:defRPr>
            </a:lvl1pPr>
            <a:lvl2pPr>
              <a:defRPr sz="2325" b="0">
                <a:solidFill>
                  <a:srgbClr val="005293"/>
                </a:solidFill>
                <a:latin typeface="STIX Two Math"/>
                <a:ea typeface="STIX Two Math"/>
                <a:cs typeface="STIX Two Math"/>
              </a:defRPr>
            </a:lvl2pPr>
            <a:lvl3pPr>
              <a:defRPr sz="2325" b="0">
                <a:solidFill>
                  <a:srgbClr val="005293"/>
                </a:solidFill>
                <a:latin typeface="STIX Two Math"/>
                <a:ea typeface="STIX Two Math"/>
                <a:cs typeface="STIX Two Math"/>
              </a:defRPr>
            </a:lvl3pPr>
            <a:lvl4pPr>
              <a:defRPr sz="2325" b="0">
                <a:solidFill>
                  <a:srgbClr val="005293"/>
                </a:solidFill>
                <a:latin typeface="STIX Two Math"/>
                <a:ea typeface="STIX Two Math"/>
                <a:cs typeface="STIX Two Math"/>
              </a:defRPr>
            </a:lvl4pPr>
            <a:lvl5pPr>
              <a:defRPr sz="2325" b="0">
                <a:solidFill>
                  <a:srgbClr val="005293"/>
                </a:solidFill>
                <a:latin typeface="STIX Two Math"/>
                <a:ea typeface="STIX Two Math"/>
                <a:cs typeface="STIX Two Math"/>
              </a:defRPr>
            </a:lvl5pPr>
            <a:lvl6pPr>
              <a:defRPr sz="2325" b="0">
                <a:solidFill>
                  <a:srgbClr val="005293"/>
                </a:solidFill>
                <a:latin typeface="STIX Two Math"/>
                <a:ea typeface="STIX Two Math"/>
                <a:cs typeface="STIX Two Math"/>
              </a:defRPr>
            </a:lvl6pPr>
            <a:lvl7pPr>
              <a:defRPr sz="2325" b="0">
                <a:solidFill>
                  <a:srgbClr val="005293"/>
                </a:solidFill>
                <a:latin typeface="STIX Two Math"/>
                <a:ea typeface="STIX Two Math"/>
                <a:cs typeface="STIX Two Math"/>
              </a:defRPr>
            </a:lvl7pPr>
            <a:lvl8pPr>
              <a:defRPr sz="2325" b="0">
                <a:solidFill>
                  <a:srgbClr val="005293"/>
                </a:solidFill>
                <a:latin typeface="STIX Two Math"/>
                <a:ea typeface="STIX Two Math"/>
                <a:cs typeface="STIX Two Math"/>
              </a:defRPr>
            </a:lvl8pPr>
            <a:lvl9pPr>
              <a:defRPr sz="2325" b="0">
                <a:solidFill>
                  <a:srgbClr val="005293"/>
                </a:solidFill>
                <a:latin typeface="STIX Two Math"/>
                <a:ea typeface="STIX Two Math"/>
                <a:cs typeface="STIX Two Math"/>
              </a:defRPr>
            </a:lvl9pPr>
          </a:lstStyle>
          <a:p xmlns:a="http://schemas.openxmlformats.org/drawingml/2006/main">
            <a:pPr>
              <a:defRPr sz="2325" b="0">
                <a:solidFill>
                  <a:srgbClr val="005293"/>
                </a:solidFill>
                <a:latin typeface="STIX Two Math"/>
                <a:ea typeface="STIX Two Math"/>
                <a:cs typeface="STIX Two Math"/>
              </a:defRPr>
            </a:pPr>
            <a:r>
              <a:rPr sz="2325" b="0">
                <a:solidFill>
                  <a:srgbClr val="005293"/>
                </a:solidFill>
                <a:latin typeface="STIX Two Math"/>
                <a:ea typeface="STIX Two Math"/>
                <a:cs typeface="STIX Two Math"/>
              </a:rPr>
              <a:t>A = ρ</a:t>
            </a:r>
          </a:p>
        </p:txBody>
      </p:sp>
      <p:sp>
        <p:nvSpPr>
          <p:cNvPr id="9" name="">
            <a:extLst xmlns:a="http://schemas.openxmlformats.org/drawingml/2006/main">
              <a:ext uri="{FF2B5EF4-FFF2-40B4-BE49-F238E27FC236}">
                <a16:creationId xmlns:a16="http://schemas.microsoft.com/office/drawing/2014/main" id="{CFDBD6B4-DE47-4ADC-AEBE-1279B4655B11}"/>
              </a:ext>
            </a:extLst>
          </p:cNvPr>
          <p:cNvSpPr>
            <a:spLocks xmlns:a="http://schemas.openxmlformats.org/drawingml/2006/main" noGrp="1"/>
          </p:cNvSpPr>
          <p:nvPr/>
        </p:nvSpPr>
        <p:spPr>
          <a:xfrm xmlns:a="http://schemas.openxmlformats.org/drawingml/2006/main">
            <a:off x="1344101" y="3454432"/>
            <a:ext cx="3077653" cy="3166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1511" b="0">
                <a:solidFill>
                  <a:srgbClr val="005293"/>
                </a:solidFill>
                <a:latin typeface="STIX Two Math"/>
                <a:ea typeface="STIX Two Math"/>
                <a:cs typeface="STIX Two Math"/>
              </a:defRPr>
            </a:defPPr>
            <a:lvl1pPr>
              <a:defRPr sz="1511" b="0">
                <a:solidFill>
                  <a:srgbClr val="005293"/>
                </a:solidFill>
                <a:latin typeface="STIX Two Math"/>
                <a:ea typeface="STIX Two Math"/>
                <a:cs typeface="STIX Two Math"/>
              </a:defRPr>
            </a:lvl1pPr>
            <a:lvl2pPr>
              <a:defRPr sz="1511" b="0">
                <a:solidFill>
                  <a:srgbClr val="005293"/>
                </a:solidFill>
                <a:latin typeface="STIX Two Math"/>
                <a:ea typeface="STIX Two Math"/>
                <a:cs typeface="STIX Two Math"/>
              </a:defRPr>
            </a:lvl2pPr>
            <a:lvl3pPr>
              <a:defRPr sz="1511" b="0">
                <a:solidFill>
                  <a:srgbClr val="005293"/>
                </a:solidFill>
                <a:latin typeface="STIX Two Math"/>
                <a:ea typeface="STIX Two Math"/>
                <a:cs typeface="STIX Two Math"/>
              </a:defRPr>
            </a:lvl3pPr>
            <a:lvl4pPr>
              <a:defRPr sz="1511" b="0">
                <a:solidFill>
                  <a:srgbClr val="005293"/>
                </a:solidFill>
                <a:latin typeface="STIX Two Math"/>
                <a:ea typeface="STIX Two Math"/>
                <a:cs typeface="STIX Two Math"/>
              </a:defRPr>
            </a:lvl4pPr>
            <a:lvl5pPr>
              <a:defRPr sz="1511" b="0">
                <a:solidFill>
                  <a:srgbClr val="005293"/>
                </a:solidFill>
                <a:latin typeface="STIX Two Math"/>
                <a:ea typeface="STIX Two Math"/>
                <a:cs typeface="STIX Two Math"/>
              </a:defRPr>
            </a:lvl5pPr>
            <a:lvl6pPr>
              <a:defRPr sz="1511" b="0">
                <a:solidFill>
                  <a:srgbClr val="005293"/>
                </a:solidFill>
                <a:latin typeface="STIX Two Math"/>
                <a:ea typeface="STIX Two Math"/>
                <a:cs typeface="STIX Two Math"/>
              </a:defRPr>
            </a:lvl6pPr>
            <a:lvl7pPr>
              <a:defRPr sz="1511" b="0">
                <a:solidFill>
                  <a:srgbClr val="005293"/>
                </a:solidFill>
                <a:latin typeface="STIX Two Math"/>
                <a:ea typeface="STIX Two Math"/>
                <a:cs typeface="STIX Two Math"/>
              </a:defRPr>
            </a:lvl7pPr>
            <a:lvl8pPr>
              <a:defRPr sz="1511" b="0">
                <a:solidFill>
                  <a:srgbClr val="005293"/>
                </a:solidFill>
                <a:latin typeface="STIX Two Math"/>
                <a:ea typeface="STIX Two Math"/>
                <a:cs typeface="STIX Two Math"/>
              </a:defRPr>
            </a:lvl8pPr>
            <a:lvl9pPr>
              <a:defRPr sz="1511" b="0">
                <a:solidFill>
                  <a:srgbClr val="005293"/>
                </a:solidFill>
                <a:latin typeface="STIX Two Math"/>
                <a:ea typeface="STIX Two Math"/>
                <a:cs typeface="STIX Two Math"/>
              </a:defRPr>
            </a:lvl9pPr>
          </a:lstStyle>
          <a:p xmlns:a="http://schemas.openxmlformats.org/drawingml/2006/main">
            <a:pPr>
              <a:defRPr sz="1511" b="0">
                <a:solidFill>
                  <a:srgbClr val="005293"/>
                </a:solidFill>
                <a:latin typeface="STIX Two Math"/>
                <a:ea typeface="STIX Two Math"/>
                <a:cs typeface="STIX Two Math"/>
              </a:defRPr>
            </a:pPr>
            <a:r>
              <a:rPr sz="1511" b="0">
                <a:solidFill>
                  <a:srgbClr val="005293"/>
                </a:solidFill>
                <a:latin typeface="STIX Two Math"/>
                <a:ea typeface="STIX Two Math"/>
                <a:cs typeface="STIX Two Math"/>
              </a:rPr>
              <a:t>APersNr ← PersNr, AName ← Name</a:t>
            </a:r>
          </a:p>
        </p:txBody>
      </p:sp>
      <p:sp>
        <p:nvSpPr>
          <p:cNvPr id="10" name="">
            <a:extLst xmlns:a="http://schemas.openxmlformats.org/drawingml/2006/main">
              <a:ext uri="{FF2B5EF4-FFF2-40B4-BE49-F238E27FC236}">
                <a16:creationId xmlns:a16="http://schemas.microsoft.com/office/drawing/2014/main" id="{76F2FA04-3452-448A-815B-1329528D02A9}"/>
              </a:ext>
            </a:extLst>
          </p:cNvPr>
          <p:cNvSpPr>
            <a:spLocks xmlns:a="http://schemas.openxmlformats.org/drawingml/2006/main" noGrp="1"/>
          </p:cNvSpPr>
          <p:nvPr/>
        </p:nvSpPr>
        <p:spPr>
          <a:xfrm xmlns:a="http://schemas.openxmlformats.org/drawingml/2006/main">
            <a:off x="4374130" y="3286125"/>
            <a:ext cx="1723758" cy="4872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2325" b="0">
                <a:solidFill>
                  <a:srgbClr val="005293"/>
                </a:solidFill>
                <a:latin typeface="STIX Two Math"/>
                <a:ea typeface="STIX Two Math"/>
                <a:cs typeface="STIX Two Math"/>
              </a:defRPr>
            </a:defPPr>
            <a:lvl1pPr>
              <a:defRPr sz="2325" b="0">
                <a:solidFill>
                  <a:srgbClr val="005293"/>
                </a:solidFill>
                <a:latin typeface="STIX Two Math"/>
                <a:ea typeface="STIX Two Math"/>
                <a:cs typeface="STIX Two Math"/>
              </a:defRPr>
            </a:lvl1pPr>
            <a:lvl2pPr>
              <a:defRPr sz="2325" b="0">
                <a:solidFill>
                  <a:srgbClr val="005293"/>
                </a:solidFill>
                <a:latin typeface="STIX Two Math"/>
                <a:ea typeface="STIX Two Math"/>
                <a:cs typeface="STIX Two Math"/>
              </a:defRPr>
            </a:lvl2pPr>
            <a:lvl3pPr>
              <a:defRPr sz="2325" b="0">
                <a:solidFill>
                  <a:srgbClr val="005293"/>
                </a:solidFill>
                <a:latin typeface="STIX Two Math"/>
                <a:ea typeface="STIX Two Math"/>
                <a:cs typeface="STIX Two Math"/>
              </a:defRPr>
            </a:lvl3pPr>
            <a:lvl4pPr>
              <a:defRPr sz="2325" b="0">
                <a:solidFill>
                  <a:srgbClr val="005293"/>
                </a:solidFill>
                <a:latin typeface="STIX Two Math"/>
                <a:ea typeface="STIX Two Math"/>
                <a:cs typeface="STIX Two Math"/>
              </a:defRPr>
            </a:lvl4pPr>
            <a:lvl5pPr>
              <a:defRPr sz="2325" b="0">
                <a:solidFill>
                  <a:srgbClr val="005293"/>
                </a:solidFill>
                <a:latin typeface="STIX Two Math"/>
                <a:ea typeface="STIX Two Math"/>
                <a:cs typeface="STIX Two Math"/>
              </a:defRPr>
            </a:lvl5pPr>
            <a:lvl6pPr>
              <a:defRPr sz="2325" b="0">
                <a:solidFill>
                  <a:srgbClr val="005293"/>
                </a:solidFill>
                <a:latin typeface="STIX Two Math"/>
                <a:ea typeface="STIX Two Math"/>
                <a:cs typeface="STIX Two Math"/>
              </a:defRPr>
            </a:lvl6pPr>
            <a:lvl7pPr>
              <a:defRPr sz="2325" b="0">
                <a:solidFill>
                  <a:srgbClr val="005293"/>
                </a:solidFill>
                <a:latin typeface="STIX Two Math"/>
                <a:ea typeface="STIX Two Math"/>
                <a:cs typeface="STIX Two Math"/>
              </a:defRPr>
            </a:lvl7pPr>
            <a:lvl8pPr>
              <a:defRPr sz="2325" b="0">
                <a:solidFill>
                  <a:srgbClr val="005293"/>
                </a:solidFill>
                <a:latin typeface="STIX Two Math"/>
                <a:ea typeface="STIX Two Math"/>
                <a:cs typeface="STIX Two Math"/>
              </a:defRPr>
            </a:lvl8pPr>
            <a:lvl9pPr>
              <a:defRPr sz="2325" b="0">
                <a:solidFill>
                  <a:srgbClr val="005293"/>
                </a:solidFill>
                <a:latin typeface="STIX Two Math"/>
                <a:ea typeface="STIX Two Math"/>
                <a:cs typeface="STIX Two Math"/>
              </a:defRPr>
            </a:lvl9pPr>
          </a:lstStyle>
          <a:p xmlns:a="http://schemas.openxmlformats.org/drawingml/2006/main">
            <a:pPr>
              <a:defRPr sz="2325" b="0">
                <a:solidFill>
                  <a:srgbClr val="005293"/>
                </a:solidFill>
                <a:latin typeface="STIX Two Math"/>
                <a:ea typeface="STIX Two Math"/>
                <a:cs typeface="STIX Two Math"/>
              </a:defRPr>
            </a:pPr>
            <a:r>
              <a:rPr sz="2325" b="0">
                <a:solidFill>
                  <a:srgbClr val="005293"/>
                </a:solidFill>
                <a:latin typeface="STIX Two Math"/>
                <a:ea typeface="STIX Two Math"/>
                <a:cs typeface="STIX Two Math"/>
              </a:rPr>
              <a:t>(Assistenten)</a:t>
            </a:r>
          </a:p>
        </p:txBody>
      </p:sp>
      <p:sp>
        <p:nvSpPr>
          <p:cNvPr id="11" name="">
            <a:extLst xmlns:a="http://schemas.openxmlformats.org/drawingml/2006/main">
              <a:ext uri="{FF2B5EF4-FFF2-40B4-BE49-F238E27FC236}">
                <a16:creationId xmlns:a16="http://schemas.microsoft.com/office/drawing/2014/main" id="{5D6B403D-391B-4819-BEC6-D1479ADD28DF}"/>
              </a:ext>
            </a:extLst>
          </p:cNvPr>
          <p:cNvSpPr>
            <a:spLocks xmlns:a="http://schemas.openxmlformats.org/drawingml/2006/main" noGrp="1"/>
          </p:cNvSpPr>
          <p:nvPr/>
        </p:nvSpPr>
        <p:spPr>
          <a:xfrm xmlns:a="http://schemas.openxmlformats.org/drawingml/2006/main">
            <a:off x="609600" y="4048125"/>
            <a:ext cx="738130" cy="4872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2325" b="0">
                <a:solidFill>
                  <a:srgbClr val="005293"/>
                </a:solidFill>
                <a:latin typeface="STIX Two Math"/>
                <a:ea typeface="STIX Two Math"/>
                <a:cs typeface="STIX Two Math"/>
              </a:defRPr>
            </a:defPPr>
            <a:lvl1pPr>
              <a:defRPr sz="2325" b="0">
                <a:solidFill>
                  <a:srgbClr val="005293"/>
                </a:solidFill>
                <a:latin typeface="STIX Two Math"/>
                <a:ea typeface="STIX Two Math"/>
                <a:cs typeface="STIX Two Math"/>
              </a:defRPr>
            </a:lvl1pPr>
            <a:lvl2pPr>
              <a:defRPr sz="2325" b="0">
                <a:solidFill>
                  <a:srgbClr val="005293"/>
                </a:solidFill>
                <a:latin typeface="STIX Two Math"/>
                <a:ea typeface="STIX Two Math"/>
                <a:cs typeface="STIX Two Math"/>
              </a:defRPr>
            </a:lvl2pPr>
            <a:lvl3pPr>
              <a:defRPr sz="2325" b="0">
                <a:solidFill>
                  <a:srgbClr val="005293"/>
                </a:solidFill>
                <a:latin typeface="STIX Two Math"/>
                <a:ea typeface="STIX Two Math"/>
                <a:cs typeface="STIX Two Math"/>
              </a:defRPr>
            </a:lvl3pPr>
            <a:lvl4pPr>
              <a:defRPr sz="2325" b="0">
                <a:solidFill>
                  <a:srgbClr val="005293"/>
                </a:solidFill>
                <a:latin typeface="STIX Two Math"/>
                <a:ea typeface="STIX Two Math"/>
                <a:cs typeface="STIX Two Math"/>
              </a:defRPr>
            </a:lvl4pPr>
            <a:lvl5pPr>
              <a:defRPr sz="2325" b="0">
                <a:solidFill>
                  <a:srgbClr val="005293"/>
                </a:solidFill>
                <a:latin typeface="STIX Two Math"/>
                <a:ea typeface="STIX Two Math"/>
                <a:cs typeface="STIX Two Math"/>
              </a:defRPr>
            </a:lvl5pPr>
            <a:lvl6pPr>
              <a:defRPr sz="2325" b="0">
                <a:solidFill>
                  <a:srgbClr val="005293"/>
                </a:solidFill>
                <a:latin typeface="STIX Two Math"/>
                <a:ea typeface="STIX Two Math"/>
                <a:cs typeface="STIX Two Math"/>
              </a:defRPr>
            </a:lvl6pPr>
            <a:lvl7pPr>
              <a:defRPr sz="2325" b="0">
                <a:solidFill>
                  <a:srgbClr val="005293"/>
                </a:solidFill>
                <a:latin typeface="STIX Two Math"/>
                <a:ea typeface="STIX Two Math"/>
                <a:cs typeface="STIX Two Math"/>
              </a:defRPr>
            </a:lvl7pPr>
            <a:lvl8pPr>
              <a:defRPr sz="2325" b="0">
                <a:solidFill>
                  <a:srgbClr val="005293"/>
                </a:solidFill>
                <a:latin typeface="STIX Two Math"/>
                <a:ea typeface="STIX Two Math"/>
                <a:cs typeface="STIX Two Math"/>
              </a:defRPr>
            </a:lvl8pPr>
            <a:lvl9pPr>
              <a:defRPr sz="2325" b="0">
                <a:solidFill>
                  <a:srgbClr val="005293"/>
                </a:solidFill>
                <a:latin typeface="STIX Two Math"/>
                <a:ea typeface="STIX Two Math"/>
                <a:cs typeface="STIX Two Math"/>
              </a:defRPr>
            </a:lvl9pPr>
          </a:lstStyle>
          <a:p xmlns:a="http://schemas.openxmlformats.org/drawingml/2006/main">
            <a:pPr>
              <a:defRPr sz="2325" b="0">
                <a:solidFill>
                  <a:srgbClr val="005293"/>
                </a:solidFill>
                <a:latin typeface="STIX Two Math"/>
                <a:ea typeface="STIX Two Math"/>
                <a:cs typeface="STIX Two Math"/>
              </a:defRPr>
            </a:pPr>
            <a:r>
              <a:rPr sz="2325" b="0">
                <a:solidFill>
                  <a:srgbClr val="005293"/>
                </a:solidFill>
                <a:latin typeface="STIX Two Math"/>
                <a:ea typeface="STIX Two Math"/>
                <a:cs typeface="STIX Two Math"/>
              </a:rPr>
              <a:t>P = ρ</a:t>
            </a:r>
          </a:p>
        </p:txBody>
      </p:sp>
      <p:sp>
        <p:nvSpPr>
          <p:cNvPr id="12" name="">
            <a:extLst xmlns:a="http://schemas.openxmlformats.org/drawingml/2006/main">
              <a:ext uri="{FF2B5EF4-FFF2-40B4-BE49-F238E27FC236}">
                <a16:creationId xmlns:a16="http://schemas.microsoft.com/office/drawing/2014/main" id="{E048CD18-9F8D-4D6B-8232-51B8AADA27A8}"/>
              </a:ext>
            </a:extLst>
          </p:cNvPr>
          <p:cNvSpPr>
            <a:spLocks xmlns:a="http://schemas.openxmlformats.org/drawingml/2006/main" noGrp="1"/>
          </p:cNvSpPr>
          <p:nvPr/>
        </p:nvSpPr>
        <p:spPr>
          <a:xfrm xmlns:a="http://schemas.openxmlformats.org/drawingml/2006/main">
            <a:off x="1300105" y="4216432"/>
            <a:ext cx="3020458" cy="3166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1511" b="0">
                <a:solidFill>
                  <a:srgbClr val="005293"/>
                </a:solidFill>
                <a:latin typeface="STIX Two Math"/>
                <a:ea typeface="STIX Two Math"/>
                <a:cs typeface="STIX Two Math"/>
              </a:defRPr>
            </a:defPPr>
            <a:lvl1pPr>
              <a:defRPr sz="1511" b="0">
                <a:solidFill>
                  <a:srgbClr val="005293"/>
                </a:solidFill>
                <a:latin typeface="STIX Two Math"/>
                <a:ea typeface="STIX Two Math"/>
                <a:cs typeface="STIX Two Math"/>
              </a:defRPr>
            </a:lvl1pPr>
            <a:lvl2pPr>
              <a:defRPr sz="1511" b="0">
                <a:solidFill>
                  <a:srgbClr val="005293"/>
                </a:solidFill>
                <a:latin typeface="STIX Two Math"/>
                <a:ea typeface="STIX Two Math"/>
                <a:cs typeface="STIX Two Math"/>
              </a:defRPr>
            </a:lvl2pPr>
            <a:lvl3pPr>
              <a:defRPr sz="1511" b="0">
                <a:solidFill>
                  <a:srgbClr val="005293"/>
                </a:solidFill>
                <a:latin typeface="STIX Two Math"/>
                <a:ea typeface="STIX Two Math"/>
                <a:cs typeface="STIX Two Math"/>
              </a:defRPr>
            </a:lvl3pPr>
            <a:lvl4pPr>
              <a:defRPr sz="1511" b="0">
                <a:solidFill>
                  <a:srgbClr val="005293"/>
                </a:solidFill>
                <a:latin typeface="STIX Two Math"/>
                <a:ea typeface="STIX Two Math"/>
                <a:cs typeface="STIX Two Math"/>
              </a:defRPr>
            </a:lvl4pPr>
            <a:lvl5pPr>
              <a:defRPr sz="1511" b="0">
                <a:solidFill>
                  <a:srgbClr val="005293"/>
                </a:solidFill>
                <a:latin typeface="STIX Two Math"/>
                <a:ea typeface="STIX Two Math"/>
                <a:cs typeface="STIX Two Math"/>
              </a:defRPr>
            </a:lvl5pPr>
            <a:lvl6pPr>
              <a:defRPr sz="1511" b="0">
                <a:solidFill>
                  <a:srgbClr val="005293"/>
                </a:solidFill>
                <a:latin typeface="STIX Two Math"/>
                <a:ea typeface="STIX Two Math"/>
                <a:cs typeface="STIX Two Math"/>
              </a:defRPr>
            </a:lvl6pPr>
            <a:lvl7pPr>
              <a:defRPr sz="1511" b="0">
                <a:solidFill>
                  <a:srgbClr val="005293"/>
                </a:solidFill>
                <a:latin typeface="STIX Two Math"/>
                <a:ea typeface="STIX Two Math"/>
                <a:cs typeface="STIX Two Math"/>
              </a:defRPr>
            </a:lvl7pPr>
            <a:lvl8pPr>
              <a:defRPr sz="1511" b="0">
                <a:solidFill>
                  <a:srgbClr val="005293"/>
                </a:solidFill>
                <a:latin typeface="STIX Two Math"/>
                <a:ea typeface="STIX Two Math"/>
                <a:cs typeface="STIX Two Math"/>
              </a:defRPr>
            </a:lvl8pPr>
            <a:lvl9pPr>
              <a:defRPr sz="1511" b="0">
                <a:solidFill>
                  <a:srgbClr val="005293"/>
                </a:solidFill>
                <a:latin typeface="STIX Two Math"/>
                <a:ea typeface="STIX Two Math"/>
                <a:cs typeface="STIX Two Math"/>
              </a:defRPr>
            </a:lvl9pPr>
          </a:lstStyle>
          <a:p xmlns:a="http://schemas.openxmlformats.org/drawingml/2006/main">
            <a:pPr>
              <a:defRPr sz="1511" b="0">
                <a:solidFill>
                  <a:srgbClr val="005293"/>
                </a:solidFill>
                <a:latin typeface="STIX Two Math"/>
                <a:ea typeface="STIX Two Math"/>
                <a:cs typeface="STIX Two Math"/>
              </a:defRPr>
            </a:pPr>
            <a:r>
              <a:rPr sz="1511" b="0">
                <a:solidFill>
                  <a:srgbClr val="005293"/>
                </a:solidFill>
                <a:latin typeface="STIX Two Math"/>
                <a:ea typeface="STIX Two Math"/>
                <a:cs typeface="STIX Two Math"/>
              </a:rPr>
              <a:t>PPersNr ← PersNr, PName ← Name</a:t>
            </a:r>
          </a:p>
        </p:txBody>
      </p:sp>
      <p:sp>
        <p:nvSpPr>
          <p:cNvPr id="13" name="">
            <a:extLst xmlns:a="http://schemas.openxmlformats.org/drawingml/2006/main">
              <a:ext uri="{FF2B5EF4-FFF2-40B4-BE49-F238E27FC236}">
                <a16:creationId xmlns:a16="http://schemas.microsoft.com/office/drawing/2014/main" id="{D2F7D922-E939-4FB4-825C-7263931D1861}"/>
              </a:ext>
            </a:extLst>
          </p:cNvPr>
          <p:cNvSpPr>
            <a:spLocks xmlns:a="http://schemas.openxmlformats.org/drawingml/2006/main" noGrp="1"/>
          </p:cNvSpPr>
          <p:nvPr/>
        </p:nvSpPr>
        <p:spPr>
          <a:xfrm xmlns:a="http://schemas.openxmlformats.org/drawingml/2006/main">
            <a:off x="4272939" y="4048125"/>
            <a:ext cx="1741475" cy="4872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2325" b="0">
                <a:solidFill>
                  <a:srgbClr val="005293"/>
                </a:solidFill>
                <a:latin typeface="STIX Two Math"/>
                <a:ea typeface="STIX Two Math"/>
                <a:cs typeface="STIX Two Math"/>
              </a:defRPr>
            </a:defPPr>
            <a:lvl1pPr>
              <a:defRPr sz="2325" b="0">
                <a:solidFill>
                  <a:srgbClr val="005293"/>
                </a:solidFill>
                <a:latin typeface="STIX Two Math"/>
                <a:ea typeface="STIX Two Math"/>
                <a:cs typeface="STIX Two Math"/>
              </a:defRPr>
            </a:lvl1pPr>
            <a:lvl2pPr>
              <a:defRPr sz="2325" b="0">
                <a:solidFill>
                  <a:srgbClr val="005293"/>
                </a:solidFill>
                <a:latin typeface="STIX Two Math"/>
                <a:ea typeface="STIX Two Math"/>
                <a:cs typeface="STIX Two Math"/>
              </a:defRPr>
            </a:lvl2pPr>
            <a:lvl3pPr>
              <a:defRPr sz="2325" b="0">
                <a:solidFill>
                  <a:srgbClr val="005293"/>
                </a:solidFill>
                <a:latin typeface="STIX Two Math"/>
                <a:ea typeface="STIX Two Math"/>
                <a:cs typeface="STIX Two Math"/>
              </a:defRPr>
            </a:lvl3pPr>
            <a:lvl4pPr>
              <a:defRPr sz="2325" b="0">
                <a:solidFill>
                  <a:srgbClr val="005293"/>
                </a:solidFill>
                <a:latin typeface="STIX Two Math"/>
                <a:ea typeface="STIX Two Math"/>
                <a:cs typeface="STIX Two Math"/>
              </a:defRPr>
            </a:lvl4pPr>
            <a:lvl5pPr>
              <a:defRPr sz="2325" b="0">
                <a:solidFill>
                  <a:srgbClr val="005293"/>
                </a:solidFill>
                <a:latin typeface="STIX Two Math"/>
                <a:ea typeface="STIX Two Math"/>
                <a:cs typeface="STIX Two Math"/>
              </a:defRPr>
            </a:lvl5pPr>
            <a:lvl6pPr>
              <a:defRPr sz="2325" b="0">
                <a:solidFill>
                  <a:srgbClr val="005293"/>
                </a:solidFill>
                <a:latin typeface="STIX Two Math"/>
                <a:ea typeface="STIX Two Math"/>
                <a:cs typeface="STIX Two Math"/>
              </a:defRPr>
            </a:lvl6pPr>
            <a:lvl7pPr>
              <a:defRPr sz="2325" b="0">
                <a:solidFill>
                  <a:srgbClr val="005293"/>
                </a:solidFill>
                <a:latin typeface="STIX Two Math"/>
                <a:ea typeface="STIX Two Math"/>
                <a:cs typeface="STIX Two Math"/>
              </a:defRPr>
            </a:lvl7pPr>
            <a:lvl8pPr>
              <a:defRPr sz="2325" b="0">
                <a:solidFill>
                  <a:srgbClr val="005293"/>
                </a:solidFill>
                <a:latin typeface="STIX Two Math"/>
                <a:ea typeface="STIX Two Math"/>
                <a:cs typeface="STIX Two Math"/>
              </a:defRPr>
            </a:lvl8pPr>
            <a:lvl9pPr>
              <a:defRPr sz="2325" b="0">
                <a:solidFill>
                  <a:srgbClr val="005293"/>
                </a:solidFill>
                <a:latin typeface="STIX Two Math"/>
                <a:ea typeface="STIX Two Math"/>
                <a:cs typeface="STIX Two Math"/>
              </a:defRPr>
            </a:lvl9pPr>
          </a:lstStyle>
          <a:p xmlns:a="http://schemas.openxmlformats.org/drawingml/2006/main">
            <a:pPr>
              <a:defRPr sz="2325" b="0">
                <a:solidFill>
                  <a:srgbClr val="005293"/>
                </a:solidFill>
                <a:latin typeface="STIX Two Math"/>
                <a:ea typeface="STIX Two Math"/>
                <a:cs typeface="STIX Two Math"/>
              </a:defRPr>
            </a:pPr>
            <a:r>
              <a:rPr sz="2325" b="0">
                <a:solidFill>
                  <a:srgbClr val="005293"/>
                </a:solidFill>
                <a:latin typeface="STIX Two Math"/>
                <a:ea typeface="STIX Two Math"/>
                <a:cs typeface="STIX Two Math"/>
              </a:rPr>
              <a:t>(Professoren)</a:t>
            </a:r>
          </a:p>
        </p:txBody>
      </p:sp>
      <p:sp>
        <p:nvSpPr>
          <p:cNvPr id="14" name="">
            <a:extLst xmlns:a="http://schemas.openxmlformats.org/drawingml/2006/main">
              <a:ext uri="{FF2B5EF4-FFF2-40B4-BE49-F238E27FC236}">
                <a16:creationId xmlns:a16="http://schemas.microsoft.com/office/drawing/2014/main" id="{B01C5294-0174-49B8-85D9-B4F7E9B40893}"/>
              </a:ext>
            </a:extLst>
          </p:cNvPr>
          <p:cNvSpPr>
            <a:spLocks xmlns:a="http://schemas.openxmlformats.org/drawingml/2006/main" noGrp="1"/>
          </p:cNvSpPr>
          <p:nvPr/>
        </p:nvSpPr>
        <p:spPr>
          <a:xfrm xmlns:a="http://schemas.openxmlformats.org/drawingml/2006/main">
            <a:off x="609600" y="5048250"/>
            <a:ext cx="711670" cy="597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2850" b="0">
                <a:solidFill>
                  <a:srgbClr val="005293"/>
                </a:solidFill>
                <a:latin typeface="STIX Two Math"/>
                <a:ea typeface="STIX Two Math"/>
                <a:cs typeface="STIX Two Math"/>
              </a:defRPr>
            </a:defPPr>
            <a:lvl1pPr>
              <a:defRPr sz="2850" b="0">
                <a:solidFill>
                  <a:srgbClr val="005293"/>
                </a:solidFill>
                <a:latin typeface="STIX Two Math"/>
                <a:ea typeface="STIX Two Math"/>
                <a:cs typeface="STIX Two Math"/>
              </a:defRPr>
            </a:lvl1pPr>
            <a:lvl2pPr>
              <a:defRPr sz="2850" b="0">
                <a:solidFill>
                  <a:srgbClr val="005293"/>
                </a:solidFill>
                <a:latin typeface="STIX Two Math"/>
                <a:ea typeface="STIX Two Math"/>
                <a:cs typeface="STIX Two Math"/>
              </a:defRPr>
            </a:lvl2pPr>
            <a:lvl3pPr>
              <a:defRPr sz="2850" b="0">
                <a:solidFill>
                  <a:srgbClr val="005293"/>
                </a:solidFill>
                <a:latin typeface="STIX Two Math"/>
                <a:ea typeface="STIX Two Math"/>
                <a:cs typeface="STIX Two Math"/>
              </a:defRPr>
            </a:lvl3pPr>
            <a:lvl4pPr>
              <a:defRPr sz="2850" b="0">
                <a:solidFill>
                  <a:srgbClr val="005293"/>
                </a:solidFill>
                <a:latin typeface="STIX Two Math"/>
                <a:ea typeface="STIX Two Math"/>
                <a:cs typeface="STIX Two Math"/>
              </a:defRPr>
            </a:lvl4pPr>
            <a:lvl5pPr>
              <a:defRPr sz="2850" b="0">
                <a:solidFill>
                  <a:srgbClr val="005293"/>
                </a:solidFill>
                <a:latin typeface="STIX Two Math"/>
                <a:ea typeface="STIX Two Math"/>
                <a:cs typeface="STIX Two Math"/>
              </a:defRPr>
            </a:lvl5pPr>
            <a:lvl6pPr>
              <a:defRPr sz="2850" b="0">
                <a:solidFill>
                  <a:srgbClr val="005293"/>
                </a:solidFill>
                <a:latin typeface="STIX Two Math"/>
                <a:ea typeface="STIX Two Math"/>
                <a:cs typeface="STIX Two Math"/>
              </a:defRPr>
            </a:lvl6pPr>
            <a:lvl7pPr>
              <a:defRPr sz="2850" b="0">
                <a:solidFill>
                  <a:srgbClr val="005293"/>
                </a:solidFill>
                <a:latin typeface="STIX Two Math"/>
                <a:ea typeface="STIX Two Math"/>
                <a:cs typeface="STIX Two Math"/>
              </a:defRPr>
            </a:lvl7pPr>
            <a:lvl8pPr>
              <a:defRPr sz="2850" b="0">
                <a:solidFill>
                  <a:srgbClr val="005293"/>
                </a:solidFill>
                <a:latin typeface="STIX Two Math"/>
                <a:ea typeface="STIX Two Math"/>
                <a:cs typeface="STIX Two Math"/>
              </a:defRPr>
            </a:lvl8pPr>
            <a:lvl9pPr>
              <a:defRPr sz="2850" b="0">
                <a:solidFill>
                  <a:srgbClr val="005293"/>
                </a:solidFill>
                <a:latin typeface="STIX Two Math"/>
                <a:ea typeface="STIX Two Math"/>
                <a:cs typeface="STIX Two Math"/>
              </a:defRPr>
            </a:lvl9pPr>
          </a:lstStyle>
          <a:p xmlns:a="http://schemas.openxmlformats.org/drawingml/2006/main">
            <a:pPr>
              <a:defRPr sz="2850" b="0">
                <a:solidFill>
                  <a:srgbClr val="005293"/>
                </a:solidFill>
                <a:latin typeface="STIX Two Math"/>
                <a:ea typeface="STIX Two Math"/>
                <a:cs typeface="STIX Two Math"/>
              </a:defRPr>
            </a:pPr>
            <a:r>
              <a:rPr sz="2850" b="0">
                <a:solidFill>
                  <a:srgbClr val="005293"/>
                </a:solidFill>
                <a:latin typeface="STIX Two Math"/>
                <a:ea typeface="STIX Two Math"/>
                <a:cs typeface="STIX Two Math"/>
              </a:rPr>
              <a:t>A ⋈</a:t>
            </a:r>
          </a:p>
        </p:txBody>
      </p:sp>
      <p:sp>
        <p:nvSpPr>
          <p:cNvPr id="15" name="">
            <a:extLst xmlns:a="http://schemas.openxmlformats.org/drawingml/2006/main">
              <a:ext uri="{FF2B5EF4-FFF2-40B4-BE49-F238E27FC236}">
                <a16:creationId xmlns:a16="http://schemas.microsoft.com/office/drawing/2014/main" id="{A833603D-6936-4B7E-A077-7818880671BD}"/>
              </a:ext>
            </a:extLst>
          </p:cNvPr>
          <p:cNvSpPr>
            <a:spLocks xmlns:a="http://schemas.openxmlformats.org/drawingml/2006/main" noGrp="1"/>
          </p:cNvSpPr>
          <p:nvPr/>
        </p:nvSpPr>
        <p:spPr>
          <a:xfrm xmlns:a="http://schemas.openxmlformats.org/drawingml/2006/main">
            <a:off x="1273645" y="5254562"/>
            <a:ext cx="1622028" cy="3881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1852" b="0">
                <a:solidFill>
                  <a:srgbClr val="005293"/>
                </a:solidFill>
                <a:latin typeface="STIX Two Math"/>
                <a:ea typeface="STIX Two Math"/>
                <a:cs typeface="STIX Two Math"/>
              </a:defRPr>
            </a:defPPr>
            <a:lvl1pPr>
              <a:defRPr sz="1852" b="0">
                <a:solidFill>
                  <a:srgbClr val="005293"/>
                </a:solidFill>
                <a:latin typeface="STIX Two Math"/>
                <a:ea typeface="STIX Two Math"/>
                <a:cs typeface="STIX Two Math"/>
              </a:defRPr>
            </a:lvl1pPr>
            <a:lvl2pPr>
              <a:defRPr sz="1852" b="0">
                <a:solidFill>
                  <a:srgbClr val="005293"/>
                </a:solidFill>
                <a:latin typeface="STIX Two Math"/>
                <a:ea typeface="STIX Two Math"/>
                <a:cs typeface="STIX Two Math"/>
              </a:defRPr>
            </a:lvl2pPr>
            <a:lvl3pPr>
              <a:defRPr sz="1852" b="0">
                <a:solidFill>
                  <a:srgbClr val="005293"/>
                </a:solidFill>
                <a:latin typeface="STIX Two Math"/>
                <a:ea typeface="STIX Two Math"/>
                <a:cs typeface="STIX Two Math"/>
              </a:defRPr>
            </a:lvl3pPr>
            <a:lvl4pPr>
              <a:defRPr sz="1852" b="0">
                <a:solidFill>
                  <a:srgbClr val="005293"/>
                </a:solidFill>
                <a:latin typeface="STIX Two Math"/>
                <a:ea typeface="STIX Two Math"/>
                <a:cs typeface="STIX Two Math"/>
              </a:defRPr>
            </a:lvl4pPr>
            <a:lvl5pPr>
              <a:defRPr sz="1852" b="0">
                <a:solidFill>
                  <a:srgbClr val="005293"/>
                </a:solidFill>
                <a:latin typeface="STIX Two Math"/>
                <a:ea typeface="STIX Two Math"/>
                <a:cs typeface="STIX Two Math"/>
              </a:defRPr>
            </a:lvl5pPr>
            <a:lvl6pPr>
              <a:defRPr sz="1852" b="0">
                <a:solidFill>
                  <a:srgbClr val="005293"/>
                </a:solidFill>
                <a:latin typeface="STIX Two Math"/>
                <a:ea typeface="STIX Two Math"/>
                <a:cs typeface="STIX Two Math"/>
              </a:defRPr>
            </a:lvl6pPr>
            <a:lvl7pPr>
              <a:defRPr sz="1852" b="0">
                <a:solidFill>
                  <a:srgbClr val="005293"/>
                </a:solidFill>
                <a:latin typeface="STIX Two Math"/>
                <a:ea typeface="STIX Two Math"/>
                <a:cs typeface="STIX Two Math"/>
              </a:defRPr>
            </a:lvl7pPr>
            <a:lvl8pPr>
              <a:defRPr sz="1852" b="0">
                <a:solidFill>
                  <a:srgbClr val="005293"/>
                </a:solidFill>
                <a:latin typeface="STIX Two Math"/>
                <a:ea typeface="STIX Two Math"/>
                <a:cs typeface="STIX Two Math"/>
              </a:defRPr>
            </a:lvl8pPr>
            <a:lvl9pPr>
              <a:defRPr sz="1852" b="0">
                <a:solidFill>
                  <a:srgbClr val="005293"/>
                </a:solidFill>
                <a:latin typeface="STIX Two Math"/>
                <a:ea typeface="STIX Two Math"/>
                <a:cs typeface="STIX Two Math"/>
              </a:defRPr>
            </a:lvl9pPr>
          </a:lstStyle>
          <a:p xmlns:a="http://schemas.openxmlformats.org/drawingml/2006/main">
            <a:pPr>
              <a:defRPr sz="1852" b="0">
                <a:solidFill>
                  <a:srgbClr val="005293"/>
                </a:solidFill>
                <a:latin typeface="STIX Two Math"/>
                <a:ea typeface="STIX Two Math"/>
                <a:cs typeface="STIX Two Math"/>
              </a:defRPr>
            </a:pPr>
            <a:r>
              <a:rPr sz="1852" b="0">
                <a:solidFill>
                  <a:srgbClr val="005293"/>
                </a:solidFill>
                <a:latin typeface="STIX Two Math"/>
                <a:ea typeface="STIX Two Math"/>
                <a:cs typeface="STIX Two Math"/>
              </a:rPr>
              <a:t>Boss = PPersNr</a:t>
            </a:r>
          </a:p>
        </p:txBody>
      </p:sp>
      <p:sp>
        <p:nvSpPr>
          <p:cNvPr id="16" name="">
            <a:extLst xmlns:a="http://schemas.openxmlformats.org/drawingml/2006/main">
              <a:ext uri="{FF2B5EF4-FFF2-40B4-BE49-F238E27FC236}">
                <a16:creationId xmlns:a16="http://schemas.microsoft.com/office/drawing/2014/main" id="{73ACBEEB-EC9F-4D47-90CF-DE257E81B765}"/>
              </a:ext>
            </a:extLst>
          </p:cNvPr>
          <p:cNvSpPr>
            <a:spLocks xmlns:a="http://schemas.openxmlformats.org/drawingml/2006/main" noGrp="1"/>
          </p:cNvSpPr>
          <p:nvPr/>
        </p:nvSpPr>
        <p:spPr>
          <a:xfrm xmlns:a="http://schemas.openxmlformats.org/drawingml/2006/main">
            <a:off x="2848048" y="5048250"/>
            <a:ext cx="357683" cy="597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2850" b="0">
                <a:solidFill>
                  <a:srgbClr val="005293"/>
                </a:solidFill>
                <a:latin typeface="STIX Two Math"/>
                <a:ea typeface="STIX Two Math"/>
                <a:cs typeface="STIX Two Math"/>
              </a:defRPr>
            </a:defPPr>
            <a:lvl1pPr>
              <a:defRPr sz="2850" b="0">
                <a:solidFill>
                  <a:srgbClr val="005293"/>
                </a:solidFill>
                <a:latin typeface="STIX Two Math"/>
                <a:ea typeface="STIX Two Math"/>
                <a:cs typeface="STIX Two Math"/>
              </a:defRPr>
            </a:lvl1pPr>
            <a:lvl2pPr>
              <a:defRPr sz="2850" b="0">
                <a:solidFill>
                  <a:srgbClr val="005293"/>
                </a:solidFill>
                <a:latin typeface="STIX Two Math"/>
                <a:ea typeface="STIX Two Math"/>
                <a:cs typeface="STIX Two Math"/>
              </a:defRPr>
            </a:lvl2pPr>
            <a:lvl3pPr>
              <a:defRPr sz="2850" b="0">
                <a:solidFill>
                  <a:srgbClr val="005293"/>
                </a:solidFill>
                <a:latin typeface="STIX Two Math"/>
                <a:ea typeface="STIX Two Math"/>
                <a:cs typeface="STIX Two Math"/>
              </a:defRPr>
            </a:lvl3pPr>
            <a:lvl4pPr>
              <a:defRPr sz="2850" b="0">
                <a:solidFill>
                  <a:srgbClr val="005293"/>
                </a:solidFill>
                <a:latin typeface="STIX Two Math"/>
                <a:ea typeface="STIX Two Math"/>
                <a:cs typeface="STIX Two Math"/>
              </a:defRPr>
            </a:lvl4pPr>
            <a:lvl5pPr>
              <a:defRPr sz="2850" b="0">
                <a:solidFill>
                  <a:srgbClr val="005293"/>
                </a:solidFill>
                <a:latin typeface="STIX Two Math"/>
                <a:ea typeface="STIX Two Math"/>
                <a:cs typeface="STIX Two Math"/>
              </a:defRPr>
            </a:lvl5pPr>
            <a:lvl6pPr>
              <a:defRPr sz="2850" b="0">
                <a:solidFill>
                  <a:srgbClr val="005293"/>
                </a:solidFill>
                <a:latin typeface="STIX Two Math"/>
                <a:ea typeface="STIX Two Math"/>
                <a:cs typeface="STIX Two Math"/>
              </a:defRPr>
            </a:lvl6pPr>
            <a:lvl7pPr>
              <a:defRPr sz="2850" b="0">
                <a:solidFill>
                  <a:srgbClr val="005293"/>
                </a:solidFill>
                <a:latin typeface="STIX Two Math"/>
                <a:ea typeface="STIX Two Math"/>
                <a:cs typeface="STIX Two Math"/>
              </a:defRPr>
            </a:lvl7pPr>
            <a:lvl8pPr>
              <a:defRPr sz="2850" b="0">
                <a:solidFill>
                  <a:srgbClr val="005293"/>
                </a:solidFill>
                <a:latin typeface="STIX Two Math"/>
                <a:ea typeface="STIX Two Math"/>
                <a:cs typeface="STIX Two Math"/>
              </a:defRPr>
            </a:lvl8pPr>
            <a:lvl9pPr>
              <a:defRPr sz="2850" b="0">
                <a:solidFill>
                  <a:srgbClr val="005293"/>
                </a:solidFill>
                <a:latin typeface="STIX Two Math"/>
                <a:ea typeface="STIX Two Math"/>
                <a:cs typeface="STIX Two Math"/>
              </a:defRPr>
            </a:lvl9pPr>
          </a:lstStyle>
          <a:p xmlns:a="http://schemas.openxmlformats.org/drawingml/2006/main">
            <a:pPr>
              <a:defRPr sz="2850" b="0">
                <a:solidFill>
                  <a:srgbClr val="005293"/>
                </a:solidFill>
                <a:latin typeface="STIX Two Math"/>
                <a:ea typeface="STIX Two Math"/>
                <a:cs typeface="STIX Two Math"/>
              </a:defRPr>
            </a:pPr>
            <a:r>
              <a:rPr sz="2850" b="0">
                <a:solidFill>
                  <a:srgbClr val="005293"/>
                </a:solidFill>
                <a:latin typeface="STIX Two Math"/>
                <a:ea typeface="STIX Two Math"/>
                <a:cs typeface="STIX Two Math"/>
              </a:rPr>
              <a:t> P</a:t>
            </a:r>
          </a:p>
        </p:txBody>
      </p:sp>
      <p:sp>
        <p:nvSpPr>
          <p:cNvPr id="17" name="">
            <a:extLst xmlns:a="http://schemas.openxmlformats.org/drawingml/2006/main">
              <a:ext uri="{FF2B5EF4-FFF2-40B4-BE49-F238E27FC236}">
                <a16:creationId xmlns:a16="http://schemas.microsoft.com/office/drawing/2014/main" id="{D8858DB2-CADE-4D91-9F3D-46CC460AE832}"/>
              </a:ext>
            </a:extLst>
          </p:cNvPr>
          <p:cNvSpPr>
            <a:spLocks xmlns:a="http://schemas.openxmlformats.org/drawingml/2006/main" noGrp="1"/>
          </p:cNvSpPr>
          <p:nvPr/>
        </p:nvSpPr>
        <p:spPr>
          <a:xfrm xmlns:a="http://schemas.openxmlformats.org/drawingml/2006/main">
            <a:off x="609600" y="5762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5293"/>
                </a:solidFill>
                <a:latin typeface="Arial"/>
                <a:ea typeface="Arial"/>
                <a:cs typeface="Arial"/>
              </a:defRPr>
            </a:defPPr>
            <a:lvl1pPr>
              <a:defRPr sz="2025" b="1">
                <a:solidFill>
                  <a:srgbClr val="005293"/>
                </a:solidFill>
                <a:latin typeface="Arial"/>
                <a:ea typeface="Arial"/>
                <a:cs typeface="Arial"/>
              </a:defRPr>
            </a:lvl1pPr>
            <a:lvl2pPr>
              <a:defRPr sz="2025" b="1">
                <a:solidFill>
                  <a:srgbClr val="005293"/>
                </a:solidFill>
                <a:latin typeface="Arial"/>
                <a:ea typeface="Arial"/>
                <a:cs typeface="Arial"/>
              </a:defRPr>
            </a:lvl2pPr>
            <a:lvl3pPr>
              <a:defRPr sz="2025" b="1">
                <a:solidFill>
                  <a:srgbClr val="005293"/>
                </a:solidFill>
                <a:latin typeface="Arial"/>
                <a:ea typeface="Arial"/>
                <a:cs typeface="Arial"/>
              </a:defRPr>
            </a:lvl3pPr>
            <a:lvl4pPr>
              <a:defRPr sz="2025" b="1">
                <a:solidFill>
                  <a:srgbClr val="005293"/>
                </a:solidFill>
                <a:latin typeface="Arial"/>
                <a:ea typeface="Arial"/>
                <a:cs typeface="Arial"/>
              </a:defRPr>
            </a:lvl4pPr>
            <a:lvl5pPr>
              <a:defRPr sz="2025" b="1">
                <a:solidFill>
                  <a:srgbClr val="005293"/>
                </a:solidFill>
                <a:latin typeface="Arial"/>
                <a:ea typeface="Arial"/>
                <a:cs typeface="Arial"/>
              </a:defRPr>
            </a:lvl5pPr>
            <a:lvl6pPr>
              <a:defRPr sz="2025" b="1">
                <a:solidFill>
                  <a:srgbClr val="005293"/>
                </a:solidFill>
                <a:latin typeface="Arial"/>
                <a:ea typeface="Arial"/>
                <a:cs typeface="Arial"/>
              </a:defRPr>
            </a:lvl6pPr>
            <a:lvl7pPr>
              <a:defRPr sz="2025" b="1">
                <a:solidFill>
                  <a:srgbClr val="005293"/>
                </a:solidFill>
                <a:latin typeface="Arial"/>
                <a:ea typeface="Arial"/>
                <a:cs typeface="Arial"/>
              </a:defRPr>
            </a:lvl7pPr>
            <a:lvl8pPr>
              <a:defRPr sz="2025" b="1">
                <a:solidFill>
                  <a:srgbClr val="005293"/>
                </a:solidFill>
                <a:latin typeface="Arial"/>
                <a:ea typeface="Arial"/>
                <a:cs typeface="Arial"/>
              </a:defRPr>
            </a:lvl8pPr>
            <a:lvl9pPr>
              <a:defRPr sz="2025" b="1">
                <a:solidFill>
                  <a:srgbClr val="005293"/>
                </a:solidFill>
                <a:latin typeface="Arial"/>
                <a:ea typeface="Arial"/>
                <a:cs typeface="Arial"/>
              </a:defRPr>
            </a:lvl9pPr>
          </a:lstStyle>
          <a:p xmlns:a="http://schemas.openxmlformats.org/drawingml/2006/main">
            <a:pPr>
              <a:defRPr sz="2025" b="1">
                <a:solidFill>
                  <a:srgbClr val="005293"/>
                </a:solidFill>
                <a:latin typeface="Arial"/>
                <a:ea typeface="Arial"/>
                <a:cs typeface="Arial"/>
              </a:defRPr>
            </a:pPr>
            <a:r>
              <a:rPr sz="2025" b="1">
                <a:solidFill>
                  <a:srgbClr val="005293"/>
                </a:solidFill>
                <a:latin typeface="Arial"/>
                <a:ea typeface="Arial"/>
                <a:cs typeface="Arial"/>
              </a:rPr>
              <a:t>Der Join verbindet jeden Assistenten mit seinem Professor.</a:t>
            </a:r>
          </a:p>
        </p:txBody>
      </p:sp>
    </p:spTree>
    <p:extLst>
      <p:ext uri="{BB962C8B-B14F-4D97-AF65-F5344CB8AC3E}">
        <p14:creationId xmlns:p14="http://schemas.microsoft.com/office/powerpoint/2010/main" val="201996309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EFA7B99-92C1-409C-9E59-C51D84FFA46C}"/>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Theta-Join</a:t>
            </a:r>
          </a:p>
        </p:txBody>
      </p:sp>
      <p:sp>
        <p:nvSpPr>
          <p:cNvPr id="2" name="">
            <a:extLst xmlns:a="http://schemas.openxmlformats.org/drawingml/2006/main">
              <a:ext uri="{FF2B5EF4-FFF2-40B4-BE49-F238E27FC236}">
                <a16:creationId xmlns:a16="http://schemas.microsoft.com/office/drawing/2014/main" id="{9A1CD8FE-3085-4899-9009-7783B12EC685}"/>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46255797-AE92-42EA-BB8D-A5CAB6E1FDA1}"/>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9BB47B26-634F-4712-BB7F-C7632FB6C614}"/>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22, 25</a:t>
            </a:r>
          </a:p>
        </p:txBody>
      </p:sp>
      <p:sp>
        <p:nvSpPr>
          <p:cNvPr id="5" name="">
            <a:extLst xmlns:a="http://schemas.openxmlformats.org/drawingml/2006/main">
              <a:ext uri="{FF2B5EF4-FFF2-40B4-BE49-F238E27FC236}">
                <a16:creationId xmlns:a16="http://schemas.microsoft.com/office/drawing/2014/main" id="{203E7F1C-E93C-4D1A-9D2E-F976C54441BE}"/>
              </a:ext>
            </a:extLst>
          </p:cNvPr>
          <p:cNvSpPr>
            <a:spLocks xmlns:a="http://schemas.openxmlformats.org/drawingml/2006/main" noGrp="1"/>
          </p:cNvSpPr>
          <p:nvPr/>
        </p:nvSpPr>
        <p:spPr>
          <a:xfrm xmlns:a="http://schemas.openxmlformats.org/drawingml/2006/main">
            <a:off x="609600" y="1428750"/>
            <a:ext cx="723138"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3000" b="0">
                <a:solidFill>
                  <a:srgbClr val="005293"/>
                </a:solidFill>
                <a:latin typeface="STIX Two Math"/>
                <a:ea typeface="STIX Two Math"/>
                <a:cs typeface="STIX Two Math"/>
              </a:defRPr>
            </a:defPPr>
            <a:lvl1pPr>
              <a:defRPr sz="3000" b="0">
                <a:solidFill>
                  <a:srgbClr val="005293"/>
                </a:solidFill>
                <a:latin typeface="STIX Two Math"/>
                <a:ea typeface="STIX Two Math"/>
                <a:cs typeface="STIX Two Math"/>
              </a:defRPr>
            </a:lvl1pPr>
            <a:lvl2pPr>
              <a:defRPr sz="3000" b="0">
                <a:solidFill>
                  <a:srgbClr val="005293"/>
                </a:solidFill>
                <a:latin typeface="STIX Two Math"/>
                <a:ea typeface="STIX Two Math"/>
                <a:cs typeface="STIX Two Math"/>
              </a:defRPr>
            </a:lvl2pPr>
            <a:lvl3pPr>
              <a:defRPr sz="3000" b="0">
                <a:solidFill>
                  <a:srgbClr val="005293"/>
                </a:solidFill>
                <a:latin typeface="STIX Two Math"/>
                <a:ea typeface="STIX Two Math"/>
                <a:cs typeface="STIX Two Math"/>
              </a:defRPr>
            </a:lvl3pPr>
            <a:lvl4pPr>
              <a:defRPr sz="3000" b="0">
                <a:solidFill>
                  <a:srgbClr val="005293"/>
                </a:solidFill>
                <a:latin typeface="STIX Two Math"/>
                <a:ea typeface="STIX Two Math"/>
                <a:cs typeface="STIX Two Math"/>
              </a:defRPr>
            </a:lvl4pPr>
            <a:lvl5pPr>
              <a:defRPr sz="3000" b="0">
                <a:solidFill>
                  <a:srgbClr val="005293"/>
                </a:solidFill>
                <a:latin typeface="STIX Two Math"/>
                <a:ea typeface="STIX Two Math"/>
                <a:cs typeface="STIX Two Math"/>
              </a:defRPr>
            </a:lvl5pPr>
            <a:lvl6pPr>
              <a:defRPr sz="3000" b="0">
                <a:solidFill>
                  <a:srgbClr val="005293"/>
                </a:solidFill>
                <a:latin typeface="STIX Two Math"/>
                <a:ea typeface="STIX Two Math"/>
                <a:cs typeface="STIX Two Math"/>
              </a:defRPr>
            </a:lvl6pPr>
            <a:lvl7pPr>
              <a:defRPr sz="3000" b="0">
                <a:solidFill>
                  <a:srgbClr val="005293"/>
                </a:solidFill>
                <a:latin typeface="STIX Two Math"/>
                <a:ea typeface="STIX Two Math"/>
                <a:cs typeface="STIX Two Math"/>
              </a:defRPr>
            </a:lvl7pPr>
            <a:lvl8pPr>
              <a:defRPr sz="3000" b="0">
                <a:solidFill>
                  <a:srgbClr val="005293"/>
                </a:solidFill>
                <a:latin typeface="STIX Two Math"/>
                <a:ea typeface="STIX Two Math"/>
                <a:cs typeface="STIX Two Math"/>
              </a:defRPr>
            </a:lvl8pPr>
            <a:lvl9pPr>
              <a:defRPr sz="3000" b="0">
                <a:solidFill>
                  <a:srgbClr val="005293"/>
                </a:solidFill>
                <a:latin typeface="STIX Two Math"/>
                <a:ea typeface="STIX Two Math"/>
                <a:cs typeface="STIX Two Math"/>
              </a:defRPr>
            </a:lvl9pPr>
          </a:lstStyle>
          <a:p xmlns:a="http://schemas.openxmlformats.org/drawingml/2006/main">
            <a:pPr>
              <a:defRPr sz="3000" b="0">
                <a:solidFill>
                  <a:srgbClr val="005293"/>
                </a:solidFill>
                <a:latin typeface="STIX Two Math"/>
                <a:ea typeface="STIX Two Math"/>
                <a:cs typeface="STIX Two Math"/>
              </a:defRPr>
            </a:pPr>
            <a:r>
              <a:rPr sz="3000" b="0">
                <a:solidFill>
                  <a:srgbClr val="005293"/>
                </a:solidFill>
                <a:latin typeface="STIX Two Math"/>
                <a:ea typeface="STIX Two Math"/>
                <a:cs typeface="STIX Two Math"/>
              </a:rPr>
              <a:t>R ⋈</a:t>
            </a:r>
          </a:p>
        </p:txBody>
      </p:sp>
      <p:sp>
        <p:nvSpPr>
          <p:cNvPr id="6" name="">
            <a:extLst xmlns:a="http://schemas.openxmlformats.org/drawingml/2006/main">
              <a:ext uri="{FF2B5EF4-FFF2-40B4-BE49-F238E27FC236}">
                <a16:creationId xmlns:a16="http://schemas.microsoft.com/office/drawing/2014/main" id="{FAC06478-C3A0-446C-ACDD-BFAF0F894F3D}"/>
              </a:ext>
            </a:extLst>
          </p:cNvPr>
          <p:cNvSpPr>
            <a:spLocks xmlns:a="http://schemas.openxmlformats.org/drawingml/2006/main" noGrp="1"/>
          </p:cNvSpPr>
          <p:nvPr/>
        </p:nvSpPr>
        <p:spPr>
          <a:xfrm xmlns:a="http://schemas.openxmlformats.org/drawingml/2006/main">
            <a:off x="1285113" y="1645920"/>
            <a:ext cx="199663" cy="4086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1950" b="0">
                <a:solidFill>
                  <a:srgbClr val="005293"/>
                </a:solidFill>
                <a:latin typeface="STIX Two Math"/>
                <a:ea typeface="STIX Two Math"/>
                <a:cs typeface="STIX Two Math"/>
              </a:defRPr>
            </a:defPPr>
            <a:lvl1pPr>
              <a:defRPr sz="1950" b="0">
                <a:solidFill>
                  <a:srgbClr val="005293"/>
                </a:solidFill>
                <a:latin typeface="STIX Two Math"/>
                <a:ea typeface="STIX Two Math"/>
                <a:cs typeface="STIX Two Math"/>
              </a:defRPr>
            </a:lvl1pPr>
            <a:lvl2pPr>
              <a:defRPr sz="1950" b="0">
                <a:solidFill>
                  <a:srgbClr val="005293"/>
                </a:solidFill>
                <a:latin typeface="STIX Two Math"/>
                <a:ea typeface="STIX Two Math"/>
                <a:cs typeface="STIX Two Math"/>
              </a:defRPr>
            </a:lvl2pPr>
            <a:lvl3pPr>
              <a:defRPr sz="1950" b="0">
                <a:solidFill>
                  <a:srgbClr val="005293"/>
                </a:solidFill>
                <a:latin typeface="STIX Two Math"/>
                <a:ea typeface="STIX Two Math"/>
                <a:cs typeface="STIX Two Math"/>
              </a:defRPr>
            </a:lvl3pPr>
            <a:lvl4pPr>
              <a:defRPr sz="1950" b="0">
                <a:solidFill>
                  <a:srgbClr val="005293"/>
                </a:solidFill>
                <a:latin typeface="STIX Two Math"/>
                <a:ea typeface="STIX Two Math"/>
                <a:cs typeface="STIX Two Math"/>
              </a:defRPr>
            </a:lvl4pPr>
            <a:lvl5pPr>
              <a:defRPr sz="1950" b="0">
                <a:solidFill>
                  <a:srgbClr val="005293"/>
                </a:solidFill>
                <a:latin typeface="STIX Two Math"/>
                <a:ea typeface="STIX Two Math"/>
                <a:cs typeface="STIX Two Math"/>
              </a:defRPr>
            </a:lvl5pPr>
            <a:lvl6pPr>
              <a:defRPr sz="1950" b="0">
                <a:solidFill>
                  <a:srgbClr val="005293"/>
                </a:solidFill>
                <a:latin typeface="STIX Two Math"/>
                <a:ea typeface="STIX Two Math"/>
                <a:cs typeface="STIX Two Math"/>
              </a:defRPr>
            </a:lvl6pPr>
            <a:lvl7pPr>
              <a:defRPr sz="1950" b="0">
                <a:solidFill>
                  <a:srgbClr val="005293"/>
                </a:solidFill>
                <a:latin typeface="STIX Two Math"/>
                <a:ea typeface="STIX Two Math"/>
                <a:cs typeface="STIX Two Math"/>
              </a:defRPr>
            </a:lvl7pPr>
            <a:lvl8pPr>
              <a:defRPr sz="1950" b="0">
                <a:solidFill>
                  <a:srgbClr val="005293"/>
                </a:solidFill>
                <a:latin typeface="STIX Two Math"/>
                <a:ea typeface="STIX Two Math"/>
                <a:cs typeface="STIX Two Math"/>
              </a:defRPr>
            </a:lvl8pPr>
            <a:lvl9pPr>
              <a:defRPr sz="1950" b="0">
                <a:solidFill>
                  <a:srgbClr val="005293"/>
                </a:solidFill>
                <a:latin typeface="STIX Two Math"/>
                <a:ea typeface="STIX Two Math"/>
                <a:cs typeface="STIX Two Math"/>
              </a:defRPr>
            </a:lvl9pPr>
          </a:lstStyle>
          <a:p xmlns:a="http://schemas.openxmlformats.org/drawingml/2006/main">
            <a:pPr>
              <a:defRPr sz="1950" b="0">
                <a:solidFill>
                  <a:srgbClr val="005293"/>
                </a:solidFill>
                <a:latin typeface="STIX Two Math"/>
                <a:ea typeface="STIX Two Math"/>
                <a:cs typeface="STIX Two Math"/>
              </a:defRPr>
            </a:pPr>
            <a:r>
              <a:rPr sz="1950" b="0">
                <a:solidFill>
                  <a:srgbClr val="005293"/>
                </a:solidFill>
                <a:latin typeface="STIX Two Math"/>
                <a:ea typeface="STIX Two Math"/>
                <a:cs typeface="STIX Two Math"/>
              </a:rPr>
              <a:t>p</a:t>
            </a:r>
          </a:p>
        </p:txBody>
      </p:sp>
      <p:sp>
        <p:nvSpPr>
          <p:cNvPr id="7" name="">
            <a:extLst xmlns:a="http://schemas.openxmlformats.org/drawingml/2006/main">
              <a:ext uri="{FF2B5EF4-FFF2-40B4-BE49-F238E27FC236}">
                <a16:creationId xmlns:a16="http://schemas.microsoft.com/office/drawing/2014/main" id="{92F8526D-85AA-4F8A-8906-C5D9E3FFC316}"/>
              </a:ext>
            </a:extLst>
          </p:cNvPr>
          <p:cNvSpPr>
            <a:spLocks xmlns:a="http://schemas.openxmlformats.org/drawingml/2006/main" noGrp="1"/>
          </p:cNvSpPr>
          <p:nvPr/>
        </p:nvSpPr>
        <p:spPr>
          <a:xfrm xmlns:a="http://schemas.openxmlformats.org/drawingml/2006/main">
            <a:off x="1437151" y="1428750"/>
            <a:ext cx="100926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3000" b="0">
                <a:solidFill>
                  <a:srgbClr val="005293"/>
                </a:solidFill>
                <a:latin typeface="STIX Two Math"/>
                <a:ea typeface="STIX Two Math"/>
                <a:cs typeface="STIX Two Math"/>
              </a:defRPr>
            </a:defPPr>
            <a:lvl1pPr>
              <a:defRPr sz="3000" b="0">
                <a:solidFill>
                  <a:srgbClr val="005293"/>
                </a:solidFill>
                <a:latin typeface="STIX Two Math"/>
                <a:ea typeface="STIX Two Math"/>
                <a:cs typeface="STIX Two Math"/>
              </a:defRPr>
            </a:lvl1pPr>
            <a:lvl2pPr>
              <a:defRPr sz="3000" b="0">
                <a:solidFill>
                  <a:srgbClr val="005293"/>
                </a:solidFill>
                <a:latin typeface="STIX Two Math"/>
                <a:ea typeface="STIX Two Math"/>
                <a:cs typeface="STIX Two Math"/>
              </a:defRPr>
            </a:lvl2pPr>
            <a:lvl3pPr>
              <a:defRPr sz="3000" b="0">
                <a:solidFill>
                  <a:srgbClr val="005293"/>
                </a:solidFill>
                <a:latin typeface="STIX Two Math"/>
                <a:ea typeface="STIX Two Math"/>
                <a:cs typeface="STIX Two Math"/>
              </a:defRPr>
            </a:lvl3pPr>
            <a:lvl4pPr>
              <a:defRPr sz="3000" b="0">
                <a:solidFill>
                  <a:srgbClr val="005293"/>
                </a:solidFill>
                <a:latin typeface="STIX Two Math"/>
                <a:ea typeface="STIX Two Math"/>
                <a:cs typeface="STIX Two Math"/>
              </a:defRPr>
            </a:lvl4pPr>
            <a:lvl5pPr>
              <a:defRPr sz="3000" b="0">
                <a:solidFill>
                  <a:srgbClr val="005293"/>
                </a:solidFill>
                <a:latin typeface="STIX Two Math"/>
                <a:ea typeface="STIX Two Math"/>
                <a:cs typeface="STIX Two Math"/>
              </a:defRPr>
            </a:lvl5pPr>
            <a:lvl6pPr>
              <a:defRPr sz="3000" b="0">
                <a:solidFill>
                  <a:srgbClr val="005293"/>
                </a:solidFill>
                <a:latin typeface="STIX Two Math"/>
                <a:ea typeface="STIX Two Math"/>
                <a:cs typeface="STIX Two Math"/>
              </a:defRPr>
            </a:lvl6pPr>
            <a:lvl7pPr>
              <a:defRPr sz="3000" b="0">
                <a:solidFill>
                  <a:srgbClr val="005293"/>
                </a:solidFill>
                <a:latin typeface="STIX Two Math"/>
                <a:ea typeface="STIX Two Math"/>
                <a:cs typeface="STIX Two Math"/>
              </a:defRPr>
            </a:lvl7pPr>
            <a:lvl8pPr>
              <a:defRPr sz="3000" b="0">
                <a:solidFill>
                  <a:srgbClr val="005293"/>
                </a:solidFill>
                <a:latin typeface="STIX Two Math"/>
                <a:ea typeface="STIX Two Math"/>
                <a:cs typeface="STIX Two Math"/>
              </a:defRPr>
            </a:lvl8pPr>
            <a:lvl9pPr>
              <a:defRPr sz="3000" b="0">
                <a:solidFill>
                  <a:srgbClr val="005293"/>
                </a:solidFill>
                <a:latin typeface="STIX Two Math"/>
                <a:ea typeface="STIX Two Math"/>
                <a:cs typeface="STIX Two Math"/>
              </a:defRPr>
            </a:lvl9pPr>
          </a:lstStyle>
          <a:p xmlns:a="http://schemas.openxmlformats.org/drawingml/2006/main">
            <a:pPr>
              <a:defRPr sz="3000" b="0">
                <a:solidFill>
                  <a:srgbClr val="005293"/>
                </a:solidFill>
                <a:latin typeface="STIX Two Math"/>
                <a:ea typeface="STIX Two Math"/>
                <a:cs typeface="STIX Two Math"/>
              </a:defRPr>
            </a:pPr>
            <a:r>
              <a:rPr sz="3000" b="0">
                <a:solidFill>
                  <a:srgbClr val="005293"/>
                </a:solidFill>
                <a:latin typeface="STIX Two Math"/>
                <a:ea typeface="STIX Two Math"/>
                <a:cs typeface="STIX Two Math"/>
              </a:rPr>
              <a:t> S = σ</a:t>
            </a:r>
          </a:p>
        </p:txBody>
      </p:sp>
      <p:sp>
        <p:nvSpPr>
          <p:cNvPr id="8" name="">
            <a:extLst xmlns:a="http://schemas.openxmlformats.org/drawingml/2006/main">
              <a:ext uri="{FF2B5EF4-FFF2-40B4-BE49-F238E27FC236}">
                <a16:creationId xmlns:a16="http://schemas.microsoft.com/office/drawing/2014/main" id="{7941A68F-0303-4218-9CC6-A8B36E054ABB}"/>
              </a:ext>
            </a:extLst>
          </p:cNvPr>
          <p:cNvSpPr>
            <a:spLocks xmlns:a="http://schemas.openxmlformats.org/drawingml/2006/main" noGrp="1"/>
          </p:cNvSpPr>
          <p:nvPr/>
        </p:nvSpPr>
        <p:spPr>
          <a:xfrm xmlns:a="http://schemas.openxmlformats.org/drawingml/2006/main">
            <a:off x="2398795" y="1645920"/>
            <a:ext cx="199663" cy="4086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1950" b="0">
                <a:solidFill>
                  <a:srgbClr val="005293"/>
                </a:solidFill>
                <a:latin typeface="STIX Two Math"/>
                <a:ea typeface="STIX Two Math"/>
                <a:cs typeface="STIX Two Math"/>
              </a:defRPr>
            </a:defPPr>
            <a:lvl1pPr>
              <a:defRPr sz="1950" b="0">
                <a:solidFill>
                  <a:srgbClr val="005293"/>
                </a:solidFill>
                <a:latin typeface="STIX Two Math"/>
                <a:ea typeface="STIX Two Math"/>
                <a:cs typeface="STIX Two Math"/>
              </a:defRPr>
            </a:lvl1pPr>
            <a:lvl2pPr>
              <a:defRPr sz="1950" b="0">
                <a:solidFill>
                  <a:srgbClr val="005293"/>
                </a:solidFill>
                <a:latin typeface="STIX Two Math"/>
                <a:ea typeface="STIX Two Math"/>
                <a:cs typeface="STIX Two Math"/>
              </a:defRPr>
            </a:lvl2pPr>
            <a:lvl3pPr>
              <a:defRPr sz="1950" b="0">
                <a:solidFill>
                  <a:srgbClr val="005293"/>
                </a:solidFill>
                <a:latin typeface="STIX Two Math"/>
                <a:ea typeface="STIX Two Math"/>
                <a:cs typeface="STIX Two Math"/>
              </a:defRPr>
            </a:lvl3pPr>
            <a:lvl4pPr>
              <a:defRPr sz="1950" b="0">
                <a:solidFill>
                  <a:srgbClr val="005293"/>
                </a:solidFill>
                <a:latin typeface="STIX Two Math"/>
                <a:ea typeface="STIX Two Math"/>
                <a:cs typeface="STIX Two Math"/>
              </a:defRPr>
            </a:lvl4pPr>
            <a:lvl5pPr>
              <a:defRPr sz="1950" b="0">
                <a:solidFill>
                  <a:srgbClr val="005293"/>
                </a:solidFill>
                <a:latin typeface="STIX Two Math"/>
                <a:ea typeface="STIX Two Math"/>
                <a:cs typeface="STIX Two Math"/>
              </a:defRPr>
            </a:lvl5pPr>
            <a:lvl6pPr>
              <a:defRPr sz="1950" b="0">
                <a:solidFill>
                  <a:srgbClr val="005293"/>
                </a:solidFill>
                <a:latin typeface="STIX Two Math"/>
                <a:ea typeface="STIX Two Math"/>
                <a:cs typeface="STIX Two Math"/>
              </a:defRPr>
            </a:lvl6pPr>
            <a:lvl7pPr>
              <a:defRPr sz="1950" b="0">
                <a:solidFill>
                  <a:srgbClr val="005293"/>
                </a:solidFill>
                <a:latin typeface="STIX Two Math"/>
                <a:ea typeface="STIX Two Math"/>
                <a:cs typeface="STIX Two Math"/>
              </a:defRPr>
            </a:lvl7pPr>
            <a:lvl8pPr>
              <a:defRPr sz="1950" b="0">
                <a:solidFill>
                  <a:srgbClr val="005293"/>
                </a:solidFill>
                <a:latin typeface="STIX Two Math"/>
                <a:ea typeface="STIX Two Math"/>
                <a:cs typeface="STIX Two Math"/>
              </a:defRPr>
            </a:lvl8pPr>
            <a:lvl9pPr>
              <a:defRPr sz="1950" b="0">
                <a:solidFill>
                  <a:srgbClr val="005293"/>
                </a:solidFill>
                <a:latin typeface="STIX Two Math"/>
                <a:ea typeface="STIX Two Math"/>
                <a:cs typeface="STIX Two Math"/>
              </a:defRPr>
            </a:lvl9pPr>
          </a:lstStyle>
          <a:p xmlns:a="http://schemas.openxmlformats.org/drawingml/2006/main">
            <a:pPr>
              <a:defRPr sz="1950" b="0">
                <a:solidFill>
                  <a:srgbClr val="005293"/>
                </a:solidFill>
                <a:latin typeface="STIX Two Math"/>
                <a:ea typeface="STIX Two Math"/>
                <a:cs typeface="STIX Two Math"/>
              </a:defRPr>
            </a:pPr>
            <a:r>
              <a:rPr sz="1950" b="0">
                <a:solidFill>
                  <a:srgbClr val="005293"/>
                </a:solidFill>
                <a:latin typeface="STIX Two Math"/>
                <a:ea typeface="STIX Two Math"/>
                <a:cs typeface="STIX Two Math"/>
              </a:rPr>
              <a:t>p</a:t>
            </a:r>
          </a:p>
        </p:txBody>
      </p:sp>
      <p:sp>
        <p:nvSpPr>
          <p:cNvPr id="9" name="">
            <a:extLst xmlns:a="http://schemas.openxmlformats.org/drawingml/2006/main">
              <a:ext uri="{FF2B5EF4-FFF2-40B4-BE49-F238E27FC236}">
                <a16:creationId xmlns:a16="http://schemas.microsoft.com/office/drawing/2014/main" id="{8FD58D3A-A45B-4A5B-896E-2E3A139FA993}"/>
              </a:ext>
            </a:extLst>
          </p:cNvPr>
          <p:cNvSpPr>
            <a:spLocks xmlns:a="http://schemas.openxmlformats.org/drawingml/2006/main" noGrp="1"/>
          </p:cNvSpPr>
          <p:nvPr/>
        </p:nvSpPr>
        <p:spPr>
          <a:xfrm xmlns:a="http://schemas.openxmlformats.org/drawingml/2006/main">
            <a:off x="2550833" y="1428750"/>
            <a:ext cx="1235202"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3000" b="0">
                <a:solidFill>
                  <a:srgbClr val="005293"/>
                </a:solidFill>
                <a:latin typeface="STIX Two Math"/>
                <a:ea typeface="STIX Two Math"/>
                <a:cs typeface="STIX Two Math"/>
              </a:defRPr>
            </a:defPPr>
            <a:lvl1pPr>
              <a:defRPr sz="3000" b="0">
                <a:solidFill>
                  <a:srgbClr val="005293"/>
                </a:solidFill>
                <a:latin typeface="STIX Two Math"/>
                <a:ea typeface="STIX Two Math"/>
                <a:cs typeface="STIX Two Math"/>
              </a:defRPr>
            </a:lvl1pPr>
            <a:lvl2pPr>
              <a:defRPr sz="3000" b="0">
                <a:solidFill>
                  <a:srgbClr val="005293"/>
                </a:solidFill>
                <a:latin typeface="STIX Two Math"/>
                <a:ea typeface="STIX Two Math"/>
                <a:cs typeface="STIX Two Math"/>
              </a:defRPr>
            </a:lvl2pPr>
            <a:lvl3pPr>
              <a:defRPr sz="3000" b="0">
                <a:solidFill>
                  <a:srgbClr val="005293"/>
                </a:solidFill>
                <a:latin typeface="STIX Two Math"/>
                <a:ea typeface="STIX Two Math"/>
                <a:cs typeface="STIX Two Math"/>
              </a:defRPr>
            </a:lvl3pPr>
            <a:lvl4pPr>
              <a:defRPr sz="3000" b="0">
                <a:solidFill>
                  <a:srgbClr val="005293"/>
                </a:solidFill>
                <a:latin typeface="STIX Two Math"/>
                <a:ea typeface="STIX Two Math"/>
                <a:cs typeface="STIX Two Math"/>
              </a:defRPr>
            </a:lvl4pPr>
            <a:lvl5pPr>
              <a:defRPr sz="3000" b="0">
                <a:solidFill>
                  <a:srgbClr val="005293"/>
                </a:solidFill>
                <a:latin typeface="STIX Two Math"/>
                <a:ea typeface="STIX Two Math"/>
                <a:cs typeface="STIX Two Math"/>
              </a:defRPr>
            </a:lvl5pPr>
            <a:lvl6pPr>
              <a:defRPr sz="3000" b="0">
                <a:solidFill>
                  <a:srgbClr val="005293"/>
                </a:solidFill>
                <a:latin typeface="STIX Two Math"/>
                <a:ea typeface="STIX Two Math"/>
                <a:cs typeface="STIX Two Math"/>
              </a:defRPr>
            </a:lvl6pPr>
            <a:lvl7pPr>
              <a:defRPr sz="3000" b="0">
                <a:solidFill>
                  <a:srgbClr val="005293"/>
                </a:solidFill>
                <a:latin typeface="STIX Two Math"/>
                <a:ea typeface="STIX Two Math"/>
                <a:cs typeface="STIX Two Math"/>
              </a:defRPr>
            </a:lvl7pPr>
            <a:lvl8pPr>
              <a:defRPr sz="3000" b="0">
                <a:solidFill>
                  <a:srgbClr val="005293"/>
                </a:solidFill>
                <a:latin typeface="STIX Two Math"/>
                <a:ea typeface="STIX Two Math"/>
                <a:cs typeface="STIX Two Math"/>
              </a:defRPr>
            </a:lvl8pPr>
            <a:lvl9pPr>
              <a:defRPr sz="3000" b="0">
                <a:solidFill>
                  <a:srgbClr val="005293"/>
                </a:solidFill>
                <a:latin typeface="STIX Two Math"/>
                <a:ea typeface="STIX Two Math"/>
                <a:cs typeface="STIX Two Math"/>
              </a:defRPr>
            </a:lvl9pPr>
          </a:lstStyle>
          <a:p xmlns:a="http://schemas.openxmlformats.org/drawingml/2006/main">
            <a:pPr>
              <a:defRPr sz="3000" b="0">
                <a:solidFill>
                  <a:srgbClr val="005293"/>
                </a:solidFill>
                <a:latin typeface="STIX Two Math"/>
                <a:ea typeface="STIX Two Math"/>
                <a:cs typeface="STIX Two Math"/>
              </a:defRPr>
            </a:pPr>
            <a:r>
              <a:rPr sz="3000" b="0">
                <a:solidFill>
                  <a:srgbClr val="005293"/>
                </a:solidFill>
                <a:latin typeface="STIX Two Math"/>
                <a:ea typeface="STIX Two Math"/>
                <a:cs typeface="STIX Two Math"/>
              </a:rPr>
              <a:t>(R × S)</a:t>
            </a:r>
          </a:p>
        </p:txBody>
      </p:sp>
      <p:sp>
        <p:nvSpPr>
          <p:cNvPr id="10" name="">
            <a:extLst xmlns:a="http://schemas.openxmlformats.org/drawingml/2006/main">
              <a:ext uri="{FF2B5EF4-FFF2-40B4-BE49-F238E27FC236}">
                <a16:creationId xmlns:a16="http://schemas.microsoft.com/office/drawing/2014/main" id="{0E1DB57E-A73A-4C76-852A-444721B9E4ED}"/>
              </a:ext>
            </a:extLst>
          </p:cNvPr>
          <p:cNvSpPr>
            <a:spLocks xmlns:a="http://schemas.openxmlformats.org/drawingml/2006/main" noGrp="1"/>
          </p:cNvSpPr>
          <p:nvPr/>
        </p:nvSpPr>
        <p:spPr>
          <a:xfrm xmlns:a="http://schemas.openxmlformats.org/drawingml/2006/main">
            <a:off x="609600" y="24765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Verbindet Tupelpaare, für die das Joinprädikat p gilt.</a:t>
            </a:r>
          </a:p>
        </p:txBody>
      </p:sp>
      <p:sp>
        <p:nvSpPr>
          <p:cNvPr id="11" name="">
            <a:extLst xmlns:a="http://schemas.openxmlformats.org/drawingml/2006/main">
              <a:ext uri="{FF2B5EF4-FFF2-40B4-BE49-F238E27FC236}">
                <a16:creationId xmlns:a16="http://schemas.microsoft.com/office/drawing/2014/main" id="{E07E3FD4-8F30-4A14-A12D-9B766ED81199}"/>
              </a:ext>
            </a:extLst>
          </p:cNvPr>
          <p:cNvSpPr>
            <a:spLocks xmlns:a="http://schemas.openxmlformats.org/drawingml/2006/main" noGrp="1"/>
          </p:cNvSpPr>
          <p:nvPr/>
        </p:nvSpPr>
        <p:spPr>
          <a:xfrm xmlns:a="http://schemas.openxmlformats.org/drawingml/2006/main">
            <a:off x="609600" y="34290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p darf beliebige Vergleiche enthalten, etwa &lt;, ≥ oder ≠.</a:t>
            </a:r>
          </a:p>
        </p:txBody>
      </p:sp>
      <p:sp>
        <p:nvSpPr>
          <p:cNvPr id="12" name="">
            <a:extLst xmlns:a="http://schemas.openxmlformats.org/drawingml/2006/main">
              <a:ext uri="{FF2B5EF4-FFF2-40B4-BE49-F238E27FC236}">
                <a16:creationId xmlns:a16="http://schemas.microsoft.com/office/drawing/2014/main" id="{B0D3E9D1-1E6E-4D45-AE86-A370995757DA}"/>
              </a:ext>
            </a:extLst>
          </p:cNvPr>
          <p:cNvSpPr>
            <a:spLocks xmlns:a="http://schemas.openxmlformats.org/drawingml/2006/main" noGrp="1"/>
          </p:cNvSpPr>
          <p:nvPr/>
        </p:nvSpPr>
        <p:spPr>
          <a:xfrm xmlns:a="http://schemas.openxmlformats.org/drawingml/2006/main">
            <a:off x="609600" y="43815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Ein Join lässt sich meist effizienter ausführen als das volle Kreuzprodukt.</a:t>
            </a:r>
          </a:p>
        </p:txBody>
      </p:sp>
    </p:spTree>
    <p:extLst>
      <p:ext uri="{BB962C8B-B14F-4D97-AF65-F5344CB8AC3E}">
        <p14:creationId xmlns:p14="http://schemas.microsoft.com/office/powerpoint/2010/main" val="83707595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2B38AF7-F8A1-4C63-BCAA-F4E28EA826E1}"/>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Theta-Join: Beispiel mit &lt;</a:t>
            </a:r>
          </a:p>
        </p:txBody>
      </p:sp>
      <p:sp>
        <p:nvSpPr>
          <p:cNvPr id="2" name="">
            <a:extLst xmlns:a="http://schemas.openxmlformats.org/drawingml/2006/main">
              <a:ext uri="{FF2B5EF4-FFF2-40B4-BE49-F238E27FC236}">
                <a16:creationId xmlns:a16="http://schemas.microsoft.com/office/drawing/2014/main" id="{0FB8BBA3-81F2-411A-9899-C5E17F0A5EBF}"/>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8DDAB730-D3E7-476B-9E96-5B6DF121E22F}"/>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D1D88B33-A04C-4B89-B8FC-68F1297584E4}"/>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25</a:t>
            </a:r>
          </a:p>
        </p:txBody>
      </p:sp>
      <p:sp>
        <p:nvSpPr>
          <p:cNvPr id="5" name="">
            <a:extLst xmlns:a="http://schemas.openxmlformats.org/drawingml/2006/main">
              <a:ext uri="{FF2B5EF4-FFF2-40B4-BE49-F238E27FC236}">
                <a16:creationId xmlns:a16="http://schemas.microsoft.com/office/drawing/2014/main" id="{E30B0DC5-E8FE-487E-A9B3-AA72281ABE81}"/>
              </a:ext>
            </a:extLst>
          </p:cNvPr>
          <p:cNvSpPr>
            <a:spLocks xmlns:a="http://schemas.openxmlformats.org/drawingml/2006/main" noGrp="1"/>
          </p:cNvSpPr>
          <p:nvPr/>
        </p:nvSpPr>
        <p:spPr>
          <a:xfrm xmlns:a="http://schemas.openxmlformats.org/drawingml/2006/main">
            <a:off x="609600" y="13049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B33"/>
                </a:solidFill>
                <a:latin typeface="Arial"/>
                <a:ea typeface="Arial"/>
                <a:cs typeface="Arial"/>
              </a:defRPr>
            </a:defPPr>
            <a:lvl1pPr>
              <a:defRPr sz="2025" b="0">
                <a:solidFill>
                  <a:srgbClr val="202B33"/>
                </a:solidFill>
                <a:latin typeface="Arial"/>
                <a:ea typeface="Arial"/>
                <a:cs typeface="Arial"/>
              </a:defRPr>
            </a:lvl1pPr>
            <a:lvl2pPr>
              <a:defRPr sz="2025" b="0">
                <a:solidFill>
                  <a:srgbClr val="202B33"/>
                </a:solidFill>
                <a:latin typeface="Arial"/>
                <a:ea typeface="Arial"/>
                <a:cs typeface="Arial"/>
              </a:defRPr>
            </a:lvl2pPr>
            <a:lvl3pPr>
              <a:defRPr sz="2025" b="0">
                <a:solidFill>
                  <a:srgbClr val="202B33"/>
                </a:solidFill>
                <a:latin typeface="Arial"/>
                <a:ea typeface="Arial"/>
                <a:cs typeface="Arial"/>
              </a:defRPr>
            </a:lvl3pPr>
            <a:lvl4pPr>
              <a:defRPr sz="2025" b="0">
                <a:solidFill>
                  <a:srgbClr val="202B33"/>
                </a:solidFill>
                <a:latin typeface="Arial"/>
                <a:ea typeface="Arial"/>
                <a:cs typeface="Arial"/>
              </a:defRPr>
            </a:lvl4pPr>
            <a:lvl5pPr>
              <a:defRPr sz="2025" b="0">
                <a:solidFill>
                  <a:srgbClr val="202B33"/>
                </a:solidFill>
                <a:latin typeface="Arial"/>
                <a:ea typeface="Arial"/>
                <a:cs typeface="Arial"/>
              </a:defRPr>
            </a:lvl5pPr>
            <a:lvl6pPr>
              <a:defRPr sz="2025" b="0">
                <a:solidFill>
                  <a:srgbClr val="202B33"/>
                </a:solidFill>
                <a:latin typeface="Arial"/>
                <a:ea typeface="Arial"/>
                <a:cs typeface="Arial"/>
              </a:defRPr>
            </a:lvl6pPr>
            <a:lvl7pPr>
              <a:defRPr sz="2025" b="0">
                <a:solidFill>
                  <a:srgbClr val="202B33"/>
                </a:solidFill>
                <a:latin typeface="Arial"/>
                <a:ea typeface="Arial"/>
                <a:cs typeface="Arial"/>
              </a:defRPr>
            </a:lvl7pPr>
            <a:lvl8pPr>
              <a:defRPr sz="2025" b="0">
                <a:solidFill>
                  <a:srgbClr val="202B33"/>
                </a:solidFill>
                <a:latin typeface="Arial"/>
                <a:ea typeface="Arial"/>
                <a:cs typeface="Arial"/>
              </a:defRPr>
            </a:lvl8pPr>
            <a:lvl9pPr>
              <a:defRPr sz="2025" b="0">
                <a:solidFill>
                  <a:srgbClr val="202B33"/>
                </a:solidFill>
                <a:latin typeface="Arial"/>
                <a:ea typeface="Arial"/>
                <a:cs typeface="Arial"/>
              </a:defRPr>
            </a:lvl9pPr>
          </a:lstStyle>
          <a:p xmlns:a="http://schemas.openxmlformats.org/drawingml/2006/main">
            <a:pPr>
              <a:defRPr sz="2025" b="0">
                <a:solidFill>
                  <a:srgbClr val="202B33"/>
                </a:solidFill>
                <a:latin typeface="Arial"/>
                <a:ea typeface="Arial"/>
                <a:cs typeface="Arial"/>
              </a:defRPr>
            </a:pPr>
            <a:r>
              <a:rPr sz="2025" b="0">
                <a:solidFill>
                  <a:srgbClr val="202B33"/>
                </a:solidFill>
                <a:latin typeface="Arial"/>
                <a:ea typeface="Arial"/>
                <a:cs typeface="Arial"/>
              </a:rPr>
              <a:t>Zusatzbeispiel: Welche Paare haben links das kleinere Semester?</a:t>
            </a:r>
          </a:p>
        </p:txBody>
      </p:sp>
      <p:sp>
        <p:nvSpPr>
          <p:cNvPr id="6" name="">
            <a:extLst xmlns:a="http://schemas.openxmlformats.org/drawingml/2006/main">
              <a:ext uri="{FF2B5EF4-FFF2-40B4-BE49-F238E27FC236}">
                <a16:creationId xmlns:a16="http://schemas.microsoft.com/office/drawing/2014/main" id="{EC402166-1C94-405F-9244-1B601AE809CF}"/>
              </a:ext>
            </a:extLst>
          </p:cNvPr>
          <p:cNvSpPr>
            <a:spLocks xmlns:a="http://schemas.openxmlformats.org/drawingml/2006/main" noGrp="1"/>
          </p:cNvSpPr>
          <p:nvPr/>
        </p:nvSpPr>
        <p:spPr>
          <a:xfrm xmlns:a="http://schemas.openxmlformats.org/drawingml/2006/main">
            <a:off x="609600" y="1866900"/>
            <a:ext cx="218742" cy="4872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2325" b="0">
                <a:solidFill>
                  <a:srgbClr val="005293"/>
                </a:solidFill>
                <a:latin typeface="STIX Two Math"/>
                <a:ea typeface="STIX Two Math"/>
                <a:cs typeface="STIX Two Math"/>
              </a:defRPr>
            </a:defPPr>
            <a:lvl1pPr>
              <a:defRPr sz="2325" b="0">
                <a:solidFill>
                  <a:srgbClr val="005293"/>
                </a:solidFill>
                <a:latin typeface="STIX Two Math"/>
                <a:ea typeface="STIX Two Math"/>
                <a:cs typeface="STIX Two Math"/>
              </a:defRPr>
            </a:lvl1pPr>
            <a:lvl2pPr>
              <a:defRPr sz="2325" b="0">
                <a:solidFill>
                  <a:srgbClr val="005293"/>
                </a:solidFill>
                <a:latin typeface="STIX Two Math"/>
                <a:ea typeface="STIX Two Math"/>
                <a:cs typeface="STIX Two Math"/>
              </a:defRPr>
            </a:lvl2pPr>
            <a:lvl3pPr>
              <a:defRPr sz="2325" b="0">
                <a:solidFill>
                  <a:srgbClr val="005293"/>
                </a:solidFill>
                <a:latin typeface="STIX Two Math"/>
                <a:ea typeface="STIX Two Math"/>
                <a:cs typeface="STIX Two Math"/>
              </a:defRPr>
            </a:lvl3pPr>
            <a:lvl4pPr>
              <a:defRPr sz="2325" b="0">
                <a:solidFill>
                  <a:srgbClr val="005293"/>
                </a:solidFill>
                <a:latin typeface="STIX Two Math"/>
                <a:ea typeface="STIX Two Math"/>
                <a:cs typeface="STIX Two Math"/>
              </a:defRPr>
            </a:lvl4pPr>
            <a:lvl5pPr>
              <a:defRPr sz="2325" b="0">
                <a:solidFill>
                  <a:srgbClr val="005293"/>
                </a:solidFill>
                <a:latin typeface="STIX Two Math"/>
                <a:ea typeface="STIX Two Math"/>
                <a:cs typeface="STIX Two Math"/>
              </a:defRPr>
            </a:lvl5pPr>
            <a:lvl6pPr>
              <a:defRPr sz="2325" b="0">
                <a:solidFill>
                  <a:srgbClr val="005293"/>
                </a:solidFill>
                <a:latin typeface="STIX Two Math"/>
                <a:ea typeface="STIX Two Math"/>
                <a:cs typeface="STIX Two Math"/>
              </a:defRPr>
            </a:lvl6pPr>
            <a:lvl7pPr>
              <a:defRPr sz="2325" b="0">
                <a:solidFill>
                  <a:srgbClr val="005293"/>
                </a:solidFill>
                <a:latin typeface="STIX Two Math"/>
                <a:ea typeface="STIX Two Math"/>
                <a:cs typeface="STIX Two Math"/>
              </a:defRPr>
            </a:lvl7pPr>
            <a:lvl8pPr>
              <a:defRPr sz="2325" b="0">
                <a:solidFill>
                  <a:srgbClr val="005293"/>
                </a:solidFill>
                <a:latin typeface="STIX Two Math"/>
                <a:ea typeface="STIX Two Math"/>
                <a:cs typeface="STIX Two Math"/>
              </a:defRPr>
            </a:lvl8pPr>
            <a:lvl9pPr>
              <a:defRPr sz="2325" b="0">
                <a:solidFill>
                  <a:srgbClr val="005293"/>
                </a:solidFill>
                <a:latin typeface="STIX Two Math"/>
                <a:ea typeface="STIX Two Math"/>
                <a:cs typeface="STIX Two Math"/>
              </a:defRPr>
            </a:lvl9pPr>
          </a:lstStyle>
          <a:p xmlns:a="http://schemas.openxmlformats.org/drawingml/2006/main">
            <a:pPr>
              <a:defRPr sz="2325" b="0">
                <a:solidFill>
                  <a:srgbClr val="005293"/>
                </a:solidFill>
                <a:latin typeface="STIX Two Math"/>
                <a:ea typeface="STIX Two Math"/>
                <a:cs typeface="STIX Two Math"/>
              </a:defRPr>
            </a:pPr>
            <a:r>
              <a:rPr sz="2325" b="0">
                <a:solidFill>
                  <a:srgbClr val="005293"/>
                </a:solidFill>
                <a:latin typeface="STIX Two Math"/>
                <a:ea typeface="STIX Two Math"/>
                <a:cs typeface="STIX Two Math"/>
              </a:rPr>
              <a:t>ρ</a:t>
            </a:r>
          </a:p>
        </p:txBody>
      </p:sp>
      <p:sp>
        <p:nvSpPr>
          <p:cNvPr id="7" name="">
            <a:extLst xmlns:a="http://schemas.openxmlformats.org/drawingml/2006/main">
              <a:ext uri="{FF2B5EF4-FFF2-40B4-BE49-F238E27FC236}">
                <a16:creationId xmlns:a16="http://schemas.microsoft.com/office/drawing/2014/main" id="{6BF5FA50-8F69-4951-8E55-5511F895A4C7}"/>
              </a:ext>
            </a:extLst>
          </p:cNvPr>
          <p:cNvSpPr>
            <a:spLocks xmlns:a="http://schemas.openxmlformats.org/drawingml/2006/main" noGrp="1"/>
          </p:cNvSpPr>
          <p:nvPr/>
        </p:nvSpPr>
        <p:spPr>
          <a:xfrm xmlns:a="http://schemas.openxmlformats.org/drawingml/2006/main">
            <a:off x="780717" y="2035207"/>
            <a:ext cx="142487" cy="3166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1511" b="0">
                <a:solidFill>
                  <a:srgbClr val="005293"/>
                </a:solidFill>
                <a:latin typeface="STIX Two Math"/>
                <a:ea typeface="STIX Two Math"/>
                <a:cs typeface="STIX Two Math"/>
              </a:defRPr>
            </a:defPPr>
            <a:lvl1pPr>
              <a:defRPr sz="1511" b="0">
                <a:solidFill>
                  <a:srgbClr val="005293"/>
                </a:solidFill>
                <a:latin typeface="STIX Two Math"/>
                <a:ea typeface="STIX Two Math"/>
                <a:cs typeface="STIX Two Math"/>
              </a:defRPr>
            </a:lvl1pPr>
            <a:lvl2pPr>
              <a:defRPr sz="1511" b="0">
                <a:solidFill>
                  <a:srgbClr val="005293"/>
                </a:solidFill>
                <a:latin typeface="STIX Two Math"/>
                <a:ea typeface="STIX Two Math"/>
                <a:cs typeface="STIX Two Math"/>
              </a:defRPr>
            </a:lvl2pPr>
            <a:lvl3pPr>
              <a:defRPr sz="1511" b="0">
                <a:solidFill>
                  <a:srgbClr val="005293"/>
                </a:solidFill>
                <a:latin typeface="STIX Two Math"/>
                <a:ea typeface="STIX Two Math"/>
                <a:cs typeface="STIX Two Math"/>
              </a:defRPr>
            </a:lvl3pPr>
            <a:lvl4pPr>
              <a:defRPr sz="1511" b="0">
                <a:solidFill>
                  <a:srgbClr val="005293"/>
                </a:solidFill>
                <a:latin typeface="STIX Two Math"/>
                <a:ea typeface="STIX Two Math"/>
                <a:cs typeface="STIX Two Math"/>
              </a:defRPr>
            </a:lvl4pPr>
            <a:lvl5pPr>
              <a:defRPr sz="1511" b="0">
                <a:solidFill>
                  <a:srgbClr val="005293"/>
                </a:solidFill>
                <a:latin typeface="STIX Two Math"/>
                <a:ea typeface="STIX Two Math"/>
                <a:cs typeface="STIX Two Math"/>
              </a:defRPr>
            </a:lvl5pPr>
            <a:lvl6pPr>
              <a:defRPr sz="1511" b="0">
                <a:solidFill>
                  <a:srgbClr val="005293"/>
                </a:solidFill>
                <a:latin typeface="STIX Two Math"/>
                <a:ea typeface="STIX Two Math"/>
                <a:cs typeface="STIX Two Math"/>
              </a:defRPr>
            </a:lvl6pPr>
            <a:lvl7pPr>
              <a:defRPr sz="1511" b="0">
                <a:solidFill>
                  <a:srgbClr val="005293"/>
                </a:solidFill>
                <a:latin typeface="STIX Two Math"/>
                <a:ea typeface="STIX Two Math"/>
                <a:cs typeface="STIX Two Math"/>
              </a:defRPr>
            </a:lvl7pPr>
            <a:lvl8pPr>
              <a:defRPr sz="1511" b="0">
                <a:solidFill>
                  <a:srgbClr val="005293"/>
                </a:solidFill>
                <a:latin typeface="STIX Two Math"/>
                <a:ea typeface="STIX Two Math"/>
                <a:cs typeface="STIX Two Math"/>
              </a:defRPr>
            </a:lvl8pPr>
            <a:lvl9pPr>
              <a:defRPr sz="1511" b="0">
                <a:solidFill>
                  <a:srgbClr val="005293"/>
                </a:solidFill>
                <a:latin typeface="STIX Two Math"/>
                <a:ea typeface="STIX Two Math"/>
                <a:cs typeface="STIX Two Math"/>
              </a:defRPr>
            </a:lvl9pPr>
          </a:lstStyle>
          <a:p xmlns:a="http://schemas.openxmlformats.org/drawingml/2006/main">
            <a:pPr>
              <a:defRPr sz="1511" b="0">
                <a:solidFill>
                  <a:srgbClr val="005293"/>
                </a:solidFill>
                <a:latin typeface="STIX Two Math"/>
                <a:ea typeface="STIX Two Math"/>
                <a:cs typeface="STIX Two Math"/>
              </a:defRPr>
            </a:pPr>
            <a:r>
              <a:rPr sz="1511" b="0">
                <a:solidFill>
                  <a:srgbClr val="005293"/>
                </a:solidFill>
                <a:latin typeface="STIX Two Math"/>
                <a:ea typeface="STIX Two Math"/>
                <a:cs typeface="STIX Two Math"/>
              </a:rPr>
              <a:t>s</a:t>
            </a:r>
          </a:p>
        </p:txBody>
      </p:sp>
      <p:sp>
        <p:nvSpPr>
          <p:cNvPr id="8" name="">
            <a:extLst xmlns:a="http://schemas.openxmlformats.org/drawingml/2006/main">
              <a:ext uri="{FF2B5EF4-FFF2-40B4-BE49-F238E27FC236}">
                <a16:creationId xmlns:a16="http://schemas.microsoft.com/office/drawing/2014/main" id="{71E8A804-8103-4C96-B0BD-9BBECB2EEBAA}"/>
              </a:ext>
            </a:extLst>
          </p:cNvPr>
          <p:cNvSpPr>
            <a:spLocks xmlns:a="http://schemas.openxmlformats.org/drawingml/2006/main" noGrp="1"/>
          </p:cNvSpPr>
          <p:nvPr/>
        </p:nvSpPr>
        <p:spPr>
          <a:xfrm xmlns:a="http://schemas.openxmlformats.org/drawingml/2006/main">
            <a:off x="875578" y="1866900"/>
            <a:ext cx="1868148" cy="4872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2325" b="0">
                <a:solidFill>
                  <a:srgbClr val="005293"/>
                </a:solidFill>
                <a:latin typeface="STIX Two Math"/>
                <a:ea typeface="STIX Two Math"/>
                <a:cs typeface="STIX Two Math"/>
              </a:defRPr>
            </a:defPPr>
            <a:lvl1pPr>
              <a:defRPr sz="2325" b="0">
                <a:solidFill>
                  <a:srgbClr val="005293"/>
                </a:solidFill>
                <a:latin typeface="STIX Two Math"/>
                <a:ea typeface="STIX Two Math"/>
                <a:cs typeface="STIX Two Math"/>
              </a:defRPr>
            </a:lvl1pPr>
            <a:lvl2pPr>
              <a:defRPr sz="2325" b="0">
                <a:solidFill>
                  <a:srgbClr val="005293"/>
                </a:solidFill>
                <a:latin typeface="STIX Two Math"/>
                <a:ea typeface="STIX Two Math"/>
                <a:cs typeface="STIX Two Math"/>
              </a:defRPr>
            </a:lvl2pPr>
            <a:lvl3pPr>
              <a:defRPr sz="2325" b="0">
                <a:solidFill>
                  <a:srgbClr val="005293"/>
                </a:solidFill>
                <a:latin typeface="STIX Two Math"/>
                <a:ea typeface="STIX Two Math"/>
                <a:cs typeface="STIX Two Math"/>
              </a:defRPr>
            </a:lvl3pPr>
            <a:lvl4pPr>
              <a:defRPr sz="2325" b="0">
                <a:solidFill>
                  <a:srgbClr val="005293"/>
                </a:solidFill>
                <a:latin typeface="STIX Two Math"/>
                <a:ea typeface="STIX Two Math"/>
                <a:cs typeface="STIX Two Math"/>
              </a:defRPr>
            </a:lvl4pPr>
            <a:lvl5pPr>
              <a:defRPr sz="2325" b="0">
                <a:solidFill>
                  <a:srgbClr val="005293"/>
                </a:solidFill>
                <a:latin typeface="STIX Two Math"/>
                <a:ea typeface="STIX Two Math"/>
                <a:cs typeface="STIX Two Math"/>
              </a:defRPr>
            </a:lvl5pPr>
            <a:lvl6pPr>
              <a:defRPr sz="2325" b="0">
                <a:solidFill>
                  <a:srgbClr val="005293"/>
                </a:solidFill>
                <a:latin typeface="STIX Two Math"/>
                <a:ea typeface="STIX Two Math"/>
                <a:cs typeface="STIX Two Math"/>
              </a:defRPr>
            </a:lvl6pPr>
            <a:lvl7pPr>
              <a:defRPr sz="2325" b="0">
                <a:solidFill>
                  <a:srgbClr val="005293"/>
                </a:solidFill>
                <a:latin typeface="STIX Two Math"/>
                <a:ea typeface="STIX Two Math"/>
                <a:cs typeface="STIX Two Math"/>
              </a:defRPr>
            </a:lvl7pPr>
            <a:lvl8pPr>
              <a:defRPr sz="2325" b="0">
                <a:solidFill>
                  <a:srgbClr val="005293"/>
                </a:solidFill>
                <a:latin typeface="STIX Two Math"/>
                <a:ea typeface="STIX Two Math"/>
                <a:cs typeface="STIX Two Math"/>
              </a:defRPr>
            </a:lvl8pPr>
            <a:lvl9pPr>
              <a:defRPr sz="2325" b="0">
                <a:solidFill>
                  <a:srgbClr val="005293"/>
                </a:solidFill>
                <a:latin typeface="STIX Two Math"/>
                <a:ea typeface="STIX Two Math"/>
                <a:cs typeface="STIX Two Math"/>
              </a:defRPr>
            </a:lvl9pPr>
          </a:lstStyle>
          <a:p xmlns:a="http://schemas.openxmlformats.org/drawingml/2006/main">
            <a:pPr>
              <a:defRPr sz="2325" b="0">
                <a:solidFill>
                  <a:srgbClr val="005293"/>
                </a:solidFill>
                <a:latin typeface="STIX Two Math"/>
                <a:ea typeface="STIX Two Math"/>
                <a:cs typeface="STIX Two Math"/>
              </a:defRPr>
            </a:pPr>
            <a:r>
              <a:rPr sz="2325" b="0">
                <a:solidFill>
                  <a:srgbClr val="005293"/>
                </a:solidFill>
                <a:latin typeface="STIX Two Math"/>
                <a:ea typeface="STIX Two Math"/>
                <a:cs typeface="STIX Two Math"/>
              </a:rPr>
              <a:t>(Studenten) ⋈</a:t>
            </a:r>
          </a:p>
        </p:txBody>
      </p:sp>
      <p:sp>
        <p:nvSpPr>
          <p:cNvPr id="9" name="">
            <a:extLst xmlns:a="http://schemas.openxmlformats.org/drawingml/2006/main">
              <a:ext uri="{FF2B5EF4-FFF2-40B4-BE49-F238E27FC236}">
                <a16:creationId xmlns:a16="http://schemas.microsoft.com/office/drawing/2014/main" id="{1361E87C-B2C6-4863-A9C2-A14F80E68674}"/>
              </a:ext>
            </a:extLst>
          </p:cNvPr>
          <p:cNvSpPr>
            <a:spLocks xmlns:a="http://schemas.openxmlformats.org/drawingml/2006/main" noGrp="1"/>
          </p:cNvSpPr>
          <p:nvPr/>
        </p:nvSpPr>
        <p:spPr>
          <a:xfrm xmlns:a="http://schemas.openxmlformats.org/drawingml/2006/main">
            <a:off x="2696101" y="2035207"/>
            <a:ext cx="1998630" cy="3166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1511" b="0">
                <a:solidFill>
                  <a:srgbClr val="005293"/>
                </a:solidFill>
                <a:latin typeface="STIX Two Math"/>
                <a:ea typeface="STIX Two Math"/>
                <a:cs typeface="STIX Two Math"/>
              </a:defRPr>
            </a:defPPr>
            <a:lvl1pPr>
              <a:defRPr sz="1511" b="0">
                <a:solidFill>
                  <a:srgbClr val="005293"/>
                </a:solidFill>
                <a:latin typeface="STIX Two Math"/>
                <a:ea typeface="STIX Two Math"/>
                <a:cs typeface="STIX Two Math"/>
              </a:defRPr>
            </a:lvl1pPr>
            <a:lvl2pPr>
              <a:defRPr sz="1511" b="0">
                <a:solidFill>
                  <a:srgbClr val="005293"/>
                </a:solidFill>
                <a:latin typeface="STIX Two Math"/>
                <a:ea typeface="STIX Two Math"/>
                <a:cs typeface="STIX Two Math"/>
              </a:defRPr>
            </a:lvl2pPr>
            <a:lvl3pPr>
              <a:defRPr sz="1511" b="0">
                <a:solidFill>
                  <a:srgbClr val="005293"/>
                </a:solidFill>
                <a:latin typeface="STIX Two Math"/>
                <a:ea typeface="STIX Two Math"/>
                <a:cs typeface="STIX Two Math"/>
              </a:defRPr>
            </a:lvl3pPr>
            <a:lvl4pPr>
              <a:defRPr sz="1511" b="0">
                <a:solidFill>
                  <a:srgbClr val="005293"/>
                </a:solidFill>
                <a:latin typeface="STIX Two Math"/>
                <a:ea typeface="STIX Two Math"/>
                <a:cs typeface="STIX Two Math"/>
              </a:defRPr>
            </a:lvl4pPr>
            <a:lvl5pPr>
              <a:defRPr sz="1511" b="0">
                <a:solidFill>
                  <a:srgbClr val="005293"/>
                </a:solidFill>
                <a:latin typeface="STIX Two Math"/>
                <a:ea typeface="STIX Two Math"/>
                <a:cs typeface="STIX Two Math"/>
              </a:defRPr>
            </a:lvl5pPr>
            <a:lvl6pPr>
              <a:defRPr sz="1511" b="0">
                <a:solidFill>
                  <a:srgbClr val="005293"/>
                </a:solidFill>
                <a:latin typeface="STIX Two Math"/>
                <a:ea typeface="STIX Two Math"/>
                <a:cs typeface="STIX Two Math"/>
              </a:defRPr>
            </a:lvl6pPr>
            <a:lvl7pPr>
              <a:defRPr sz="1511" b="0">
                <a:solidFill>
                  <a:srgbClr val="005293"/>
                </a:solidFill>
                <a:latin typeface="STIX Two Math"/>
                <a:ea typeface="STIX Two Math"/>
                <a:cs typeface="STIX Two Math"/>
              </a:defRPr>
            </a:lvl7pPr>
            <a:lvl8pPr>
              <a:defRPr sz="1511" b="0">
                <a:solidFill>
                  <a:srgbClr val="005293"/>
                </a:solidFill>
                <a:latin typeface="STIX Two Math"/>
                <a:ea typeface="STIX Two Math"/>
                <a:cs typeface="STIX Two Math"/>
              </a:defRPr>
            </a:lvl8pPr>
            <a:lvl9pPr>
              <a:defRPr sz="1511" b="0">
                <a:solidFill>
                  <a:srgbClr val="005293"/>
                </a:solidFill>
                <a:latin typeface="STIX Two Math"/>
                <a:ea typeface="STIX Two Math"/>
                <a:cs typeface="STIX Two Math"/>
              </a:defRPr>
            </a:lvl9pPr>
          </a:lstStyle>
          <a:p xmlns:a="http://schemas.openxmlformats.org/drawingml/2006/main">
            <a:pPr>
              <a:defRPr sz="1511" b="0">
                <a:solidFill>
                  <a:srgbClr val="005293"/>
                </a:solidFill>
                <a:latin typeface="STIX Two Math"/>
                <a:ea typeface="STIX Two Math"/>
                <a:cs typeface="STIX Two Math"/>
              </a:defRPr>
            </a:pPr>
            <a:r>
              <a:rPr sz="1511" b="0">
                <a:solidFill>
                  <a:srgbClr val="005293"/>
                </a:solidFill>
                <a:latin typeface="STIX Two Math"/>
                <a:ea typeface="STIX Two Math"/>
                <a:cs typeface="STIX Two Math"/>
              </a:rPr>
              <a:t>s.Semester &lt; t.Semester</a:t>
            </a:r>
          </a:p>
        </p:txBody>
      </p:sp>
      <p:sp>
        <p:nvSpPr>
          <p:cNvPr id="10" name="">
            <a:extLst xmlns:a="http://schemas.openxmlformats.org/drawingml/2006/main">
              <a:ext uri="{FF2B5EF4-FFF2-40B4-BE49-F238E27FC236}">
                <a16:creationId xmlns:a16="http://schemas.microsoft.com/office/drawing/2014/main" id="{A6B0D1B4-79D2-4166-9A1E-AB23493D9B7C}"/>
              </a:ext>
            </a:extLst>
          </p:cNvPr>
          <p:cNvSpPr>
            <a:spLocks xmlns:a="http://schemas.openxmlformats.org/drawingml/2006/main" noGrp="1"/>
          </p:cNvSpPr>
          <p:nvPr/>
        </p:nvSpPr>
        <p:spPr>
          <a:xfrm xmlns:a="http://schemas.openxmlformats.org/drawingml/2006/main">
            <a:off x="4647106" y="1866900"/>
            <a:ext cx="288131" cy="4872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2325" b="0">
                <a:solidFill>
                  <a:srgbClr val="005293"/>
                </a:solidFill>
                <a:latin typeface="STIX Two Math"/>
                <a:ea typeface="STIX Two Math"/>
                <a:cs typeface="STIX Two Math"/>
              </a:defRPr>
            </a:defPPr>
            <a:lvl1pPr>
              <a:defRPr sz="2325" b="0">
                <a:solidFill>
                  <a:srgbClr val="005293"/>
                </a:solidFill>
                <a:latin typeface="STIX Two Math"/>
                <a:ea typeface="STIX Two Math"/>
                <a:cs typeface="STIX Two Math"/>
              </a:defRPr>
            </a:lvl1pPr>
            <a:lvl2pPr>
              <a:defRPr sz="2325" b="0">
                <a:solidFill>
                  <a:srgbClr val="005293"/>
                </a:solidFill>
                <a:latin typeface="STIX Two Math"/>
                <a:ea typeface="STIX Two Math"/>
                <a:cs typeface="STIX Two Math"/>
              </a:defRPr>
            </a:lvl2pPr>
            <a:lvl3pPr>
              <a:defRPr sz="2325" b="0">
                <a:solidFill>
                  <a:srgbClr val="005293"/>
                </a:solidFill>
                <a:latin typeface="STIX Two Math"/>
                <a:ea typeface="STIX Two Math"/>
                <a:cs typeface="STIX Two Math"/>
              </a:defRPr>
            </a:lvl3pPr>
            <a:lvl4pPr>
              <a:defRPr sz="2325" b="0">
                <a:solidFill>
                  <a:srgbClr val="005293"/>
                </a:solidFill>
                <a:latin typeface="STIX Two Math"/>
                <a:ea typeface="STIX Two Math"/>
                <a:cs typeface="STIX Two Math"/>
              </a:defRPr>
            </a:lvl4pPr>
            <a:lvl5pPr>
              <a:defRPr sz="2325" b="0">
                <a:solidFill>
                  <a:srgbClr val="005293"/>
                </a:solidFill>
                <a:latin typeface="STIX Two Math"/>
                <a:ea typeface="STIX Two Math"/>
                <a:cs typeface="STIX Two Math"/>
              </a:defRPr>
            </a:lvl5pPr>
            <a:lvl6pPr>
              <a:defRPr sz="2325" b="0">
                <a:solidFill>
                  <a:srgbClr val="005293"/>
                </a:solidFill>
                <a:latin typeface="STIX Two Math"/>
                <a:ea typeface="STIX Two Math"/>
                <a:cs typeface="STIX Two Math"/>
              </a:defRPr>
            </a:lvl6pPr>
            <a:lvl7pPr>
              <a:defRPr sz="2325" b="0">
                <a:solidFill>
                  <a:srgbClr val="005293"/>
                </a:solidFill>
                <a:latin typeface="STIX Two Math"/>
                <a:ea typeface="STIX Two Math"/>
                <a:cs typeface="STIX Two Math"/>
              </a:defRPr>
            </a:lvl7pPr>
            <a:lvl8pPr>
              <a:defRPr sz="2325" b="0">
                <a:solidFill>
                  <a:srgbClr val="005293"/>
                </a:solidFill>
                <a:latin typeface="STIX Two Math"/>
                <a:ea typeface="STIX Two Math"/>
                <a:cs typeface="STIX Two Math"/>
              </a:defRPr>
            </a:lvl8pPr>
            <a:lvl9pPr>
              <a:defRPr sz="2325" b="0">
                <a:solidFill>
                  <a:srgbClr val="005293"/>
                </a:solidFill>
                <a:latin typeface="STIX Two Math"/>
                <a:ea typeface="STIX Two Math"/>
                <a:cs typeface="STIX Two Math"/>
              </a:defRPr>
            </a:lvl9pPr>
          </a:lstStyle>
          <a:p xmlns:a="http://schemas.openxmlformats.org/drawingml/2006/main">
            <a:pPr>
              <a:defRPr sz="2325" b="0">
                <a:solidFill>
                  <a:srgbClr val="005293"/>
                </a:solidFill>
                <a:latin typeface="STIX Two Math"/>
                <a:ea typeface="STIX Two Math"/>
                <a:cs typeface="STIX Two Math"/>
              </a:defRPr>
            </a:pPr>
            <a:r>
              <a:rPr sz="2325" b="0">
                <a:solidFill>
                  <a:srgbClr val="005293"/>
                </a:solidFill>
                <a:latin typeface="STIX Two Math"/>
                <a:ea typeface="STIX Two Math"/>
                <a:cs typeface="STIX Two Math"/>
              </a:rPr>
              <a:t> ρ</a:t>
            </a:r>
          </a:p>
        </p:txBody>
      </p:sp>
      <p:sp>
        <p:nvSpPr>
          <p:cNvPr id="11" name="">
            <a:extLst xmlns:a="http://schemas.openxmlformats.org/drawingml/2006/main">
              <a:ext uri="{FF2B5EF4-FFF2-40B4-BE49-F238E27FC236}">
                <a16:creationId xmlns:a16="http://schemas.microsoft.com/office/drawing/2014/main" id="{26B25D02-1723-46DD-A2F7-D98C55C03540}"/>
              </a:ext>
            </a:extLst>
          </p:cNvPr>
          <p:cNvSpPr>
            <a:spLocks xmlns:a="http://schemas.openxmlformats.org/drawingml/2006/main" noGrp="1"/>
          </p:cNvSpPr>
          <p:nvPr/>
        </p:nvSpPr>
        <p:spPr>
          <a:xfrm xmlns:a="http://schemas.openxmlformats.org/drawingml/2006/main">
            <a:off x="4887612" y="2035207"/>
            <a:ext cx="127133" cy="3166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1511" b="0">
                <a:solidFill>
                  <a:srgbClr val="005293"/>
                </a:solidFill>
                <a:latin typeface="STIX Two Math"/>
                <a:ea typeface="STIX Two Math"/>
                <a:cs typeface="STIX Two Math"/>
              </a:defRPr>
            </a:defPPr>
            <a:lvl1pPr>
              <a:defRPr sz="1511" b="0">
                <a:solidFill>
                  <a:srgbClr val="005293"/>
                </a:solidFill>
                <a:latin typeface="STIX Two Math"/>
                <a:ea typeface="STIX Two Math"/>
                <a:cs typeface="STIX Two Math"/>
              </a:defRPr>
            </a:lvl1pPr>
            <a:lvl2pPr>
              <a:defRPr sz="1511" b="0">
                <a:solidFill>
                  <a:srgbClr val="005293"/>
                </a:solidFill>
                <a:latin typeface="STIX Two Math"/>
                <a:ea typeface="STIX Two Math"/>
                <a:cs typeface="STIX Two Math"/>
              </a:defRPr>
            </a:lvl2pPr>
            <a:lvl3pPr>
              <a:defRPr sz="1511" b="0">
                <a:solidFill>
                  <a:srgbClr val="005293"/>
                </a:solidFill>
                <a:latin typeface="STIX Two Math"/>
                <a:ea typeface="STIX Two Math"/>
                <a:cs typeface="STIX Two Math"/>
              </a:defRPr>
            </a:lvl3pPr>
            <a:lvl4pPr>
              <a:defRPr sz="1511" b="0">
                <a:solidFill>
                  <a:srgbClr val="005293"/>
                </a:solidFill>
                <a:latin typeface="STIX Two Math"/>
                <a:ea typeface="STIX Two Math"/>
                <a:cs typeface="STIX Two Math"/>
              </a:defRPr>
            </a:lvl4pPr>
            <a:lvl5pPr>
              <a:defRPr sz="1511" b="0">
                <a:solidFill>
                  <a:srgbClr val="005293"/>
                </a:solidFill>
                <a:latin typeface="STIX Two Math"/>
                <a:ea typeface="STIX Two Math"/>
                <a:cs typeface="STIX Two Math"/>
              </a:defRPr>
            </a:lvl5pPr>
            <a:lvl6pPr>
              <a:defRPr sz="1511" b="0">
                <a:solidFill>
                  <a:srgbClr val="005293"/>
                </a:solidFill>
                <a:latin typeface="STIX Two Math"/>
                <a:ea typeface="STIX Two Math"/>
                <a:cs typeface="STIX Two Math"/>
              </a:defRPr>
            </a:lvl6pPr>
            <a:lvl7pPr>
              <a:defRPr sz="1511" b="0">
                <a:solidFill>
                  <a:srgbClr val="005293"/>
                </a:solidFill>
                <a:latin typeface="STIX Two Math"/>
                <a:ea typeface="STIX Two Math"/>
                <a:cs typeface="STIX Two Math"/>
              </a:defRPr>
            </a:lvl7pPr>
            <a:lvl8pPr>
              <a:defRPr sz="1511" b="0">
                <a:solidFill>
                  <a:srgbClr val="005293"/>
                </a:solidFill>
                <a:latin typeface="STIX Two Math"/>
                <a:ea typeface="STIX Two Math"/>
                <a:cs typeface="STIX Two Math"/>
              </a:defRPr>
            </a:lvl8pPr>
            <a:lvl9pPr>
              <a:defRPr sz="1511" b="0">
                <a:solidFill>
                  <a:srgbClr val="005293"/>
                </a:solidFill>
                <a:latin typeface="STIX Two Math"/>
                <a:ea typeface="STIX Two Math"/>
                <a:cs typeface="STIX Two Math"/>
              </a:defRPr>
            </a:lvl9pPr>
          </a:lstStyle>
          <a:p xmlns:a="http://schemas.openxmlformats.org/drawingml/2006/main">
            <a:pPr>
              <a:defRPr sz="1511" b="0">
                <a:solidFill>
                  <a:srgbClr val="005293"/>
                </a:solidFill>
                <a:latin typeface="STIX Two Math"/>
                <a:ea typeface="STIX Two Math"/>
                <a:cs typeface="STIX Two Math"/>
              </a:defRPr>
            </a:pPr>
            <a:r>
              <a:rPr sz="1511" b="0">
                <a:solidFill>
                  <a:srgbClr val="005293"/>
                </a:solidFill>
                <a:latin typeface="STIX Two Math"/>
                <a:ea typeface="STIX Two Math"/>
                <a:cs typeface="STIX Two Math"/>
              </a:rPr>
              <a:t>t</a:t>
            </a:r>
          </a:p>
        </p:txBody>
      </p:sp>
      <p:sp>
        <p:nvSpPr>
          <p:cNvPr id="12" name="">
            <a:extLst xmlns:a="http://schemas.openxmlformats.org/drawingml/2006/main">
              <a:ext uri="{FF2B5EF4-FFF2-40B4-BE49-F238E27FC236}">
                <a16:creationId xmlns:a16="http://schemas.microsoft.com/office/drawing/2014/main" id="{71A513D5-B4DF-4155-A9F0-D74572AEA8F1}"/>
              </a:ext>
            </a:extLst>
          </p:cNvPr>
          <p:cNvSpPr>
            <a:spLocks xmlns:a="http://schemas.openxmlformats.org/drawingml/2006/main" noGrp="1"/>
          </p:cNvSpPr>
          <p:nvPr/>
        </p:nvSpPr>
        <p:spPr>
          <a:xfrm xmlns:a="http://schemas.openxmlformats.org/drawingml/2006/main">
            <a:off x="4967120" y="1866900"/>
            <a:ext cx="1553975" cy="4872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2325" b="0">
                <a:solidFill>
                  <a:srgbClr val="005293"/>
                </a:solidFill>
                <a:latin typeface="STIX Two Math"/>
                <a:ea typeface="STIX Two Math"/>
                <a:cs typeface="STIX Two Math"/>
              </a:defRPr>
            </a:defPPr>
            <a:lvl1pPr>
              <a:defRPr sz="2325" b="0">
                <a:solidFill>
                  <a:srgbClr val="005293"/>
                </a:solidFill>
                <a:latin typeface="STIX Two Math"/>
                <a:ea typeface="STIX Two Math"/>
                <a:cs typeface="STIX Two Math"/>
              </a:defRPr>
            </a:lvl1pPr>
            <a:lvl2pPr>
              <a:defRPr sz="2325" b="0">
                <a:solidFill>
                  <a:srgbClr val="005293"/>
                </a:solidFill>
                <a:latin typeface="STIX Two Math"/>
                <a:ea typeface="STIX Two Math"/>
                <a:cs typeface="STIX Two Math"/>
              </a:defRPr>
            </a:lvl2pPr>
            <a:lvl3pPr>
              <a:defRPr sz="2325" b="0">
                <a:solidFill>
                  <a:srgbClr val="005293"/>
                </a:solidFill>
                <a:latin typeface="STIX Two Math"/>
                <a:ea typeface="STIX Two Math"/>
                <a:cs typeface="STIX Two Math"/>
              </a:defRPr>
            </a:lvl3pPr>
            <a:lvl4pPr>
              <a:defRPr sz="2325" b="0">
                <a:solidFill>
                  <a:srgbClr val="005293"/>
                </a:solidFill>
                <a:latin typeface="STIX Two Math"/>
                <a:ea typeface="STIX Two Math"/>
                <a:cs typeface="STIX Two Math"/>
              </a:defRPr>
            </a:lvl4pPr>
            <a:lvl5pPr>
              <a:defRPr sz="2325" b="0">
                <a:solidFill>
                  <a:srgbClr val="005293"/>
                </a:solidFill>
                <a:latin typeface="STIX Two Math"/>
                <a:ea typeface="STIX Two Math"/>
                <a:cs typeface="STIX Two Math"/>
              </a:defRPr>
            </a:lvl5pPr>
            <a:lvl6pPr>
              <a:defRPr sz="2325" b="0">
                <a:solidFill>
                  <a:srgbClr val="005293"/>
                </a:solidFill>
                <a:latin typeface="STIX Two Math"/>
                <a:ea typeface="STIX Two Math"/>
                <a:cs typeface="STIX Two Math"/>
              </a:defRPr>
            </a:lvl6pPr>
            <a:lvl7pPr>
              <a:defRPr sz="2325" b="0">
                <a:solidFill>
                  <a:srgbClr val="005293"/>
                </a:solidFill>
                <a:latin typeface="STIX Two Math"/>
                <a:ea typeface="STIX Two Math"/>
                <a:cs typeface="STIX Two Math"/>
              </a:defRPr>
            </a:lvl7pPr>
            <a:lvl8pPr>
              <a:defRPr sz="2325" b="0">
                <a:solidFill>
                  <a:srgbClr val="005293"/>
                </a:solidFill>
                <a:latin typeface="STIX Two Math"/>
                <a:ea typeface="STIX Two Math"/>
                <a:cs typeface="STIX Two Math"/>
              </a:defRPr>
            </a:lvl8pPr>
            <a:lvl9pPr>
              <a:defRPr sz="2325" b="0">
                <a:solidFill>
                  <a:srgbClr val="005293"/>
                </a:solidFill>
                <a:latin typeface="STIX Two Math"/>
                <a:ea typeface="STIX Two Math"/>
                <a:cs typeface="STIX Two Math"/>
              </a:defRPr>
            </a:lvl9pPr>
          </a:lstStyle>
          <a:p xmlns:a="http://schemas.openxmlformats.org/drawingml/2006/main">
            <a:pPr>
              <a:defRPr sz="2325" b="0">
                <a:solidFill>
                  <a:srgbClr val="005293"/>
                </a:solidFill>
                <a:latin typeface="STIX Two Math"/>
                <a:ea typeface="STIX Two Math"/>
                <a:cs typeface="STIX Two Math"/>
              </a:defRPr>
            </a:pPr>
            <a:r>
              <a:rPr sz="2325" b="0">
                <a:solidFill>
                  <a:srgbClr val="005293"/>
                </a:solidFill>
                <a:latin typeface="STIX Two Math"/>
                <a:ea typeface="STIX Two Math"/>
                <a:cs typeface="STIX Two Math"/>
              </a:rPr>
              <a:t>(Studenten)</a:t>
            </a:r>
          </a:p>
        </p:txBody>
      </p:sp>
      <p:sp>
        <p:nvSpPr>
          <p:cNvPr id="13" name="">
            <a:extLst xmlns:a="http://schemas.openxmlformats.org/drawingml/2006/main">
              <a:ext uri="{FF2B5EF4-FFF2-40B4-BE49-F238E27FC236}">
                <a16:creationId xmlns:a16="http://schemas.microsoft.com/office/drawing/2014/main" id="{F18688E3-E323-46E9-999A-7DB5AF442225}"/>
              </a:ext>
            </a:extLst>
          </p:cNvPr>
          <p:cNvSpPr>
            <a:spLocks xmlns:a="http://schemas.openxmlformats.org/drawingml/2006/main" noGrp="1"/>
          </p:cNvSpPr>
          <p:nvPr/>
        </p:nvSpPr>
        <p:spPr>
          <a:xfrm xmlns:a="http://schemas.openxmlformats.org/drawingml/2006/main">
            <a:off x="609600" y="273367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Studenten (Ausschnitt)</a:t>
            </a:r>
          </a:p>
        </p:txBody>
      </p:sp>
      <p:sp>
        <p:nvSpPr>
          <p:cNvPr id="14" name="">
            <a:extLst xmlns:a="http://schemas.openxmlformats.org/drawingml/2006/main">
              <a:ext uri="{FF2B5EF4-FFF2-40B4-BE49-F238E27FC236}">
                <a16:creationId xmlns:a16="http://schemas.microsoft.com/office/drawing/2014/main" id="{A3CF7115-9499-45D3-87A2-BFAECC7D1741}"/>
              </a:ext>
            </a:extLst>
          </p:cNvPr>
          <p:cNvSpPr>
            <a:spLocks xmlns:a="http://schemas.openxmlformats.org/drawingml/2006/main" noGrp="1"/>
          </p:cNvSpPr>
          <p:nvPr/>
        </p:nvSpPr>
        <p:spPr>
          <a:xfrm xmlns:a="http://schemas.openxmlformats.org/drawingml/2006/main">
            <a:off x="6067425" y="2733675"/>
            <a:ext cx="552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Ergebnis (Namen und Semester gezeigt)</a:t>
            </a:r>
          </a:p>
        </p:txBody>
      </p:sp>
      <p:graphicFrame>
        <p:nvGraphicFramePr>
          <p:cNvPr id="15" name="">
            <a:extLst xmlns:a="http://schemas.openxmlformats.org/drawingml/2006/main">
              <a:ext uri="{FF2B5EF4-FFF2-40B4-BE49-F238E27FC236}">
                <a16:creationId xmlns:a16="http://schemas.microsoft.com/office/drawing/2014/main" id="{BD4D2D2F-C12A-45C1-BC2A-530E3393EA3C}"/>
              </a:ext>
            </a:extLst>
          </p:cNvPr>
          <p:cNvGraphicFramePr/>
          <p:nvPr/>
        </p:nvGraphicFramePr>
        <p:xfrm>
          <a:off xmlns:a="http://schemas.openxmlformats.org/drawingml/2006/main" x="609600" y="3228975"/>
          <a:ext xmlns:a="http://schemas.openxmlformats.org/drawingml/2006/main" cx="4286250" cy="1752600"/>
        </p:xfrm>
        <a:graphic xmlns:a="http://schemas.openxmlformats.org/drawingml/2006/main">
          <a:graphicData uri="http://schemas.openxmlformats.org/drawingml/2006/table">
            <a:tbl>
              <a:tblPr/>
              <a:tblGrid>
                <a:gridCol w="2667000"/>
                <a:gridCol w="1619250"/>
              </a:tblGrid>
              <a:tr h="438150">
                <a:tc>
                  <a:txBody>
                    <a:bodyPr/>
                    <a:lstStyle/>
                    <a:p>
                      <a:r>
                        <a:rPr sz="1875" b="1">
                          <a:solidFill>
                            <a:srgbClr val="FFFFFF"/>
                          </a:solidFill>
                          <a:latin typeface="Arial"/>
                          <a:ea typeface="Arial"/>
                          <a:cs typeface="Arial"/>
                        </a:rPr>
                        <a:t>Name</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875" b="1">
                          <a:solidFill>
                            <a:srgbClr val="FFFFFF"/>
                          </a:solidFill>
                          <a:latin typeface="Arial"/>
                          <a:ea typeface="Arial"/>
                          <a:cs typeface="Arial"/>
                        </a:rPr>
                        <a:t>Semester</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438150">
                <a:tc>
                  <a:txBody>
                    <a:bodyPr/>
                    <a:lstStyle/>
                    <a:p>
                      <a:r>
                        <a:rPr sz="1875" b="0">
                          <a:solidFill>
                            <a:srgbClr val="202B33"/>
                          </a:solidFill>
                          <a:latin typeface="Arial"/>
                          <a:ea typeface="Arial"/>
                          <a:cs typeface="Arial"/>
                        </a:rPr>
                        <a:t>Fichte</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875" b="0">
                          <a:solidFill>
                            <a:srgbClr val="202B33"/>
                          </a:solidFill>
                          <a:latin typeface="Arial"/>
                          <a:ea typeface="Arial"/>
                          <a:cs typeface="Arial"/>
                        </a:rPr>
                        <a:t>10</a:t>
                      </a:r>
                    </a:p>
                  </a:txBody>
                  <a:tcPr marL="95250" marR="66675" marT="28575" marB="28575" anchor="ctr">
                    <a:lnR w="6668">
                      <a:solidFill>
                        <a:srgbClr val="CBD8E1"/>
                      </a:solidFill>
                    </a:lnR>
                    <a:lnB w="6668">
                      <a:solidFill>
                        <a:srgbClr val="CBD8E1"/>
                      </a:solidFill>
                    </a:lnB>
                    <a:solidFill>
                      <a:srgbClr val="FFFFFF"/>
                    </a:solidFill>
                  </a:tcPr>
                </a:tc>
              </a:tr>
              <a:tr h="438150">
                <a:tc>
                  <a:txBody>
                    <a:bodyPr/>
                    <a:lstStyle/>
                    <a:p>
                      <a:r>
                        <a:rPr sz="1875" b="0">
                          <a:solidFill>
                            <a:srgbClr val="202B33"/>
                          </a:solidFill>
                          <a:latin typeface="Arial"/>
                          <a:ea typeface="Arial"/>
                          <a:cs typeface="Arial"/>
                        </a:rPr>
                        <a:t>Carnap</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875" b="0">
                          <a:solidFill>
                            <a:srgbClr val="202B33"/>
                          </a:solidFill>
                          <a:latin typeface="Arial"/>
                          <a:ea typeface="Arial"/>
                          <a:cs typeface="Arial"/>
                        </a:rPr>
                        <a:t>3</a:t>
                      </a:r>
                    </a:p>
                  </a:txBody>
                  <a:tcPr marL="95250" marR="66675" marT="28575" marB="28575" anchor="ctr">
                    <a:lnR w="6668">
                      <a:solidFill>
                        <a:srgbClr val="CBD8E1"/>
                      </a:solidFill>
                    </a:lnR>
                    <a:lnB w="6668">
                      <a:solidFill>
                        <a:srgbClr val="CBD8E1"/>
                      </a:solidFill>
                    </a:lnB>
                    <a:solidFill>
                      <a:srgbClr val="EDF4F9"/>
                    </a:solidFill>
                  </a:tcPr>
                </a:tc>
              </a:tr>
              <a:tr h="438150">
                <a:tc>
                  <a:txBody>
                    <a:bodyPr/>
                    <a:lstStyle/>
                    <a:p>
                      <a:r>
                        <a:rPr sz="1875" b="0">
                          <a:solidFill>
                            <a:srgbClr val="202B33"/>
                          </a:solidFill>
                          <a:latin typeface="Arial"/>
                          <a:ea typeface="Arial"/>
                          <a:cs typeface="Arial"/>
                        </a:rPr>
                        <a:t>Feuerbach</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875" b="0">
                          <a:solidFill>
                            <a:srgbClr val="202B33"/>
                          </a:solidFill>
                          <a:latin typeface="Arial"/>
                          <a:ea typeface="Arial"/>
                          <a:cs typeface="Arial"/>
                        </a:rPr>
                        <a:t>2</a:t>
                      </a:r>
                    </a:p>
                  </a:txBody>
                  <a:tcPr marL="95250" marR="66675" marT="28575" marB="28575" anchor="ctr">
                    <a:lnR w="6668">
                      <a:solidFill>
                        <a:srgbClr val="CBD8E1"/>
                      </a:solidFill>
                    </a:lnR>
                    <a:lnB w="6668">
                      <a:solidFill>
                        <a:srgbClr val="CBD8E1"/>
                      </a:solidFill>
                    </a:lnB>
                    <a:solidFill>
                      <a:srgbClr val="FFFFFF"/>
                    </a:solidFill>
                  </a:tcPr>
                </a:tc>
              </a:tr>
            </a:tbl>
          </a:graphicData>
        </a:graphic>
      </p:graphicFrame>
      <p:graphicFrame>
        <p:nvGraphicFramePr>
          <p:cNvPr id="16" name="">
            <a:extLst xmlns:a="http://schemas.openxmlformats.org/drawingml/2006/main">
              <a:ext uri="{FF2B5EF4-FFF2-40B4-BE49-F238E27FC236}">
                <a16:creationId xmlns:a16="http://schemas.microsoft.com/office/drawing/2014/main" id="{96DBE893-1FBE-4E69-B257-03AE3A4F43DB}"/>
              </a:ext>
            </a:extLst>
          </p:cNvPr>
          <p:cNvGraphicFramePr/>
          <p:nvPr/>
        </p:nvGraphicFramePr>
        <p:xfrm>
          <a:off xmlns:a="http://schemas.openxmlformats.org/drawingml/2006/main" x="6067425" y="3228975"/>
          <a:ext xmlns:a="http://schemas.openxmlformats.org/drawingml/2006/main" cx="5514975" cy="1752600"/>
        </p:xfrm>
        <a:graphic xmlns:a="http://schemas.openxmlformats.org/drawingml/2006/main">
          <a:graphicData uri="http://schemas.openxmlformats.org/drawingml/2006/table">
            <a:tbl>
              <a:tblPr/>
              <a:tblGrid>
                <a:gridCol w="1809750"/>
                <a:gridCol w="952500"/>
                <a:gridCol w="1809750"/>
                <a:gridCol w="942975"/>
              </a:tblGrid>
              <a:tr h="438150">
                <a:tc>
                  <a:txBody>
                    <a:bodyPr/>
                    <a:lstStyle/>
                    <a:p>
                      <a:r>
                        <a:rPr sz="1725" b="1">
                          <a:solidFill>
                            <a:srgbClr val="FFFFFF"/>
                          </a:solidFill>
                          <a:latin typeface="Arial"/>
                          <a:ea typeface="Arial"/>
                          <a:cs typeface="Arial"/>
                        </a:rPr>
                        <a:t>s.Name</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725" b="1">
                          <a:solidFill>
                            <a:srgbClr val="FFFFFF"/>
                          </a:solidFill>
                          <a:latin typeface="Arial"/>
                          <a:ea typeface="Arial"/>
                          <a:cs typeface="Arial"/>
                        </a:rPr>
                        <a:t>s.Sem.</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1725" b="1">
                          <a:solidFill>
                            <a:srgbClr val="FFFFFF"/>
                          </a:solidFill>
                          <a:latin typeface="Arial"/>
                          <a:ea typeface="Arial"/>
                          <a:cs typeface="Arial"/>
                        </a:rPr>
                        <a:t>t.Name</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1725" b="1">
                          <a:solidFill>
                            <a:srgbClr val="FFFFFF"/>
                          </a:solidFill>
                          <a:latin typeface="Arial"/>
                          <a:ea typeface="Arial"/>
                          <a:cs typeface="Arial"/>
                        </a:rPr>
                        <a:t>t.Sem.</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438150">
                <a:tc>
                  <a:txBody>
                    <a:bodyPr/>
                    <a:lstStyle/>
                    <a:p>
                      <a:r>
                        <a:rPr sz="1725" b="0">
                          <a:solidFill>
                            <a:srgbClr val="202B33"/>
                          </a:solidFill>
                          <a:latin typeface="Arial"/>
                          <a:ea typeface="Arial"/>
                          <a:cs typeface="Arial"/>
                        </a:rPr>
                        <a:t>Carnap</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725" b="0">
                          <a:solidFill>
                            <a:srgbClr val="202B33"/>
                          </a:solidFill>
                          <a:latin typeface="Arial"/>
                          <a:ea typeface="Arial"/>
                          <a:cs typeface="Arial"/>
                        </a:rPr>
                        <a:t>3</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725" b="0">
                          <a:solidFill>
                            <a:srgbClr val="202B33"/>
                          </a:solidFill>
                          <a:latin typeface="Arial"/>
                          <a:ea typeface="Arial"/>
                          <a:cs typeface="Arial"/>
                        </a:rPr>
                        <a:t>Fichte</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725" b="0">
                          <a:solidFill>
                            <a:srgbClr val="202B33"/>
                          </a:solidFill>
                          <a:latin typeface="Arial"/>
                          <a:ea typeface="Arial"/>
                          <a:cs typeface="Arial"/>
                        </a:rPr>
                        <a:t>10</a:t>
                      </a:r>
                    </a:p>
                  </a:txBody>
                  <a:tcPr marL="95250" marR="66675" marT="28575" marB="28575" anchor="ctr">
                    <a:lnR w="6668">
                      <a:solidFill>
                        <a:srgbClr val="CBD8E1"/>
                      </a:solidFill>
                    </a:lnR>
                    <a:lnB w="6668">
                      <a:solidFill>
                        <a:srgbClr val="CBD8E1"/>
                      </a:solidFill>
                    </a:lnB>
                    <a:solidFill>
                      <a:srgbClr val="FFFFFF"/>
                    </a:solidFill>
                  </a:tcPr>
                </a:tc>
              </a:tr>
              <a:tr h="438150">
                <a:tc>
                  <a:txBody>
                    <a:bodyPr/>
                    <a:lstStyle/>
                    <a:p>
                      <a:r>
                        <a:rPr sz="1725" b="0">
                          <a:solidFill>
                            <a:srgbClr val="202B33"/>
                          </a:solidFill>
                          <a:latin typeface="Arial"/>
                          <a:ea typeface="Arial"/>
                          <a:cs typeface="Arial"/>
                        </a:rPr>
                        <a:t>Feuerbach</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725" b="0">
                          <a:solidFill>
                            <a:srgbClr val="202B33"/>
                          </a:solidFill>
                          <a:latin typeface="Arial"/>
                          <a:ea typeface="Arial"/>
                          <a:cs typeface="Arial"/>
                        </a:rPr>
                        <a:t>2</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725" b="0">
                          <a:solidFill>
                            <a:srgbClr val="202B33"/>
                          </a:solidFill>
                          <a:latin typeface="Arial"/>
                          <a:ea typeface="Arial"/>
                          <a:cs typeface="Arial"/>
                        </a:rPr>
                        <a:t>Fichte</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725" b="0">
                          <a:solidFill>
                            <a:srgbClr val="202B33"/>
                          </a:solidFill>
                          <a:latin typeface="Arial"/>
                          <a:ea typeface="Arial"/>
                          <a:cs typeface="Arial"/>
                        </a:rPr>
                        <a:t>10</a:t>
                      </a:r>
                    </a:p>
                  </a:txBody>
                  <a:tcPr marL="95250" marR="66675" marT="28575" marB="28575" anchor="ctr">
                    <a:lnR w="6668">
                      <a:solidFill>
                        <a:srgbClr val="CBD8E1"/>
                      </a:solidFill>
                    </a:lnR>
                    <a:lnB w="6668">
                      <a:solidFill>
                        <a:srgbClr val="CBD8E1"/>
                      </a:solidFill>
                    </a:lnB>
                    <a:solidFill>
                      <a:srgbClr val="EDF4F9"/>
                    </a:solidFill>
                  </a:tcPr>
                </a:tc>
              </a:tr>
              <a:tr h="438150">
                <a:tc>
                  <a:txBody>
                    <a:bodyPr/>
                    <a:lstStyle/>
                    <a:p>
                      <a:r>
                        <a:rPr sz="1725" b="0">
                          <a:solidFill>
                            <a:srgbClr val="202B33"/>
                          </a:solidFill>
                          <a:latin typeface="Arial"/>
                          <a:ea typeface="Arial"/>
                          <a:cs typeface="Arial"/>
                        </a:rPr>
                        <a:t>Feuerbach</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725" b="0">
                          <a:solidFill>
                            <a:srgbClr val="202B33"/>
                          </a:solidFill>
                          <a:latin typeface="Arial"/>
                          <a:ea typeface="Arial"/>
                          <a:cs typeface="Arial"/>
                        </a:rPr>
                        <a:t>2</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725" b="0">
                          <a:solidFill>
                            <a:srgbClr val="202B33"/>
                          </a:solidFill>
                          <a:latin typeface="Arial"/>
                          <a:ea typeface="Arial"/>
                          <a:cs typeface="Arial"/>
                        </a:rPr>
                        <a:t>Carnap</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725" b="0">
                          <a:solidFill>
                            <a:srgbClr val="202B33"/>
                          </a:solidFill>
                          <a:latin typeface="Arial"/>
                          <a:ea typeface="Arial"/>
                          <a:cs typeface="Arial"/>
                        </a:rPr>
                        <a:t>3</a:t>
                      </a:r>
                    </a:p>
                  </a:txBody>
                  <a:tcPr marL="95250" marR="66675" marT="28575" marB="28575" anchor="ctr">
                    <a:lnR w="6668">
                      <a:solidFill>
                        <a:srgbClr val="CBD8E1"/>
                      </a:solidFill>
                    </a:lnR>
                    <a:lnB w="6668">
                      <a:solidFill>
                        <a:srgbClr val="CBD8E1"/>
                      </a:solidFill>
                    </a:lnB>
                    <a:solidFill>
                      <a:srgbClr val="FFFFFF"/>
                    </a:solidFill>
                  </a:tcPr>
                </a:tc>
              </a:tr>
            </a:tbl>
          </a:graphicData>
        </a:graphic>
      </p:graphicFrame>
      <p:sp>
        <p:nvSpPr>
          <p:cNvPr id="17" name="">
            <a:extLst xmlns:a="http://schemas.openxmlformats.org/drawingml/2006/main">
              <a:ext uri="{FF2B5EF4-FFF2-40B4-BE49-F238E27FC236}">
                <a16:creationId xmlns:a16="http://schemas.microsoft.com/office/drawing/2014/main" id="{08ABC463-EC71-411F-B568-DAF255A319EC}"/>
              </a:ext>
            </a:extLst>
          </p:cNvPr>
          <p:cNvSpPr>
            <a:spLocks xmlns:a="http://schemas.openxmlformats.org/drawingml/2006/main" noGrp="1"/>
          </p:cNvSpPr>
          <p:nvPr/>
        </p:nvSpPr>
        <p:spPr>
          <a:xfrm xmlns:a="http://schemas.openxmlformats.org/drawingml/2006/main">
            <a:off x="609600" y="55340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5293"/>
                </a:solidFill>
                <a:latin typeface="Arial"/>
                <a:ea typeface="Arial"/>
                <a:cs typeface="Arial"/>
              </a:defRPr>
            </a:defPPr>
            <a:lvl1pPr>
              <a:defRPr sz="2100" b="1">
                <a:solidFill>
                  <a:srgbClr val="005293"/>
                </a:solidFill>
                <a:latin typeface="Arial"/>
                <a:ea typeface="Arial"/>
                <a:cs typeface="Arial"/>
              </a:defRPr>
            </a:lvl1pPr>
            <a:lvl2pPr>
              <a:defRPr sz="2100" b="1">
                <a:solidFill>
                  <a:srgbClr val="005293"/>
                </a:solidFill>
                <a:latin typeface="Arial"/>
                <a:ea typeface="Arial"/>
                <a:cs typeface="Arial"/>
              </a:defRPr>
            </a:lvl2pPr>
            <a:lvl3pPr>
              <a:defRPr sz="2100" b="1">
                <a:solidFill>
                  <a:srgbClr val="005293"/>
                </a:solidFill>
                <a:latin typeface="Arial"/>
                <a:ea typeface="Arial"/>
                <a:cs typeface="Arial"/>
              </a:defRPr>
            </a:lvl3pPr>
            <a:lvl4pPr>
              <a:defRPr sz="2100" b="1">
                <a:solidFill>
                  <a:srgbClr val="005293"/>
                </a:solidFill>
                <a:latin typeface="Arial"/>
                <a:ea typeface="Arial"/>
                <a:cs typeface="Arial"/>
              </a:defRPr>
            </a:lvl4pPr>
            <a:lvl5pPr>
              <a:defRPr sz="2100" b="1">
                <a:solidFill>
                  <a:srgbClr val="005293"/>
                </a:solidFill>
                <a:latin typeface="Arial"/>
                <a:ea typeface="Arial"/>
                <a:cs typeface="Arial"/>
              </a:defRPr>
            </a:lvl5pPr>
            <a:lvl6pPr>
              <a:defRPr sz="2100" b="1">
                <a:solidFill>
                  <a:srgbClr val="005293"/>
                </a:solidFill>
                <a:latin typeface="Arial"/>
                <a:ea typeface="Arial"/>
                <a:cs typeface="Arial"/>
              </a:defRPr>
            </a:lvl6pPr>
            <a:lvl7pPr>
              <a:defRPr sz="2100" b="1">
                <a:solidFill>
                  <a:srgbClr val="005293"/>
                </a:solidFill>
                <a:latin typeface="Arial"/>
                <a:ea typeface="Arial"/>
                <a:cs typeface="Arial"/>
              </a:defRPr>
            </a:lvl7pPr>
            <a:lvl8pPr>
              <a:defRPr sz="2100" b="1">
                <a:solidFill>
                  <a:srgbClr val="005293"/>
                </a:solidFill>
                <a:latin typeface="Arial"/>
                <a:ea typeface="Arial"/>
                <a:cs typeface="Arial"/>
              </a:defRPr>
            </a:lvl8pPr>
            <a:lvl9pPr>
              <a:defRPr sz="2100" b="1">
                <a:solidFill>
                  <a:srgbClr val="005293"/>
                </a:solidFill>
                <a:latin typeface="Arial"/>
                <a:ea typeface="Arial"/>
                <a:cs typeface="Arial"/>
              </a:defRPr>
            </a:lvl9pPr>
          </a:lstStyle>
          <a:p xmlns:a="http://schemas.openxmlformats.org/drawingml/2006/main">
            <a:pPr>
              <a:defRPr sz="2100" b="1">
                <a:solidFill>
                  <a:srgbClr val="005293"/>
                </a:solidFill>
                <a:latin typeface="Arial"/>
                <a:ea typeface="Arial"/>
                <a:cs typeface="Arial"/>
              </a:defRPr>
            </a:pPr>
            <a:r>
              <a:rPr sz="2100" b="1">
                <a:solidFill>
                  <a:srgbClr val="005293"/>
                </a:solidFill>
                <a:latin typeface="Arial"/>
                <a:ea typeface="Arial"/>
                <a:cs typeface="Arial"/>
              </a:rPr>
              <a:t>Die Bedingung muss für das gesamte Tupelpaar gelten.</a:t>
            </a:r>
          </a:p>
        </p:txBody>
      </p:sp>
    </p:spTree>
    <p:extLst>
      <p:ext uri="{BB962C8B-B14F-4D97-AF65-F5344CB8AC3E}">
        <p14:creationId xmlns:p14="http://schemas.microsoft.com/office/powerpoint/2010/main" val="2165946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AD1B2F8-27F5-4998-9AA2-3CE8B0F6F4D0}"/>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Equi-Join</a:t>
            </a:r>
          </a:p>
        </p:txBody>
      </p:sp>
      <p:sp>
        <p:nvSpPr>
          <p:cNvPr id="2" name="">
            <a:extLst xmlns:a="http://schemas.openxmlformats.org/drawingml/2006/main">
              <a:ext uri="{FF2B5EF4-FFF2-40B4-BE49-F238E27FC236}">
                <a16:creationId xmlns:a16="http://schemas.microsoft.com/office/drawing/2014/main" id="{7F7FE2F6-A1B9-4D5E-822E-C8E0B69603C2}"/>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F53FC6E1-526A-4EC0-9913-8F25B1130491}"/>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04AB8575-9584-4F58-A260-AD090B7AFDA6}"/>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22–23, 25</a:t>
            </a:r>
          </a:p>
        </p:txBody>
      </p:sp>
      <p:sp>
        <p:nvSpPr>
          <p:cNvPr id="5" name="">
            <a:extLst xmlns:a="http://schemas.openxmlformats.org/drawingml/2006/main">
              <a:ext uri="{FF2B5EF4-FFF2-40B4-BE49-F238E27FC236}">
                <a16:creationId xmlns:a16="http://schemas.microsoft.com/office/drawing/2014/main" id="{8FF5734B-12D3-4B9A-99C2-1219E05974DD}"/>
              </a:ext>
            </a:extLst>
          </p:cNvPr>
          <p:cNvSpPr>
            <a:spLocks xmlns:a="http://schemas.openxmlformats.org/drawingml/2006/main" noGrp="1"/>
          </p:cNvSpPr>
          <p:nvPr/>
        </p:nvSpPr>
        <p:spPr>
          <a:xfrm xmlns:a="http://schemas.openxmlformats.org/drawingml/2006/main">
            <a:off x="609600" y="1428750"/>
            <a:ext cx="723138"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3000" b="0">
                <a:solidFill>
                  <a:srgbClr val="005293"/>
                </a:solidFill>
                <a:latin typeface="STIX Two Math"/>
                <a:ea typeface="STIX Two Math"/>
                <a:cs typeface="STIX Two Math"/>
              </a:defRPr>
            </a:defPPr>
            <a:lvl1pPr>
              <a:defRPr sz="3000" b="0">
                <a:solidFill>
                  <a:srgbClr val="005293"/>
                </a:solidFill>
                <a:latin typeface="STIX Two Math"/>
                <a:ea typeface="STIX Two Math"/>
                <a:cs typeface="STIX Two Math"/>
              </a:defRPr>
            </a:lvl1pPr>
            <a:lvl2pPr>
              <a:defRPr sz="3000" b="0">
                <a:solidFill>
                  <a:srgbClr val="005293"/>
                </a:solidFill>
                <a:latin typeface="STIX Two Math"/>
                <a:ea typeface="STIX Two Math"/>
                <a:cs typeface="STIX Two Math"/>
              </a:defRPr>
            </a:lvl2pPr>
            <a:lvl3pPr>
              <a:defRPr sz="3000" b="0">
                <a:solidFill>
                  <a:srgbClr val="005293"/>
                </a:solidFill>
                <a:latin typeface="STIX Two Math"/>
                <a:ea typeface="STIX Two Math"/>
                <a:cs typeface="STIX Two Math"/>
              </a:defRPr>
            </a:lvl3pPr>
            <a:lvl4pPr>
              <a:defRPr sz="3000" b="0">
                <a:solidFill>
                  <a:srgbClr val="005293"/>
                </a:solidFill>
                <a:latin typeface="STIX Two Math"/>
                <a:ea typeface="STIX Two Math"/>
                <a:cs typeface="STIX Two Math"/>
              </a:defRPr>
            </a:lvl4pPr>
            <a:lvl5pPr>
              <a:defRPr sz="3000" b="0">
                <a:solidFill>
                  <a:srgbClr val="005293"/>
                </a:solidFill>
                <a:latin typeface="STIX Two Math"/>
                <a:ea typeface="STIX Two Math"/>
                <a:cs typeface="STIX Two Math"/>
              </a:defRPr>
            </a:lvl5pPr>
            <a:lvl6pPr>
              <a:defRPr sz="3000" b="0">
                <a:solidFill>
                  <a:srgbClr val="005293"/>
                </a:solidFill>
                <a:latin typeface="STIX Two Math"/>
                <a:ea typeface="STIX Two Math"/>
                <a:cs typeface="STIX Two Math"/>
              </a:defRPr>
            </a:lvl6pPr>
            <a:lvl7pPr>
              <a:defRPr sz="3000" b="0">
                <a:solidFill>
                  <a:srgbClr val="005293"/>
                </a:solidFill>
                <a:latin typeface="STIX Two Math"/>
                <a:ea typeface="STIX Two Math"/>
                <a:cs typeface="STIX Two Math"/>
              </a:defRPr>
            </a:lvl7pPr>
            <a:lvl8pPr>
              <a:defRPr sz="3000" b="0">
                <a:solidFill>
                  <a:srgbClr val="005293"/>
                </a:solidFill>
                <a:latin typeface="STIX Two Math"/>
                <a:ea typeface="STIX Two Math"/>
                <a:cs typeface="STIX Two Math"/>
              </a:defRPr>
            </a:lvl8pPr>
            <a:lvl9pPr>
              <a:defRPr sz="3000" b="0">
                <a:solidFill>
                  <a:srgbClr val="005293"/>
                </a:solidFill>
                <a:latin typeface="STIX Two Math"/>
                <a:ea typeface="STIX Two Math"/>
                <a:cs typeface="STIX Two Math"/>
              </a:defRPr>
            </a:lvl9pPr>
          </a:lstStyle>
          <a:p xmlns:a="http://schemas.openxmlformats.org/drawingml/2006/main">
            <a:pPr>
              <a:defRPr sz="3000" b="0">
                <a:solidFill>
                  <a:srgbClr val="005293"/>
                </a:solidFill>
                <a:latin typeface="STIX Two Math"/>
                <a:ea typeface="STIX Two Math"/>
                <a:cs typeface="STIX Two Math"/>
              </a:defRPr>
            </a:pPr>
            <a:r>
              <a:rPr sz="3000" b="0">
                <a:solidFill>
                  <a:srgbClr val="005293"/>
                </a:solidFill>
                <a:latin typeface="STIX Two Math"/>
                <a:ea typeface="STIX Two Math"/>
                <a:cs typeface="STIX Two Math"/>
              </a:rPr>
              <a:t>R ⋈</a:t>
            </a:r>
          </a:p>
        </p:txBody>
      </p:sp>
      <p:sp>
        <p:nvSpPr>
          <p:cNvPr id="6" name="">
            <a:extLst xmlns:a="http://schemas.openxmlformats.org/drawingml/2006/main">
              <a:ext uri="{FF2B5EF4-FFF2-40B4-BE49-F238E27FC236}">
                <a16:creationId xmlns:a16="http://schemas.microsoft.com/office/drawing/2014/main" id="{744A1285-89A6-4702-8635-690709567FFE}"/>
              </a:ext>
            </a:extLst>
          </p:cNvPr>
          <p:cNvSpPr>
            <a:spLocks xmlns:a="http://schemas.openxmlformats.org/drawingml/2006/main" noGrp="1"/>
          </p:cNvSpPr>
          <p:nvPr/>
        </p:nvSpPr>
        <p:spPr>
          <a:xfrm xmlns:a="http://schemas.openxmlformats.org/drawingml/2006/main">
            <a:off x="1285113" y="1645920"/>
            <a:ext cx="1101604" cy="4086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1950" b="0">
                <a:solidFill>
                  <a:srgbClr val="005293"/>
                </a:solidFill>
                <a:latin typeface="STIX Two Math"/>
                <a:ea typeface="STIX Two Math"/>
                <a:cs typeface="STIX Two Math"/>
              </a:defRPr>
            </a:defPPr>
            <a:lvl1pPr>
              <a:defRPr sz="1950" b="0">
                <a:solidFill>
                  <a:srgbClr val="005293"/>
                </a:solidFill>
                <a:latin typeface="STIX Two Math"/>
                <a:ea typeface="STIX Two Math"/>
                <a:cs typeface="STIX Two Math"/>
              </a:defRPr>
            </a:lvl1pPr>
            <a:lvl2pPr>
              <a:defRPr sz="1950" b="0">
                <a:solidFill>
                  <a:srgbClr val="005293"/>
                </a:solidFill>
                <a:latin typeface="STIX Two Math"/>
                <a:ea typeface="STIX Two Math"/>
                <a:cs typeface="STIX Two Math"/>
              </a:defRPr>
            </a:lvl2pPr>
            <a:lvl3pPr>
              <a:defRPr sz="1950" b="0">
                <a:solidFill>
                  <a:srgbClr val="005293"/>
                </a:solidFill>
                <a:latin typeface="STIX Two Math"/>
                <a:ea typeface="STIX Two Math"/>
                <a:cs typeface="STIX Two Math"/>
              </a:defRPr>
            </a:lvl3pPr>
            <a:lvl4pPr>
              <a:defRPr sz="1950" b="0">
                <a:solidFill>
                  <a:srgbClr val="005293"/>
                </a:solidFill>
                <a:latin typeface="STIX Two Math"/>
                <a:ea typeface="STIX Two Math"/>
                <a:cs typeface="STIX Two Math"/>
              </a:defRPr>
            </a:lvl4pPr>
            <a:lvl5pPr>
              <a:defRPr sz="1950" b="0">
                <a:solidFill>
                  <a:srgbClr val="005293"/>
                </a:solidFill>
                <a:latin typeface="STIX Two Math"/>
                <a:ea typeface="STIX Two Math"/>
                <a:cs typeface="STIX Two Math"/>
              </a:defRPr>
            </a:lvl5pPr>
            <a:lvl6pPr>
              <a:defRPr sz="1950" b="0">
                <a:solidFill>
                  <a:srgbClr val="005293"/>
                </a:solidFill>
                <a:latin typeface="STIX Two Math"/>
                <a:ea typeface="STIX Two Math"/>
                <a:cs typeface="STIX Two Math"/>
              </a:defRPr>
            </a:lvl6pPr>
            <a:lvl7pPr>
              <a:defRPr sz="1950" b="0">
                <a:solidFill>
                  <a:srgbClr val="005293"/>
                </a:solidFill>
                <a:latin typeface="STIX Two Math"/>
                <a:ea typeface="STIX Two Math"/>
                <a:cs typeface="STIX Two Math"/>
              </a:defRPr>
            </a:lvl7pPr>
            <a:lvl8pPr>
              <a:defRPr sz="1950" b="0">
                <a:solidFill>
                  <a:srgbClr val="005293"/>
                </a:solidFill>
                <a:latin typeface="STIX Two Math"/>
                <a:ea typeface="STIX Two Math"/>
                <a:cs typeface="STIX Two Math"/>
              </a:defRPr>
            </a:lvl8pPr>
            <a:lvl9pPr>
              <a:defRPr sz="1950" b="0">
                <a:solidFill>
                  <a:srgbClr val="005293"/>
                </a:solidFill>
                <a:latin typeface="STIX Two Math"/>
                <a:ea typeface="STIX Two Math"/>
                <a:cs typeface="STIX Two Math"/>
              </a:defRPr>
            </a:lvl9pPr>
          </a:lstStyle>
          <a:p xmlns:a="http://schemas.openxmlformats.org/drawingml/2006/main">
            <a:pPr>
              <a:defRPr sz="1950" b="0">
                <a:solidFill>
                  <a:srgbClr val="005293"/>
                </a:solidFill>
                <a:latin typeface="STIX Two Math"/>
                <a:ea typeface="STIX Two Math"/>
                <a:cs typeface="STIX Two Math"/>
              </a:defRPr>
            </a:pPr>
            <a:r>
              <a:rPr sz="1950" b="0">
                <a:solidFill>
                  <a:srgbClr val="005293"/>
                </a:solidFill>
                <a:latin typeface="STIX Two Math"/>
                <a:ea typeface="STIX Two Math"/>
                <a:cs typeface="STIX Two Math"/>
              </a:rPr>
              <a:t>R.A = S.B</a:t>
            </a:r>
          </a:p>
        </p:txBody>
      </p:sp>
      <p:sp>
        <p:nvSpPr>
          <p:cNvPr id="7" name="">
            <a:extLst xmlns:a="http://schemas.openxmlformats.org/drawingml/2006/main">
              <a:ext uri="{FF2B5EF4-FFF2-40B4-BE49-F238E27FC236}">
                <a16:creationId xmlns:a16="http://schemas.microsoft.com/office/drawing/2014/main" id="{AA085462-9020-4483-ACCC-5EEFB59D0F60}"/>
              </a:ext>
            </a:extLst>
          </p:cNvPr>
          <p:cNvSpPr>
            <a:spLocks xmlns:a="http://schemas.openxmlformats.org/drawingml/2006/main" noGrp="1"/>
          </p:cNvSpPr>
          <p:nvPr/>
        </p:nvSpPr>
        <p:spPr>
          <a:xfrm xmlns:a="http://schemas.openxmlformats.org/drawingml/2006/main">
            <a:off x="2339092" y="1428750"/>
            <a:ext cx="348234"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3000" b="0">
                <a:solidFill>
                  <a:srgbClr val="005293"/>
                </a:solidFill>
                <a:latin typeface="STIX Two Math"/>
                <a:ea typeface="STIX Two Math"/>
                <a:cs typeface="STIX Two Math"/>
              </a:defRPr>
            </a:defPPr>
            <a:lvl1pPr>
              <a:defRPr sz="3000" b="0">
                <a:solidFill>
                  <a:srgbClr val="005293"/>
                </a:solidFill>
                <a:latin typeface="STIX Two Math"/>
                <a:ea typeface="STIX Two Math"/>
                <a:cs typeface="STIX Two Math"/>
              </a:defRPr>
            </a:lvl1pPr>
            <a:lvl2pPr>
              <a:defRPr sz="3000" b="0">
                <a:solidFill>
                  <a:srgbClr val="005293"/>
                </a:solidFill>
                <a:latin typeface="STIX Two Math"/>
                <a:ea typeface="STIX Two Math"/>
                <a:cs typeface="STIX Two Math"/>
              </a:defRPr>
            </a:lvl2pPr>
            <a:lvl3pPr>
              <a:defRPr sz="3000" b="0">
                <a:solidFill>
                  <a:srgbClr val="005293"/>
                </a:solidFill>
                <a:latin typeface="STIX Two Math"/>
                <a:ea typeface="STIX Two Math"/>
                <a:cs typeface="STIX Two Math"/>
              </a:defRPr>
            </a:lvl3pPr>
            <a:lvl4pPr>
              <a:defRPr sz="3000" b="0">
                <a:solidFill>
                  <a:srgbClr val="005293"/>
                </a:solidFill>
                <a:latin typeface="STIX Two Math"/>
                <a:ea typeface="STIX Two Math"/>
                <a:cs typeface="STIX Two Math"/>
              </a:defRPr>
            </a:lvl4pPr>
            <a:lvl5pPr>
              <a:defRPr sz="3000" b="0">
                <a:solidFill>
                  <a:srgbClr val="005293"/>
                </a:solidFill>
                <a:latin typeface="STIX Two Math"/>
                <a:ea typeface="STIX Two Math"/>
                <a:cs typeface="STIX Two Math"/>
              </a:defRPr>
            </a:lvl5pPr>
            <a:lvl6pPr>
              <a:defRPr sz="3000" b="0">
                <a:solidFill>
                  <a:srgbClr val="005293"/>
                </a:solidFill>
                <a:latin typeface="STIX Two Math"/>
                <a:ea typeface="STIX Two Math"/>
                <a:cs typeface="STIX Two Math"/>
              </a:defRPr>
            </a:lvl6pPr>
            <a:lvl7pPr>
              <a:defRPr sz="3000" b="0">
                <a:solidFill>
                  <a:srgbClr val="005293"/>
                </a:solidFill>
                <a:latin typeface="STIX Two Math"/>
                <a:ea typeface="STIX Two Math"/>
                <a:cs typeface="STIX Two Math"/>
              </a:defRPr>
            </a:lvl7pPr>
            <a:lvl8pPr>
              <a:defRPr sz="3000" b="0">
                <a:solidFill>
                  <a:srgbClr val="005293"/>
                </a:solidFill>
                <a:latin typeface="STIX Two Math"/>
                <a:ea typeface="STIX Two Math"/>
                <a:cs typeface="STIX Two Math"/>
              </a:defRPr>
            </a:lvl8pPr>
            <a:lvl9pPr>
              <a:defRPr sz="3000" b="0">
                <a:solidFill>
                  <a:srgbClr val="005293"/>
                </a:solidFill>
                <a:latin typeface="STIX Two Math"/>
                <a:ea typeface="STIX Two Math"/>
                <a:cs typeface="STIX Two Math"/>
              </a:defRPr>
            </a:lvl9pPr>
          </a:lstStyle>
          <a:p xmlns:a="http://schemas.openxmlformats.org/drawingml/2006/main">
            <a:pPr>
              <a:defRPr sz="3000" b="0">
                <a:solidFill>
                  <a:srgbClr val="005293"/>
                </a:solidFill>
                <a:latin typeface="STIX Two Math"/>
                <a:ea typeface="STIX Two Math"/>
                <a:cs typeface="STIX Two Math"/>
              </a:defRPr>
            </a:pPr>
            <a:r>
              <a:rPr sz="3000" b="0">
                <a:solidFill>
                  <a:srgbClr val="005293"/>
                </a:solidFill>
                <a:latin typeface="STIX Two Math"/>
                <a:ea typeface="STIX Two Math"/>
                <a:cs typeface="STIX Two Math"/>
              </a:rPr>
              <a:t> S</a:t>
            </a:r>
          </a:p>
        </p:txBody>
      </p:sp>
      <p:sp>
        <p:nvSpPr>
          <p:cNvPr id="8" name="">
            <a:extLst xmlns:a="http://schemas.openxmlformats.org/drawingml/2006/main">
              <a:ext uri="{FF2B5EF4-FFF2-40B4-BE49-F238E27FC236}">
                <a16:creationId xmlns:a16="http://schemas.microsoft.com/office/drawing/2014/main" id="{12FCDB6D-48E0-4701-9883-90D50A81DE00}"/>
              </a:ext>
            </a:extLst>
          </p:cNvPr>
          <p:cNvSpPr>
            <a:spLocks xmlns:a="http://schemas.openxmlformats.org/drawingml/2006/main" noGrp="1"/>
          </p:cNvSpPr>
          <p:nvPr/>
        </p:nvSpPr>
        <p:spPr>
          <a:xfrm xmlns:a="http://schemas.openxmlformats.org/drawingml/2006/main">
            <a:off x="609600" y="24765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Spezialfall des Theta-Joins: die Joinbedingung verwendet nur Gleichheit.</a:t>
            </a:r>
          </a:p>
        </p:txBody>
      </p:sp>
      <p:sp>
        <p:nvSpPr>
          <p:cNvPr id="9" name="">
            <a:extLst xmlns:a="http://schemas.openxmlformats.org/drawingml/2006/main">
              <a:ext uri="{FF2B5EF4-FFF2-40B4-BE49-F238E27FC236}">
                <a16:creationId xmlns:a16="http://schemas.microsoft.com/office/drawing/2014/main" id="{BCF3C31E-656C-4A77-85BF-3E86A5690041}"/>
              </a:ext>
            </a:extLst>
          </p:cNvPr>
          <p:cNvSpPr>
            <a:spLocks xmlns:a="http://schemas.openxmlformats.org/drawingml/2006/main" noGrp="1"/>
          </p:cNvSpPr>
          <p:nvPr/>
        </p:nvSpPr>
        <p:spPr>
          <a:xfrm xmlns:a="http://schemas.openxmlformats.org/drawingml/2006/main">
            <a:off x="609600" y="34290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Die verglichenen Attribute dürfen unterschiedlich heißen.</a:t>
            </a:r>
          </a:p>
        </p:txBody>
      </p:sp>
      <p:sp>
        <p:nvSpPr>
          <p:cNvPr id="10" name="">
            <a:extLst xmlns:a="http://schemas.openxmlformats.org/drawingml/2006/main">
              <a:ext uri="{FF2B5EF4-FFF2-40B4-BE49-F238E27FC236}">
                <a16:creationId xmlns:a16="http://schemas.microsoft.com/office/drawing/2014/main" id="{CD7BA59F-DA53-415F-AC6C-4487E810D0B2}"/>
              </a:ext>
            </a:extLst>
          </p:cNvPr>
          <p:cNvSpPr>
            <a:spLocks xmlns:a="http://schemas.openxmlformats.org/drawingml/2006/main" noGrp="1"/>
          </p:cNvSpPr>
          <p:nvPr/>
        </p:nvSpPr>
        <p:spPr>
          <a:xfrm xmlns:a="http://schemas.openxmlformats.org/drawingml/2006/main">
            <a:off x="609600" y="43815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Beide Joinattribute bleiben zunächst im Ergebnis erhalten.</a:t>
            </a:r>
          </a:p>
        </p:txBody>
      </p:sp>
    </p:spTree>
    <p:extLst>
      <p:ext uri="{BB962C8B-B14F-4D97-AF65-F5344CB8AC3E}">
        <p14:creationId xmlns:p14="http://schemas.microsoft.com/office/powerpoint/2010/main" val="30867965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D8A6447-3C92-4675-A924-6838C30AEB34}"/>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Equi-Join: zuständige Professoren</a:t>
            </a:r>
          </a:p>
        </p:txBody>
      </p:sp>
      <p:sp>
        <p:nvSpPr>
          <p:cNvPr id="2" name="">
            <a:extLst xmlns:a="http://schemas.openxmlformats.org/drawingml/2006/main">
              <a:ext uri="{FF2B5EF4-FFF2-40B4-BE49-F238E27FC236}">
                <a16:creationId xmlns:a16="http://schemas.microsoft.com/office/drawing/2014/main" id="{C066BAC3-E90B-4B3A-A595-43F14108F56A}"/>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7660DE53-F120-4013-A6E9-4638CF800DB3}"/>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79D80B9F-E3A1-4949-BECB-4399849592BF}"/>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23</a:t>
            </a:r>
          </a:p>
        </p:txBody>
      </p:sp>
      <p:sp>
        <p:nvSpPr>
          <p:cNvPr id="5" name="">
            <a:extLst xmlns:a="http://schemas.openxmlformats.org/drawingml/2006/main">
              <a:ext uri="{FF2B5EF4-FFF2-40B4-BE49-F238E27FC236}">
                <a16:creationId xmlns:a16="http://schemas.microsoft.com/office/drawing/2014/main" id="{75E151EB-12FC-47A8-A2B4-527367AA86A5}"/>
              </a:ext>
            </a:extLst>
          </p:cNvPr>
          <p:cNvSpPr>
            <a:spLocks xmlns:a="http://schemas.openxmlformats.org/drawingml/2006/main" noGrp="1"/>
          </p:cNvSpPr>
          <p:nvPr/>
        </p:nvSpPr>
        <p:spPr>
          <a:xfrm xmlns:a="http://schemas.openxmlformats.org/drawingml/2006/main">
            <a:off x="609600" y="12858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B33"/>
                </a:solidFill>
                <a:latin typeface="Arial"/>
                <a:ea typeface="Arial"/>
                <a:cs typeface="Arial"/>
              </a:defRPr>
            </a:defPPr>
            <a:lvl1pPr>
              <a:defRPr sz="1950" b="0">
                <a:solidFill>
                  <a:srgbClr val="202B33"/>
                </a:solidFill>
                <a:latin typeface="Arial"/>
                <a:ea typeface="Arial"/>
                <a:cs typeface="Arial"/>
              </a:defRPr>
            </a:lvl1pPr>
            <a:lvl2pPr>
              <a:defRPr sz="1950" b="0">
                <a:solidFill>
                  <a:srgbClr val="202B33"/>
                </a:solidFill>
                <a:latin typeface="Arial"/>
                <a:ea typeface="Arial"/>
                <a:cs typeface="Arial"/>
              </a:defRPr>
            </a:lvl2pPr>
            <a:lvl3pPr>
              <a:defRPr sz="1950" b="0">
                <a:solidFill>
                  <a:srgbClr val="202B33"/>
                </a:solidFill>
                <a:latin typeface="Arial"/>
                <a:ea typeface="Arial"/>
                <a:cs typeface="Arial"/>
              </a:defRPr>
            </a:lvl3pPr>
            <a:lvl4pPr>
              <a:defRPr sz="1950" b="0">
                <a:solidFill>
                  <a:srgbClr val="202B33"/>
                </a:solidFill>
                <a:latin typeface="Arial"/>
                <a:ea typeface="Arial"/>
                <a:cs typeface="Arial"/>
              </a:defRPr>
            </a:lvl4pPr>
            <a:lvl5pPr>
              <a:defRPr sz="1950" b="0">
                <a:solidFill>
                  <a:srgbClr val="202B33"/>
                </a:solidFill>
                <a:latin typeface="Arial"/>
                <a:ea typeface="Arial"/>
                <a:cs typeface="Arial"/>
              </a:defRPr>
            </a:lvl5pPr>
            <a:lvl6pPr>
              <a:defRPr sz="1950" b="0">
                <a:solidFill>
                  <a:srgbClr val="202B33"/>
                </a:solidFill>
                <a:latin typeface="Arial"/>
                <a:ea typeface="Arial"/>
                <a:cs typeface="Arial"/>
              </a:defRPr>
            </a:lvl6pPr>
            <a:lvl7pPr>
              <a:defRPr sz="1950" b="0">
                <a:solidFill>
                  <a:srgbClr val="202B33"/>
                </a:solidFill>
                <a:latin typeface="Arial"/>
                <a:ea typeface="Arial"/>
                <a:cs typeface="Arial"/>
              </a:defRPr>
            </a:lvl7pPr>
            <a:lvl8pPr>
              <a:defRPr sz="1950" b="0">
                <a:solidFill>
                  <a:srgbClr val="202B33"/>
                </a:solidFill>
                <a:latin typeface="Arial"/>
                <a:ea typeface="Arial"/>
                <a:cs typeface="Arial"/>
              </a:defRPr>
            </a:lvl8pPr>
            <a:lvl9pPr>
              <a:defRPr sz="1950" b="0">
                <a:solidFill>
                  <a:srgbClr val="202B33"/>
                </a:solidFill>
                <a:latin typeface="Arial"/>
                <a:ea typeface="Arial"/>
                <a:cs typeface="Arial"/>
              </a:defRPr>
            </a:lvl9pPr>
          </a:lstStyle>
          <a:p xmlns:a="http://schemas.openxmlformats.org/drawingml/2006/main">
            <a:pPr>
              <a:defRPr sz="1950" b="0">
                <a:solidFill>
                  <a:srgbClr val="202B33"/>
                </a:solidFill>
                <a:latin typeface="Arial"/>
                <a:ea typeface="Arial"/>
                <a:cs typeface="Arial"/>
              </a:defRPr>
            </a:pPr>
            <a:r>
              <a:rPr sz="1950" b="0">
                <a:solidFill>
                  <a:srgbClr val="202B33"/>
                </a:solidFill>
                <a:latin typeface="Arial"/>
                <a:ea typeface="Arial"/>
                <a:cs typeface="Arial"/>
              </a:rPr>
              <a:t>„Gib alle Vorlesungen zusammen mit den zuständigen Professoren aus.“</a:t>
            </a:r>
          </a:p>
        </p:txBody>
      </p:sp>
      <p:sp>
        <p:nvSpPr>
          <p:cNvPr id="6" name="">
            <a:extLst xmlns:a="http://schemas.openxmlformats.org/drawingml/2006/main">
              <a:ext uri="{FF2B5EF4-FFF2-40B4-BE49-F238E27FC236}">
                <a16:creationId xmlns:a16="http://schemas.microsoft.com/office/drawing/2014/main" id="{DB7BE6D6-C456-4BAA-8526-DCCBC2BADF9F}"/>
              </a:ext>
            </a:extLst>
          </p:cNvPr>
          <p:cNvSpPr>
            <a:spLocks xmlns:a="http://schemas.openxmlformats.org/drawingml/2006/main" noGrp="1"/>
          </p:cNvSpPr>
          <p:nvPr/>
        </p:nvSpPr>
        <p:spPr>
          <a:xfrm xmlns:a="http://schemas.openxmlformats.org/drawingml/2006/main">
            <a:off x="609600" y="1952625"/>
            <a:ext cx="2278380" cy="5657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2700" b="0">
                <a:solidFill>
                  <a:srgbClr val="005293"/>
                </a:solidFill>
                <a:latin typeface="STIX Two Math"/>
                <a:ea typeface="STIX Two Math"/>
                <a:cs typeface="STIX Two Math"/>
              </a:defRPr>
            </a:defPPr>
            <a:lvl1pPr>
              <a:defRPr sz="2700" b="0">
                <a:solidFill>
                  <a:srgbClr val="005293"/>
                </a:solidFill>
                <a:latin typeface="STIX Two Math"/>
                <a:ea typeface="STIX Two Math"/>
                <a:cs typeface="STIX Two Math"/>
              </a:defRPr>
            </a:lvl1pPr>
            <a:lvl2pPr>
              <a:defRPr sz="2700" b="0">
                <a:solidFill>
                  <a:srgbClr val="005293"/>
                </a:solidFill>
                <a:latin typeface="STIX Two Math"/>
                <a:ea typeface="STIX Two Math"/>
                <a:cs typeface="STIX Two Math"/>
              </a:defRPr>
            </a:lvl2pPr>
            <a:lvl3pPr>
              <a:defRPr sz="2700" b="0">
                <a:solidFill>
                  <a:srgbClr val="005293"/>
                </a:solidFill>
                <a:latin typeface="STIX Two Math"/>
                <a:ea typeface="STIX Two Math"/>
                <a:cs typeface="STIX Two Math"/>
              </a:defRPr>
            </a:lvl3pPr>
            <a:lvl4pPr>
              <a:defRPr sz="2700" b="0">
                <a:solidFill>
                  <a:srgbClr val="005293"/>
                </a:solidFill>
                <a:latin typeface="STIX Two Math"/>
                <a:ea typeface="STIX Two Math"/>
                <a:cs typeface="STIX Two Math"/>
              </a:defRPr>
            </a:lvl4pPr>
            <a:lvl5pPr>
              <a:defRPr sz="2700" b="0">
                <a:solidFill>
                  <a:srgbClr val="005293"/>
                </a:solidFill>
                <a:latin typeface="STIX Two Math"/>
                <a:ea typeface="STIX Two Math"/>
                <a:cs typeface="STIX Two Math"/>
              </a:defRPr>
            </a:lvl5pPr>
            <a:lvl6pPr>
              <a:defRPr sz="2700" b="0">
                <a:solidFill>
                  <a:srgbClr val="005293"/>
                </a:solidFill>
                <a:latin typeface="STIX Two Math"/>
                <a:ea typeface="STIX Two Math"/>
                <a:cs typeface="STIX Two Math"/>
              </a:defRPr>
            </a:lvl6pPr>
            <a:lvl7pPr>
              <a:defRPr sz="2700" b="0">
                <a:solidFill>
                  <a:srgbClr val="005293"/>
                </a:solidFill>
                <a:latin typeface="STIX Two Math"/>
                <a:ea typeface="STIX Two Math"/>
                <a:cs typeface="STIX Two Math"/>
              </a:defRPr>
            </a:lvl7pPr>
            <a:lvl8pPr>
              <a:defRPr sz="2700" b="0">
                <a:solidFill>
                  <a:srgbClr val="005293"/>
                </a:solidFill>
                <a:latin typeface="STIX Two Math"/>
                <a:ea typeface="STIX Two Math"/>
                <a:cs typeface="STIX Two Math"/>
              </a:defRPr>
            </a:lvl8pPr>
            <a:lvl9pPr>
              <a:defRPr sz="2700" b="0">
                <a:solidFill>
                  <a:srgbClr val="005293"/>
                </a:solidFill>
                <a:latin typeface="STIX Two Math"/>
                <a:ea typeface="STIX Two Math"/>
                <a:cs typeface="STIX Two Math"/>
              </a:defRPr>
            </a:lvl9pPr>
          </a:lstStyle>
          <a:p xmlns:a="http://schemas.openxmlformats.org/drawingml/2006/main">
            <a:pPr>
              <a:defRPr sz="2700" b="0">
                <a:solidFill>
                  <a:srgbClr val="005293"/>
                </a:solidFill>
                <a:latin typeface="STIX Two Math"/>
                <a:ea typeface="STIX Two Math"/>
                <a:cs typeface="STIX Two Math"/>
              </a:defRPr>
            </a:pPr>
            <a:r>
              <a:rPr sz="2700" b="0">
                <a:solidFill>
                  <a:srgbClr val="005293"/>
                </a:solidFill>
                <a:latin typeface="STIX Two Math"/>
                <a:ea typeface="STIX Two Math"/>
                <a:cs typeface="STIX Two Math"/>
              </a:rPr>
              <a:t>Vorlesungen ⋈</a:t>
            </a:r>
          </a:p>
        </p:txBody>
      </p:sp>
      <p:sp>
        <p:nvSpPr>
          <p:cNvPr id="7" name="">
            <a:extLst xmlns:a="http://schemas.openxmlformats.org/drawingml/2006/main">
              <a:ext uri="{FF2B5EF4-FFF2-40B4-BE49-F238E27FC236}">
                <a16:creationId xmlns:a16="http://schemas.microsoft.com/office/drawing/2014/main" id="{7DA74643-8C77-429C-A9E9-8438AA70BEA2}"/>
              </a:ext>
            </a:extLst>
          </p:cNvPr>
          <p:cNvSpPr>
            <a:spLocks xmlns:a="http://schemas.openxmlformats.org/drawingml/2006/main" noGrp="1"/>
          </p:cNvSpPr>
          <p:nvPr/>
        </p:nvSpPr>
        <p:spPr>
          <a:xfrm xmlns:a="http://schemas.openxmlformats.org/drawingml/2006/main">
            <a:off x="2840355" y="2148078"/>
            <a:ext cx="2077098" cy="367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1755" b="0">
                <a:solidFill>
                  <a:srgbClr val="005293"/>
                </a:solidFill>
                <a:latin typeface="STIX Two Math"/>
                <a:ea typeface="STIX Two Math"/>
                <a:cs typeface="STIX Two Math"/>
              </a:defRPr>
            </a:defPPr>
            <a:lvl1pPr>
              <a:defRPr sz="1755" b="0">
                <a:solidFill>
                  <a:srgbClr val="005293"/>
                </a:solidFill>
                <a:latin typeface="STIX Two Math"/>
                <a:ea typeface="STIX Two Math"/>
                <a:cs typeface="STIX Two Math"/>
              </a:defRPr>
            </a:lvl1pPr>
            <a:lvl2pPr>
              <a:defRPr sz="1755" b="0">
                <a:solidFill>
                  <a:srgbClr val="005293"/>
                </a:solidFill>
                <a:latin typeface="STIX Two Math"/>
                <a:ea typeface="STIX Two Math"/>
                <a:cs typeface="STIX Two Math"/>
              </a:defRPr>
            </a:lvl2pPr>
            <a:lvl3pPr>
              <a:defRPr sz="1755" b="0">
                <a:solidFill>
                  <a:srgbClr val="005293"/>
                </a:solidFill>
                <a:latin typeface="STIX Two Math"/>
                <a:ea typeface="STIX Two Math"/>
                <a:cs typeface="STIX Two Math"/>
              </a:defRPr>
            </a:lvl3pPr>
            <a:lvl4pPr>
              <a:defRPr sz="1755" b="0">
                <a:solidFill>
                  <a:srgbClr val="005293"/>
                </a:solidFill>
                <a:latin typeface="STIX Two Math"/>
                <a:ea typeface="STIX Two Math"/>
                <a:cs typeface="STIX Two Math"/>
              </a:defRPr>
            </a:lvl4pPr>
            <a:lvl5pPr>
              <a:defRPr sz="1755" b="0">
                <a:solidFill>
                  <a:srgbClr val="005293"/>
                </a:solidFill>
                <a:latin typeface="STIX Two Math"/>
                <a:ea typeface="STIX Two Math"/>
                <a:cs typeface="STIX Two Math"/>
              </a:defRPr>
            </a:lvl5pPr>
            <a:lvl6pPr>
              <a:defRPr sz="1755" b="0">
                <a:solidFill>
                  <a:srgbClr val="005293"/>
                </a:solidFill>
                <a:latin typeface="STIX Two Math"/>
                <a:ea typeface="STIX Two Math"/>
                <a:cs typeface="STIX Two Math"/>
              </a:defRPr>
            </a:lvl6pPr>
            <a:lvl7pPr>
              <a:defRPr sz="1755" b="0">
                <a:solidFill>
                  <a:srgbClr val="005293"/>
                </a:solidFill>
                <a:latin typeface="STIX Two Math"/>
                <a:ea typeface="STIX Two Math"/>
                <a:cs typeface="STIX Two Math"/>
              </a:defRPr>
            </a:lvl7pPr>
            <a:lvl8pPr>
              <a:defRPr sz="1755" b="0">
                <a:solidFill>
                  <a:srgbClr val="005293"/>
                </a:solidFill>
                <a:latin typeface="STIX Two Math"/>
                <a:ea typeface="STIX Two Math"/>
                <a:cs typeface="STIX Two Math"/>
              </a:defRPr>
            </a:lvl8pPr>
            <a:lvl9pPr>
              <a:defRPr sz="1755" b="0">
                <a:solidFill>
                  <a:srgbClr val="005293"/>
                </a:solidFill>
                <a:latin typeface="STIX Two Math"/>
                <a:ea typeface="STIX Two Math"/>
                <a:cs typeface="STIX Two Math"/>
              </a:defRPr>
            </a:lvl9pPr>
          </a:lstStyle>
          <a:p xmlns:a="http://schemas.openxmlformats.org/drawingml/2006/main">
            <a:pPr>
              <a:defRPr sz="1755" b="0">
                <a:solidFill>
                  <a:srgbClr val="005293"/>
                </a:solidFill>
                <a:latin typeface="STIX Two Math"/>
                <a:ea typeface="STIX Two Math"/>
                <a:cs typeface="STIX Two Math"/>
              </a:defRPr>
            </a:pPr>
            <a:r>
              <a:rPr sz="1755" b="0">
                <a:solidFill>
                  <a:srgbClr val="005293"/>
                </a:solidFill>
                <a:latin typeface="STIX Two Math"/>
                <a:ea typeface="STIX Two Math"/>
                <a:cs typeface="STIX Two Math"/>
              </a:rPr>
              <a:t>gelesenVon = PersNr</a:t>
            </a:r>
          </a:p>
        </p:txBody>
      </p:sp>
      <p:sp>
        <p:nvSpPr>
          <p:cNvPr id="8" name="">
            <a:extLst xmlns:a="http://schemas.openxmlformats.org/drawingml/2006/main">
              <a:ext uri="{FF2B5EF4-FFF2-40B4-BE49-F238E27FC236}">
                <a16:creationId xmlns:a16="http://schemas.microsoft.com/office/drawing/2014/main" id="{D5F6CD9F-B9DD-464E-814D-4A5D715C8E19}"/>
              </a:ext>
            </a:extLst>
          </p:cNvPr>
          <p:cNvSpPr>
            <a:spLocks xmlns:a="http://schemas.openxmlformats.org/drawingml/2006/main" noGrp="1"/>
          </p:cNvSpPr>
          <p:nvPr/>
        </p:nvSpPr>
        <p:spPr>
          <a:xfrm xmlns:a="http://schemas.openxmlformats.org/drawingml/2006/main">
            <a:off x="4869828" y="1952625"/>
            <a:ext cx="1847355" cy="5657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2700" b="0">
                <a:solidFill>
                  <a:srgbClr val="005293"/>
                </a:solidFill>
                <a:latin typeface="STIX Two Math"/>
                <a:ea typeface="STIX Two Math"/>
                <a:cs typeface="STIX Two Math"/>
              </a:defRPr>
            </a:defPPr>
            <a:lvl1pPr>
              <a:defRPr sz="2700" b="0">
                <a:solidFill>
                  <a:srgbClr val="005293"/>
                </a:solidFill>
                <a:latin typeface="STIX Two Math"/>
                <a:ea typeface="STIX Two Math"/>
                <a:cs typeface="STIX Two Math"/>
              </a:defRPr>
            </a:lvl1pPr>
            <a:lvl2pPr>
              <a:defRPr sz="2700" b="0">
                <a:solidFill>
                  <a:srgbClr val="005293"/>
                </a:solidFill>
                <a:latin typeface="STIX Two Math"/>
                <a:ea typeface="STIX Two Math"/>
                <a:cs typeface="STIX Two Math"/>
              </a:defRPr>
            </a:lvl2pPr>
            <a:lvl3pPr>
              <a:defRPr sz="2700" b="0">
                <a:solidFill>
                  <a:srgbClr val="005293"/>
                </a:solidFill>
                <a:latin typeface="STIX Two Math"/>
                <a:ea typeface="STIX Two Math"/>
                <a:cs typeface="STIX Two Math"/>
              </a:defRPr>
            </a:lvl3pPr>
            <a:lvl4pPr>
              <a:defRPr sz="2700" b="0">
                <a:solidFill>
                  <a:srgbClr val="005293"/>
                </a:solidFill>
                <a:latin typeface="STIX Two Math"/>
                <a:ea typeface="STIX Two Math"/>
                <a:cs typeface="STIX Two Math"/>
              </a:defRPr>
            </a:lvl4pPr>
            <a:lvl5pPr>
              <a:defRPr sz="2700" b="0">
                <a:solidFill>
                  <a:srgbClr val="005293"/>
                </a:solidFill>
                <a:latin typeface="STIX Two Math"/>
                <a:ea typeface="STIX Two Math"/>
                <a:cs typeface="STIX Two Math"/>
              </a:defRPr>
            </a:lvl5pPr>
            <a:lvl6pPr>
              <a:defRPr sz="2700" b="0">
                <a:solidFill>
                  <a:srgbClr val="005293"/>
                </a:solidFill>
                <a:latin typeface="STIX Two Math"/>
                <a:ea typeface="STIX Two Math"/>
                <a:cs typeface="STIX Two Math"/>
              </a:defRPr>
            </a:lvl6pPr>
            <a:lvl7pPr>
              <a:defRPr sz="2700" b="0">
                <a:solidFill>
                  <a:srgbClr val="005293"/>
                </a:solidFill>
                <a:latin typeface="STIX Two Math"/>
                <a:ea typeface="STIX Two Math"/>
                <a:cs typeface="STIX Two Math"/>
              </a:defRPr>
            </a:lvl7pPr>
            <a:lvl8pPr>
              <a:defRPr sz="2700" b="0">
                <a:solidFill>
                  <a:srgbClr val="005293"/>
                </a:solidFill>
                <a:latin typeface="STIX Two Math"/>
                <a:ea typeface="STIX Two Math"/>
                <a:cs typeface="STIX Two Math"/>
              </a:defRPr>
            </a:lvl8pPr>
            <a:lvl9pPr>
              <a:defRPr sz="2700" b="0">
                <a:solidFill>
                  <a:srgbClr val="005293"/>
                </a:solidFill>
                <a:latin typeface="STIX Two Math"/>
                <a:ea typeface="STIX Two Math"/>
                <a:cs typeface="STIX Two Math"/>
              </a:defRPr>
            </a:lvl9pPr>
          </a:lstStyle>
          <a:p xmlns:a="http://schemas.openxmlformats.org/drawingml/2006/main">
            <a:pPr>
              <a:defRPr sz="2700" b="0">
                <a:solidFill>
                  <a:srgbClr val="005293"/>
                </a:solidFill>
                <a:latin typeface="STIX Two Math"/>
                <a:ea typeface="STIX Two Math"/>
                <a:cs typeface="STIX Two Math"/>
              </a:defRPr>
            </a:pPr>
            <a:r>
              <a:rPr sz="2700" b="0">
                <a:solidFill>
                  <a:srgbClr val="005293"/>
                </a:solidFill>
                <a:latin typeface="STIX Two Math"/>
                <a:ea typeface="STIX Two Math"/>
                <a:cs typeface="STIX Two Math"/>
              </a:rPr>
              <a:t> Professoren</a:t>
            </a:r>
          </a:p>
        </p:txBody>
      </p:sp>
      <p:graphicFrame>
        <p:nvGraphicFramePr>
          <p:cNvPr id="9" name="">
            <a:extLst xmlns:a="http://schemas.openxmlformats.org/drawingml/2006/main">
              <a:ext uri="{FF2B5EF4-FFF2-40B4-BE49-F238E27FC236}">
                <a16:creationId xmlns:a16="http://schemas.microsoft.com/office/drawing/2014/main" id="{4FA99AD8-987D-460B-8798-78A6F51FFDB6}"/>
              </a:ext>
            </a:extLst>
          </p:cNvPr>
          <p:cNvGraphicFramePr/>
          <p:nvPr/>
        </p:nvGraphicFramePr>
        <p:xfrm>
          <a:off xmlns:a="http://schemas.openxmlformats.org/drawingml/2006/main" x="609600" y="3000375"/>
          <a:ext xmlns:a="http://schemas.openxmlformats.org/drawingml/2006/main" cx="10972800" cy="2381250"/>
        </p:xfrm>
        <a:graphic xmlns:a="http://schemas.openxmlformats.org/drawingml/2006/main">
          <a:graphicData uri="http://schemas.openxmlformats.org/drawingml/2006/table">
            <a:tbl>
              <a:tblPr/>
              <a:tblGrid>
                <a:gridCol w="2095500"/>
                <a:gridCol w="2857500"/>
                <a:gridCol w="2095500"/>
                <a:gridCol w="3924300"/>
              </a:tblGrid>
              <a:tr h="476250">
                <a:tc>
                  <a:txBody>
                    <a:bodyPr/>
                    <a:lstStyle/>
                    <a:p>
                      <a:r>
                        <a:rPr sz="2025" b="1">
                          <a:solidFill>
                            <a:srgbClr val="FFFFFF"/>
                          </a:solidFill>
                          <a:latin typeface="Arial"/>
                          <a:ea typeface="Arial"/>
                          <a:cs typeface="Arial"/>
                        </a:rPr>
                        <a:t>VorlNr</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2025" b="1">
                          <a:solidFill>
                            <a:srgbClr val="FFFFFF"/>
                          </a:solidFill>
                          <a:latin typeface="Arial"/>
                          <a:ea typeface="Arial"/>
                          <a:cs typeface="Arial"/>
                        </a:rPr>
                        <a:t>gelesenVon</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2025" b="1">
                          <a:solidFill>
                            <a:srgbClr val="FFFFFF"/>
                          </a:solidFill>
                          <a:latin typeface="Arial"/>
                          <a:ea typeface="Arial"/>
                          <a:cs typeface="Arial"/>
                        </a:rPr>
                        <a:t>PersNr</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2025" b="1">
                          <a:solidFill>
                            <a:srgbClr val="FFFFFF"/>
                          </a:solidFill>
                          <a:latin typeface="Arial"/>
                          <a:ea typeface="Arial"/>
                          <a:cs typeface="Arial"/>
                        </a:rPr>
                        <a:t>Name</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476250">
                <a:tc>
                  <a:txBody>
                    <a:bodyPr/>
                    <a:lstStyle/>
                    <a:p>
                      <a:r>
                        <a:rPr sz="2025" b="0">
                          <a:solidFill>
                            <a:srgbClr val="202B33"/>
                          </a:solidFill>
                          <a:latin typeface="Arial"/>
                          <a:ea typeface="Arial"/>
                          <a:cs typeface="Arial"/>
                        </a:rPr>
                        <a:t>5041</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2025" b="0">
                          <a:solidFill>
                            <a:srgbClr val="202B33"/>
                          </a:solidFill>
                          <a:latin typeface="Arial"/>
                          <a:ea typeface="Arial"/>
                          <a:cs typeface="Arial"/>
                        </a:rPr>
                        <a:t>2125</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2025" b="0">
                          <a:solidFill>
                            <a:srgbClr val="202B33"/>
                          </a:solidFill>
                          <a:latin typeface="Arial"/>
                          <a:ea typeface="Arial"/>
                          <a:cs typeface="Arial"/>
                        </a:rPr>
                        <a:t>2125</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2025" b="0">
                          <a:solidFill>
                            <a:srgbClr val="202B33"/>
                          </a:solidFill>
                          <a:latin typeface="Arial"/>
                          <a:ea typeface="Arial"/>
                          <a:cs typeface="Arial"/>
                        </a:rPr>
                        <a:t>Sokrates</a:t>
                      </a:r>
                    </a:p>
                  </a:txBody>
                  <a:tcPr marL="95250" marR="66675" marT="28575" marB="28575" anchor="ctr">
                    <a:lnR w="6668">
                      <a:solidFill>
                        <a:srgbClr val="CBD8E1"/>
                      </a:solidFill>
                    </a:lnR>
                    <a:lnB w="6668">
                      <a:solidFill>
                        <a:srgbClr val="CBD8E1"/>
                      </a:solidFill>
                    </a:lnB>
                    <a:solidFill>
                      <a:srgbClr val="FFFFFF"/>
                    </a:solidFill>
                  </a:tcPr>
                </a:tc>
              </a:tr>
              <a:tr h="476250">
                <a:tc>
                  <a:txBody>
                    <a:bodyPr/>
                    <a:lstStyle/>
                    <a:p>
                      <a:r>
                        <a:rPr sz="2025" b="0">
                          <a:solidFill>
                            <a:srgbClr val="202B33"/>
                          </a:solidFill>
                          <a:latin typeface="Arial"/>
                          <a:ea typeface="Arial"/>
                          <a:cs typeface="Arial"/>
                        </a:rPr>
                        <a:t>5049</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2025" b="0">
                          <a:solidFill>
                            <a:srgbClr val="202B33"/>
                          </a:solidFill>
                          <a:latin typeface="Arial"/>
                          <a:ea typeface="Arial"/>
                          <a:cs typeface="Arial"/>
                        </a:rPr>
                        <a:t>2125</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2025" b="0">
                          <a:solidFill>
                            <a:srgbClr val="202B33"/>
                          </a:solidFill>
                          <a:latin typeface="Arial"/>
                          <a:ea typeface="Arial"/>
                          <a:cs typeface="Arial"/>
                        </a:rPr>
                        <a:t>2125</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2025" b="0">
                          <a:solidFill>
                            <a:srgbClr val="202B33"/>
                          </a:solidFill>
                          <a:latin typeface="Arial"/>
                          <a:ea typeface="Arial"/>
                          <a:cs typeface="Arial"/>
                        </a:rPr>
                        <a:t>Sokrates</a:t>
                      </a:r>
                    </a:p>
                  </a:txBody>
                  <a:tcPr marL="95250" marR="66675" marT="28575" marB="28575" anchor="ctr">
                    <a:lnR w="6668">
                      <a:solidFill>
                        <a:srgbClr val="CBD8E1"/>
                      </a:solidFill>
                    </a:lnR>
                    <a:lnB w="6668">
                      <a:solidFill>
                        <a:srgbClr val="CBD8E1"/>
                      </a:solidFill>
                    </a:lnB>
                    <a:solidFill>
                      <a:srgbClr val="EDF4F9"/>
                    </a:solidFill>
                  </a:tcPr>
                </a:tc>
              </a:tr>
              <a:tr h="476250">
                <a:tc>
                  <a:txBody>
                    <a:bodyPr/>
                    <a:lstStyle/>
                    <a:p>
                      <a:r>
                        <a:rPr sz="2025" b="0">
                          <a:solidFill>
                            <a:srgbClr val="202B33"/>
                          </a:solidFill>
                          <a:latin typeface="Arial"/>
                          <a:ea typeface="Arial"/>
                          <a:cs typeface="Arial"/>
                        </a:rPr>
                        <a:t>5001</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2025" b="0">
                          <a:solidFill>
                            <a:srgbClr val="202B33"/>
                          </a:solidFill>
                          <a:latin typeface="Arial"/>
                          <a:ea typeface="Arial"/>
                          <a:cs typeface="Arial"/>
                        </a:rPr>
                        <a:t>2137</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2025" b="0">
                          <a:solidFill>
                            <a:srgbClr val="202B33"/>
                          </a:solidFill>
                          <a:latin typeface="Arial"/>
                          <a:ea typeface="Arial"/>
                          <a:cs typeface="Arial"/>
                        </a:rPr>
                        <a:t>2137</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2025" b="0">
                          <a:solidFill>
                            <a:srgbClr val="202B33"/>
                          </a:solidFill>
                          <a:latin typeface="Arial"/>
                          <a:ea typeface="Arial"/>
                          <a:cs typeface="Arial"/>
                        </a:rPr>
                        <a:t>Kant</a:t>
                      </a:r>
                    </a:p>
                  </a:txBody>
                  <a:tcPr marL="95250" marR="66675" marT="28575" marB="28575" anchor="ctr">
                    <a:lnR w="6668">
                      <a:solidFill>
                        <a:srgbClr val="CBD8E1"/>
                      </a:solidFill>
                    </a:lnR>
                    <a:lnB w="6668">
                      <a:solidFill>
                        <a:srgbClr val="CBD8E1"/>
                      </a:solidFill>
                    </a:lnB>
                    <a:solidFill>
                      <a:srgbClr val="FFFFFF"/>
                    </a:solidFill>
                  </a:tcPr>
                </a:tc>
              </a:tr>
              <a:tr h="476250">
                <a:tc>
                  <a:txBody>
                    <a:bodyPr/>
                    <a:lstStyle/>
                    <a:p>
                      <a:r>
                        <a:rPr sz="2025" b="0">
                          <a:solidFill>
                            <a:srgbClr val="202B33"/>
                          </a:solidFill>
                          <a:latin typeface="Arial"/>
                          <a:ea typeface="Arial"/>
                          <a:cs typeface="Arial"/>
                        </a:rPr>
                        <a:t>4630</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2025" b="0">
                          <a:solidFill>
                            <a:srgbClr val="202B33"/>
                          </a:solidFill>
                          <a:latin typeface="Arial"/>
                          <a:ea typeface="Arial"/>
                          <a:cs typeface="Arial"/>
                        </a:rPr>
                        <a:t>2137</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2025" b="0">
                          <a:solidFill>
                            <a:srgbClr val="202B33"/>
                          </a:solidFill>
                          <a:latin typeface="Arial"/>
                          <a:ea typeface="Arial"/>
                          <a:cs typeface="Arial"/>
                        </a:rPr>
                        <a:t>2137</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2025" b="0">
                          <a:solidFill>
                            <a:srgbClr val="202B33"/>
                          </a:solidFill>
                          <a:latin typeface="Arial"/>
                          <a:ea typeface="Arial"/>
                          <a:cs typeface="Arial"/>
                        </a:rPr>
                        <a:t>Kant</a:t>
                      </a:r>
                    </a:p>
                  </a:txBody>
                  <a:tcPr marL="95250" marR="66675" marT="28575" marB="28575" anchor="ctr">
                    <a:lnR w="6668">
                      <a:solidFill>
                        <a:srgbClr val="CBD8E1"/>
                      </a:solidFill>
                    </a:lnR>
                    <a:lnB w="6668">
                      <a:solidFill>
                        <a:srgbClr val="CBD8E1"/>
                      </a:solidFill>
                    </a:lnB>
                    <a:solidFill>
                      <a:srgbClr val="EDF4F9"/>
                    </a:solidFill>
                  </a:tcPr>
                </a:tc>
              </a:tr>
            </a:tbl>
          </a:graphicData>
        </a:graphic>
      </p:graphicFrame>
      <p:sp>
        <p:nvSpPr>
          <p:cNvPr id="10" name="">
            <a:extLst xmlns:a="http://schemas.openxmlformats.org/drawingml/2006/main">
              <a:ext uri="{FF2B5EF4-FFF2-40B4-BE49-F238E27FC236}">
                <a16:creationId xmlns:a16="http://schemas.microsoft.com/office/drawing/2014/main" id="{A208F437-E6D4-497F-8B11-514873529D3B}"/>
              </a:ext>
            </a:extLst>
          </p:cNvPr>
          <p:cNvSpPr>
            <a:spLocks xmlns:a="http://schemas.openxmlformats.org/drawingml/2006/main" noGrp="1"/>
          </p:cNvSpPr>
          <p:nvPr/>
        </p:nvSpPr>
        <p:spPr>
          <a:xfrm xmlns:a="http://schemas.openxmlformats.org/drawingml/2006/main">
            <a:off x="609600" y="57150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5293"/>
                </a:solidFill>
                <a:latin typeface="Arial"/>
                <a:ea typeface="Arial"/>
                <a:cs typeface="Arial"/>
              </a:defRPr>
            </a:defPPr>
            <a:lvl1pPr>
              <a:defRPr sz="2100" b="1">
                <a:solidFill>
                  <a:srgbClr val="005293"/>
                </a:solidFill>
                <a:latin typeface="Arial"/>
                <a:ea typeface="Arial"/>
                <a:cs typeface="Arial"/>
              </a:defRPr>
            </a:lvl1pPr>
            <a:lvl2pPr>
              <a:defRPr sz="2100" b="1">
                <a:solidFill>
                  <a:srgbClr val="005293"/>
                </a:solidFill>
                <a:latin typeface="Arial"/>
                <a:ea typeface="Arial"/>
                <a:cs typeface="Arial"/>
              </a:defRPr>
            </a:lvl2pPr>
            <a:lvl3pPr>
              <a:defRPr sz="2100" b="1">
                <a:solidFill>
                  <a:srgbClr val="005293"/>
                </a:solidFill>
                <a:latin typeface="Arial"/>
                <a:ea typeface="Arial"/>
                <a:cs typeface="Arial"/>
              </a:defRPr>
            </a:lvl3pPr>
            <a:lvl4pPr>
              <a:defRPr sz="2100" b="1">
                <a:solidFill>
                  <a:srgbClr val="005293"/>
                </a:solidFill>
                <a:latin typeface="Arial"/>
                <a:ea typeface="Arial"/>
                <a:cs typeface="Arial"/>
              </a:defRPr>
            </a:lvl4pPr>
            <a:lvl5pPr>
              <a:defRPr sz="2100" b="1">
                <a:solidFill>
                  <a:srgbClr val="005293"/>
                </a:solidFill>
                <a:latin typeface="Arial"/>
                <a:ea typeface="Arial"/>
                <a:cs typeface="Arial"/>
              </a:defRPr>
            </a:lvl5pPr>
            <a:lvl6pPr>
              <a:defRPr sz="2100" b="1">
                <a:solidFill>
                  <a:srgbClr val="005293"/>
                </a:solidFill>
                <a:latin typeface="Arial"/>
                <a:ea typeface="Arial"/>
                <a:cs typeface="Arial"/>
              </a:defRPr>
            </a:lvl6pPr>
            <a:lvl7pPr>
              <a:defRPr sz="2100" b="1">
                <a:solidFill>
                  <a:srgbClr val="005293"/>
                </a:solidFill>
                <a:latin typeface="Arial"/>
                <a:ea typeface="Arial"/>
                <a:cs typeface="Arial"/>
              </a:defRPr>
            </a:lvl7pPr>
            <a:lvl8pPr>
              <a:defRPr sz="2100" b="1">
                <a:solidFill>
                  <a:srgbClr val="005293"/>
                </a:solidFill>
                <a:latin typeface="Arial"/>
                <a:ea typeface="Arial"/>
                <a:cs typeface="Arial"/>
              </a:defRPr>
            </a:lvl8pPr>
            <a:lvl9pPr>
              <a:defRPr sz="2100" b="1">
                <a:solidFill>
                  <a:srgbClr val="005293"/>
                </a:solidFill>
                <a:latin typeface="Arial"/>
                <a:ea typeface="Arial"/>
                <a:cs typeface="Arial"/>
              </a:defRPr>
            </a:lvl9pPr>
          </a:lstStyle>
          <a:p xmlns:a="http://schemas.openxmlformats.org/drawingml/2006/main">
            <a:pPr>
              <a:defRPr sz="2100" b="1">
                <a:solidFill>
                  <a:srgbClr val="005293"/>
                </a:solidFill>
                <a:latin typeface="Arial"/>
                <a:ea typeface="Arial"/>
                <a:cs typeface="Arial"/>
              </a:defRPr>
            </a:pPr>
            <a:r>
              <a:rPr sz="2100" b="1">
                <a:solidFill>
                  <a:srgbClr val="005293"/>
                </a:solidFill>
                <a:latin typeface="Arial"/>
                <a:ea typeface="Arial"/>
                <a:cs typeface="Arial"/>
              </a:rPr>
              <a:t>Es bleiben 4 der 8 Kombinationen des Kreuzprodukts.</a:t>
            </a:r>
          </a:p>
        </p:txBody>
      </p:sp>
    </p:spTree>
    <p:extLst>
      <p:ext uri="{BB962C8B-B14F-4D97-AF65-F5344CB8AC3E}">
        <p14:creationId xmlns:p14="http://schemas.microsoft.com/office/powerpoint/2010/main" val="97764232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BB87EE0-59CC-4C2D-A40A-AB4F75DD066F}"/>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Natürlicher Join</a:t>
            </a:r>
          </a:p>
        </p:txBody>
      </p:sp>
      <p:sp>
        <p:nvSpPr>
          <p:cNvPr id="2" name="">
            <a:extLst xmlns:a="http://schemas.openxmlformats.org/drawingml/2006/main">
              <a:ext uri="{FF2B5EF4-FFF2-40B4-BE49-F238E27FC236}">
                <a16:creationId xmlns:a16="http://schemas.microsoft.com/office/drawing/2014/main" id="{4D579E11-F018-495A-9167-5AC44A3F6E34}"/>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C4081000-2565-4CCA-A7D1-53BE04F96E8D}"/>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19</a:t>
            </a:r>
          </a:p>
        </p:txBody>
      </p:sp>
      <p:sp>
        <p:nvSpPr>
          <p:cNvPr id="4" name="">
            <a:extLst xmlns:a="http://schemas.openxmlformats.org/drawingml/2006/main">
              <a:ext uri="{FF2B5EF4-FFF2-40B4-BE49-F238E27FC236}">
                <a16:creationId xmlns:a16="http://schemas.microsoft.com/office/drawing/2014/main" id="{380F847E-F0D6-4234-8E09-C2585F9C429C}"/>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25–26</a:t>
            </a:r>
          </a:p>
        </p:txBody>
      </p:sp>
      <p:sp>
        <p:nvSpPr>
          <p:cNvPr id="5" name="">
            <a:extLst xmlns:a="http://schemas.openxmlformats.org/drawingml/2006/main">
              <a:ext uri="{FF2B5EF4-FFF2-40B4-BE49-F238E27FC236}">
                <a16:creationId xmlns:a16="http://schemas.microsoft.com/office/drawing/2014/main" id="{16BE5A95-D0F7-4BD0-B2A1-92DA64D99FC3}"/>
              </a:ext>
            </a:extLst>
          </p:cNvPr>
          <p:cNvSpPr>
            <a:spLocks xmlns:a="http://schemas.openxmlformats.org/drawingml/2006/main" noGrp="1"/>
          </p:cNvSpPr>
          <p:nvPr/>
        </p:nvSpPr>
        <p:spPr>
          <a:xfrm xmlns:a="http://schemas.openxmlformats.org/drawingml/2006/main">
            <a:off x="609600" y="1428750"/>
            <a:ext cx="1004697"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3000" b="0">
                <a:solidFill>
                  <a:srgbClr val="005293"/>
                </a:solidFill>
                <a:latin typeface="STIX Two Math"/>
                <a:ea typeface="STIX Two Math"/>
                <a:cs typeface="STIX Two Math"/>
              </a:defRPr>
            </a:defPPr>
            <a:lvl1pPr>
              <a:defRPr sz="3000" b="0">
                <a:solidFill>
                  <a:srgbClr val="005293"/>
                </a:solidFill>
                <a:latin typeface="STIX Two Math"/>
                <a:ea typeface="STIX Two Math"/>
                <a:cs typeface="STIX Two Math"/>
              </a:defRPr>
            </a:lvl1pPr>
            <a:lvl2pPr>
              <a:defRPr sz="3000" b="0">
                <a:solidFill>
                  <a:srgbClr val="005293"/>
                </a:solidFill>
                <a:latin typeface="STIX Two Math"/>
                <a:ea typeface="STIX Two Math"/>
                <a:cs typeface="STIX Two Math"/>
              </a:defRPr>
            </a:lvl2pPr>
            <a:lvl3pPr>
              <a:defRPr sz="3000" b="0">
                <a:solidFill>
                  <a:srgbClr val="005293"/>
                </a:solidFill>
                <a:latin typeface="STIX Two Math"/>
                <a:ea typeface="STIX Two Math"/>
                <a:cs typeface="STIX Two Math"/>
              </a:defRPr>
            </a:lvl3pPr>
            <a:lvl4pPr>
              <a:defRPr sz="3000" b="0">
                <a:solidFill>
                  <a:srgbClr val="005293"/>
                </a:solidFill>
                <a:latin typeface="STIX Two Math"/>
                <a:ea typeface="STIX Two Math"/>
                <a:cs typeface="STIX Two Math"/>
              </a:defRPr>
            </a:lvl4pPr>
            <a:lvl5pPr>
              <a:defRPr sz="3000" b="0">
                <a:solidFill>
                  <a:srgbClr val="005293"/>
                </a:solidFill>
                <a:latin typeface="STIX Two Math"/>
                <a:ea typeface="STIX Two Math"/>
                <a:cs typeface="STIX Two Math"/>
              </a:defRPr>
            </a:lvl5pPr>
            <a:lvl6pPr>
              <a:defRPr sz="3000" b="0">
                <a:solidFill>
                  <a:srgbClr val="005293"/>
                </a:solidFill>
                <a:latin typeface="STIX Two Math"/>
                <a:ea typeface="STIX Two Math"/>
                <a:cs typeface="STIX Two Math"/>
              </a:defRPr>
            </a:lvl6pPr>
            <a:lvl7pPr>
              <a:defRPr sz="3000" b="0">
                <a:solidFill>
                  <a:srgbClr val="005293"/>
                </a:solidFill>
                <a:latin typeface="STIX Two Math"/>
                <a:ea typeface="STIX Two Math"/>
                <a:cs typeface="STIX Two Math"/>
              </a:defRPr>
            </a:lvl7pPr>
            <a:lvl8pPr>
              <a:defRPr sz="3000" b="0">
                <a:solidFill>
                  <a:srgbClr val="005293"/>
                </a:solidFill>
                <a:latin typeface="STIX Two Math"/>
                <a:ea typeface="STIX Two Math"/>
                <a:cs typeface="STIX Two Math"/>
              </a:defRPr>
            </a:lvl8pPr>
            <a:lvl9pPr>
              <a:defRPr sz="3000" b="0">
                <a:solidFill>
                  <a:srgbClr val="005293"/>
                </a:solidFill>
                <a:latin typeface="STIX Two Math"/>
                <a:ea typeface="STIX Two Math"/>
                <a:cs typeface="STIX Two Math"/>
              </a:defRPr>
            </a:lvl9pPr>
          </a:lstStyle>
          <a:p xmlns:a="http://schemas.openxmlformats.org/drawingml/2006/main">
            <a:pPr>
              <a:defRPr sz="3000" b="0">
                <a:solidFill>
                  <a:srgbClr val="005293"/>
                </a:solidFill>
                <a:latin typeface="STIX Two Math"/>
                <a:ea typeface="STIX Two Math"/>
                <a:cs typeface="STIX Two Math"/>
              </a:defRPr>
            </a:pPr>
            <a:r>
              <a:rPr sz="3000" b="0">
                <a:solidFill>
                  <a:srgbClr val="005293"/>
                </a:solidFill>
                <a:latin typeface="STIX Two Math"/>
                <a:ea typeface="STIX Two Math"/>
                <a:cs typeface="STIX Two Math"/>
              </a:rPr>
              <a:t>R ⋈ S</a:t>
            </a:r>
          </a:p>
        </p:txBody>
      </p:sp>
      <p:sp>
        <p:nvSpPr>
          <p:cNvPr id="6" name="">
            <a:extLst xmlns:a="http://schemas.openxmlformats.org/drawingml/2006/main">
              <a:ext uri="{FF2B5EF4-FFF2-40B4-BE49-F238E27FC236}">
                <a16:creationId xmlns:a16="http://schemas.microsoft.com/office/drawing/2014/main" id="{F7AE0BE8-09B3-4394-A7ED-3381A0FEE031}"/>
              </a:ext>
            </a:extLst>
          </p:cNvPr>
          <p:cNvSpPr>
            <a:spLocks xmlns:a="http://schemas.openxmlformats.org/drawingml/2006/main" noGrp="1"/>
          </p:cNvSpPr>
          <p:nvPr/>
        </p:nvSpPr>
        <p:spPr>
          <a:xfrm xmlns:a="http://schemas.openxmlformats.org/drawingml/2006/main">
            <a:off x="609600" y="24765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Vergleicht alle gleichnamigen Attribute auf Gleichheit.</a:t>
            </a:r>
          </a:p>
        </p:txBody>
      </p:sp>
      <p:sp>
        <p:nvSpPr>
          <p:cNvPr id="7" name="">
            <a:extLst xmlns:a="http://schemas.openxmlformats.org/drawingml/2006/main">
              <a:ext uri="{FF2B5EF4-FFF2-40B4-BE49-F238E27FC236}">
                <a16:creationId xmlns:a16="http://schemas.microsoft.com/office/drawing/2014/main" id="{07E41516-AA79-4818-BA2A-10442782DB3C}"/>
              </a:ext>
            </a:extLst>
          </p:cNvPr>
          <p:cNvSpPr>
            <a:spLocks xmlns:a="http://schemas.openxmlformats.org/drawingml/2006/main" noGrp="1"/>
          </p:cNvSpPr>
          <p:nvPr/>
        </p:nvSpPr>
        <p:spPr>
          <a:xfrm xmlns:a="http://schemas.openxmlformats.org/drawingml/2006/main">
            <a:off x="609600" y="34290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Gemeinsame Attribute erscheinen im Ergebnis jeweils nur einmal.</a:t>
            </a:r>
          </a:p>
        </p:txBody>
      </p:sp>
      <p:sp>
        <p:nvSpPr>
          <p:cNvPr id="8" name="">
            <a:extLst xmlns:a="http://schemas.openxmlformats.org/drawingml/2006/main">
              <a:ext uri="{FF2B5EF4-FFF2-40B4-BE49-F238E27FC236}">
                <a16:creationId xmlns:a16="http://schemas.microsoft.com/office/drawing/2014/main" id="{CAFC37D3-F4F3-400C-AC15-B0BFCBFA87C6}"/>
              </a:ext>
            </a:extLst>
          </p:cNvPr>
          <p:cNvSpPr>
            <a:spLocks xmlns:a="http://schemas.openxmlformats.org/drawingml/2006/main" noGrp="1"/>
          </p:cNvSpPr>
          <p:nvPr/>
        </p:nvSpPr>
        <p:spPr>
          <a:xfrm xmlns:a="http://schemas.openxmlformats.org/drawingml/2006/main">
            <a:off x="609600" y="43815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Ohne gemeinsame Attributnamen entspricht er dem Kreuzprodukt.</a:t>
            </a:r>
          </a:p>
        </p:txBody>
      </p:sp>
    </p:spTree>
    <p:extLst>
      <p:ext uri="{BB962C8B-B14F-4D97-AF65-F5344CB8AC3E}">
        <p14:creationId xmlns:p14="http://schemas.microsoft.com/office/powerpoint/2010/main" val="48392484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81C8AB2-296C-4C70-BA8C-79ACB8A69A11}"/>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Natürlicher Join: vorher umbenennen</a:t>
            </a:r>
          </a:p>
        </p:txBody>
      </p:sp>
      <p:sp>
        <p:nvSpPr>
          <p:cNvPr id="2" name="">
            <a:extLst xmlns:a="http://schemas.openxmlformats.org/drawingml/2006/main">
              <a:ext uri="{FF2B5EF4-FFF2-40B4-BE49-F238E27FC236}">
                <a16:creationId xmlns:a16="http://schemas.microsoft.com/office/drawing/2014/main" id="{07DBF3FE-AD3E-4CF2-8AB9-DBE4D03A0876}"/>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2EB36034-E8F1-4657-BC4C-B24F4DBF1D6C}"/>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20</a:t>
            </a:r>
          </a:p>
        </p:txBody>
      </p:sp>
      <p:sp>
        <p:nvSpPr>
          <p:cNvPr id="4" name="">
            <a:extLst xmlns:a="http://schemas.openxmlformats.org/drawingml/2006/main">
              <a:ext uri="{FF2B5EF4-FFF2-40B4-BE49-F238E27FC236}">
                <a16:creationId xmlns:a16="http://schemas.microsoft.com/office/drawing/2014/main" id="{0409D262-9B68-41D7-907A-6D738A2A0C28}"/>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26</a:t>
            </a:r>
          </a:p>
        </p:txBody>
      </p:sp>
      <p:sp>
        <p:nvSpPr>
          <p:cNvPr id="5" name="">
            <a:extLst xmlns:a="http://schemas.openxmlformats.org/drawingml/2006/main">
              <a:ext uri="{FF2B5EF4-FFF2-40B4-BE49-F238E27FC236}">
                <a16:creationId xmlns:a16="http://schemas.microsoft.com/office/drawing/2014/main" id="{FF449039-713D-485B-84AE-E231D74959B7}"/>
              </a:ext>
            </a:extLst>
          </p:cNvPr>
          <p:cNvSpPr>
            <a:spLocks xmlns:a="http://schemas.openxmlformats.org/drawingml/2006/main" noGrp="1"/>
          </p:cNvSpPr>
          <p:nvPr/>
        </p:nvSpPr>
        <p:spPr>
          <a:xfrm xmlns:a="http://schemas.openxmlformats.org/drawingml/2006/main">
            <a:off x="609600" y="1476375"/>
            <a:ext cx="233458" cy="5343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2550" b="0">
                <a:solidFill>
                  <a:srgbClr val="005293"/>
                </a:solidFill>
                <a:latin typeface="STIX Two Math"/>
                <a:ea typeface="STIX Two Math"/>
                <a:cs typeface="STIX Two Math"/>
              </a:defRPr>
            </a:defPPr>
            <a:lvl1pPr>
              <a:defRPr sz="2550" b="0">
                <a:solidFill>
                  <a:srgbClr val="005293"/>
                </a:solidFill>
                <a:latin typeface="STIX Two Math"/>
                <a:ea typeface="STIX Two Math"/>
                <a:cs typeface="STIX Two Math"/>
              </a:defRPr>
            </a:lvl1pPr>
            <a:lvl2pPr>
              <a:defRPr sz="2550" b="0">
                <a:solidFill>
                  <a:srgbClr val="005293"/>
                </a:solidFill>
                <a:latin typeface="STIX Two Math"/>
                <a:ea typeface="STIX Two Math"/>
                <a:cs typeface="STIX Two Math"/>
              </a:defRPr>
            </a:lvl2pPr>
            <a:lvl3pPr>
              <a:defRPr sz="2550" b="0">
                <a:solidFill>
                  <a:srgbClr val="005293"/>
                </a:solidFill>
                <a:latin typeface="STIX Two Math"/>
                <a:ea typeface="STIX Two Math"/>
                <a:cs typeface="STIX Two Math"/>
              </a:defRPr>
            </a:lvl3pPr>
            <a:lvl4pPr>
              <a:defRPr sz="2550" b="0">
                <a:solidFill>
                  <a:srgbClr val="005293"/>
                </a:solidFill>
                <a:latin typeface="STIX Two Math"/>
                <a:ea typeface="STIX Two Math"/>
                <a:cs typeface="STIX Two Math"/>
              </a:defRPr>
            </a:lvl4pPr>
            <a:lvl5pPr>
              <a:defRPr sz="2550" b="0">
                <a:solidFill>
                  <a:srgbClr val="005293"/>
                </a:solidFill>
                <a:latin typeface="STIX Two Math"/>
                <a:ea typeface="STIX Two Math"/>
                <a:cs typeface="STIX Two Math"/>
              </a:defRPr>
            </a:lvl5pPr>
            <a:lvl6pPr>
              <a:defRPr sz="2550" b="0">
                <a:solidFill>
                  <a:srgbClr val="005293"/>
                </a:solidFill>
                <a:latin typeface="STIX Two Math"/>
                <a:ea typeface="STIX Two Math"/>
                <a:cs typeface="STIX Two Math"/>
              </a:defRPr>
            </a:lvl6pPr>
            <a:lvl7pPr>
              <a:defRPr sz="2550" b="0">
                <a:solidFill>
                  <a:srgbClr val="005293"/>
                </a:solidFill>
                <a:latin typeface="STIX Two Math"/>
                <a:ea typeface="STIX Two Math"/>
                <a:cs typeface="STIX Two Math"/>
              </a:defRPr>
            </a:lvl7pPr>
            <a:lvl8pPr>
              <a:defRPr sz="2550" b="0">
                <a:solidFill>
                  <a:srgbClr val="005293"/>
                </a:solidFill>
                <a:latin typeface="STIX Two Math"/>
                <a:ea typeface="STIX Two Math"/>
                <a:cs typeface="STIX Two Math"/>
              </a:defRPr>
            </a:lvl8pPr>
            <a:lvl9pPr>
              <a:defRPr sz="2550" b="0">
                <a:solidFill>
                  <a:srgbClr val="005293"/>
                </a:solidFill>
                <a:latin typeface="STIX Two Math"/>
                <a:ea typeface="STIX Two Math"/>
                <a:cs typeface="STIX Two Math"/>
              </a:defRPr>
            </a:lvl9pPr>
          </a:lstStyle>
          <a:p xmlns:a="http://schemas.openxmlformats.org/drawingml/2006/main">
            <a:pPr>
              <a:defRPr sz="2550" b="0">
                <a:solidFill>
                  <a:srgbClr val="005293"/>
                </a:solidFill>
                <a:latin typeface="STIX Two Math"/>
                <a:ea typeface="STIX Two Math"/>
                <a:cs typeface="STIX Two Math"/>
              </a:defRPr>
            </a:pPr>
            <a:r>
              <a:rPr sz="2550" b="0">
                <a:solidFill>
                  <a:srgbClr val="005293"/>
                </a:solidFill>
                <a:latin typeface="STIX Two Math"/>
                <a:ea typeface="STIX Two Math"/>
                <a:cs typeface="STIX Two Math"/>
              </a:rPr>
              <a:t>ρ</a:t>
            </a:r>
          </a:p>
        </p:txBody>
      </p:sp>
      <p:sp>
        <p:nvSpPr>
          <p:cNvPr id="6" name="">
            <a:extLst xmlns:a="http://schemas.openxmlformats.org/drawingml/2006/main">
              <a:ext uri="{FF2B5EF4-FFF2-40B4-BE49-F238E27FC236}">
                <a16:creationId xmlns:a16="http://schemas.microsoft.com/office/drawing/2014/main" id="{0028DB1A-E9D0-46CC-A560-8DC09A0EF7B5}"/>
              </a:ext>
            </a:extLst>
          </p:cNvPr>
          <p:cNvSpPr>
            <a:spLocks xmlns:a="http://schemas.openxmlformats.org/drawingml/2006/main" noGrp="1"/>
          </p:cNvSpPr>
          <p:nvPr/>
        </p:nvSpPr>
        <p:spPr>
          <a:xfrm xmlns:a="http://schemas.openxmlformats.org/drawingml/2006/main">
            <a:off x="795433" y="1660970"/>
            <a:ext cx="2013402" cy="34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1658" b="0">
                <a:solidFill>
                  <a:srgbClr val="005293"/>
                </a:solidFill>
                <a:latin typeface="STIX Two Math"/>
                <a:ea typeface="STIX Two Math"/>
                <a:cs typeface="STIX Two Math"/>
              </a:defRPr>
            </a:defPPr>
            <a:lvl1pPr>
              <a:defRPr sz="1658" b="0">
                <a:solidFill>
                  <a:srgbClr val="005293"/>
                </a:solidFill>
                <a:latin typeface="STIX Two Math"/>
                <a:ea typeface="STIX Two Math"/>
                <a:cs typeface="STIX Two Math"/>
              </a:defRPr>
            </a:lvl1pPr>
            <a:lvl2pPr>
              <a:defRPr sz="1658" b="0">
                <a:solidFill>
                  <a:srgbClr val="005293"/>
                </a:solidFill>
                <a:latin typeface="STIX Two Math"/>
                <a:ea typeface="STIX Two Math"/>
                <a:cs typeface="STIX Two Math"/>
              </a:defRPr>
            </a:lvl2pPr>
            <a:lvl3pPr>
              <a:defRPr sz="1658" b="0">
                <a:solidFill>
                  <a:srgbClr val="005293"/>
                </a:solidFill>
                <a:latin typeface="STIX Two Math"/>
                <a:ea typeface="STIX Two Math"/>
                <a:cs typeface="STIX Two Math"/>
              </a:defRPr>
            </a:lvl3pPr>
            <a:lvl4pPr>
              <a:defRPr sz="1658" b="0">
                <a:solidFill>
                  <a:srgbClr val="005293"/>
                </a:solidFill>
                <a:latin typeface="STIX Two Math"/>
                <a:ea typeface="STIX Two Math"/>
                <a:cs typeface="STIX Two Math"/>
              </a:defRPr>
            </a:lvl4pPr>
            <a:lvl5pPr>
              <a:defRPr sz="1658" b="0">
                <a:solidFill>
                  <a:srgbClr val="005293"/>
                </a:solidFill>
                <a:latin typeface="STIX Two Math"/>
                <a:ea typeface="STIX Two Math"/>
                <a:cs typeface="STIX Two Math"/>
              </a:defRPr>
            </a:lvl5pPr>
            <a:lvl6pPr>
              <a:defRPr sz="1658" b="0">
                <a:solidFill>
                  <a:srgbClr val="005293"/>
                </a:solidFill>
                <a:latin typeface="STIX Two Math"/>
                <a:ea typeface="STIX Two Math"/>
                <a:cs typeface="STIX Two Math"/>
              </a:defRPr>
            </a:lvl6pPr>
            <a:lvl7pPr>
              <a:defRPr sz="1658" b="0">
                <a:solidFill>
                  <a:srgbClr val="005293"/>
                </a:solidFill>
                <a:latin typeface="STIX Two Math"/>
                <a:ea typeface="STIX Two Math"/>
                <a:cs typeface="STIX Two Math"/>
              </a:defRPr>
            </a:lvl7pPr>
            <a:lvl8pPr>
              <a:defRPr sz="1658" b="0">
                <a:solidFill>
                  <a:srgbClr val="005293"/>
                </a:solidFill>
                <a:latin typeface="STIX Two Math"/>
                <a:ea typeface="STIX Two Math"/>
                <a:cs typeface="STIX Two Math"/>
              </a:defRPr>
            </a:lvl8pPr>
            <a:lvl9pPr>
              <a:defRPr sz="1658" b="0">
                <a:solidFill>
                  <a:srgbClr val="005293"/>
                </a:solidFill>
                <a:latin typeface="STIX Two Math"/>
                <a:ea typeface="STIX Two Math"/>
                <a:cs typeface="STIX Two Math"/>
              </a:defRPr>
            </a:lvl9pPr>
          </a:lstStyle>
          <a:p xmlns:a="http://schemas.openxmlformats.org/drawingml/2006/main">
            <a:pPr>
              <a:defRPr sz="1658" b="0">
                <a:solidFill>
                  <a:srgbClr val="005293"/>
                </a:solidFill>
                <a:latin typeface="STIX Two Math"/>
                <a:ea typeface="STIX Two Math"/>
                <a:cs typeface="STIX Two Math"/>
              </a:defRPr>
            </a:pPr>
            <a:r>
              <a:rPr sz="1658" b="0">
                <a:solidFill>
                  <a:srgbClr val="005293"/>
                </a:solidFill>
                <a:latin typeface="STIX Two Math"/>
                <a:ea typeface="STIX Two Math"/>
                <a:cs typeface="STIX Two Math"/>
              </a:rPr>
              <a:t>PersNr ← gelesenVon</a:t>
            </a:r>
          </a:p>
        </p:txBody>
      </p:sp>
      <p:sp>
        <p:nvSpPr>
          <p:cNvPr id="7" name="">
            <a:extLst xmlns:a="http://schemas.openxmlformats.org/drawingml/2006/main">
              <a:ext uri="{FF2B5EF4-FFF2-40B4-BE49-F238E27FC236}">
                <a16:creationId xmlns:a16="http://schemas.microsoft.com/office/drawing/2014/main" id="{4994DEBA-62B3-4358-AA38-D79104A87FA5}"/>
              </a:ext>
            </a:extLst>
          </p:cNvPr>
          <p:cNvSpPr>
            <a:spLocks xmlns:a="http://schemas.openxmlformats.org/drawingml/2006/main" noGrp="1"/>
          </p:cNvSpPr>
          <p:nvPr/>
        </p:nvSpPr>
        <p:spPr>
          <a:xfrm xmlns:a="http://schemas.openxmlformats.org/drawingml/2006/main">
            <a:off x="2761210" y="1476375"/>
            <a:ext cx="4068489" cy="5343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2550" b="0">
                <a:solidFill>
                  <a:srgbClr val="005293"/>
                </a:solidFill>
                <a:latin typeface="STIX Two Math"/>
                <a:ea typeface="STIX Two Math"/>
                <a:cs typeface="STIX Two Math"/>
              </a:defRPr>
            </a:defPPr>
            <a:lvl1pPr>
              <a:defRPr sz="2550" b="0">
                <a:solidFill>
                  <a:srgbClr val="005293"/>
                </a:solidFill>
                <a:latin typeface="STIX Two Math"/>
                <a:ea typeface="STIX Two Math"/>
                <a:cs typeface="STIX Two Math"/>
              </a:defRPr>
            </a:lvl1pPr>
            <a:lvl2pPr>
              <a:defRPr sz="2550" b="0">
                <a:solidFill>
                  <a:srgbClr val="005293"/>
                </a:solidFill>
                <a:latin typeface="STIX Two Math"/>
                <a:ea typeface="STIX Two Math"/>
                <a:cs typeface="STIX Two Math"/>
              </a:defRPr>
            </a:lvl2pPr>
            <a:lvl3pPr>
              <a:defRPr sz="2550" b="0">
                <a:solidFill>
                  <a:srgbClr val="005293"/>
                </a:solidFill>
                <a:latin typeface="STIX Two Math"/>
                <a:ea typeface="STIX Two Math"/>
                <a:cs typeface="STIX Two Math"/>
              </a:defRPr>
            </a:lvl3pPr>
            <a:lvl4pPr>
              <a:defRPr sz="2550" b="0">
                <a:solidFill>
                  <a:srgbClr val="005293"/>
                </a:solidFill>
                <a:latin typeface="STIX Two Math"/>
                <a:ea typeface="STIX Two Math"/>
                <a:cs typeface="STIX Two Math"/>
              </a:defRPr>
            </a:lvl4pPr>
            <a:lvl5pPr>
              <a:defRPr sz="2550" b="0">
                <a:solidFill>
                  <a:srgbClr val="005293"/>
                </a:solidFill>
                <a:latin typeface="STIX Two Math"/>
                <a:ea typeface="STIX Two Math"/>
                <a:cs typeface="STIX Two Math"/>
              </a:defRPr>
            </a:lvl5pPr>
            <a:lvl6pPr>
              <a:defRPr sz="2550" b="0">
                <a:solidFill>
                  <a:srgbClr val="005293"/>
                </a:solidFill>
                <a:latin typeface="STIX Two Math"/>
                <a:ea typeface="STIX Two Math"/>
                <a:cs typeface="STIX Two Math"/>
              </a:defRPr>
            </a:lvl6pPr>
            <a:lvl7pPr>
              <a:defRPr sz="2550" b="0">
                <a:solidFill>
                  <a:srgbClr val="005293"/>
                </a:solidFill>
                <a:latin typeface="STIX Two Math"/>
                <a:ea typeface="STIX Two Math"/>
                <a:cs typeface="STIX Two Math"/>
              </a:defRPr>
            </a:lvl7pPr>
            <a:lvl8pPr>
              <a:defRPr sz="2550" b="0">
                <a:solidFill>
                  <a:srgbClr val="005293"/>
                </a:solidFill>
                <a:latin typeface="STIX Two Math"/>
                <a:ea typeface="STIX Two Math"/>
                <a:cs typeface="STIX Two Math"/>
              </a:defRPr>
            </a:lvl8pPr>
            <a:lvl9pPr>
              <a:defRPr sz="2550" b="0">
                <a:solidFill>
                  <a:srgbClr val="005293"/>
                </a:solidFill>
                <a:latin typeface="STIX Two Math"/>
                <a:ea typeface="STIX Two Math"/>
                <a:cs typeface="STIX Two Math"/>
              </a:defRPr>
            </a:lvl9pPr>
          </a:lstStyle>
          <a:p xmlns:a="http://schemas.openxmlformats.org/drawingml/2006/main">
            <a:pPr>
              <a:defRPr sz="2550" b="0">
                <a:solidFill>
                  <a:srgbClr val="005293"/>
                </a:solidFill>
                <a:latin typeface="STIX Two Math"/>
                <a:ea typeface="STIX Two Math"/>
                <a:cs typeface="STIX Two Math"/>
              </a:defRPr>
            </a:pPr>
            <a:r>
              <a:rPr sz="2550" b="0">
                <a:solidFill>
                  <a:srgbClr val="005293"/>
                </a:solidFill>
                <a:latin typeface="STIX Two Math"/>
                <a:ea typeface="STIX Two Math"/>
                <a:cs typeface="STIX Two Math"/>
              </a:rPr>
              <a:t>(Vorlesungen) ⋈ Professoren</a:t>
            </a:r>
          </a:p>
        </p:txBody>
      </p:sp>
      <p:sp>
        <p:nvSpPr>
          <p:cNvPr id="8" name="">
            <a:extLst xmlns:a="http://schemas.openxmlformats.org/drawingml/2006/main">
              <a:ext uri="{FF2B5EF4-FFF2-40B4-BE49-F238E27FC236}">
                <a16:creationId xmlns:a16="http://schemas.microsoft.com/office/drawing/2014/main" id="{263757E8-F185-49F0-BF35-1C77352AF2AB}"/>
              </a:ext>
            </a:extLst>
          </p:cNvPr>
          <p:cNvSpPr>
            <a:spLocks xmlns:a="http://schemas.openxmlformats.org/drawingml/2006/main" noGrp="1"/>
          </p:cNvSpPr>
          <p:nvPr/>
        </p:nvSpPr>
        <p:spPr>
          <a:xfrm xmlns:a="http://schemas.openxmlformats.org/drawingml/2006/main">
            <a:off x="609600" y="22574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02B33"/>
                </a:solidFill>
                <a:latin typeface="Arial"/>
                <a:ea typeface="Arial"/>
                <a:cs typeface="Arial"/>
              </a:defRPr>
            </a:defPPr>
            <a:lvl1pPr>
              <a:defRPr sz="2100" b="0">
                <a:solidFill>
                  <a:srgbClr val="202B33"/>
                </a:solidFill>
                <a:latin typeface="Arial"/>
                <a:ea typeface="Arial"/>
                <a:cs typeface="Arial"/>
              </a:defRPr>
            </a:lvl1pPr>
            <a:lvl2pPr>
              <a:defRPr sz="2100" b="0">
                <a:solidFill>
                  <a:srgbClr val="202B33"/>
                </a:solidFill>
                <a:latin typeface="Arial"/>
                <a:ea typeface="Arial"/>
                <a:cs typeface="Arial"/>
              </a:defRPr>
            </a:lvl2pPr>
            <a:lvl3pPr>
              <a:defRPr sz="2100" b="0">
                <a:solidFill>
                  <a:srgbClr val="202B33"/>
                </a:solidFill>
                <a:latin typeface="Arial"/>
                <a:ea typeface="Arial"/>
                <a:cs typeface="Arial"/>
              </a:defRPr>
            </a:lvl3pPr>
            <a:lvl4pPr>
              <a:defRPr sz="2100" b="0">
                <a:solidFill>
                  <a:srgbClr val="202B33"/>
                </a:solidFill>
                <a:latin typeface="Arial"/>
                <a:ea typeface="Arial"/>
                <a:cs typeface="Arial"/>
              </a:defRPr>
            </a:lvl4pPr>
            <a:lvl5pPr>
              <a:defRPr sz="2100" b="0">
                <a:solidFill>
                  <a:srgbClr val="202B33"/>
                </a:solidFill>
                <a:latin typeface="Arial"/>
                <a:ea typeface="Arial"/>
                <a:cs typeface="Arial"/>
              </a:defRPr>
            </a:lvl5pPr>
            <a:lvl6pPr>
              <a:defRPr sz="2100" b="0">
                <a:solidFill>
                  <a:srgbClr val="202B33"/>
                </a:solidFill>
                <a:latin typeface="Arial"/>
                <a:ea typeface="Arial"/>
                <a:cs typeface="Arial"/>
              </a:defRPr>
            </a:lvl6pPr>
            <a:lvl7pPr>
              <a:defRPr sz="2100" b="0">
                <a:solidFill>
                  <a:srgbClr val="202B33"/>
                </a:solidFill>
                <a:latin typeface="Arial"/>
                <a:ea typeface="Arial"/>
                <a:cs typeface="Arial"/>
              </a:defRPr>
            </a:lvl7pPr>
            <a:lvl8pPr>
              <a:defRPr sz="2100" b="0">
                <a:solidFill>
                  <a:srgbClr val="202B33"/>
                </a:solidFill>
                <a:latin typeface="Arial"/>
                <a:ea typeface="Arial"/>
                <a:cs typeface="Arial"/>
              </a:defRPr>
            </a:lvl8pPr>
            <a:lvl9pPr>
              <a:defRPr sz="2100" b="0">
                <a:solidFill>
                  <a:srgbClr val="202B33"/>
                </a:solidFill>
                <a:latin typeface="Arial"/>
                <a:ea typeface="Arial"/>
                <a:cs typeface="Arial"/>
              </a:defRPr>
            </a:lvl9pPr>
          </a:lstStyle>
          <a:p xmlns:a="http://schemas.openxmlformats.org/drawingml/2006/main">
            <a:pPr>
              <a:defRPr sz="2100" b="0">
                <a:solidFill>
                  <a:srgbClr val="202B33"/>
                </a:solidFill>
                <a:latin typeface="Arial"/>
                <a:ea typeface="Arial"/>
                <a:cs typeface="Arial"/>
              </a:defRPr>
            </a:pPr>
            <a:r>
              <a:rPr sz="2100" b="0">
                <a:solidFill>
                  <a:srgbClr val="202B33"/>
                </a:solidFill>
                <a:latin typeface="Arial"/>
                <a:ea typeface="Arial"/>
                <a:cs typeface="Arial"/>
              </a:rPr>
              <a:t>Nach der Umbenennung ist PersNr das gemeinsame Attribut.</a:t>
            </a:r>
          </a:p>
        </p:txBody>
      </p:sp>
      <p:graphicFrame>
        <p:nvGraphicFramePr>
          <p:cNvPr id="9" name="">
            <a:extLst xmlns:a="http://schemas.openxmlformats.org/drawingml/2006/main">
              <a:ext uri="{FF2B5EF4-FFF2-40B4-BE49-F238E27FC236}">
                <a16:creationId xmlns:a16="http://schemas.microsoft.com/office/drawing/2014/main" id="{D9980D9D-EF3A-4DBE-A216-A1BA35482B40}"/>
              </a:ext>
            </a:extLst>
          </p:cNvPr>
          <p:cNvGraphicFramePr/>
          <p:nvPr/>
        </p:nvGraphicFramePr>
        <p:xfrm>
          <a:off xmlns:a="http://schemas.openxmlformats.org/drawingml/2006/main" x="609600" y="3190875"/>
          <a:ext xmlns:a="http://schemas.openxmlformats.org/drawingml/2006/main" cx="10972800" cy="2381250"/>
        </p:xfrm>
        <a:graphic xmlns:a="http://schemas.openxmlformats.org/drawingml/2006/main">
          <a:graphicData uri="http://schemas.openxmlformats.org/drawingml/2006/table">
            <a:tbl>
              <a:tblPr/>
              <a:tblGrid>
                <a:gridCol w="2857500"/>
                <a:gridCol w="2857500"/>
                <a:gridCol w="5257800"/>
              </a:tblGrid>
              <a:tr h="476250">
                <a:tc>
                  <a:txBody>
                    <a:bodyPr/>
                    <a:lstStyle/>
                    <a:p>
                      <a:r>
                        <a:rPr sz="2100" b="1">
                          <a:solidFill>
                            <a:srgbClr val="FFFFFF"/>
                          </a:solidFill>
                          <a:latin typeface="Arial"/>
                          <a:ea typeface="Arial"/>
                          <a:cs typeface="Arial"/>
                        </a:rPr>
                        <a:t>VorlNr</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2100" b="1">
                          <a:solidFill>
                            <a:srgbClr val="FFFFFF"/>
                          </a:solidFill>
                          <a:latin typeface="Arial"/>
                          <a:ea typeface="Arial"/>
                          <a:cs typeface="Arial"/>
                        </a:rPr>
                        <a:t>PersNr</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2100" b="1">
                          <a:solidFill>
                            <a:srgbClr val="FFFFFF"/>
                          </a:solidFill>
                          <a:latin typeface="Arial"/>
                          <a:ea typeface="Arial"/>
                          <a:cs typeface="Arial"/>
                        </a:rPr>
                        <a:t>Name</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476250">
                <a:tc>
                  <a:txBody>
                    <a:bodyPr/>
                    <a:lstStyle/>
                    <a:p>
                      <a:r>
                        <a:rPr sz="2100" b="0">
                          <a:solidFill>
                            <a:srgbClr val="202B33"/>
                          </a:solidFill>
                          <a:latin typeface="Arial"/>
                          <a:ea typeface="Arial"/>
                          <a:cs typeface="Arial"/>
                        </a:rPr>
                        <a:t>5041</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2100" b="0">
                          <a:solidFill>
                            <a:srgbClr val="202B33"/>
                          </a:solidFill>
                          <a:latin typeface="Arial"/>
                          <a:ea typeface="Arial"/>
                          <a:cs typeface="Arial"/>
                        </a:rPr>
                        <a:t>2125</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2100" b="0">
                          <a:solidFill>
                            <a:srgbClr val="202B33"/>
                          </a:solidFill>
                          <a:latin typeface="Arial"/>
                          <a:ea typeface="Arial"/>
                          <a:cs typeface="Arial"/>
                        </a:rPr>
                        <a:t>Sokrates</a:t>
                      </a:r>
                    </a:p>
                  </a:txBody>
                  <a:tcPr marL="95250" marR="66675" marT="28575" marB="28575" anchor="ctr">
                    <a:lnR w="6668">
                      <a:solidFill>
                        <a:srgbClr val="CBD8E1"/>
                      </a:solidFill>
                    </a:lnR>
                    <a:lnB w="6668">
                      <a:solidFill>
                        <a:srgbClr val="CBD8E1"/>
                      </a:solidFill>
                    </a:lnB>
                    <a:solidFill>
                      <a:srgbClr val="FFFFFF"/>
                    </a:solidFill>
                  </a:tcPr>
                </a:tc>
              </a:tr>
              <a:tr h="476250">
                <a:tc>
                  <a:txBody>
                    <a:bodyPr/>
                    <a:lstStyle/>
                    <a:p>
                      <a:r>
                        <a:rPr sz="2100" b="0">
                          <a:solidFill>
                            <a:srgbClr val="202B33"/>
                          </a:solidFill>
                          <a:latin typeface="Arial"/>
                          <a:ea typeface="Arial"/>
                          <a:cs typeface="Arial"/>
                        </a:rPr>
                        <a:t>5049</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2100" b="0">
                          <a:solidFill>
                            <a:srgbClr val="202B33"/>
                          </a:solidFill>
                          <a:latin typeface="Arial"/>
                          <a:ea typeface="Arial"/>
                          <a:cs typeface="Arial"/>
                        </a:rPr>
                        <a:t>2125</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2100" b="0">
                          <a:solidFill>
                            <a:srgbClr val="202B33"/>
                          </a:solidFill>
                          <a:latin typeface="Arial"/>
                          <a:ea typeface="Arial"/>
                          <a:cs typeface="Arial"/>
                        </a:rPr>
                        <a:t>Sokrates</a:t>
                      </a:r>
                    </a:p>
                  </a:txBody>
                  <a:tcPr marL="95250" marR="66675" marT="28575" marB="28575" anchor="ctr">
                    <a:lnR w="6668">
                      <a:solidFill>
                        <a:srgbClr val="CBD8E1"/>
                      </a:solidFill>
                    </a:lnR>
                    <a:lnB w="6668">
                      <a:solidFill>
                        <a:srgbClr val="CBD8E1"/>
                      </a:solidFill>
                    </a:lnB>
                    <a:solidFill>
                      <a:srgbClr val="EDF4F9"/>
                    </a:solidFill>
                  </a:tcPr>
                </a:tc>
              </a:tr>
              <a:tr h="476250">
                <a:tc>
                  <a:txBody>
                    <a:bodyPr/>
                    <a:lstStyle/>
                    <a:p>
                      <a:r>
                        <a:rPr sz="2100" b="0">
                          <a:solidFill>
                            <a:srgbClr val="202B33"/>
                          </a:solidFill>
                          <a:latin typeface="Arial"/>
                          <a:ea typeface="Arial"/>
                          <a:cs typeface="Arial"/>
                        </a:rPr>
                        <a:t>5001</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2100" b="0">
                          <a:solidFill>
                            <a:srgbClr val="202B33"/>
                          </a:solidFill>
                          <a:latin typeface="Arial"/>
                          <a:ea typeface="Arial"/>
                          <a:cs typeface="Arial"/>
                        </a:rPr>
                        <a:t>2137</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2100" b="0">
                          <a:solidFill>
                            <a:srgbClr val="202B33"/>
                          </a:solidFill>
                          <a:latin typeface="Arial"/>
                          <a:ea typeface="Arial"/>
                          <a:cs typeface="Arial"/>
                        </a:rPr>
                        <a:t>Kant</a:t>
                      </a:r>
                    </a:p>
                  </a:txBody>
                  <a:tcPr marL="95250" marR="66675" marT="28575" marB="28575" anchor="ctr">
                    <a:lnR w="6668">
                      <a:solidFill>
                        <a:srgbClr val="CBD8E1"/>
                      </a:solidFill>
                    </a:lnR>
                    <a:lnB w="6668">
                      <a:solidFill>
                        <a:srgbClr val="CBD8E1"/>
                      </a:solidFill>
                    </a:lnB>
                    <a:solidFill>
                      <a:srgbClr val="FFFFFF"/>
                    </a:solidFill>
                  </a:tcPr>
                </a:tc>
              </a:tr>
              <a:tr h="476250">
                <a:tc>
                  <a:txBody>
                    <a:bodyPr/>
                    <a:lstStyle/>
                    <a:p>
                      <a:r>
                        <a:rPr sz="2100" b="0">
                          <a:solidFill>
                            <a:srgbClr val="202B33"/>
                          </a:solidFill>
                          <a:latin typeface="Arial"/>
                          <a:ea typeface="Arial"/>
                          <a:cs typeface="Arial"/>
                        </a:rPr>
                        <a:t>4630</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2100" b="0">
                          <a:solidFill>
                            <a:srgbClr val="202B33"/>
                          </a:solidFill>
                          <a:latin typeface="Arial"/>
                          <a:ea typeface="Arial"/>
                          <a:cs typeface="Arial"/>
                        </a:rPr>
                        <a:t>2137</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2100" b="0">
                          <a:solidFill>
                            <a:srgbClr val="202B33"/>
                          </a:solidFill>
                          <a:latin typeface="Arial"/>
                          <a:ea typeface="Arial"/>
                          <a:cs typeface="Arial"/>
                        </a:rPr>
                        <a:t>Kant</a:t>
                      </a:r>
                    </a:p>
                  </a:txBody>
                  <a:tcPr marL="95250" marR="66675" marT="28575" marB="28575" anchor="ctr">
                    <a:lnR w="6668">
                      <a:solidFill>
                        <a:srgbClr val="CBD8E1"/>
                      </a:solidFill>
                    </a:lnR>
                    <a:lnB w="6668">
                      <a:solidFill>
                        <a:srgbClr val="CBD8E1"/>
                      </a:solidFill>
                    </a:lnB>
                    <a:solidFill>
                      <a:srgbClr val="EDF4F9"/>
                    </a:solidFill>
                  </a:tcPr>
                </a:tc>
              </a:tr>
            </a:tbl>
          </a:graphicData>
        </a:graphic>
      </p:graphicFrame>
      <p:sp>
        <p:nvSpPr>
          <p:cNvPr id="10" name="">
            <a:extLst xmlns:a="http://schemas.openxmlformats.org/drawingml/2006/main">
              <a:ext uri="{FF2B5EF4-FFF2-40B4-BE49-F238E27FC236}">
                <a16:creationId xmlns:a16="http://schemas.microsoft.com/office/drawing/2014/main" id="{F93FC677-A401-4C02-87C6-1957EF59CCE2}"/>
              </a:ext>
            </a:extLst>
          </p:cNvPr>
          <p:cNvSpPr>
            <a:spLocks xmlns:a="http://schemas.openxmlformats.org/drawingml/2006/main" noGrp="1"/>
          </p:cNvSpPr>
          <p:nvPr/>
        </p:nvSpPr>
        <p:spPr>
          <a:xfrm xmlns:a="http://schemas.openxmlformats.org/drawingml/2006/main">
            <a:off x="609600" y="57435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5293"/>
                </a:solidFill>
                <a:latin typeface="Arial"/>
                <a:ea typeface="Arial"/>
                <a:cs typeface="Arial"/>
              </a:defRPr>
            </a:defPPr>
            <a:lvl1pPr>
              <a:defRPr sz="2175" b="1">
                <a:solidFill>
                  <a:srgbClr val="005293"/>
                </a:solidFill>
                <a:latin typeface="Arial"/>
                <a:ea typeface="Arial"/>
                <a:cs typeface="Arial"/>
              </a:defRPr>
            </a:lvl1pPr>
            <a:lvl2pPr>
              <a:defRPr sz="2175" b="1">
                <a:solidFill>
                  <a:srgbClr val="005293"/>
                </a:solidFill>
                <a:latin typeface="Arial"/>
                <a:ea typeface="Arial"/>
                <a:cs typeface="Arial"/>
              </a:defRPr>
            </a:lvl2pPr>
            <a:lvl3pPr>
              <a:defRPr sz="2175" b="1">
                <a:solidFill>
                  <a:srgbClr val="005293"/>
                </a:solidFill>
                <a:latin typeface="Arial"/>
                <a:ea typeface="Arial"/>
                <a:cs typeface="Arial"/>
              </a:defRPr>
            </a:lvl3pPr>
            <a:lvl4pPr>
              <a:defRPr sz="2175" b="1">
                <a:solidFill>
                  <a:srgbClr val="005293"/>
                </a:solidFill>
                <a:latin typeface="Arial"/>
                <a:ea typeface="Arial"/>
                <a:cs typeface="Arial"/>
              </a:defRPr>
            </a:lvl4pPr>
            <a:lvl5pPr>
              <a:defRPr sz="2175" b="1">
                <a:solidFill>
                  <a:srgbClr val="005293"/>
                </a:solidFill>
                <a:latin typeface="Arial"/>
                <a:ea typeface="Arial"/>
                <a:cs typeface="Arial"/>
              </a:defRPr>
            </a:lvl5pPr>
            <a:lvl6pPr>
              <a:defRPr sz="2175" b="1">
                <a:solidFill>
                  <a:srgbClr val="005293"/>
                </a:solidFill>
                <a:latin typeface="Arial"/>
                <a:ea typeface="Arial"/>
                <a:cs typeface="Arial"/>
              </a:defRPr>
            </a:lvl6pPr>
            <a:lvl7pPr>
              <a:defRPr sz="2175" b="1">
                <a:solidFill>
                  <a:srgbClr val="005293"/>
                </a:solidFill>
                <a:latin typeface="Arial"/>
                <a:ea typeface="Arial"/>
                <a:cs typeface="Arial"/>
              </a:defRPr>
            </a:lvl7pPr>
            <a:lvl8pPr>
              <a:defRPr sz="2175" b="1">
                <a:solidFill>
                  <a:srgbClr val="005293"/>
                </a:solidFill>
                <a:latin typeface="Arial"/>
                <a:ea typeface="Arial"/>
                <a:cs typeface="Arial"/>
              </a:defRPr>
            </a:lvl8pPr>
            <a:lvl9pPr>
              <a:defRPr sz="2175" b="1">
                <a:solidFill>
                  <a:srgbClr val="005293"/>
                </a:solidFill>
                <a:latin typeface="Arial"/>
                <a:ea typeface="Arial"/>
                <a:cs typeface="Arial"/>
              </a:defRPr>
            </a:lvl9pPr>
          </a:lstStyle>
          <a:p xmlns:a="http://schemas.openxmlformats.org/drawingml/2006/main">
            <a:pPr>
              <a:defRPr sz="2175" b="1">
                <a:solidFill>
                  <a:srgbClr val="005293"/>
                </a:solidFill>
                <a:latin typeface="Arial"/>
                <a:ea typeface="Arial"/>
                <a:cs typeface="Arial"/>
              </a:defRPr>
            </a:pPr>
            <a:r>
              <a:rPr sz="2175" b="1">
                <a:solidFill>
                  <a:srgbClr val="005293"/>
                </a:solidFill>
                <a:latin typeface="Arial"/>
                <a:ea typeface="Arial"/>
                <a:cs typeface="Arial"/>
              </a:rPr>
              <a:t>PersNr steht nur einmal im Ergebnisschema.</a:t>
            </a:r>
          </a:p>
        </p:txBody>
      </p:sp>
    </p:spTree>
    <p:extLst>
      <p:ext uri="{BB962C8B-B14F-4D97-AF65-F5344CB8AC3E}">
        <p14:creationId xmlns:p14="http://schemas.microsoft.com/office/powerpoint/2010/main" val="55084161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F13DD21-C449-4D2B-8427-7E85A0146EAC}"/>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Mehrere Joins: Studenten und Vorlesungen</a:t>
            </a:r>
          </a:p>
        </p:txBody>
      </p:sp>
      <p:sp>
        <p:nvSpPr>
          <p:cNvPr id="2" name="">
            <a:extLst xmlns:a="http://schemas.openxmlformats.org/drawingml/2006/main">
              <a:ext uri="{FF2B5EF4-FFF2-40B4-BE49-F238E27FC236}">
                <a16:creationId xmlns:a16="http://schemas.microsoft.com/office/drawing/2014/main" id="{DE9FCB22-4CF8-4726-B4CA-92099763B0D3}"/>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08782EB3-6B88-4E2E-BAEE-1E29AD95E5CE}"/>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21</a:t>
            </a:r>
          </a:p>
        </p:txBody>
      </p:sp>
      <p:sp>
        <p:nvSpPr>
          <p:cNvPr id="4" name="">
            <a:extLst xmlns:a="http://schemas.openxmlformats.org/drawingml/2006/main">
              <a:ext uri="{FF2B5EF4-FFF2-40B4-BE49-F238E27FC236}">
                <a16:creationId xmlns:a16="http://schemas.microsoft.com/office/drawing/2014/main" id="{1E8295F1-BD47-495E-8C97-4DEE61AF6442}"/>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27–28</a:t>
            </a:r>
          </a:p>
        </p:txBody>
      </p:sp>
      <p:sp>
        <p:nvSpPr>
          <p:cNvPr id="5" name="">
            <a:extLst xmlns:a="http://schemas.openxmlformats.org/drawingml/2006/main">
              <a:ext uri="{FF2B5EF4-FFF2-40B4-BE49-F238E27FC236}">
                <a16:creationId xmlns:a16="http://schemas.microsoft.com/office/drawing/2014/main" id="{4A5096DD-5D29-4D3C-ADFA-A86D6B8E5220}"/>
              </a:ext>
            </a:extLst>
          </p:cNvPr>
          <p:cNvSpPr>
            <a:spLocks xmlns:a="http://schemas.openxmlformats.org/drawingml/2006/main" noGrp="1"/>
          </p:cNvSpPr>
          <p:nvPr/>
        </p:nvSpPr>
        <p:spPr>
          <a:xfrm xmlns:a="http://schemas.openxmlformats.org/drawingml/2006/main">
            <a:off x="609600" y="1381125"/>
            <a:ext cx="5147767" cy="5657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2700" b="0">
                <a:solidFill>
                  <a:srgbClr val="005293"/>
                </a:solidFill>
                <a:latin typeface="STIX Two Math"/>
                <a:ea typeface="STIX Two Math"/>
                <a:cs typeface="STIX Two Math"/>
              </a:defRPr>
            </a:defPPr>
            <a:lvl1pPr>
              <a:defRPr sz="2700" b="0">
                <a:solidFill>
                  <a:srgbClr val="005293"/>
                </a:solidFill>
                <a:latin typeface="STIX Two Math"/>
                <a:ea typeface="STIX Two Math"/>
                <a:cs typeface="STIX Two Math"/>
              </a:defRPr>
            </a:lvl1pPr>
            <a:lvl2pPr>
              <a:defRPr sz="2700" b="0">
                <a:solidFill>
                  <a:srgbClr val="005293"/>
                </a:solidFill>
                <a:latin typeface="STIX Two Math"/>
                <a:ea typeface="STIX Two Math"/>
                <a:cs typeface="STIX Two Math"/>
              </a:defRPr>
            </a:lvl2pPr>
            <a:lvl3pPr>
              <a:defRPr sz="2700" b="0">
                <a:solidFill>
                  <a:srgbClr val="005293"/>
                </a:solidFill>
                <a:latin typeface="STIX Two Math"/>
                <a:ea typeface="STIX Two Math"/>
                <a:cs typeface="STIX Two Math"/>
              </a:defRPr>
            </a:lvl3pPr>
            <a:lvl4pPr>
              <a:defRPr sz="2700" b="0">
                <a:solidFill>
                  <a:srgbClr val="005293"/>
                </a:solidFill>
                <a:latin typeface="STIX Two Math"/>
                <a:ea typeface="STIX Two Math"/>
                <a:cs typeface="STIX Two Math"/>
              </a:defRPr>
            </a:lvl4pPr>
            <a:lvl5pPr>
              <a:defRPr sz="2700" b="0">
                <a:solidFill>
                  <a:srgbClr val="005293"/>
                </a:solidFill>
                <a:latin typeface="STIX Two Math"/>
                <a:ea typeface="STIX Two Math"/>
                <a:cs typeface="STIX Two Math"/>
              </a:defRPr>
            </a:lvl5pPr>
            <a:lvl6pPr>
              <a:defRPr sz="2700" b="0">
                <a:solidFill>
                  <a:srgbClr val="005293"/>
                </a:solidFill>
                <a:latin typeface="STIX Two Math"/>
                <a:ea typeface="STIX Two Math"/>
                <a:cs typeface="STIX Two Math"/>
              </a:defRPr>
            </a:lvl6pPr>
            <a:lvl7pPr>
              <a:defRPr sz="2700" b="0">
                <a:solidFill>
                  <a:srgbClr val="005293"/>
                </a:solidFill>
                <a:latin typeface="STIX Two Math"/>
                <a:ea typeface="STIX Two Math"/>
                <a:cs typeface="STIX Two Math"/>
              </a:defRPr>
            </a:lvl7pPr>
            <a:lvl8pPr>
              <a:defRPr sz="2700" b="0">
                <a:solidFill>
                  <a:srgbClr val="005293"/>
                </a:solidFill>
                <a:latin typeface="STIX Two Math"/>
                <a:ea typeface="STIX Two Math"/>
                <a:cs typeface="STIX Two Math"/>
              </a:defRPr>
            </a:lvl8pPr>
            <a:lvl9pPr>
              <a:defRPr sz="2700" b="0">
                <a:solidFill>
                  <a:srgbClr val="005293"/>
                </a:solidFill>
                <a:latin typeface="STIX Two Math"/>
                <a:ea typeface="STIX Two Math"/>
                <a:cs typeface="STIX Two Math"/>
              </a:defRPr>
            </a:lvl9pPr>
          </a:lstStyle>
          <a:p xmlns:a="http://schemas.openxmlformats.org/drawingml/2006/main">
            <a:pPr>
              <a:defRPr sz="2700" b="0">
                <a:solidFill>
                  <a:srgbClr val="005293"/>
                </a:solidFill>
                <a:latin typeface="STIX Two Math"/>
                <a:ea typeface="STIX Two Math"/>
                <a:cs typeface="STIX Two Math"/>
              </a:defRPr>
            </a:pPr>
            <a:r>
              <a:rPr sz="2700" b="0">
                <a:solidFill>
                  <a:srgbClr val="005293"/>
                </a:solidFill>
                <a:latin typeface="STIX Two Math"/>
                <a:ea typeface="STIX Two Math"/>
                <a:cs typeface="STIX Two Math"/>
              </a:rPr>
              <a:t>Studenten ⋈ hören ⋈ Vorlesungen</a:t>
            </a:r>
          </a:p>
        </p:txBody>
      </p:sp>
      <p:sp>
        <p:nvSpPr>
          <p:cNvPr id="6" name="">
            <a:extLst xmlns:a="http://schemas.openxmlformats.org/drawingml/2006/main">
              <a:ext uri="{FF2B5EF4-FFF2-40B4-BE49-F238E27FC236}">
                <a16:creationId xmlns:a16="http://schemas.microsoft.com/office/drawing/2014/main" id="{43EE1B3D-B178-4C7A-8F10-8D38C9CCC005}"/>
              </a:ext>
            </a:extLst>
          </p:cNvPr>
          <p:cNvSpPr>
            <a:spLocks xmlns:a="http://schemas.openxmlformats.org/drawingml/2006/main" noGrp="1"/>
          </p:cNvSpPr>
          <p:nvPr/>
        </p:nvSpPr>
        <p:spPr>
          <a:xfrm xmlns:a="http://schemas.openxmlformats.org/drawingml/2006/main">
            <a:off x="609600" y="2171700"/>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Studenten (Ausschnitt)</a:t>
            </a:r>
          </a:p>
        </p:txBody>
      </p:sp>
      <p:sp>
        <p:nvSpPr>
          <p:cNvPr id="7" name="">
            <a:extLst xmlns:a="http://schemas.openxmlformats.org/drawingml/2006/main">
              <a:ext uri="{FF2B5EF4-FFF2-40B4-BE49-F238E27FC236}">
                <a16:creationId xmlns:a16="http://schemas.microsoft.com/office/drawing/2014/main" id="{EA05F54E-52B4-44A6-B9DA-B8B3B794C014}"/>
              </a:ext>
            </a:extLst>
          </p:cNvPr>
          <p:cNvSpPr>
            <a:spLocks xmlns:a="http://schemas.openxmlformats.org/drawingml/2006/main" noGrp="1"/>
          </p:cNvSpPr>
          <p:nvPr/>
        </p:nvSpPr>
        <p:spPr>
          <a:xfrm xmlns:a="http://schemas.openxmlformats.org/drawingml/2006/main">
            <a:off x="4953000" y="2171700"/>
            <a:ext cx="285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hören</a:t>
            </a:r>
          </a:p>
        </p:txBody>
      </p:sp>
      <p:sp>
        <p:nvSpPr>
          <p:cNvPr id="8" name="">
            <a:extLst xmlns:a="http://schemas.openxmlformats.org/drawingml/2006/main">
              <a:ext uri="{FF2B5EF4-FFF2-40B4-BE49-F238E27FC236}">
                <a16:creationId xmlns:a16="http://schemas.microsoft.com/office/drawing/2014/main" id="{C91E2857-9D62-4543-B972-65943C120CE3}"/>
              </a:ext>
            </a:extLst>
          </p:cNvPr>
          <p:cNvSpPr>
            <a:spLocks xmlns:a="http://schemas.openxmlformats.org/drawingml/2006/main" noGrp="1"/>
          </p:cNvSpPr>
          <p:nvPr/>
        </p:nvSpPr>
        <p:spPr>
          <a:xfrm xmlns:a="http://schemas.openxmlformats.org/drawingml/2006/main">
            <a:off x="8239125" y="217170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Vorlesungen</a:t>
            </a:r>
          </a:p>
        </p:txBody>
      </p:sp>
      <p:graphicFrame>
        <p:nvGraphicFramePr>
          <p:cNvPr id="9" name="">
            <a:extLst xmlns:a="http://schemas.openxmlformats.org/drawingml/2006/main">
              <a:ext uri="{FF2B5EF4-FFF2-40B4-BE49-F238E27FC236}">
                <a16:creationId xmlns:a16="http://schemas.microsoft.com/office/drawing/2014/main" id="{FDD97468-1DBF-439E-B19B-55242AB13A03}"/>
              </a:ext>
            </a:extLst>
          </p:cNvPr>
          <p:cNvGraphicFramePr/>
          <p:nvPr/>
        </p:nvGraphicFramePr>
        <p:xfrm>
          <a:off xmlns:a="http://schemas.openxmlformats.org/drawingml/2006/main" x="609600" y="2571750"/>
          <a:ext xmlns:a="http://schemas.openxmlformats.org/drawingml/2006/main" cx="3952875" cy="1085850"/>
        </p:xfrm>
        <a:graphic xmlns:a="http://schemas.openxmlformats.org/drawingml/2006/main">
          <a:graphicData uri="http://schemas.openxmlformats.org/drawingml/2006/table">
            <a:tbl>
              <a:tblPr/>
              <a:tblGrid>
                <a:gridCol w="1190625"/>
                <a:gridCol w="2762250"/>
              </a:tblGrid>
              <a:tr h="361950">
                <a:tc>
                  <a:txBody>
                    <a:bodyPr/>
                    <a:lstStyle/>
                    <a:p>
                      <a:r>
                        <a:rPr sz="1650" b="1">
                          <a:solidFill>
                            <a:srgbClr val="FFFFFF"/>
                          </a:solidFill>
                          <a:latin typeface="Arial"/>
                          <a:ea typeface="Arial"/>
                          <a:cs typeface="Arial"/>
                        </a:rPr>
                        <a:t>MatrNr</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650" b="1">
                          <a:solidFill>
                            <a:srgbClr val="FFFFFF"/>
                          </a:solidFill>
                          <a:latin typeface="Arial"/>
                          <a:ea typeface="Arial"/>
                          <a:cs typeface="Arial"/>
                        </a:rPr>
                        <a:t>Name</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361950">
                <a:tc>
                  <a:txBody>
                    <a:bodyPr/>
                    <a:lstStyle/>
                    <a:p>
                      <a:r>
                        <a:rPr sz="1650" b="0">
                          <a:solidFill>
                            <a:srgbClr val="202B33"/>
                          </a:solidFill>
                          <a:latin typeface="Arial"/>
                          <a:ea typeface="Arial"/>
                          <a:cs typeface="Arial"/>
                        </a:rPr>
                        <a:t>26120</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650" b="0">
                          <a:solidFill>
                            <a:srgbClr val="202B33"/>
                          </a:solidFill>
                          <a:latin typeface="Arial"/>
                          <a:ea typeface="Arial"/>
                          <a:cs typeface="Arial"/>
                        </a:rPr>
                        <a:t>Fichte</a:t>
                      </a:r>
                    </a:p>
                  </a:txBody>
                  <a:tcPr marL="95250" marR="66675" marT="28575" marB="28575" anchor="ctr">
                    <a:lnR w="6668">
                      <a:solidFill>
                        <a:srgbClr val="CBD8E1"/>
                      </a:solidFill>
                    </a:lnR>
                    <a:lnB w="6668">
                      <a:solidFill>
                        <a:srgbClr val="CBD8E1"/>
                      </a:solidFill>
                    </a:lnB>
                    <a:solidFill>
                      <a:srgbClr val="FFFFFF"/>
                    </a:solidFill>
                  </a:tcPr>
                </a:tc>
              </a:tr>
              <a:tr h="361950">
                <a:tc>
                  <a:txBody>
                    <a:bodyPr/>
                    <a:lstStyle/>
                    <a:p>
                      <a:r>
                        <a:rPr sz="1650" b="0">
                          <a:solidFill>
                            <a:srgbClr val="202B33"/>
                          </a:solidFill>
                          <a:latin typeface="Arial"/>
                          <a:ea typeface="Arial"/>
                          <a:cs typeface="Arial"/>
                        </a:rPr>
                        <a:t>27550</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650" b="0">
                          <a:solidFill>
                            <a:srgbClr val="202B33"/>
                          </a:solidFill>
                          <a:latin typeface="Arial"/>
                          <a:ea typeface="Arial"/>
                          <a:cs typeface="Arial"/>
                        </a:rPr>
                        <a:t>Schopenhauer</a:t>
                      </a:r>
                    </a:p>
                  </a:txBody>
                  <a:tcPr marL="95250" marR="66675" marT="28575" marB="28575" anchor="ctr">
                    <a:lnR w="6668">
                      <a:solidFill>
                        <a:srgbClr val="CBD8E1"/>
                      </a:solidFill>
                    </a:lnR>
                    <a:lnB w="6668">
                      <a:solidFill>
                        <a:srgbClr val="CBD8E1"/>
                      </a:solidFill>
                    </a:lnB>
                    <a:solidFill>
                      <a:srgbClr val="EDF4F9"/>
                    </a:solidFill>
                  </a:tcPr>
                </a:tc>
              </a:tr>
            </a:tbl>
          </a:graphicData>
        </a:graphic>
      </p:graphicFrame>
      <p:graphicFrame>
        <p:nvGraphicFramePr>
          <p:cNvPr id="10" name="">
            <a:extLst xmlns:a="http://schemas.openxmlformats.org/drawingml/2006/main">
              <a:ext uri="{FF2B5EF4-FFF2-40B4-BE49-F238E27FC236}">
                <a16:creationId xmlns:a16="http://schemas.microsoft.com/office/drawing/2014/main" id="{94A5663B-8FCF-4DF5-A570-FF46C96AE0CC}"/>
              </a:ext>
            </a:extLst>
          </p:cNvPr>
          <p:cNvGraphicFramePr/>
          <p:nvPr/>
        </p:nvGraphicFramePr>
        <p:xfrm>
          <a:off xmlns:a="http://schemas.openxmlformats.org/drawingml/2006/main" x="4953000" y="2571750"/>
          <a:ext xmlns:a="http://schemas.openxmlformats.org/drawingml/2006/main" cx="2857500" cy="1447800"/>
        </p:xfrm>
        <a:graphic xmlns:a="http://schemas.openxmlformats.org/drawingml/2006/main">
          <a:graphicData uri="http://schemas.openxmlformats.org/drawingml/2006/table">
            <a:tbl>
              <a:tblPr/>
              <a:tblGrid>
                <a:gridCol w="1428750"/>
                <a:gridCol w="1428750"/>
              </a:tblGrid>
              <a:tr h="361950">
                <a:tc>
                  <a:txBody>
                    <a:bodyPr/>
                    <a:lstStyle/>
                    <a:p>
                      <a:r>
                        <a:rPr sz="1650" b="1">
                          <a:solidFill>
                            <a:srgbClr val="FFFFFF"/>
                          </a:solidFill>
                          <a:latin typeface="Arial"/>
                          <a:ea typeface="Arial"/>
                          <a:cs typeface="Arial"/>
                        </a:rPr>
                        <a:t>MatrNr</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650" b="1">
                          <a:solidFill>
                            <a:srgbClr val="FFFFFF"/>
                          </a:solidFill>
                          <a:latin typeface="Arial"/>
                          <a:ea typeface="Arial"/>
                          <a:cs typeface="Arial"/>
                        </a:rPr>
                        <a:t>VorlNr</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361950">
                <a:tc>
                  <a:txBody>
                    <a:bodyPr/>
                    <a:lstStyle/>
                    <a:p>
                      <a:r>
                        <a:rPr sz="1650" b="0">
                          <a:solidFill>
                            <a:srgbClr val="202B33"/>
                          </a:solidFill>
                          <a:latin typeface="Arial"/>
                          <a:ea typeface="Arial"/>
                          <a:cs typeface="Arial"/>
                        </a:rPr>
                        <a:t>26120</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650" b="0">
                          <a:solidFill>
                            <a:srgbClr val="202B33"/>
                          </a:solidFill>
                          <a:latin typeface="Arial"/>
                          <a:ea typeface="Arial"/>
                          <a:cs typeface="Arial"/>
                        </a:rPr>
                        <a:t>5001</a:t>
                      </a:r>
                    </a:p>
                  </a:txBody>
                  <a:tcPr marL="95250" marR="66675" marT="28575" marB="28575" anchor="ctr">
                    <a:lnR w="6668">
                      <a:solidFill>
                        <a:srgbClr val="CBD8E1"/>
                      </a:solidFill>
                    </a:lnR>
                    <a:lnB w="6668">
                      <a:solidFill>
                        <a:srgbClr val="CBD8E1"/>
                      </a:solidFill>
                    </a:lnB>
                    <a:solidFill>
                      <a:srgbClr val="FFFFFF"/>
                    </a:solidFill>
                  </a:tcPr>
                </a:tc>
              </a:tr>
              <a:tr h="361950">
                <a:tc>
                  <a:txBody>
                    <a:bodyPr/>
                    <a:lstStyle/>
                    <a:p>
                      <a:r>
                        <a:rPr sz="1650" b="0">
                          <a:solidFill>
                            <a:srgbClr val="202B33"/>
                          </a:solidFill>
                          <a:latin typeface="Arial"/>
                          <a:ea typeface="Arial"/>
                          <a:cs typeface="Arial"/>
                        </a:rPr>
                        <a:t>27550</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650" b="0">
                          <a:solidFill>
                            <a:srgbClr val="202B33"/>
                          </a:solidFill>
                          <a:latin typeface="Arial"/>
                          <a:ea typeface="Arial"/>
                          <a:cs typeface="Arial"/>
                        </a:rPr>
                        <a:t>4052</a:t>
                      </a:r>
                    </a:p>
                  </a:txBody>
                  <a:tcPr marL="95250" marR="66675" marT="28575" marB="28575" anchor="ctr">
                    <a:lnR w="6668">
                      <a:solidFill>
                        <a:srgbClr val="CBD8E1"/>
                      </a:solidFill>
                    </a:lnR>
                    <a:lnB w="6668">
                      <a:solidFill>
                        <a:srgbClr val="CBD8E1"/>
                      </a:solidFill>
                    </a:lnB>
                    <a:solidFill>
                      <a:srgbClr val="EDF4F9"/>
                    </a:solidFill>
                  </a:tcPr>
                </a:tc>
              </a:tr>
              <a:tr h="361950">
                <a:tc>
                  <a:txBody>
                    <a:bodyPr/>
                    <a:lstStyle/>
                    <a:p>
                      <a:r>
                        <a:rPr sz="1650" b="0">
                          <a:solidFill>
                            <a:srgbClr val="202B33"/>
                          </a:solidFill>
                          <a:latin typeface="Arial"/>
                          <a:ea typeface="Arial"/>
                          <a:cs typeface="Arial"/>
                        </a:rPr>
                        <a:t>27550</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650" b="0">
                          <a:solidFill>
                            <a:srgbClr val="202B33"/>
                          </a:solidFill>
                          <a:latin typeface="Arial"/>
                          <a:ea typeface="Arial"/>
                          <a:cs typeface="Arial"/>
                        </a:rPr>
                        <a:t>5001</a:t>
                      </a:r>
                    </a:p>
                  </a:txBody>
                  <a:tcPr marL="95250" marR="66675" marT="28575" marB="28575" anchor="ctr">
                    <a:lnR w="6668">
                      <a:solidFill>
                        <a:srgbClr val="CBD8E1"/>
                      </a:solidFill>
                    </a:lnR>
                    <a:lnB w="6668">
                      <a:solidFill>
                        <a:srgbClr val="CBD8E1"/>
                      </a:solidFill>
                    </a:lnB>
                    <a:solidFill>
                      <a:srgbClr val="FFFFFF"/>
                    </a:solidFill>
                  </a:tcPr>
                </a:tc>
              </a:tr>
            </a:tbl>
          </a:graphicData>
        </a:graphic>
      </p:graphicFrame>
      <p:graphicFrame>
        <p:nvGraphicFramePr>
          <p:cNvPr id="11" name="">
            <a:extLst xmlns:a="http://schemas.openxmlformats.org/drawingml/2006/main">
              <a:ext uri="{FF2B5EF4-FFF2-40B4-BE49-F238E27FC236}">
                <a16:creationId xmlns:a16="http://schemas.microsoft.com/office/drawing/2014/main" id="{EC433E11-E30F-4149-8731-2E71201E88FD}"/>
              </a:ext>
            </a:extLst>
          </p:cNvPr>
          <p:cNvGraphicFramePr/>
          <p:nvPr/>
        </p:nvGraphicFramePr>
        <p:xfrm>
          <a:off xmlns:a="http://schemas.openxmlformats.org/drawingml/2006/main" x="8239125" y="2571750"/>
          <a:ext xmlns:a="http://schemas.openxmlformats.org/drawingml/2006/main" cx="3343275" cy="1085850"/>
        </p:xfrm>
        <a:graphic xmlns:a="http://schemas.openxmlformats.org/drawingml/2006/main">
          <a:graphicData uri="http://schemas.openxmlformats.org/drawingml/2006/table">
            <a:tbl>
              <a:tblPr/>
              <a:tblGrid>
                <a:gridCol w="1095375"/>
                <a:gridCol w="2247900"/>
              </a:tblGrid>
              <a:tr h="361950">
                <a:tc>
                  <a:txBody>
                    <a:bodyPr/>
                    <a:lstStyle/>
                    <a:p>
                      <a:r>
                        <a:rPr sz="1650" b="1">
                          <a:solidFill>
                            <a:srgbClr val="FFFFFF"/>
                          </a:solidFill>
                          <a:latin typeface="Arial"/>
                          <a:ea typeface="Arial"/>
                          <a:cs typeface="Arial"/>
                        </a:rPr>
                        <a:t>VorlNr</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650" b="1">
                          <a:solidFill>
                            <a:srgbClr val="FFFFFF"/>
                          </a:solidFill>
                          <a:latin typeface="Arial"/>
                          <a:ea typeface="Arial"/>
                          <a:cs typeface="Arial"/>
                        </a:rPr>
                        <a:t>Titel</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361950">
                <a:tc>
                  <a:txBody>
                    <a:bodyPr/>
                    <a:lstStyle/>
                    <a:p>
                      <a:r>
                        <a:rPr sz="1650" b="0">
                          <a:solidFill>
                            <a:srgbClr val="202B33"/>
                          </a:solidFill>
                          <a:latin typeface="Arial"/>
                          <a:ea typeface="Arial"/>
                          <a:cs typeface="Arial"/>
                        </a:rPr>
                        <a:t>4052</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650" b="0">
                          <a:solidFill>
                            <a:srgbClr val="202B33"/>
                          </a:solidFill>
                          <a:latin typeface="Arial"/>
                          <a:ea typeface="Arial"/>
                          <a:cs typeface="Arial"/>
                        </a:rPr>
                        <a:t>Logik</a:t>
                      </a:r>
                    </a:p>
                  </a:txBody>
                  <a:tcPr marL="95250" marR="66675" marT="28575" marB="28575" anchor="ctr">
                    <a:lnR w="6668">
                      <a:solidFill>
                        <a:srgbClr val="CBD8E1"/>
                      </a:solidFill>
                    </a:lnR>
                    <a:lnB w="6668">
                      <a:solidFill>
                        <a:srgbClr val="CBD8E1"/>
                      </a:solidFill>
                    </a:lnB>
                    <a:solidFill>
                      <a:srgbClr val="FFFFFF"/>
                    </a:solidFill>
                  </a:tcPr>
                </a:tc>
              </a:tr>
              <a:tr h="361950">
                <a:tc>
                  <a:txBody>
                    <a:bodyPr/>
                    <a:lstStyle/>
                    <a:p>
                      <a:r>
                        <a:rPr sz="1650" b="0">
                          <a:solidFill>
                            <a:srgbClr val="202B33"/>
                          </a:solidFill>
                          <a:latin typeface="Arial"/>
                          <a:ea typeface="Arial"/>
                          <a:cs typeface="Arial"/>
                        </a:rPr>
                        <a:t>5001</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650" b="0">
                          <a:solidFill>
                            <a:srgbClr val="202B33"/>
                          </a:solidFill>
                          <a:latin typeface="Arial"/>
                          <a:ea typeface="Arial"/>
                          <a:cs typeface="Arial"/>
                        </a:rPr>
                        <a:t>Grundzüge</a:t>
                      </a:r>
                    </a:p>
                  </a:txBody>
                  <a:tcPr marL="95250" marR="66675" marT="28575" marB="28575" anchor="ctr">
                    <a:lnR w="6668">
                      <a:solidFill>
                        <a:srgbClr val="CBD8E1"/>
                      </a:solidFill>
                    </a:lnR>
                    <a:lnB w="6668">
                      <a:solidFill>
                        <a:srgbClr val="CBD8E1"/>
                      </a:solidFill>
                    </a:lnB>
                    <a:solidFill>
                      <a:srgbClr val="EDF4F9"/>
                    </a:solidFill>
                  </a:tcPr>
                </a:tc>
              </a:tr>
            </a:tbl>
          </a:graphicData>
        </a:graphic>
      </p:graphicFrame>
      <p:sp>
        <p:nvSpPr>
          <p:cNvPr id="12" name="">
            <a:extLst xmlns:a="http://schemas.openxmlformats.org/drawingml/2006/main">
              <a:ext uri="{FF2B5EF4-FFF2-40B4-BE49-F238E27FC236}">
                <a16:creationId xmlns:a16="http://schemas.microsoft.com/office/drawing/2014/main" id="{FCB54C4A-C3CE-4344-9A12-D1C7CF611662}"/>
              </a:ext>
            </a:extLst>
          </p:cNvPr>
          <p:cNvSpPr>
            <a:spLocks xmlns:a="http://schemas.openxmlformats.org/drawingml/2006/main" noGrp="1"/>
          </p:cNvSpPr>
          <p:nvPr/>
        </p:nvSpPr>
        <p:spPr>
          <a:xfrm xmlns:a="http://schemas.openxmlformats.org/drawingml/2006/main">
            <a:off x="609600" y="4229100"/>
            <a:ext cx="762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Ergebnis für die gezeigten Tupel</a:t>
            </a:r>
          </a:p>
        </p:txBody>
      </p:sp>
      <p:graphicFrame>
        <p:nvGraphicFramePr>
          <p:cNvPr id="13" name="">
            <a:extLst xmlns:a="http://schemas.openxmlformats.org/drawingml/2006/main">
              <a:ext uri="{FF2B5EF4-FFF2-40B4-BE49-F238E27FC236}">
                <a16:creationId xmlns:a16="http://schemas.microsoft.com/office/drawing/2014/main" id="{AAD727FA-AED8-4C00-A16E-C508AEA23665}"/>
              </a:ext>
            </a:extLst>
          </p:cNvPr>
          <p:cNvGraphicFramePr/>
          <p:nvPr/>
        </p:nvGraphicFramePr>
        <p:xfrm>
          <a:off xmlns:a="http://schemas.openxmlformats.org/drawingml/2006/main" x="609600" y="4610100"/>
          <a:ext xmlns:a="http://schemas.openxmlformats.org/drawingml/2006/main" cx="10972800" cy="1333500"/>
        </p:xfrm>
        <a:graphic xmlns:a="http://schemas.openxmlformats.org/drawingml/2006/main">
          <a:graphicData uri="http://schemas.openxmlformats.org/drawingml/2006/table">
            <a:tbl>
              <a:tblPr/>
              <a:tblGrid>
                <a:gridCol w="1809750"/>
                <a:gridCol w="3714750"/>
                <a:gridCol w="1809750"/>
                <a:gridCol w="3638550"/>
              </a:tblGrid>
              <a:tr h="333375">
                <a:tc>
                  <a:txBody>
                    <a:bodyPr/>
                    <a:lstStyle/>
                    <a:p>
                      <a:r>
                        <a:rPr sz="1725" b="1">
                          <a:solidFill>
                            <a:srgbClr val="FFFFFF"/>
                          </a:solidFill>
                          <a:latin typeface="Arial"/>
                          <a:ea typeface="Arial"/>
                          <a:cs typeface="Arial"/>
                        </a:rPr>
                        <a:t>MatrNr</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725" b="1">
                          <a:solidFill>
                            <a:srgbClr val="FFFFFF"/>
                          </a:solidFill>
                          <a:latin typeface="Arial"/>
                          <a:ea typeface="Arial"/>
                          <a:cs typeface="Arial"/>
                        </a:rPr>
                        <a:t>Name</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1725" b="1">
                          <a:solidFill>
                            <a:srgbClr val="FFFFFF"/>
                          </a:solidFill>
                          <a:latin typeface="Arial"/>
                          <a:ea typeface="Arial"/>
                          <a:cs typeface="Arial"/>
                        </a:rPr>
                        <a:t>VorlNr</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1725" b="1">
                          <a:solidFill>
                            <a:srgbClr val="FFFFFF"/>
                          </a:solidFill>
                          <a:latin typeface="Arial"/>
                          <a:ea typeface="Arial"/>
                          <a:cs typeface="Arial"/>
                        </a:rPr>
                        <a:t>Titel</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333375">
                <a:tc>
                  <a:txBody>
                    <a:bodyPr/>
                    <a:lstStyle/>
                    <a:p>
                      <a:r>
                        <a:rPr sz="1725" b="0">
                          <a:solidFill>
                            <a:srgbClr val="202B33"/>
                          </a:solidFill>
                          <a:latin typeface="Arial"/>
                          <a:ea typeface="Arial"/>
                          <a:cs typeface="Arial"/>
                        </a:rPr>
                        <a:t>26120</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725" b="0">
                          <a:solidFill>
                            <a:srgbClr val="202B33"/>
                          </a:solidFill>
                          <a:latin typeface="Arial"/>
                          <a:ea typeface="Arial"/>
                          <a:cs typeface="Arial"/>
                        </a:rPr>
                        <a:t>Fichte</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725" b="0">
                          <a:solidFill>
                            <a:srgbClr val="202B33"/>
                          </a:solidFill>
                          <a:latin typeface="Arial"/>
                          <a:ea typeface="Arial"/>
                          <a:cs typeface="Arial"/>
                        </a:rPr>
                        <a:t>5001</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725" b="0">
                          <a:solidFill>
                            <a:srgbClr val="202B33"/>
                          </a:solidFill>
                          <a:latin typeface="Arial"/>
                          <a:ea typeface="Arial"/>
                          <a:cs typeface="Arial"/>
                        </a:rPr>
                        <a:t>Grundzüge</a:t>
                      </a:r>
                    </a:p>
                  </a:txBody>
                  <a:tcPr marL="95250" marR="66675" marT="28575" marB="28575" anchor="ctr">
                    <a:lnR w="6668">
                      <a:solidFill>
                        <a:srgbClr val="CBD8E1"/>
                      </a:solidFill>
                    </a:lnR>
                    <a:lnB w="6668">
                      <a:solidFill>
                        <a:srgbClr val="CBD8E1"/>
                      </a:solidFill>
                    </a:lnB>
                    <a:solidFill>
                      <a:srgbClr val="FFFFFF"/>
                    </a:solidFill>
                  </a:tcPr>
                </a:tc>
              </a:tr>
              <a:tr h="333375">
                <a:tc>
                  <a:txBody>
                    <a:bodyPr/>
                    <a:lstStyle/>
                    <a:p>
                      <a:r>
                        <a:rPr sz="1725" b="0">
                          <a:solidFill>
                            <a:srgbClr val="202B33"/>
                          </a:solidFill>
                          <a:latin typeface="Arial"/>
                          <a:ea typeface="Arial"/>
                          <a:cs typeface="Arial"/>
                        </a:rPr>
                        <a:t>27550</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725" b="0">
                          <a:solidFill>
                            <a:srgbClr val="202B33"/>
                          </a:solidFill>
                          <a:latin typeface="Arial"/>
                          <a:ea typeface="Arial"/>
                          <a:cs typeface="Arial"/>
                        </a:rPr>
                        <a:t>Schopenhauer</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725" b="0">
                          <a:solidFill>
                            <a:srgbClr val="202B33"/>
                          </a:solidFill>
                          <a:latin typeface="Arial"/>
                          <a:ea typeface="Arial"/>
                          <a:cs typeface="Arial"/>
                        </a:rPr>
                        <a:t>4052</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725" b="0">
                          <a:solidFill>
                            <a:srgbClr val="202B33"/>
                          </a:solidFill>
                          <a:latin typeface="Arial"/>
                          <a:ea typeface="Arial"/>
                          <a:cs typeface="Arial"/>
                        </a:rPr>
                        <a:t>Logik</a:t>
                      </a:r>
                    </a:p>
                  </a:txBody>
                  <a:tcPr marL="95250" marR="66675" marT="28575" marB="28575" anchor="ctr">
                    <a:lnR w="6668">
                      <a:solidFill>
                        <a:srgbClr val="CBD8E1"/>
                      </a:solidFill>
                    </a:lnR>
                    <a:lnB w="6668">
                      <a:solidFill>
                        <a:srgbClr val="CBD8E1"/>
                      </a:solidFill>
                    </a:lnB>
                    <a:solidFill>
                      <a:srgbClr val="EDF4F9"/>
                    </a:solidFill>
                  </a:tcPr>
                </a:tc>
              </a:tr>
              <a:tr h="333375">
                <a:tc>
                  <a:txBody>
                    <a:bodyPr/>
                    <a:lstStyle/>
                    <a:p>
                      <a:r>
                        <a:rPr sz="1725" b="0">
                          <a:solidFill>
                            <a:srgbClr val="202B33"/>
                          </a:solidFill>
                          <a:latin typeface="Arial"/>
                          <a:ea typeface="Arial"/>
                          <a:cs typeface="Arial"/>
                        </a:rPr>
                        <a:t>27550</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725" b="0">
                          <a:solidFill>
                            <a:srgbClr val="202B33"/>
                          </a:solidFill>
                          <a:latin typeface="Arial"/>
                          <a:ea typeface="Arial"/>
                          <a:cs typeface="Arial"/>
                        </a:rPr>
                        <a:t>Schopenhauer</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725" b="0">
                          <a:solidFill>
                            <a:srgbClr val="202B33"/>
                          </a:solidFill>
                          <a:latin typeface="Arial"/>
                          <a:ea typeface="Arial"/>
                          <a:cs typeface="Arial"/>
                        </a:rPr>
                        <a:t>5001</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725" b="0">
                          <a:solidFill>
                            <a:srgbClr val="202B33"/>
                          </a:solidFill>
                          <a:latin typeface="Arial"/>
                          <a:ea typeface="Arial"/>
                          <a:cs typeface="Arial"/>
                        </a:rPr>
                        <a:t>Grundzüge</a:t>
                      </a:r>
                    </a:p>
                  </a:txBody>
                  <a:tcPr marL="95250" marR="66675" marT="28575" marB="28575" anchor="ctr">
                    <a:lnR w="6668">
                      <a:solidFill>
                        <a:srgbClr val="CBD8E1"/>
                      </a:solidFill>
                    </a:lnR>
                    <a:lnB w="6668">
                      <a:solidFill>
                        <a:srgbClr val="CBD8E1"/>
                      </a:solidFill>
                    </a:lnB>
                    <a:solidFill>
                      <a:srgbClr val="FFFFFF"/>
                    </a:solidFill>
                  </a:tcPr>
                </a:tc>
              </a:tr>
            </a:tbl>
          </a:graphicData>
        </a:graphic>
      </p:graphicFrame>
    </p:spTree>
    <p:extLst>
      <p:ext uri="{BB962C8B-B14F-4D97-AF65-F5344CB8AC3E}">
        <p14:creationId xmlns:p14="http://schemas.microsoft.com/office/powerpoint/2010/main" val="211816819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4697F13-50AA-484F-B3B6-D7DC1E207930}"/>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Vollständiger äußerer Join</a:t>
            </a:r>
          </a:p>
        </p:txBody>
      </p:sp>
      <p:sp>
        <p:nvSpPr>
          <p:cNvPr id="2" name="">
            <a:extLst xmlns:a="http://schemas.openxmlformats.org/drawingml/2006/main">
              <a:ext uri="{FF2B5EF4-FFF2-40B4-BE49-F238E27FC236}">
                <a16:creationId xmlns:a16="http://schemas.microsoft.com/office/drawing/2014/main" id="{11228997-ADD9-44C5-B251-4A3E8B8A58B2}"/>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85D8D6D7-1597-46EC-97F5-256E8B35562B}"/>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22</a:t>
            </a:r>
          </a:p>
        </p:txBody>
      </p:sp>
      <p:sp>
        <p:nvSpPr>
          <p:cNvPr id="4" name="">
            <a:extLst xmlns:a="http://schemas.openxmlformats.org/drawingml/2006/main">
              <a:ext uri="{FF2B5EF4-FFF2-40B4-BE49-F238E27FC236}">
                <a16:creationId xmlns:a16="http://schemas.microsoft.com/office/drawing/2014/main" id="{FDBE9BAB-E9C7-4399-9A45-54F89599F47E}"/>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29</a:t>
            </a:r>
          </a:p>
        </p:txBody>
      </p:sp>
      <p:sp>
        <p:nvSpPr>
          <p:cNvPr id="5" name="">
            <a:extLst xmlns:a="http://schemas.openxmlformats.org/drawingml/2006/main">
              <a:ext uri="{FF2B5EF4-FFF2-40B4-BE49-F238E27FC236}">
                <a16:creationId xmlns:a16="http://schemas.microsoft.com/office/drawing/2014/main" id="{728C7A28-7BF8-4A7B-AA05-D826ADBB0511}"/>
              </a:ext>
            </a:extLst>
          </p:cNvPr>
          <p:cNvSpPr>
            <a:spLocks xmlns:a="http://schemas.openxmlformats.org/drawingml/2006/main" noGrp="1"/>
          </p:cNvSpPr>
          <p:nvPr/>
        </p:nvSpPr>
        <p:spPr>
          <a:xfrm xmlns:a="http://schemas.openxmlformats.org/drawingml/2006/main">
            <a:off x="609600" y="1428750"/>
            <a:ext cx="1198626"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3000" b="0">
                <a:solidFill>
                  <a:srgbClr val="005293"/>
                </a:solidFill>
                <a:latin typeface="STIX Two Math"/>
                <a:ea typeface="STIX Two Math"/>
                <a:cs typeface="STIX Two Math"/>
              </a:defRPr>
            </a:defPPr>
            <a:lvl1pPr>
              <a:defRPr sz="3000" b="0">
                <a:solidFill>
                  <a:srgbClr val="005293"/>
                </a:solidFill>
                <a:latin typeface="STIX Two Math"/>
                <a:ea typeface="STIX Two Math"/>
                <a:cs typeface="STIX Two Math"/>
              </a:defRPr>
            </a:lvl1pPr>
            <a:lvl2pPr>
              <a:defRPr sz="3000" b="0">
                <a:solidFill>
                  <a:srgbClr val="005293"/>
                </a:solidFill>
                <a:latin typeface="STIX Two Math"/>
                <a:ea typeface="STIX Two Math"/>
                <a:cs typeface="STIX Two Math"/>
              </a:defRPr>
            </a:lvl2pPr>
            <a:lvl3pPr>
              <a:defRPr sz="3000" b="0">
                <a:solidFill>
                  <a:srgbClr val="005293"/>
                </a:solidFill>
                <a:latin typeface="STIX Two Math"/>
                <a:ea typeface="STIX Two Math"/>
                <a:cs typeface="STIX Two Math"/>
              </a:defRPr>
            </a:lvl3pPr>
            <a:lvl4pPr>
              <a:defRPr sz="3000" b="0">
                <a:solidFill>
                  <a:srgbClr val="005293"/>
                </a:solidFill>
                <a:latin typeface="STIX Two Math"/>
                <a:ea typeface="STIX Two Math"/>
                <a:cs typeface="STIX Two Math"/>
              </a:defRPr>
            </a:lvl4pPr>
            <a:lvl5pPr>
              <a:defRPr sz="3000" b="0">
                <a:solidFill>
                  <a:srgbClr val="005293"/>
                </a:solidFill>
                <a:latin typeface="STIX Two Math"/>
                <a:ea typeface="STIX Two Math"/>
                <a:cs typeface="STIX Two Math"/>
              </a:defRPr>
            </a:lvl5pPr>
            <a:lvl6pPr>
              <a:defRPr sz="3000" b="0">
                <a:solidFill>
                  <a:srgbClr val="005293"/>
                </a:solidFill>
                <a:latin typeface="STIX Two Math"/>
                <a:ea typeface="STIX Two Math"/>
                <a:cs typeface="STIX Two Math"/>
              </a:defRPr>
            </a:lvl6pPr>
            <a:lvl7pPr>
              <a:defRPr sz="3000" b="0">
                <a:solidFill>
                  <a:srgbClr val="005293"/>
                </a:solidFill>
                <a:latin typeface="STIX Two Math"/>
                <a:ea typeface="STIX Two Math"/>
                <a:cs typeface="STIX Two Math"/>
              </a:defRPr>
            </a:lvl7pPr>
            <a:lvl8pPr>
              <a:defRPr sz="3000" b="0">
                <a:solidFill>
                  <a:srgbClr val="005293"/>
                </a:solidFill>
                <a:latin typeface="STIX Two Math"/>
                <a:ea typeface="STIX Two Math"/>
                <a:cs typeface="STIX Two Math"/>
              </a:defRPr>
            </a:lvl8pPr>
            <a:lvl9pPr>
              <a:defRPr sz="3000" b="0">
                <a:solidFill>
                  <a:srgbClr val="005293"/>
                </a:solidFill>
                <a:latin typeface="STIX Two Math"/>
                <a:ea typeface="STIX Two Math"/>
                <a:cs typeface="STIX Two Math"/>
              </a:defRPr>
            </a:lvl9pPr>
          </a:lstStyle>
          <a:p xmlns:a="http://schemas.openxmlformats.org/drawingml/2006/main">
            <a:pPr>
              <a:defRPr sz="3000" b="0">
                <a:solidFill>
                  <a:srgbClr val="005293"/>
                </a:solidFill>
                <a:latin typeface="STIX Two Math"/>
                <a:ea typeface="STIX Two Math"/>
                <a:cs typeface="STIX Two Math"/>
              </a:defRPr>
            </a:pPr>
            <a:r>
              <a:rPr sz="3000" b="0">
                <a:solidFill>
                  <a:srgbClr val="005293"/>
                </a:solidFill>
                <a:latin typeface="STIX Two Math"/>
                <a:ea typeface="STIX Two Math"/>
                <a:cs typeface="STIX Two Math"/>
              </a:rPr>
              <a:t>L ⟗ R</a:t>
            </a:r>
          </a:p>
        </p:txBody>
      </p:sp>
      <p:sp>
        <p:nvSpPr>
          <p:cNvPr id="6" name="">
            <a:extLst xmlns:a="http://schemas.openxmlformats.org/drawingml/2006/main">
              <a:ext uri="{FF2B5EF4-FFF2-40B4-BE49-F238E27FC236}">
                <a16:creationId xmlns:a16="http://schemas.microsoft.com/office/drawing/2014/main" id="{E0280134-8855-49AE-B1A2-45999C4AA199}"/>
              </a:ext>
            </a:extLst>
          </p:cNvPr>
          <p:cNvSpPr>
            <a:spLocks xmlns:a="http://schemas.openxmlformats.org/drawingml/2006/main" noGrp="1"/>
          </p:cNvSpPr>
          <p:nvPr/>
        </p:nvSpPr>
        <p:spPr>
          <a:xfrm xmlns:a="http://schemas.openxmlformats.org/drawingml/2006/main">
            <a:off x="609600" y="24765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Alle passenden Tupelpaare wie beim inneren Join.</a:t>
            </a:r>
          </a:p>
        </p:txBody>
      </p:sp>
      <p:sp>
        <p:nvSpPr>
          <p:cNvPr id="7" name="">
            <a:extLst xmlns:a="http://schemas.openxmlformats.org/drawingml/2006/main">
              <a:ext uri="{FF2B5EF4-FFF2-40B4-BE49-F238E27FC236}">
                <a16:creationId xmlns:a16="http://schemas.microsoft.com/office/drawing/2014/main" id="{ACD3B467-CF4F-46A2-BAF0-1CC2AB19BC43}"/>
              </a:ext>
            </a:extLst>
          </p:cNvPr>
          <p:cNvSpPr>
            <a:spLocks xmlns:a="http://schemas.openxmlformats.org/drawingml/2006/main" noGrp="1"/>
          </p:cNvSpPr>
          <p:nvPr/>
        </p:nvSpPr>
        <p:spPr>
          <a:xfrm xmlns:a="http://schemas.openxmlformats.org/drawingml/2006/main">
            <a:off x="609600" y="34290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Behält zusätzlich alle Tupel ohne Joinpartner aus beiden Relationen.</a:t>
            </a:r>
          </a:p>
        </p:txBody>
      </p:sp>
      <p:sp>
        <p:nvSpPr>
          <p:cNvPr id="8" name="">
            <a:extLst xmlns:a="http://schemas.openxmlformats.org/drawingml/2006/main">
              <a:ext uri="{FF2B5EF4-FFF2-40B4-BE49-F238E27FC236}">
                <a16:creationId xmlns:a16="http://schemas.microsoft.com/office/drawing/2014/main" id="{EDE3CFE9-F819-423A-83B1-ED6B44C44823}"/>
              </a:ext>
            </a:extLst>
          </p:cNvPr>
          <p:cNvSpPr>
            <a:spLocks xmlns:a="http://schemas.openxmlformats.org/drawingml/2006/main" noGrp="1"/>
          </p:cNvSpPr>
          <p:nvPr/>
        </p:nvSpPr>
        <p:spPr>
          <a:xfrm xmlns:a="http://schemas.openxmlformats.org/drawingml/2006/main">
            <a:off x="609600" y="43815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Fehlende Werte erscheinen als NULL, im Kapitel mit „–“ dargestellt.</a:t>
            </a:r>
          </a:p>
        </p:txBody>
      </p:sp>
    </p:spTree>
    <p:extLst>
      <p:ext uri="{BB962C8B-B14F-4D97-AF65-F5344CB8AC3E}">
        <p14:creationId xmlns:p14="http://schemas.microsoft.com/office/powerpoint/2010/main" val="96413665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14FC3FF-94A1-439B-A645-C425BC093D96}"/>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Vollständiger äußerer Join: Beispiel</a:t>
            </a:r>
          </a:p>
        </p:txBody>
      </p:sp>
      <p:sp>
        <p:nvSpPr>
          <p:cNvPr id="2" name="">
            <a:extLst xmlns:a="http://schemas.openxmlformats.org/drawingml/2006/main">
              <a:ext uri="{FF2B5EF4-FFF2-40B4-BE49-F238E27FC236}">
                <a16:creationId xmlns:a16="http://schemas.microsoft.com/office/drawing/2014/main" id="{C25889CE-D3AE-4B33-B34F-2216D9F38FC4}"/>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59C0B877-0FBE-4676-9F4E-86817FF120AC}"/>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23</a:t>
            </a:r>
          </a:p>
        </p:txBody>
      </p:sp>
      <p:sp>
        <p:nvSpPr>
          <p:cNvPr id="4" name="">
            <a:extLst xmlns:a="http://schemas.openxmlformats.org/drawingml/2006/main">
              <a:ext uri="{FF2B5EF4-FFF2-40B4-BE49-F238E27FC236}">
                <a16:creationId xmlns:a16="http://schemas.microsoft.com/office/drawing/2014/main" id="{E64F7A7C-5204-496F-8F58-0F20FCD304B3}"/>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29</a:t>
            </a:r>
          </a:p>
        </p:txBody>
      </p:sp>
      <p:sp>
        <p:nvSpPr>
          <p:cNvPr id="5" name="">
            <a:extLst xmlns:a="http://schemas.openxmlformats.org/drawingml/2006/main">
              <a:ext uri="{FF2B5EF4-FFF2-40B4-BE49-F238E27FC236}">
                <a16:creationId xmlns:a16="http://schemas.microsoft.com/office/drawing/2014/main" id="{FCC94FF0-2316-4571-BD93-88481F6C62C0}"/>
              </a:ext>
            </a:extLst>
          </p:cNvPr>
          <p:cNvSpPr>
            <a:spLocks xmlns:a="http://schemas.openxmlformats.org/drawingml/2006/main" noGrp="1"/>
          </p:cNvSpPr>
          <p:nvPr/>
        </p:nvSpPr>
        <p:spPr>
          <a:xfrm xmlns:a="http://schemas.openxmlformats.org/drawingml/2006/main">
            <a:off x="609600" y="1381125"/>
            <a:ext cx="1198626"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3000" b="0">
                <a:solidFill>
                  <a:srgbClr val="005293"/>
                </a:solidFill>
                <a:latin typeface="STIX Two Math"/>
                <a:ea typeface="STIX Two Math"/>
                <a:cs typeface="STIX Two Math"/>
              </a:defRPr>
            </a:defPPr>
            <a:lvl1pPr>
              <a:defRPr sz="3000" b="0">
                <a:solidFill>
                  <a:srgbClr val="005293"/>
                </a:solidFill>
                <a:latin typeface="STIX Two Math"/>
                <a:ea typeface="STIX Two Math"/>
                <a:cs typeface="STIX Two Math"/>
              </a:defRPr>
            </a:lvl1pPr>
            <a:lvl2pPr>
              <a:defRPr sz="3000" b="0">
                <a:solidFill>
                  <a:srgbClr val="005293"/>
                </a:solidFill>
                <a:latin typeface="STIX Two Math"/>
                <a:ea typeface="STIX Two Math"/>
                <a:cs typeface="STIX Two Math"/>
              </a:defRPr>
            </a:lvl2pPr>
            <a:lvl3pPr>
              <a:defRPr sz="3000" b="0">
                <a:solidFill>
                  <a:srgbClr val="005293"/>
                </a:solidFill>
                <a:latin typeface="STIX Two Math"/>
                <a:ea typeface="STIX Two Math"/>
                <a:cs typeface="STIX Two Math"/>
              </a:defRPr>
            </a:lvl3pPr>
            <a:lvl4pPr>
              <a:defRPr sz="3000" b="0">
                <a:solidFill>
                  <a:srgbClr val="005293"/>
                </a:solidFill>
                <a:latin typeface="STIX Two Math"/>
                <a:ea typeface="STIX Two Math"/>
                <a:cs typeface="STIX Two Math"/>
              </a:defRPr>
            </a:lvl4pPr>
            <a:lvl5pPr>
              <a:defRPr sz="3000" b="0">
                <a:solidFill>
                  <a:srgbClr val="005293"/>
                </a:solidFill>
                <a:latin typeface="STIX Two Math"/>
                <a:ea typeface="STIX Two Math"/>
                <a:cs typeface="STIX Two Math"/>
              </a:defRPr>
            </a:lvl5pPr>
            <a:lvl6pPr>
              <a:defRPr sz="3000" b="0">
                <a:solidFill>
                  <a:srgbClr val="005293"/>
                </a:solidFill>
                <a:latin typeface="STIX Two Math"/>
                <a:ea typeface="STIX Two Math"/>
                <a:cs typeface="STIX Two Math"/>
              </a:defRPr>
            </a:lvl6pPr>
            <a:lvl7pPr>
              <a:defRPr sz="3000" b="0">
                <a:solidFill>
                  <a:srgbClr val="005293"/>
                </a:solidFill>
                <a:latin typeface="STIX Two Math"/>
                <a:ea typeface="STIX Two Math"/>
                <a:cs typeface="STIX Two Math"/>
              </a:defRPr>
            </a:lvl7pPr>
            <a:lvl8pPr>
              <a:defRPr sz="3000" b="0">
                <a:solidFill>
                  <a:srgbClr val="005293"/>
                </a:solidFill>
                <a:latin typeface="STIX Two Math"/>
                <a:ea typeface="STIX Two Math"/>
                <a:cs typeface="STIX Two Math"/>
              </a:defRPr>
            </a:lvl8pPr>
            <a:lvl9pPr>
              <a:defRPr sz="3000" b="0">
                <a:solidFill>
                  <a:srgbClr val="005293"/>
                </a:solidFill>
                <a:latin typeface="STIX Two Math"/>
                <a:ea typeface="STIX Two Math"/>
                <a:cs typeface="STIX Two Math"/>
              </a:defRPr>
            </a:lvl9pPr>
          </a:lstStyle>
          <a:p xmlns:a="http://schemas.openxmlformats.org/drawingml/2006/main">
            <a:pPr>
              <a:defRPr sz="3000" b="0">
                <a:solidFill>
                  <a:srgbClr val="005293"/>
                </a:solidFill>
                <a:latin typeface="STIX Two Math"/>
                <a:ea typeface="STIX Two Math"/>
                <a:cs typeface="STIX Two Math"/>
              </a:defRPr>
            </a:pPr>
            <a:r>
              <a:rPr sz="3000" b="0">
                <a:solidFill>
                  <a:srgbClr val="005293"/>
                </a:solidFill>
                <a:latin typeface="STIX Two Math"/>
                <a:ea typeface="STIX Two Math"/>
                <a:cs typeface="STIX Two Math"/>
              </a:rPr>
              <a:t>L ⟗ R</a:t>
            </a:r>
          </a:p>
        </p:txBody>
      </p:sp>
      <p:sp>
        <p:nvSpPr>
          <p:cNvPr id="6" name="">
            <a:extLst xmlns:a="http://schemas.openxmlformats.org/drawingml/2006/main">
              <a:ext uri="{FF2B5EF4-FFF2-40B4-BE49-F238E27FC236}">
                <a16:creationId xmlns:a16="http://schemas.microsoft.com/office/drawing/2014/main" id="{72A60FF5-5EA5-42B3-AA57-2DA8F63C56F9}"/>
              </a:ext>
            </a:extLst>
          </p:cNvPr>
          <p:cNvSpPr>
            <a:spLocks xmlns:a="http://schemas.openxmlformats.org/drawingml/2006/main" noGrp="1"/>
          </p:cNvSpPr>
          <p:nvPr/>
        </p:nvSpPr>
        <p:spPr>
          <a:xfrm xmlns:a="http://schemas.openxmlformats.org/drawingml/2006/main">
            <a:off x="609600" y="210502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L</a:t>
            </a:r>
          </a:p>
        </p:txBody>
      </p:sp>
      <p:sp>
        <p:nvSpPr>
          <p:cNvPr id="7" name="">
            <a:extLst xmlns:a="http://schemas.openxmlformats.org/drawingml/2006/main">
              <a:ext uri="{FF2B5EF4-FFF2-40B4-BE49-F238E27FC236}">
                <a16:creationId xmlns:a16="http://schemas.microsoft.com/office/drawing/2014/main" id="{9766585B-7F9D-4ACF-9CE6-D1813FF95F8C}"/>
              </a:ext>
            </a:extLst>
          </p:cNvPr>
          <p:cNvSpPr>
            <a:spLocks xmlns:a="http://schemas.openxmlformats.org/drawingml/2006/main" noGrp="1"/>
          </p:cNvSpPr>
          <p:nvPr/>
        </p:nvSpPr>
        <p:spPr>
          <a:xfrm xmlns:a="http://schemas.openxmlformats.org/drawingml/2006/main">
            <a:off x="6762750" y="210502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R</a:t>
            </a:r>
          </a:p>
        </p:txBody>
      </p:sp>
      <p:graphicFrame>
        <p:nvGraphicFramePr>
          <p:cNvPr id="8" name="">
            <a:extLst xmlns:a="http://schemas.openxmlformats.org/drawingml/2006/main">
              <a:ext uri="{FF2B5EF4-FFF2-40B4-BE49-F238E27FC236}">
                <a16:creationId xmlns:a16="http://schemas.microsoft.com/office/drawing/2014/main" id="{A4405601-C712-4E74-AE9B-81C5EFFE4F17}"/>
              </a:ext>
            </a:extLst>
          </p:cNvPr>
          <p:cNvGraphicFramePr/>
          <p:nvPr/>
        </p:nvGraphicFramePr>
        <p:xfrm>
          <a:off xmlns:a="http://schemas.openxmlformats.org/drawingml/2006/main" x="609600" y="2514600"/>
          <a:ext xmlns:a="http://schemas.openxmlformats.org/drawingml/2006/main" cx="4762500" cy="1171575"/>
        </p:xfrm>
        <a:graphic xmlns:a="http://schemas.openxmlformats.org/drawingml/2006/main">
          <a:graphicData uri="http://schemas.openxmlformats.org/drawingml/2006/table">
            <a:tbl>
              <a:tblPr/>
              <a:tblGrid>
                <a:gridCol w="1587500"/>
                <a:gridCol w="1587500"/>
                <a:gridCol w="1587500"/>
              </a:tblGrid>
              <a:tr h="390525">
                <a:tc>
                  <a:txBody>
                    <a:bodyPr/>
                    <a:lstStyle/>
                    <a:p>
                      <a:r>
                        <a:rPr sz="1950" b="1">
                          <a:solidFill>
                            <a:srgbClr val="FFFFFF"/>
                          </a:solidFill>
                          <a:latin typeface="Arial"/>
                          <a:ea typeface="Arial"/>
                          <a:cs typeface="Arial"/>
                        </a:rPr>
                        <a:t>A</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B</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C</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390525">
                <a:tc>
                  <a:txBody>
                    <a:bodyPr/>
                    <a:lstStyle/>
                    <a:p>
                      <a:r>
                        <a:rPr sz="1950" b="0">
                          <a:solidFill>
                            <a:srgbClr val="202B33"/>
                          </a:solidFill>
                          <a:latin typeface="Arial"/>
                          <a:ea typeface="Arial"/>
                          <a:cs typeface="Arial"/>
                        </a:rPr>
                        <a:t>a₁</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b₁</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c₁</a:t>
                      </a:r>
                    </a:p>
                  </a:txBody>
                  <a:tcPr marL="95250" marR="66675" marT="28575" marB="28575" anchor="ctr">
                    <a:lnR w="6668">
                      <a:solidFill>
                        <a:srgbClr val="CBD8E1"/>
                      </a:solidFill>
                    </a:lnR>
                    <a:lnB w="6668">
                      <a:solidFill>
                        <a:srgbClr val="CBD8E1"/>
                      </a:solidFill>
                    </a:lnB>
                    <a:solidFill>
                      <a:srgbClr val="FFFFFF"/>
                    </a:solidFill>
                  </a:tcPr>
                </a:tc>
              </a:tr>
              <a:tr h="390525">
                <a:tc>
                  <a:txBody>
                    <a:bodyPr/>
                    <a:lstStyle/>
                    <a:p>
                      <a:r>
                        <a:rPr sz="1950" b="0">
                          <a:solidFill>
                            <a:srgbClr val="202B33"/>
                          </a:solidFill>
                          <a:latin typeface="Arial"/>
                          <a:ea typeface="Arial"/>
                          <a:cs typeface="Arial"/>
                        </a:rPr>
                        <a:t>a₂</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b₂</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c₂</a:t>
                      </a:r>
                    </a:p>
                  </a:txBody>
                  <a:tcPr marL="95250" marR="66675" marT="28575" marB="28575" anchor="ctr">
                    <a:lnR w="6668">
                      <a:solidFill>
                        <a:srgbClr val="CBD8E1"/>
                      </a:solidFill>
                    </a:lnR>
                    <a:lnB w="6668">
                      <a:solidFill>
                        <a:srgbClr val="CBD8E1"/>
                      </a:solidFill>
                    </a:lnB>
                    <a:solidFill>
                      <a:srgbClr val="EDF4F9"/>
                    </a:solidFill>
                  </a:tcPr>
                </a:tc>
              </a:tr>
            </a:tbl>
          </a:graphicData>
        </a:graphic>
      </p:graphicFrame>
      <p:graphicFrame>
        <p:nvGraphicFramePr>
          <p:cNvPr id="9" name="">
            <a:extLst xmlns:a="http://schemas.openxmlformats.org/drawingml/2006/main">
              <a:ext uri="{FF2B5EF4-FFF2-40B4-BE49-F238E27FC236}">
                <a16:creationId xmlns:a16="http://schemas.microsoft.com/office/drawing/2014/main" id="{B03E5A40-4550-4009-A231-EFD69E11F1D3}"/>
              </a:ext>
            </a:extLst>
          </p:cNvPr>
          <p:cNvGraphicFramePr/>
          <p:nvPr/>
        </p:nvGraphicFramePr>
        <p:xfrm>
          <a:off xmlns:a="http://schemas.openxmlformats.org/drawingml/2006/main" x="6762750" y="2514600"/>
          <a:ext xmlns:a="http://schemas.openxmlformats.org/drawingml/2006/main" cx="4762500" cy="1171575"/>
        </p:xfrm>
        <a:graphic xmlns:a="http://schemas.openxmlformats.org/drawingml/2006/main">
          <a:graphicData uri="http://schemas.openxmlformats.org/drawingml/2006/table">
            <a:tbl>
              <a:tblPr/>
              <a:tblGrid>
                <a:gridCol w="1587500"/>
                <a:gridCol w="1587500"/>
                <a:gridCol w="1587500"/>
              </a:tblGrid>
              <a:tr h="390525">
                <a:tc>
                  <a:txBody>
                    <a:bodyPr/>
                    <a:lstStyle/>
                    <a:p>
                      <a:r>
                        <a:rPr sz="1950" b="1">
                          <a:solidFill>
                            <a:srgbClr val="FFFFFF"/>
                          </a:solidFill>
                          <a:latin typeface="Arial"/>
                          <a:ea typeface="Arial"/>
                          <a:cs typeface="Arial"/>
                        </a:rPr>
                        <a:t>C</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D</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E</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390525">
                <a:tc>
                  <a:txBody>
                    <a:bodyPr/>
                    <a:lstStyle/>
                    <a:p>
                      <a:r>
                        <a:rPr sz="1950" b="0">
                          <a:solidFill>
                            <a:srgbClr val="202B33"/>
                          </a:solidFill>
                          <a:latin typeface="Arial"/>
                          <a:ea typeface="Arial"/>
                          <a:cs typeface="Arial"/>
                        </a:rPr>
                        <a:t>c₁</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d₁</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e₁</a:t>
                      </a:r>
                    </a:p>
                  </a:txBody>
                  <a:tcPr marL="95250" marR="66675" marT="28575" marB="28575" anchor="ctr">
                    <a:lnR w="6668">
                      <a:solidFill>
                        <a:srgbClr val="CBD8E1"/>
                      </a:solidFill>
                    </a:lnR>
                    <a:lnB w="6668">
                      <a:solidFill>
                        <a:srgbClr val="CBD8E1"/>
                      </a:solidFill>
                    </a:lnB>
                    <a:solidFill>
                      <a:srgbClr val="FFFFFF"/>
                    </a:solidFill>
                  </a:tcPr>
                </a:tc>
              </a:tr>
              <a:tr h="390525">
                <a:tc>
                  <a:txBody>
                    <a:bodyPr/>
                    <a:lstStyle/>
                    <a:p>
                      <a:r>
                        <a:rPr sz="1950" b="0">
                          <a:solidFill>
                            <a:srgbClr val="202B33"/>
                          </a:solidFill>
                          <a:latin typeface="Arial"/>
                          <a:ea typeface="Arial"/>
                          <a:cs typeface="Arial"/>
                        </a:rPr>
                        <a:t>c₃</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d₂</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e₂</a:t>
                      </a:r>
                    </a:p>
                  </a:txBody>
                  <a:tcPr marL="95250" marR="66675" marT="28575" marB="28575" anchor="ctr">
                    <a:lnR w="6668">
                      <a:solidFill>
                        <a:srgbClr val="CBD8E1"/>
                      </a:solidFill>
                    </a:lnR>
                    <a:lnB w="6668">
                      <a:solidFill>
                        <a:srgbClr val="CBD8E1"/>
                      </a:solidFill>
                    </a:lnB>
                    <a:solidFill>
                      <a:srgbClr val="EDF4F9"/>
                    </a:solidFill>
                  </a:tcPr>
                </a:tc>
              </a:tr>
            </a:tbl>
          </a:graphicData>
        </a:graphic>
      </p:graphicFrame>
      <p:sp>
        <p:nvSpPr>
          <p:cNvPr id="10" name="">
            <a:extLst xmlns:a="http://schemas.openxmlformats.org/drawingml/2006/main">
              <a:ext uri="{FF2B5EF4-FFF2-40B4-BE49-F238E27FC236}">
                <a16:creationId xmlns:a16="http://schemas.microsoft.com/office/drawing/2014/main" id="{1CFB7F2F-DC10-4D70-B521-71D92930BBB4}"/>
              </a:ext>
            </a:extLst>
          </p:cNvPr>
          <p:cNvSpPr>
            <a:spLocks xmlns:a="http://schemas.openxmlformats.org/drawingml/2006/main" noGrp="1"/>
          </p:cNvSpPr>
          <p:nvPr/>
        </p:nvSpPr>
        <p:spPr>
          <a:xfrm xmlns:a="http://schemas.openxmlformats.org/drawingml/2006/main">
            <a:off x="609600" y="390525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Ergebnis</a:t>
            </a:r>
          </a:p>
        </p:txBody>
      </p:sp>
      <p:graphicFrame>
        <p:nvGraphicFramePr>
          <p:cNvPr id="11" name="">
            <a:extLst xmlns:a="http://schemas.openxmlformats.org/drawingml/2006/main">
              <a:ext uri="{FF2B5EF4-FFF2-40B4-BE49-F238E27FC236}">
                <a16:creationId xmlns:a16="http://schemas.microsoft.com/office/drawing/2014/main" id="{578299C6-9B1E-4E0F-B0E6-248CF69976FE}"/>
              </a:ext>
            </a:extLst>
          </p:cNvPr>
          <p:cNvGraphicFramePr/>
          <p:nvPr/>
        </p:nvGraphicFramePr>
        <p:xfrm>
          <a:off xmlns:a="http://schemas.openxmlformats.org/drawingml/2006/main" x="609600" y="4333875"/>
          <a:ext xmlns:a="http://schemas.openxmlformats.org/drawingml/2006/main" cx="10972800" cy="1485900"/>
        </p:xfrm>
        <a:graphic xmlns:a="http://schemas.openxmlformats.org/drawingml/2006/main">
          <a:graphicData uri="http://schemas.openxmlformats.org/drawingml/2006/table">
            <a:tbl>
              <a:tblPr/>
              <a:tblGrid>
                <a:gridCol w="2194560"/>
                <a:gridCol w="2194560"/>
                <a:gridCol w="2194560"/>
                <a:gridCol w="2194560"/>
                <a:gridCol w="2194560"/>
              </a:tblGrid>
              <a:tr h="371475">
                <a:tc>
                  <a:txBody>
                    <a:bodyPr/>
                    <a:lstStyle/>
                    <a:p>
                      <a:r>
                        <a:rPr sz="1950" b="1">
                          <a:solidFill>
                            <a:srgbClr val="FFFFFF"/>
                          </a:solidFill>
                          <a:latin typeface="Arial"/>
                          <a:ea typeface="Arial"/>
                          <a:cs typeface="Arial"/>
                        </a:rPr>
                        <a:t>A</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B</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C</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D</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E</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371475">
                <a:tc>
                  <a:txBody>
                    <a:bodyPr/>
                    <a:lstStyle/>
                    <a:p>
                      <a:r>
                        <a:rPr sz="1950" b="0">
                          <a:solidFill>
                            <a:srgbClr val="202B33"/>
                          </a:solidFill>
                          <a:latin typeface="Arial"/>
                          <a:ea typeface="Arial"/>
                          <a:cs typeface="Arial"/>
                        </a:rPr>
                        <a:t>a₁</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b₁</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c₁</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d₁</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e₁</a:t>
                      </a:r>
                    </a:p>
                  </a:txBody>
                  <a:tcPr marL="95250" marR="66675" marT="28575" marB="28575" anchor="ctr">
                    <a:lnR w="6668">
                      <a:solidFill>
                        <a:srgbClr val="CBD8E1"/>
                      </a:solidFill>
                    </a:lnR>
                    <a:lnB w="6668">
                      <a:solidFill>
                        <a:srgbClr val="CBD8E1"/>
                      </a:solidFill>
                    </a:lnB>
                    <a:solidFill>
                      <a:srgbClr val="FFFFFF"/>
                    </a:solidFill>
                  </a:tcPr>
                </a:tc>
              </a:tr>
              <a:tr h="371475">
                <a:tc>
                  <a:txBody>
                    <a:bodyPr/>
                    <a:lstStyle/>
                    <a:p>
                      <a:r>
                        <a:rPr sz="1950" b="0">
                          <a:solidFill>
                            <a:srgbClr val="202B33"/>
                          </a:solidFill>
                          <a:latin typeface="Arial"/>
                          <a:ea typeface="Arial"/>
                          <a:cs typeface="Arial"/>
                        </a:rPr>
                        <a:t>a₂</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b₂</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c₂</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a:t>
                      </a:r>
                    </a:p>
                  </a:txBody>
                  <a:tcPr marL="95250" marR="66675" marT="28575" marB="28575" anchor="ctr">
                    <a:lnR w="6668">
                      <a:solidFill>
                        <a:srgbClr val="CBD8E1"/>
                      </a:solidFill>
                    </a:lnR>
                    <a:lnB w="6668">
                      <a:solidFill>
                        <a:srgbClr val="CBD8E1"/>
                      </a:solidFill>
                    </a:lnB>
                    <a:solidFill>
                      <a:srgbClr val="EDF4F9"/>
                    </a:solidFill>
                  </a:tcPr>
                </a:tc>
              </a:tr>
              <a:tr h="371475">
                <a:tc>
                  <a:txBody>
                    <a:bodyPr/>
                    <a:lstStyle/>
                    <a:p>
                      <a:r>
                        <a:rPr sz="1950" b="0">
                          <a:solidFill>
                            <a:srgbClr val="202B33"/>
                          </a:solidFill>
                          <a:latin typeface="Arial"/>
                          <a:ea typeface="Arial"/>
                          <a:cs typeface="Arial"/>
                        </a:rPr>
                        <a:t>–</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c₃</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d₂</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e₂</a:t>
                      </a:r>
                    </a:p>
                  </a:txBody>
                  <a:tcPr marL="95250" marR="66675" marT="28575" marB="28575" anchor="ctr">
                    <a:lnR w="6668">
                      <a:solidFill>
                        <a:srgbClr val="CBD8E1"/>
                      </a:solidFill>
                    </a:lnR>
                    <a:lnB w="6668">
                      <a:solidFill>
                        <a:srgbClr val="CBD8E1"/>
                      </a:solidFill>
                    </a:lnB>
                    <a:solidFill>
                      <a:srgbClr val="FFFFFF"/>
                    </a:solidFill>
                  </a:tcPr>
                </a:tc>
              </a:tr>
            </a:tbl>
          </a:graphicData>
        </a:graphic>
      </p:graphicFrame>
      <p:sp>
        <p:nvSpPr>
          <p:cNvPr id="12" name="">
            <a:extLst xmlns:a="http://schemas.openxmlformats.org/drawingml/2006/main">
              <a:ext uri="{FF2B5EF4-FFF2-40B4-BE49-F238E27FC236}">
                <a16:creationId xmlns:a16="http://schemas.microsoft.com/office/drawing/2014/main" id="{EA29E3C0-D96E-4B20-9213-15601512DAE7}"/>
              </a:ext>
            </a:extLst>
          </p:cNvPr>
          <p:cNvSpPr>
            <a:spLocks xmlns:a="http://schemas.openxmlformats.org/drawingml/2006/main" noGrp="1"/>
          </p:cNvSpPr>
          <p:nvPr/>
        </p:nvSpPr>
        <p:spPr>
          <a:xfrm xmlns:a="http://schemas.openxmlformats.org/drawingml/2006/main">
            <a:off x="609600" y="59150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005293"/>
                </a:solidFill>
                <a:latin typeface="Arial"/>
                <a:ea typeface="Arial"/>
                <a:cs typeface="Arial"/>
              </a:defRPr>
            </a:defPPr>
            <a:lvl1pPr>
              <a:defRPr sz="1800" b="1">
                <a:solidFill>
                  <a:srgbClr val="005293"/>
                </a:solidFill>
                <a:latin typeface="Arial"/>
                <a:ea typeface="Arial"/>
                <a:cs typeface="Arial"/>
              </a:defRPr>
            </a:lvl1pPr>
            <a:lvl2pPr>
              <a:defRPr sz="1800" b="1">
                <a:solidFill>
                  <a:srgbClr val="005293"/>
                </a:solidFill>
                <a:latin typeface="Arial"/>
                <a:ea typeface="Arial"/>
                <a:cs typeface="Arial"/>
              </a:defRPr>
            </a:lvl2pPr>
            <a:lvl3pPr>
              <a:defRPr sz="1800" b="1">
                <a:solidFill>
                  <a:srgbClr val="005293"/>
                </a:solidFill>
                <a:latin typeface="Arial"/>
                <a:ea typeface="Arial"/>
                <a:cs typeface="Arial"/>
              </a:defRPr>
            </a:lvl3pPr>
            <a:lvl4pPr>
              <a:defRPr sz="1800" b="1">
                <a:solidFill>
                  <a:srgbClr val="005293"/>
                </a:solidFill>
                <a:latin typeface="Arial"/>
                <a:ea typeface="Arial"/>
                <a:cs typeface="Arial"/>
              </a:defRPr>
            </a:lvl4pPr>
            <a:lvl5pPr>
              <a:defRPr sz="1800" b="1">
                <a:solidFill>
                  <a:srgbClr val="005293"/>
                </a:solidFill>
                <a:latin typeface="Arial"/>
                <a:ea typeface="Arial"/>
                <a:cs typeface="Arial"/>
              </a:defRPr>
            </a:lvl5pPr>
            <a:lvl6pPr>
              <a:defRPr sz="1800" b="1">
                <a:solidFill>
                  <a:srgbClr val="005293"/>
                </a:solidFill>
                <a:latin typeface="Arial"/>
                <a:ea typeface="Arial"/>
                <a:cs typeface="Arial"/>
              </a:defRPr>
            </a:lvl6pPr>
            <a:lvl7pPr>
              <a:defRPr sz="1800" b="1">
                <a:solidFill>
                  <a:srgbClr val="005293"/>
                </a:solidFill>
                <a:latin typeface="Arial"/>
                <a:ea typeface="Arial"/>
                <a:cs typeface="Arial"/>
              </a:defRPr>
            </a:lvl7pPr>
            <a:lvl8pPr>
              <a:defRPr sz="1800" b="1">
                <a:solidFill>
                  <a:srgbClr val="005293"/>
                </a:solidFill>
                <a:latin typeface="Arial"/>
                <a:ea typeface="Arial"/>
                <a:cs typeface="Arial"/>
              </a:defRPr>
            </a:lvl8pPr>
            <a:lvl9pPr>
              <a:defRPr sz="1800" b="1">
                <a:solidFill>
                  <a:srgbClr val="005293"/>
                </a:solidFill>
                <a:latin typeface="Arial"/>
                <a:ea typeface="Arial"/>
                <a:cs typeface="Arial"/>
              </a:defRPr>
            </a:lvl9pPr>
          </a:lstStyle>
          <a:p xmlns:a="http://schemas.openxmlformats.org/drawingml/2006/main">
            <a:pPr>
              <a:defRPr sz="1800" b="1">
                <a:solidFill>
                  <a:srgbClr val="005293"/>
                </a:solidFill>
                <a:latin typeface="Arial"/>
                <a:ea typeface="Arial"/>
                <a:cs typeface="Arial"/>
              </a:defRPr>
            </a:pPr>
            <a:r>
              <a:rPr sz="1800" b="1">
                <a:solidFill>
                  <a:srgbClr val="005293"/>
                </a:solidFill>
                <a:latin typeface="Arial"/>
                <a:ea typeface="Arial"/>
                <a:cs typeface="Arial"/>
              </a:rPr>
              <a:t>Join über C. „–“ markiert einen fehlenden Wert (NULL).</a:t>
            </a:r>
          </a:p>
        </p:txBody>
      </p:sp>
    </p:spTree>
    <p:extLst>
      <p:ext uri="{BB962C8B-B14F-4D97-AF65-F5344CB8AC3E}">
        <p14:creationId xmlns:p14="http://schemas.microsoft.com/office/powerpoint/2010/main" val="177892591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396AC92-B587-4113-B3E6-AADDFE2E22AE}"/>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Linker äußerer Join</a:t>
            </a:r>
          </a:p>
        </p:txBody>
      </p:sp>
      <p:sp>
        <p:nvSpPr>
          <p:cNvPr id="2" name="">
            <a:extLst xmlns:a="http://schemas.openxmlformats.org/drawingml/2006/main">
              <a:ext uri="{FF2B5EF4-FFF2-40B4-BE49-F238E27FC236}">
                <a16:creationId xmlns:a16="http://schemas.microsoft.com/office/drawing/2014/main" id="{7A4B9AA6-0E1F-4C4C-A50C-47F959D24434}"/>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98452A30-B72F-46F1-B0DF-9E52DFD4B16A}"/>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24</a:t>
            </a:r>
          </a:p>
        </p:txBody>
      </p:sp>
      <p:sp>
        <p:nvSpPr>
          <p:cNvPr id="4" name="">
            <a:extLst xmlns:a="http://schemas.openxmlformats.org/drawingml/2006/main">
              <a:ext uri="{FF2B5EF4-FFF2-40B4-BE49-F238E27FC236}">
                <a16:creationId xmlns:a16="http://schemas.microsoft.com/office/drawing/2014/main" id="{9C48FE2A-3A35-4C2C-9093-127DAA44383A}"/>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30</a:t>
            </a:r>
          </a:p>
        </p:txBody>
      </p:sp>
      <p:sp>
        <p:nvSpPr>
          <p:cNvPr id="5" name="">
            <a:extLst xmlns:a="http://schemas.openxmlformats.org/drawingml/2006/main">
              <a:ext uri="{FF2B5EF4-FFF2-40B4-BE49-F238E27FC236}">
                <a16:creationId xmlns:a16="http://schemas.microsoft.com/office/drawing/2014/main" id="{2C081FEC-C34E-4214-8C7E-5756D3111D6B}"/>
              </a:ext>
            </a:extLst>
          </p:cNvPr>
          <p:cNvSpPr>
            <a:spLocks xmlns:a="http://schemas.openxmlformats.org/drawingml/2006/main" noGrp="1"/>
          </p:cNvSpPr>
          <p:nvPr/>
        </p:nvSpPr>
        <p:spPr>
          <a:xfrm xmlns:a="http://schemas.openxmlformats.org/drawingml/2006/main">
            <a:off x="609600" y="1428750"/>
            <a:ext cx="1117092"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3000" b="0">
                <a:solidFill>
                  <a:srgbClr val="005293"/>
                </a:solidFill>
                <a:latin typeface="STIX Two Math"/>
                <a:ea typeface="STIX Two Math"/>
                <a:cs typeface="STIX Two Math"/>
              </a:defRPr>
            </a:defPPr>
            <a:lvl1pPr>
              <a:defRPr sz="3000" b="0">
                <a:solidFill>
                  <a:srgbClr val="005293"/>
                </a:solidFill>
                <a:latin typeface="STIX Two Math"/>
                <a:ea typeface="STIX Two Math"/>
                <a:cs typeface="STIX Two Math"/>
              </a:defRPr>
            </a:lvl1pPr>
            <a:lvl2pPr>
              <a:defRPr sz="3000" b="0">
                <a:solidFill>
                  <a:srgbClr val="005293"/>
                </a:solidFill>
                <a:latin typeface="STIX Two Math"/>
                <a:ea typeface="STIX Two Math"/>
                <a:cs typeface="STIX Two Math"/>
              </a:defRPr>
            </a:lvl2pPr>
            <a:lvl3pPr>
              <a:defRPr sz="3000" b="0">
                <a:solidFill>
                  <a:srgbClr val="005293"/>
                </a:solidFill>
                <a:latin typeface="STIX Two Math"/>
                <a:ea typeface="STIX Two Math"/>
                <a:cs typeface="STIX Two Math"/>
              </a:defRPr>
            </a:lvl3pPr>
            <a:lvl4pPr>
              <a:defRPr sz="3000" b="0">
                <a:solidFill>
                  <a:srgbClr val="005293"/>
                </a:solidFill>
                <a:latin typeface="STIX Two Math"/>
                <a:ea typeface="STIX Two Math"/>
                <a:cs typeface="STIX Two Math"/>
              </a:defRPr>
            </a:lvl4pPr>
            <a:lvl5pPr>
              <a:defRPr sz="3000" b="0">
                <a:solidFill>
                  <a:srgbClr val="005293"/>
                </a:solidFill>
                <a:latin typeface="STIX Two Math"/>
                <a:ea typeface="STIX Two Math"/>
                <a:cs typeface="STIX Two Math"/>
              </a:defRPr>
            </a:lvl5pPr>
            <a:lvl6pPr>
              <a:defRPr sz="3000" b="0">
                <a:solidFill>
                  <a:srgbClr val="005293"/>
                </a:solidFill>
                <a:latin typeface="STIX Two Math"/>
                <a:ea typeface="STIX Two Math"/>
                <a:cs typeface="STIX Two Math"/>
              </a:defRPr>
            </a:lvl6pPr>
            <a:lvl7pPr>
              <a:defRPr sz="3000" b="0">
                <a:solidFill>
                  <a:srgbClr val="005293"/>
                </a:solidFill>
                <a:latin typeface="STIX Two Math"/>
                <a:ea typeface="STIX Two Math"/>
                <a:cs typeface="STIX Two Math"/>
              </a:defRPr>
            </a:lvl7pPr>
            <a:lvl8pPr>
              <a:defRPr sz="3000" b="0">
                <a:solidFill>
                  <a:srgbClr val="005293"/>
                </a:solidFill>
                <a:latin typeface="STIX Two Math"/>
                <a:ea typeface="STIX Two Math"/>
                <a:cs typeface="STIX Two Math"/>
              </a:defRPr>
            </a:lvl8pPr>
            <a:lvl9pPr>
              <a:defRPr sz="3000" b="0">
                <a:solidFill>
                  <a:srgbClr val="005293"/>
                </a:solidFill>
                <a:latin typeface="STIX Two Math"/>
                <a:ea typeface="STIX Two Math"/>
                <a:cs typeface="STIX Two Math"/>
              </a:defRPr>
            </a:lvl9pPr>
          </a:lstStyle>
          <a:p xmlns:a="http://schemas.openxmlformats.org/drawingml/2006/main">
            <a:pPr>
              <a:defRPr sz="3000" b="0">
                <a:solidFill>
                  <a:srgbClr val="005293"/>
                </a:solidFill>
                <a:latin typeface="STIX Two Math"/>
                <a:ea typeface="STIX Two Math"/>
                <a:cs typeface="STIX Two Math"/>
              </a:defRPr>
            </a:pPr>
            <a:r>
              <a:rPr sz="3000" b="0">
                <a:solidFill>
                  <a:srgbClr val="005293"/>
                </a:solidFill>
                <a:latin typeface="STIX Two Math"/>
                <a:ea typeface="STIX Two Math"/>
                <a:cs typeface="STIX Two Math"/>
              </a:rPr>
              <a:t>L ⟕ R</a:t>
            </a:r>
          </a:p>
        </p:txBody>
      </p:sp>
      <p:sp>
        <p:nvSpPr>
          <p:cNvPr id="6" name="">
            <a:extLst xmlns:a="http://schemas.openxmlformats.org/drawingml/2006/main">
              <a:ext uri="{FF2B5EF4-FFF2-40B4-BE49-F238E27FC236}">
                <a16:creationId xmlns:a16="http://schemas.microsoft.com/office/drawing/2014/main" id="{9D9CD327-E95A-4A28-A4A0-459F6FD11ADC}"/>
              </a:ext>
            </a:extLst>
          </p:cNvPr>
          <p:cNvSpPr>
            <a:spLocks xmlns:a="http://schemas.openxmlformats.org/drawingml/2006/main" noGrp="1"/>
          </p:cNvSpPr>
          <p:nvPr/>
        </p:nvSpPr>
        <p:spPr>
          <a:xfrm xmlns:a="http://schemas.openxmlformats.org/drawingml/2006/main">
            <a:off x="609600" y="24765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Alle passenden Tupelpaare wie beim inneren Join.</a:t>
            </a:r>
          </a:p>
        </p:txBody>
      </p:sp>
      <p:sp>
        <p:nvSpPr>
          <p:cNvPr id="7" name="">
            <a:extLst xmlns:a="http://schemas.openxmlformats.org/drawingml/2006/main">
              <a:ext uri="{FF2B5EF4-FFF2-40B4-BE49-F238E27FC236}">
                <a16:creationId xmlns:a16="http://schemas.microsoft.com/office/drawing/2014/main" id="{6FADD3A8-5845-4CB3-BEBD-A6F7789A967E}"/>
              </a:ext>
            </a:extLst>
          </p:cNvPr>
          <p:cNvSpPr>
            <a:spLocks xmlns:a="http://schemas.openxmlformats.org/drawingml/2006/main" noGrp="1"/>
          </p:cNvSpPr>
          <p:nvPr/>
        </p:nvSpPr>
        <p:spPr>
          <a:xfrm xmlns:a="http://schemas.openxmlformats.org/drawingml/2006/main">
            <a:off x="609600" y="34290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Behält zusätzlich alle Tupel der linken Relation ohne Joinpartner.</a:t>
            </a:r>
          </a:p>
        </p:txBody>
      </p:sp>
      <p:sp>
        <p:nvSpPr>
          <p:cNvPr id="8" name="">
            <a:extLst xmlns:a="http://schemas.openxmlformats.org/drawingml/2006/main">
              <a:ext uri="{FF2B5EF4-FFF2-40B4-BE49-F238E27FC236}">
                <a16:creationId xmlns:a16="http://schemas.microsoft.com/office/drawing/2014/main" id="{13F3D764-EAB2-44AC-BB0E-7C24FDACB4A3}"/>
              </a:ext>
            </a:extLst>
          </p:cNvPr>
          <p:cNvSpPr>
            <a:spLocks xmlns:a="http://schemas.openxmlformats.org/drawingml/2006/main" noGrp="1"/>
          </p:cNvSpPr>
          <p:nvPr/>
        </p:nvSpPr>
        <p:spPr>
          <a:xfrm xmlns:a="http://schemas.openxmlformats.org/drawingml/2006/main">
            <a:off x="609600" y="43815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Fehlende Werte erscheinen als NULL, im Kapitel mit „–“ dargestellt.</a:t>
            </a:r>
          </a:p>
        </p:txBody>
      </p:sp>
    </p:spTree>
    <p:extLst>
      <p:ext uri="{BB962C8B-B14F-4D97-AF65-F5344CB8AC3E}">
        <p14:creationId xmlns:p14="http://schemas.microsoft.com/office/powerpoint/2010/main" val="21798163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8D59AB1-C0F6-4F2B-81A5-B14C7B269917}"/>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Linker äußerer Join: Beispiel</a:t>
            </a:r>
          </a:p>
        </p:txBody>
      </p:sp>
      <p:sp>
        <p:nvSpPr>
          <p:cNvPr id="2" name="">
            <a:extLst xmlns:a="http://schemas.openxmlformats.org/drawingml/2006/main">
              <a:ext uri="{FF2B5EF4-FFF2-40B4-BE49-F238E27FC236}">
                <a16:creationId xmlns:a16="http://schemas.microsoft.com/office/drawing/2014/main" id="{987DBCEB-998B-4CD1-BB9E-085104B790CE}"/>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2406B289-F598-4C61-B154-357CC7577511}"/>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25</a:t>
            </a:r>
          </a:p>
        </p:txBody>
      </p:sp>
      <p:sp>
        <p:nvSpPr>
          <p:cNvPr id="4" name="">
            <a:extLst xmlns:a="http://schemas.openxmlformats.org/drawingml/2006/main">
              <a:ext uri="{FF2B5EF4-FFF2-40B4-BE49-F238E27FC236}">
                <a16:creationId xmlns:a16="http://schemas.microsoft.com/office/drawing/2014/main" id="{6176EC07-E6B7-4FE4-83D7-2815E520516D}"/>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30</a:t>
            </a:r>
          </a:p>
        </p:txBody>
      </p:sp>
      <p:sp>
        <p:nvSpPr>
          <p:cNvPr id="5" name="">
            <a:extLst xmlns:a="http://schemas.openxmlformats.org/drawingml/2006/main">
              <a:ext uri="{FF2B5EF4-FFF2-40B4-BE49-F238E27FC236}">
                <a16:creationId xmlns:a16="http://schemas.microsoft.com/office/drawing/2014/main" id="{DF399568-9EED-44B2-86E9-D563B41D99AA}"/>
              </a:ext>
            </a:extLst>
          </p:cNvPr>
          <p:cNvSpPr>
            <a:spLocks xmlns:a="http://schemas.openxmlformats.org/drawingml/2006/main" noGrp="1"/>
          </p:cNvSpPr>
          <p:nvPr/>
        </p:nvSpPr>
        <p:spPr>
          <a:xfrm xmlns:a="http://schemas.openxmlformats.org/drawingml/2006/main">
            <a:off x="609600" y="1381125"/>
            <a:ext cx="1117092"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3000" b="0">
                <a:solidFill>
                  <a:srgbClr val="005293"/>
                </a:solidFill>
                <a:latin typeface="STIX Two Math"/>
                <a:ea typeface="STIX Two Math"/>
                <a:cs typeface="STIX Two Math"/>
              </a:defRPr>
            </a:defPPr>
            <a:lvl1pPr>
              <a:defRPr sz="3000" b="0">
                <a:solidFill>
                  <a:srgbClr val="005293"/>
                </a:solidFill>
                <a:latin typeface="STIX Two Math"/>
                <a:ea typeface="STIX Two Math"/>
                <a:cs typeface="STIX Two Math"/>
              </a:defRPr>
            </a:lvl1pPr>
            <a:lvl2pPr>
              <a:defRPr sz="3000" b="0">
                <a:solidFill>
                  <a:srgbClr val="005293"/>
                </a:solidFill>
                <a:latin typeface="STIX Two Math"/>
                <a:ea typeface="STIX Two Math"/>
                <a:cs typeface="STIX Two Math"/>
              </a:defRPr>
            </a:lvl2pPr>
            <a:lvl3pPr>
              <a:defRPr sz="3000" b="0">
                <a:solidFill>
                  <a:srgbClr val="005293"/>
                </a:solidFill>
                <a:latin typeface="STIX Two Math"/>
                <a:ea typeface="STIX Two Math"/>
                <a:cs typeface="STIX Two Math"/>
              </a:defRPr>
            </a:lvl3pPr>
            <a:lvl4pPr>
              <a:defRPr sz="3000" b="0">
                <a:solidFill>
                  <a:srgbClr val="005293"/>
                </a:solidFill>
                <a:latin typeface="STIX Two Math"/>
                <a:ea typeface="STIX Two Math"/>
                <a:cs typeface="STIX Two Math"/>
              </a:defRPr>
            </a:lvl4pPr>
            <a:lvl5pPr>
              <a:defRPr sz="3000" b="0">
                <a:solidFill>
                  <a:srgbClr val="005293"/>
                </a:solidFill>
                <a:latin typeface="STIX Two Math"/>
                <a:ea typeface="STIX Two Math"/>
                <a:cs typeface="STIX Two Math"/>
              </a:defRPr>
            </a:lvl5pPr>
            <a:lvl6pPr>
              <a:defRPr sz="3000" b="0">
                <a:solidFill>
                  <a:srgbClr val="005293"/>
                </a:solidFill>
                <a:latin typeface="STIX Two Math"/>
                <a:ea typeface="STIX Two Math"/>
                <a:cs typeface="STIX Two Math"/>
              </a:defRPr>
            </a:lvl6pPr>
            <a:lvl7pPr>
              <a:defRPr sz="3000" b="0">
                <a:solidFill>
                  <a:srgbClr val="005293"/>
                </a:solidFill>
                <a:latin typeface="STIX Two Math"/>
                <a:ea typeface="STIX Two Math"/>
                <a:cs typeface="STIX Two Math"/>
              </a:defRPr>
            </a:lvl7pPr>
            <a:lvl8pPr>
              <a:defRPr sz="3000" b="0">
                <a:solidFill>
                  <a:srgbClr val="005293"/>
                </a:solidFill>
                <a:latin typeface="STIX Two Math"/>
                <a:ea typeface="STIX Two Math"/>
                <a:cs typeface="STIX Two Math"/>
              </a:defRPr>
            </a:lvl8pPr>
            <a:lvl9pPr>
              <a:defRPr sz="3000" b="0">
                <a:solidFill>
                  <a:srgbClr val="005293"/>
                </a:solidFill>
                <a:latin typeface="STIX Two Math"/>
                <a:ea typeface="STIX Two Math"/>
                <a:cs typeface="STIX Two Math"/>
              </a:defRPr>
            </a:lvl9pPr>
          </a:lstStyle>
          <a:p xmlns:a="http://schemas.openxmlformats.org/drawingml/2006/main">
            <a:pPr>
              <a:defRPr sz="3000" b="0">
                <a:solidFill>
                  <a:srgbClr val="005293"/>
                </a:solidFill>
                <a:latin typeface="STIX Two Math"/>
                <a:ea typeface="STIX Two Math"/>
                <a:cs typeface="STIX Two Math"/>
              </a:defRPr>
            </a:pPr>
            <a:r>
              <a:rPr sz="3000" b="0">
                <a:solidFill>
                  <a:srgbClr val="005293"/>
                </a:solidFill>
                <a:latin typeface="STIX Two Math"/>
                <a:ea typeface="STIX Two Math"/>
                <a:cs typeface="STIX Two Math"/>
              </a:rPr>
              <a:t>L ⟕ R</a:t>
            </a:r>
          </a:p>
        </p:txBody>
      </p:sp>
      <p:sp>
        <p:nvSpPr>
          <p:cNvPr id="6" name="">
            <a:extLst xmlns:a="http://schemas.openxmlformats.org/drawingml/2006/main">
              <a:ext uri="{FF2B5EF4-FFF2-40B4-BE49-F238E27FC236}">
                <a16:creationId xmlns:a16="http://schemas.microsoft.com/office/drawing/2014/main" id="{CA976AE9-196F-4512-8D6F-F61AE00F40CD}"/>
              </a:ext>
            </a:extLst>
          </p:cNvPr>
          <p:cNvSpPr>
            <a:spLocks xmlns:a="http://schemas.openxmlformats.org/drawingml/2006/main" noGrp="1"/>
          </p:cNvSpPr>
          <p:nvPr/>
        </p:nvSpPr>
        <p:spPr>
          <a:xfrm xmlns:a="http://schemas.openxmlformats.org/drawingml/2006/main">
            <a:off x="609600" y="210502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L</a:t>
            </a:r>
          </a:p>
        </p:txBody>
      </p:sp>
      <p:sp>
        <p:nvSpPr>
          <p:cNvPr id="7" name="">
            <a:extLst xmlns:a="http://schemas.openxmlformats.org/drawingml/2006/main">
              <a:ext uri="{FF2B5EF4-FFF2-40B4-BE49-F238E27FC236}">
                <a16:creationId xmlns:a16="http://schemas.microsoft.com/office/drawing/2014/main" id="{A3EE8800-6771-482D-A0FE-B1CB6C6D7A22}"/>
              </a:ext>
            </a:extLst>
          </p:cNvPr>
          <p:cNvSpPr>
            <a:spLocks xmlns:a="http://schemas.openxmlformats.org/drawingml/2006/main" noGrp="1"/>
          </p:cNvSpPr>
          <p:nvPr/>
        </p:nvSpPr>
        <p:spPr>
          <a:xfrm xmlns:a="http://schemas.openxmlformats.org/drawingml/2006/main">
            <a:off x="6762750" y="210502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R</a:t>
            </a:r>
          </a:p>
        </p:txBody>
      </p:sp>
      <p:graphicFrame>
        <p:nvGraphicFramePr>
          <p:cNvPr id="8" name="">
            <a:extLst xmlns:a="http://schemas.openxmlformats.org/drawingml/2006/main">
              <a:ext uri="{FF2B5EF4-FFF2-40B4-BE49-F238E27FC236}">
                <a16:creationId xmlns:a16="http://schemas.microsoft.com/office/drawing/2014/main" id="{1C1EF53E-A4A0-4CDF-816C-F89E41D93064}"/>
              </a:ext>
            </a:extLst>
          </p:cNvPr>
          <p:cNvGraphicFramePr/>
          <p:nvPr/>
        </p:nvGraphicFramePr>
        <p:xfrm>
          <a:off xmlns:a="http://schemas.openxmlformats.org/drawingml/2006/main" x="609600" y="2514600"/>
          <a:ext xmlns:a="http://schemas.openxmlformats.org/drawingml/2006/main" cx="4762500" cy="1171575"/>
        </p:xfrm>
        <a:graphic xmlns:a="http://schemas.openxmlformats.org/drawingml/2006/main">
          <a:graphicData uri="http://schemas.openxmlformats.org/drawingml/2006/table">
            <a:tbl>
              <a:tblPr/>
              <a:tblGrid>
                <a:gridCol w="1587500"/>
                <a:gridCol w="1587500"/>
                <a:gridCol w="1587500"/>
              </a:tblGrid>
              <a:tr h="390525">
                <a:tc>
                  <a:txBody>
                    <a:bodyPr/>
                    <a:lstStyle/>
                    <a:p>
                      <a:r>
                        <a:rPr sz="1950" b="1">
                          <a:solidFill>
                            <a:srgbClr val="FFFFFF"/>
                          </a:solidFill>
                          <a:latin typeface="Arial"/>
                          <a:ea typeface="Arial"/>
                          <a:cs typeface="Arial"/>
                        </a:rPr>
                        <a:t>A</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B</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C</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390525">
                <a:tc>
                  <a:txBody>
                    <a:bodyPr/>
                    <a:lstStyle/>
                    <a:p>
                      <a:r>
                        <a:rPr sz="1950" b="0">
                          <a:solidFill>
                            <a:srgbClr val="202B33"/>
                          </a:solidFill>
                          <a:latin typeface="Arial"/>
                          <a:ea typeface="Arial"/>
                          <a:cs typeface="Arial"/>
                        </a:rPr>
                        <a:t>a₁</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b₁</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c₁</a:t>
                      </a:r>
                    </a:p>
                  </a:txBody>
                  <a:tcPr marL="95250" marR="66675" marT="28575" marB="28575" anchor="ctr">
                    <a:lnR w="6668">
                      <a:solidFill>
                        <a:srgbClr val="CBD8E1"/>
                      </a:solidFill>
                    </a:lnR>
                    <a:lnB w="6668">
                      <a:solidFill>
                        <a:srgbClr val="CBD8E1"/>
                      </a:solidFill>
                    </a:lnB>
                    <a:solidFill>
                      <a:srgbClr val="FFFFFF"/>
                    </a:solidFill>
                  </a:tcPr>
                </a:tc>
              </a:tr>
              <a:tr h="390525">
                <a:tc>
                  <a:txBody>
                    <a:bodyPr/>
                    <a:lstStyle/>
                    <a:p>
                      <a:r>
                        <a:rPr sz="1950" b="0">
                          <a:solidFill>
                            <a:srgbClr val="202B33"/>
                          </a:solidFill>
                          <a:latin typeface="Arial"/>
                          <a:ea typeface="Arial"/>
                          <a:cs typeface="Arial"/>
                        </a:rPr>
                        <a:t>a₂</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b₂</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c₂</a:t>
                      </a:r>
                    </a:p>
                  </a:txBody>
                  <a:tcPr marL="95250" marR="66675" marT="28575" marB="28575" anchor="ctr">
                    <a:lnR w="6668">
                      <a:solidFill>
                        <a:srgbClr val="CBD8E1"/>
                      </a:solidFill>
                    </a:lnR>
                    <a:lnB w="6668">
                      <a:solidFill>
                        <a:srgbClr val="CBD8E1"/>
                      </a:solidFill>
                    </a:lnB>
                    <a:solidFill>
                      <a:srgbClr val="EDF4F9"/>
                    </a:solidFill>
                  </a:tcPr>
                </a:tc>
              </a:tr>
            </a:tbl>
          </a:graphicData>
        </a:graphic>
      </p:graphicFrame>
      <p:graphicFrame>
        <p:nvGraphicFramePr>
          <p:cNvPr id="9" name="">
            <a:extLst xmlns:a="http://schemas.openxmlformats.org/drawingml/2006/main">
              <a:ext uri="{FF2B5EF4-FFF2-40B4-BE49-F238E27FC236}">
                <a16:creationId xmlns:a16="http://schemas.microsoft.com/office/drawing/2014/main" id="{25B97656-AFD5-45FB-977C-4067D42E73BD}"/>
              </a:ext>
            </a:extLst>
          </p:cNvPr>
          <p:cNvGraphicFramePr/>
          <p:nvPr/>
        </p:nvGraphicFramePr>
        <p:xfrm>
          <a:off xmlns:a="http://schemas.openxmlformats.org/drawingml/2006/main" x="6762750" y="2514600"/>
          <a:ext xmlns:a="http://schemas.openxmlformats.org/drawingml/2006/main" cx="4762500" cy="1171575"/>
        </p:xfrm>
        <a:graphic xmlns:a="http://schemas.openxmlformats.org/drawingml/2006/main">
          <a:graphicData uri="http://schemas.openxmlformats.org/drawingml/2006/table">
            <a:tbl>
              <a:tblPr/>
              <a:tblGrid>
                <a:gridCol w="1587500"/>
                <a:gridCol w="1587500"/>
                <a:gridCol w="1587500"/>
              </a:tblGrid>
              <a:tr h="390525">
                <a:tc>
                  <a:txBody>
                    <a:bodyPr/>
                    <a:lstStyle/>
                    <a:p>
                      <a:r>
                        <a:rPr sz="1950" b="1">
                          <a:solidFill>
                            <a:srgbClr val="FFFFFF"/>
                          </a:solidFill>
                          <a:latin typeface="Arial"/>
                          <a:ea typeface="Arial"/>
                          <a:cs typeface="Arial"/>
                        </a:rPr>
                        <a:t>C</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D</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E</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390525">
                <a:tc>
                  <a:txBody>
                    <a:bodyPr/>
                    <a:lstStyle/>
                    <a:p>
                      <a:r>
                        <a:rPr sz="1950" b="0">
                          <a:solidFill>
                            <a:srgbClr val="202B33"/>
                          </a:solidFill>
                          <a:latin typeface="Arial"/>
                          <a:ea typeface="Arial"/>
                          <a:cs typeface="Arial"/>
                        </a:rPr>
                        <a:t>c₁</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d₁</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e₁</a:t>
                      </a:r>
                    </a:p>
                  </a:txBody>
                  <a:tcPr marL="95250" marR="66675" marT="28575" marB="28575" anchor="ctr">
                    <a:lnR w="6668">
                      <a:solidFill>
                        <a:srgbClr val="CBD8E1"/>
                      </a:solidFill>
                    </a:lnR>
                    <a:lnB w="6668">
                      <a:solidFill>
                        <a:srgbClr val="CBD8E1"/>
                      </a:solidFill>
                    </a:lnB>
                    <a:solidFill>
                      <a:srgbClr val="FFFFFF"/>
                    </a:solidFill>
                  </a:tcPr>
                </a:tc>
              </a:tr>
              <a:tr h="390525">
                <a:tc>
                  <a:txBody>
                    <a:bodyPr/>
                    <a:lstStyle/>
                    <a:p>
                      <a:r>
                        <a:rPr sz="1950" b="0">
                          <a:solidFill>
                            <a:srgbClr val="202B33"/>
                          </a:solidFill>
                          <a:latin typeface="Arial"/>
                          <a:ea typeface="Arial"/>
                          <a:cs typeface="Arial"/>
                        </a:rPr>
                        <a:t>c₃</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d₂</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e₂</a:t>
                      </a:r>
                    </a:p>
                  </a:txBody>
                  <a:tcPr marL="95250" marR="66675" marT="28575" marB="28575" anchor="ctr">
                    <a:lnR w="6668">
                      <a:solidFill>
                        <a:srgbClr val="CBD8E1"/>
                      </a:solidFill>
                    </a:lnR>
                    <a:lnB w="6668">
                      <a:solidFill>
                        <a:srgbClr val="CBD8E1"/>
                      </a:solidFill>
                    </a:lnB>
                    <a:solidFill>
                      <a:srgbClr val="EDF4F9"/>
                    </a:solidFill>
                  </a:tcPr>
                </a:tc>
              </a:tr>
            </a:tbl>
          </a:graphicData>
        </a:graphic>
      </p:graphicFrame>
      <p:sp>
        <p:nvSpPr>
          <p:cNvPr id="10" name="">
            <a:extLst xmlns:a="http://schemas.openxmlformats.org/drawingml/2006/main">
              <a:ext uri="{FF2B5EF4-FFF2-40B4-BE49-F238E27FC236}">
                <a16:creationId xmlns:a16="http://schemas.microsoft.com/office/drawing/2014/main" id="{F3718173-66BE-4F6C-A780-111CE6D03BC4}"/>
              </a:ext>
            </a:extLst>
          </p:cNvPr>
          <p:cNvSpPr>
            <a:spLocks xmlns:a="http://schemas.openxmlformats.org/drawingml/2006/main" noGrp="1"/>
          </p:cNvSpPr>
          <p:nvPr/>
        </p:nvSpPr>
        <p:spPr>
          <a:xfrm xmlns:a="http://schemas.openxmlformats.org/drawingml/2006/main">
            <a:off x="609600" y="390525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Ergebnis</a:t>
            </a:r>
          </a:p>
        </p:txBody>
      </p:sp>
      <p:graphicFrame>
        <p:nvGraphicFramePr>
          <p:cNvPr id="11" name="">
            <a:extLst xmlns:a="http://schemas.openxmlformats.org/drawingml/2006/main">
              <a:ext uri="{FF2B5EF4-FFF2-40B4-BE49-F238E27FC236}">
                <a16:creationId xmlns:a16="http://schemas.microsoft.com/office/drawing/2014/main" id="{B7E676BC-252C-41CE-AE08-934549BF1636}"/>
              </a:ext>
            </a:extLst>
          </p:cNvPr>
          <p:cNvGraphicFramePr/>
          <p:nvPr/>
        </p:nvGraphicFramePr>
        <p:xfrm>
          <a:off xmlns:a="http://schemas.openxmlformats.org/drawingml/2006/main" x="609600" y="4333875"/>
          <a:ext xmlns:a="http://schemas.openxmlformats.org/drawingml/2006/main" cx="10972800" cy="1114425"/>
        </p:xfrm>
        <a:graphic xmlns:a="http://schemas.openxmlformats.org/drawingml/2006/main">
          <a:graphicData uri="http://schemas.openxmlformats.org/drawingml/2006/table">
            <a:tbl>
              <a:tblPr/>
              <a:tblGrid>
                <a:gridCol w="2194560"/>
                <a:gridCol w="2194560"/>
                <a:gridCol w="2194560"/>
                <a:gridCol w="2194560"/>
                <a:gridCol w="2194560"/>
              </a:tblGrid>
              <a:tr h="371475">
                <a:tc>
                  <a:txBody>
                    <a:bodyPr/>
                    <a:lstStyle/>
                    <a:p>
                      <a:r>
                        <a:rPr sz="1950" b="1">
                          <a:solidFill>
                            <a:srgbClr val="FFFFFF"/>
                          </a:solidFill>
                          <a:latin typeface="Arial"/>
                          <a:ea typeface="Arial"/>
                          <a:cs typeface="Arial"/>
                        </a:rPr>
                        <a:t>A</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B</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C</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D</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E</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371475">
                <a:tc>
                  <a:txBody>
                    <a:bodyPr/>
                    <a:lstStyle/>
                    <a:p>
                      <a:r>
                        <a:rPr sz="1950" b="0">
                          <a:solidFill>
                            <a:srgbClr val="202B33"/>
                          </a:solidFill>
                          <a:latin typeface="Arial"/>
                          <a:ea typeface="Arial"/>
                          <a:cs typeface="Arial"/>
                        </a:rPr>
                        <a:t>a₁</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b₁</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c₁</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d₁</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e₁</a:t>
                      </a:r>
                    </a:p>
                  </a:txBody>
                  <a:tcPr marL="95250" marR="66675" marT="28575" marB="28575" anchor="ctr">
                    <a:lnR w="6668">
                      <a:solidFill>
                        <a:srgbClr val="CBD8E1"/>
                      </a:solidFill>
                    </a:lnR>
                    <a:lnB w="6668">
                      <a:solidFill>
                        <a:srgbClr val="CBD8E1"/>
                      </a:solidFill>
                    </a:lnB>
                    <a:solidFill>
                      <a:srgbClr val="FFFFFF"/>
                    </a:solidFill>
                  </a:tcPr>
                </a:tc>
              </a:tr>
              <a:tr h="371475">
                <a:tc>
                  <a:txBody>
                    <a:bodyPr/>
                    <a:lstStyle/>
                    <a:p>
                      <a:r>
                        <a:rPr sz="1950" b="0">
                          <a:solidFill>
                            <a:srgbClr val="202B33"/>
                          </a:solidFill>
                          <a:latin typeface="Arial"/>
                          <a:ea typeface="Arial"/>
                          <a:cs typeface="Arial"/>
                        </a:rPr>
                        <a:t>a₂</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b₂</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c₂</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a:t>
                      </a:r>
                    </a:p>
                  </a:txBody>
                  <a:tcPr marL="95250" marR="66675" marT="28575" marB="28575" anchor="ctr">
                    <a:lnR w="6668">
                      <a:solidFill>
                        <a:srgbClr val="CBD8E1"/>
                      </a:solidFill>
                    </a:lnR>
                    <a:lnB w="6668">
                      <a:solidFill>
                        <a:srgbClr val="CBD8E1"/>
                      </a:solidFill>
                    </a:lnB>
                    <a:solidFill>
                      <a:srgbClr val="EDF4F9"/>
                    </a:solidFill>
                  </a:tcPr>
                </a:tc>
              </a:tr>
            </a:tbl>
          </a:graphicData>
        </a:graphic>
      </p:graphicFrame>
      <p:sp>
        <p:nvSpPr>
          <p:cNvPr id="12" name="">
            <a:extLst xmlns:a="http://schemas.openxmlformats.org/drawingml/2006/main">
              <a:ext uri="{FF2B5EF4-FFF2-40B4-BE49-F238E27FC236}">
                <a16:creationId xmlns:a16="http://schemas.microsoft.com/office/drawing/2014/main" id="{C2907A64-954A-4CD8-8570-7D4C619A4058}"/>
              </a:ext>
            </a:extLst>
          </p:cNvPr>
          <p:cNvSpPr>
            <a:spLocks xmlns:a="http://schemas.openxmlformats.org/drawingml/2006/main" noGrp="1"/>
          </p:cNvSpPr>
          <p:nvPr/>
        </p:nvSpPr>
        <p:spPr>
          <a:xfrm xmlns:a="http://schemas.openxmlformats.org/drawingml/2006/main">
            <a:off x="609600" y="59150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005293"/>
                </a:solidFill>
                <a:latin typeface="Arial"/>
                <a:ea typeface="Arial"/>
                <a:cs typeface="Arial"/>
              </a:defRPr>
            </a:defPPr>
            <a:lvl1pPr>
              <a:defRPr sz="1800" b="1">
                <a:solidFill>
                  <a:srgbClr val="005293"/>
                </a:solidFill>
                <a:latin typeface="Arial"/>
                <a:ea typeface="Arial"/>
                <a:cs typeface="Arial"/>
              </a:defRPr>
            </a:lvl1pPr>
            <a:lvl2pPr>
              <a:defRPr sz="1800" b="1">
                <a:solidFill>
                  <a:srgbClr val="005293"/>
                </a:solidFill>
                <a:latin typeface="Arial"/>
                <a:ea typeface="Arial"/>
                <a:cs typeface="Arial"/>
              </a:defRPr>
            </a:lvl2pPr>
            <a:lvl3pPr>
              <a:defRPr sz="1800" b="1">
                <a:solidFill>
                  <a:srgbClr val="005293"/>
                </a:solidFill>
                <a:latin typeface="Arial"/>
                <a:ea typeface="Arial"/>
                <a:cs typeface="Arial"/>
              </a:defRPr>
            </a:lvl3pPr>
            <a:lvl4pPr>
              <a:defRPr sz="1800" b="1">
                <a:solidFill>
                  <a:srgbClr val="005293"/>
                </a:solidFill>
                <a:latin typeface="Arial"/>
                <a:ea typeface="Arial"/>
                <a:cs typeface="Arial"/>
              </a:defRPr>
            </a:lvl4pPr>
            <a:lvl5pPr>
              <a:defRPr sz="1800" b="1">
                <a:solidFill>
                  <a:srgbClr val="005293"/>
                </a:solidFill>
                <a:latin typeface="Arial"/>
                <a:ea typeface="Arial"/>
                <a:cs typeface="Arial"/>
              </a:defRPr>
            </a:lvl5pPr>
            <a:lvl6pPr>
              <a:defRPr sz="1800" b="1">
                <a:solidFill>
                  <a:srgbClr val="005293"/>
                </a:solidFill>
                <a:latin typeface="Arial"/>
                <a:ea typeface="Arial"/>
                <a:cs typeface="Arial"/>
              </a:defRPr>
            </a:lvl6pPr>
            <a:lvl7pPr>
              <a:defRPr sz="1800" b="1">
                <a:solidFill>
                  <a:srgbClr val="005293"/>
                </a:solidFill>
                <a:latin typeface="Arial"/>
                <a:ea typeface="Arial"/>
                <a:cs typeface="Arial"/>
              </a:defRPr>
            </a:lvl7pPr>
            <a:lvl8pPr>
              <a:defRPr sz="1800" b="1">
                <a:solidFill>
                  <a:srgbClr val="005293"/>
                </a:solidFill>
                <a:latin typeface="Arial"/>
                <a:ea typeface="Arial"/>
                <a:cs typeface="Arial"/>
              </a:defRPr>
            </a:lvl8pPr>
            <a:lvl9pPr>
              <a:defRPr sz="1800" b="1">
                <a:solidFill>
                  <a:srgbClr val="005293"/>
                </a:solidFill>
                <a:latin typeface="Arial"/>
                <a:ea typeface="Arial"/>
                <a:cs typeface="Arial"/>
              </a:defRPr>
            </a:lvl9pPr>
          </a:lstStyle>
          <a:p xmlns:a="http://schemas.openxmlformats.org/drawingml/2006/main">
            <a:pPr>
              <a:defRPr sz="1800" b="1">
                <a:solidFill>
                  <a:srgbClr val="005293"/>
                </a:solidFill>
                <a:latin typeface="Arial"/>
                <a:ea typeface="Arial"/>
                <a:cs typeface="Arial"/>
              </a:defRPr>
            </a:pPr>
            <a:r>
              <a:rPr sz="1800" b="1">
                <a:solidFill>
                  <a:srgbClr val="005293"/>
                </a:solidFill>
                <a:latin typeface="Arial"/>
                <a:ea typeface="Arial"/>
                <a:cs typeface="Arial"/>
              </a:rPr>
              <a:t>Join über C. „–“ markiert einen fehlenden Wert (NULL).</a:t>
            </a:r>
          </a:p>
        </p:txBody>
      </p:sp>
    </p:spTree>
    <p:extLst>
      <p:ext uri="{BB962C8B-B14F-4D97-AF65-F5344CB8AC3E}">
        <p14:creationId xmlns:p14="http://schemas.microsoft.com/office/powerpoint/2010/main" val="72879861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1ADC8AC-39B1-4CB6-A87E-145F468B2D96}"/>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Rechter äußerer Join</a:t>
            </a:r>
          </a:p>
        </p:txBody>
      </p:sp>
      <p:sp>
        <p:nvSpPr>
          <p:cNvPr id="2" name="">
            <a:extLst xmlns:a="http://schemas.openxmlformats.org/drawingml/2006/main">
              <a:ext uri="{FF2B5EF4-FFF2-40B4-BE49-F238E27FC236}">
                <a16:creationId xmlns:a16="http://schemas.microsoft.com/office/drawing/2014/main" id="{B8FB7051-8C92-4BAF-89E9-4FE83E7E855B}"/>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20CFDF47-B55F-41DE-A410-58E2EB463563}"/>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26</a:t>
            </a:r>
          </a:p>
        </p:txBody>
      </p:sp>
      <p:sp>
        <p:nvSpPr>
          <p:cNvPr id="4" name="">
            <a:extLst xmlns:a="http://schemas.openxmlformats.org/drawingml/2006/main">
              <a:ext uri="{FF2B5EF4-FFF2-40B4-BE49-F238E27FC236}">
                <a16:creationId xmlns:a16="http://schemas.microsoft.com/office/drawing/2014/main" id="{AFC83208-8F07-4C2F-A3D2-12E38AE13B6B}"/>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31</a:t>
            </a:r>
          </a:p>
        </p:txBody>
      </p:sp>
      <p:sp>
        <p:nvSpPr>
          <p:cNvPr id="5" name="">
            <a:extLst xmlns:a="http://schemas.openxmlformats.org/drawingml/2006/main">
              <a:ext uri="{FF2B5EF4-FFF2-40B4-BE49-F238E27FC236}">
                <a16:creationId xmlns:a16="http://schemas.microsoft.com/office/drawing/2014/main" id="{A87D98FD-F290-499D-87DD-CF6FE8D43CFC}"/>
              </a:ext>
            </a:extLst>
          </p:cNvPr>
          <p:cNvSpPr>
            <a:spLocks xmlns:a="http://schemas.openxmlformats.org/drawingml/2006/main" noGrp="1"/>
          </p:cNvSpPr>
          <p:nvPr/>
        </p:nvSpPr>
        <p:spPr>
          <a:xfrm xmlns:a="http://schemas.openxmlformats.org/drawingml/2006/main">
            <a:off x="609600" y="1428750"/>
            <a:ext cx="1117092"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3000" b="0">
                <a:solidFill>
                  <a:srgbClr val="005293"/>
                </a:solidFill>
                <a:latin typeface="STIX Two Math"/>
                <a:ea typeface="STIX Two Math"/>
                <a:cs typeface="STIX Two Math"/>
              </a:defRPr>
            </a:defPPr>
            <a:lvl1pPr>
              <a:defRPr sz="3000" b="0">
                <a:solidFill>
                  <a:srgbClr val="005293"/>
                </a:solidFill>
                <a:latin typeface="STIX Two Math"/>
                <a:ea typeface="STIX Two Math"/>
                <a:cs typeface="STIX Two Math"/>
              </a:defRPr>
            </a:lvl1pPr>
            <a:lvl2pPr>
              <a:defRPr sz="3000" b="0">
                <a:solidFill>
                  <a:srgbClr val="005293"/>
                </a:solidFill>
                <a:latin typeface="STIX Two Math"/>
                <a:ea typeface="STIX Two Math"/>
                <a:cs typeface="STIX Two Math"/>
              </a:defRPr>
            </a:lvl2pPr>
            <a:lvl3pPr>
              <a:defRPr sz="3000" b="0">
                <a:solidFill>
                  <a:srgbClr val="005293"/>
                </a:solidFill>
                <a:latin typeface="STIX Two Math"/>
                <a:ea typeface="STIX Two Math"/>
                <a:cs typeface="STIX Two Math"/>
              </a:defRPr>
            </a:lvl3pPr>
            <a:lvl4pPr>
              <a:defRPr sz="3000" b="0">
                <a:solidFill>
                  <a:srgbClr val="005293"/>
                </a:solidFill>
                <a:latin typeface="STIX Two Math"/>
                <a:ea typeface="STIX Two Math"/>
                <a:cs typeface="STIX Two Math"/>
              </a:defRPr>
            </a:lvl4pPr>
            <a:lvl5pPr>
              <a:defRPr sz="3000" b="0">
                <a:solidFill>
                  <a:srgbClr val="005293"/>
                </a:solidFill>
                <a:latin typeface="STIX Two Math"/>
                <a:ea typeface="STIX Two Math"/>
                <a:cs typeface="STIX Two Math"/>
              </a:defRPr>
            </a:lvl5pPr>
            <a:lvl6pPr>
              <a:defRPr sz="3000" b="0">
                <a:solidFill>
                  <a:srgbClr val="005293"/>
                </a:solidFill>
                <a:latin typeface="STIX Two Math"/>
                <a:ea typeface="STIX Two Math"/>
                <a:cs typeface="STIX Two Math"/>
              </a:defRPr>
            </a:lvl6pPr>
            <a:lvl7pPr>
              <a:defRPr sz="3000" b="0">
                <a:solidFill>
                  <a:srgbClr val="005293"/>
                </a:solidFill>
                <a:latin typeface="STIX Two Math"/>
                <a:ea typeface="STIX Two Math"/>
                <a:cs typeface="STIX Two Math"/>
              </a:defRPr>
            </a:lvl7pPr>
            <a:lvl8pPr>
              <a:defRPr sz="3000" b="0">
                <a:solidFill>
                  <a:srgbClr val="005293"/>
                </a:solidFill>
                <a:latin typeface="STIX Two Math"/>
                <a:ea typeface="STIX Two Math"/>
                <a:cs typeface="STIX Two Math"/>
              </a:defRPr>
            </a:lvl8pPr>
            <a:lvl9pPr>
              <a:defRPr sz="3000" b="0">
                <a:solidFill>
                  <a:srgbClr val="005293"/>
                </a:solidFill>
                <a:latin typeface="STIX Two Math"/>
                <a:ea typeface="STIX Two Math"/>
                <a:cs typeface="STIX Two Math"/>
              </a:defRPr>
            </a:lvl9pPr>
          </a:lstStyle>
          <a:p xmlns:a="http://schemas.openxmlformats.org/drawingml/2006/main">
            <a:pPr>
              <a:defRPr sz="3000" b="0">
                <a:solidFill>
                  <a:srgbClr val="005293"/>
                </a:solidFill>
                <a:latin typeface="STIX Two Math"/>
                <a:ea typeface="STIX Two Math"/>
                <a:cs typeface="STIX Two Math"/>
              </a:defRPr>
            </a:pPr>
            <a:r>
              <a:rPr sz="3000" b="0">
                <a:solidFill>
                  <a:srgbClr val="005293"/>
                </a:solidFill>
                <a:latin typeface="STIX Two Math"/>
                <a:ea typeface="STIX Two Math"/>
                <a:cs typeface="STIX Two Math"/>
              </a:rPr>
              <a:t>L ⟖ R</a:t>
            </a:r>
          </a:p>
        </p:txBody>
      </p:sp>
      <p:sp>
        <p:nvSpPr>
          <p:cNvPr id="6" name="">
            <a:extLst xmlns:a="http://schemas.openxmlformats.org/drawingml/2006/main">
              <a:ext uri="{FF2B5EF4-FFF2-40B4-BE49-F238E27FC236}">
                <a16:creationId xmlns:a16="http://schemas.microsoft.com/office/drawing/2014/main" id="{7646A78D-E441-4800-A37A-8059C8553B1E}"/>
              </a:ext>
            </a:extLst>
          </p:cNvPr>
          <p:cNvSpPr>
            <a:spLocks xmlns:a="http://schemas.openxmlformats.org/drawingml/2006/main" noGrp="1"/>
          </p:cNvSpPr>
          <p:nvPr/>
        </p:nvSpPr>
        <p:spPr>
          <a:xfrm xmlns:a="http://schemas.openxmlformats.org/drawingml/2006/main">
            <a:off x="609600" y="24765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Alle passenden Tupelpaare wie beim inneren Join.</a:t>
            </a:r>
          </a:p>
        </p:txBody>
      </p:sp>
      <p:sp>
        <p:nvSpPr>
          <p:cNvPr id="7" name="">
            <a:extLst xmlns:a="http://schemas.openxmlformats.org/drawingml/2006/main">
              <a:ext uri="{FF2B5EF4-FFF2-40B4-BE49-F238E27FC236}">
                <a16:creationId xmlns:a16="http://schemas.microsoft.com/office/drawing/2014/main" id="{1D81F979-8BCB-457A-B1B4-FF279FC62E51}"/>
              </a:ext>
            </a:extLst>
          </p:cNvPr>
          <p:cNvSpPr>
            <a:spLocks xmlns:a="http://schemas.openxmlformats.org/drawingml/2006/main" noGrp="1"/>
          </p:cNvSpPr>
          <p:nvPr/>
        </p:nvSpPr>
        <p:spPr>
          <a:xfrm xmlns:a="http://schemas.openxmlformats.org/drawingml/2006/main">
            <a:off x="609600" y="34290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Behält zusätzlich alle Tupel der rechten Relation ohne Joinpartner.</a:t>
            </a:r>
          </a:p>
        </p:txBody>
      </p:sp>
      <p:sp>
        <p:nvSpPr>
          <p:cNvPr id="8" name="">
            <a:extLst xmlns:a="http://schemas.openxmlformats.org/drawingml/2006/main">
              <a:ext uri="{FF2B5EF4-FFF2-40B4-BE49-F238E27FC236}">
                <a16:creationId xmlns:a16="http://schemas.microsoft.com/office/drawing/2014/main" id="{044F38AB-C464-4633-9623-A80E7FA54E36}"/>
              </a:ext>
            </a:extLst>
          </p:cNvPr>
          <p:cNvSpPr>
            <a:spLocks xmlns:a="http://schemas.openxmlformats.org/drawingml/2006/main" noGrp="1"/>
          </p:cNvSpPr>
          <p:nvPr/>
        </p:nvSpPr>
        <p:spPr>
          <a:xfrm xmlns:a="http://schemas.openxmlformats.org/drawingml/2006/main">
            <a:off x="609600" y="43815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Fehlende Werte erscheinen als NULL, im Kapitel mit „–“ dargestellt.</a:t>
            </a:r>
          </a:p>
        </p:txBody>
      </p:sp>
    </p:spTree>
    <p:extLst>
      <p:ext uri="{BB962C8B-B14F-4D97-AF65-F5344CB8AC3E}">
        <p14:creationId xmlns:p14="http://schemas.microsoft.com/office/powerpoint/2010/main" val="211625925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803FFEF-660A-4B47-8FD8-16FA5B203580}"/>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Rechter äußerer Join: Beispiel</a:t>
            </a:r>
          </a:p>
        </p:txBody>
      </p:sp>
      <p:sp>
        <p:nvSpPr>
          <p:cNvPr id="2" name="">
            <a:extLst xmlns:a="http://schemas.openxmlformats.org/drawingml/2006/main">
              <a:ext uri="{FF2B5EF4-FFF2-40B4-BE49-F238E27FC236}">
                <a16:creationId xmlns:a16="http://schemas.microsoft.com/office/drawing/2014/main" id="{8D20F258-1F34-4A8C-A66A-6BF9FBBC2F39}"/>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806B2A04-F1BE-4A3C-B05C-D17A21E064EA}"/>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27</a:t>
            </a:r>
          </a:p>
        </p:txBody>
      </p:sp>
      <p:sp>
        <p:nvSpPr>
          <p:cNvPr id="4" name="">
            <a:extLst xmlns:a="http://schemas.openxmlformats.org/drawingml/2006/main">
              <a:ext uri="{FF2B5EF4-FFF2-40B4-BE49-F238E27FC236}">
                <a16:creationId xmlns:a16="http://schemas.microsoft.com/office/drawing/2014/main" id="{A160300E-F247-4C7A-BA66-9623ED87737C}"/>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31</a:t>
            </a:r>
          </a:p>
        </p:txBody>
      </p:sp>
      <p:sp>
        <p:nvSpPr>
          <p:cNvPr id="5" name="">
            <a:extLst xmlns:a="http://schemas.openxmlformats.org/drawingml/2006/main">
              <a:ext uri="{FF2B5EF4-FFF2-40B4-BE49-F238E27FC236}">
                <a16:creationId xmlns:a16="http://schemas.microsoft.com/office/drawing/2014/main" id="{68241F1B-85FE-47F3-8B70-D62B11C7C085}"/>
              </a:ext>
            </a:extLst>
          </p:cNvPr>
          <p:cNvSpPr>
            <a:spLocks xmlns:a="http://schemas.openxmlformats.org/drawingml/2006/main" noGrp="1"/>
          </p:cNvSpPr>
          <p:nvPr/>
        </p:nvSpPr>
        <p:spPr>
          <a:xfrm xmlns:a="http://schemas.openxmlformats.org/drawingml/2006/main">
            <a:off x="609600" y="1381125"/>
            <a:ext cx="1117092"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3000" b="0">
                <a:solidFill>
                  <a:srgbClr val="005293"/>
                </a:solidFill>
                <a:latin typeface="STIX Two Math"/>
                <a:ea typeface="STIX Two Math"/>
                <a:cs typeface="STIX Two Math"/>
              </a:defRPr>
            </a:defPPr>
            <a:lvl1pPr>
              <a:defRPr sz="3000" b="0">
                <a:solidFill>
                  <a:srgbClr val="005293"/>
                </a:solidFill>
                <a:latin typeface="STIX Two Math"/>
                <a:ea typeface="STIX Two Math"/>
                <a:cs typeface="STIX Two Math"/>
              </a:defRPr>
            </a:lvl1pPr>
            <a:lvl2pPr>
              <a:defRPr sz="3000" b="0">
                <a:solidFill>
                  <a:srgbClr val="005293"/>
                </a:solidFill>
                <a:latin typeface="STIX Two Math"/>
                <a:ea typeface="STIX Two Math"/>
                <a:cs typeface="STIX Two Math"/>
              </a:defRPr>
            </a:lvl2pPr>
            <a:lvl3pPr>
              <a:defRPr sz="3000" b="0">
                <a:solidFill>
                  <a:srgbClr val="005293"/>
                </a:solidFill>
                <a:latin typeface="STIX Two Math"/>
                <a:ea typeface="STIX Two Math"/>
                <a:cs typeface="STIX Two Math"/>
              </a:defRPr>
            </a:lvl3pPr>
            <a:lvl4pPr>
              <a:defRPr sz="3000" b="0">
                <a:solidFill>
                  <a:srgbClr val="005293"/>
                </a:solidFill>
                <a:latin typeface="STIX Two Math"/>
                <a:ea typeface="STIX Two Math"/>
                <a:cs typeface="STIX Two Math"/>
              </a:defRPr>
            </a:lvl4pPr>
            <a:lvl5pPr>
              <a:defRPr sz="3000" b="0">
                <a:solidFill>
                  <a:srgbClr val="005293"/>
                </a:solidFill>
                <a:latin typeface="STIX Two Math"/>
                <a:ea typeface="STIX Two Math"/>
                <a:cs typeface="STIX Two Math"/>
              </a:defRPr>
            </a:lvl5pPr>
            <a:lvl6pPr>
              <a:defRPr sz="3000" b="0">
                <a:solidFill>
                  <a:srgbClr val="005293"/>
                </a:solidFill>
                <a:latin typeface="STIX Two Math"/>
                <a:ea typeface="STIX Two Math"/>
                <a:cs typeface="STIX Two Math"/>
              </a:defRPr>
            </a:lvl6pPr>
            <a:lvl7pPr>
              <a:defRPr sz="3000" b="0">
                <a:solidFill>
                  <a:srgbClr val="005293"/>
                </a:solidFill>
                <a:latin typeface="STIX Two Math"/>
                <a:ea typeface="STIX Two Math"/>
                <a:cs typeface="STIX Two Math"/>
              </a:defRPr>
            </a:lvl7pPr>
            <a:lvl8pPr>
              <a:defRPr sz="3000" b="0">
                <a:solidFill>
                  <a:srgbClr val="005293"/>
                </a:solidFill>
                <a:latin typeface="STIX Two Math"/>
                <a:ea typeface="STIX Two Math"/>
                <a:cs typeface="STIX Two Math"/>
              </a:defRPr>
            </a:lvl8pPr>
            <a:lvl9pPr>
              <a:defRPr sz="3000" b="0">
                <a:solidFill>
                  <a:srgbClr val="005293"/>
                </a:solidFill>
                <a:latin typeface="STIX Two Math"/>
                <a:ea typeface="STIX Two Math"/>
                <a:cs typeface="STIX Two Math"/>
              </a:defRPr>
            </a:lvl9pPr>
          </a:lstStyle>
          <a:p xmlns:a="http://schemas.openxmlformats.org/drawingml/2006/main">
            <a:pPr>
              <a:defRPr sz="3000" b="0">
                <a:solidFill>
                  <a:srgbClr val="005293"/>
                </a:solidFill>
                <a:latin typeface="STIX Two Math"/>
                <a:ea typeface="STIX Two Math"/>
                <a:cs typeface="STIX Two Math"/>
              </a:defRPr>
            </a:pPr>
            <a:r>
              <a:rPr sz="3000" b="0">
                <a:solidFill>
                  <a:srgbClr val="005293"/>
                </a:solidFill>
                <a:latin typeface="STIX Two Math"/>
                <a:ea typeface="STIX Two Math"/>
                <a:cs typeface="STIX Two Math"/>
              </a:rPr>
              <a:t>L ⟖ R</a:t>
            </a:r>
          </a:p>
        </p:txBody>
      </p:sp>
      <p:sp>
        <p:nvSpPr>
          <p:cNvPr id="6" name="">
            <a:extLst xmlns:a="http://schemas.openxmlformats.org/drawingml/2006/main">
              <a:ext uri="{FF2B5EF4-FFF2-40B4-BE49-F238E27FC236}">
                <a16:creationId xmlns:a16="http://schemas.microsoft.com/office/drawing/2014/main" id="{8341024C-A0D7-4CAF-86D5-A22FD2FCB6CC}"/>
              </a:ext>
            </a:extLst>
          </p:cNvPr>
          <p:cNvSpPr>
            <a:spLocks xmlns:a="http://schemas.openxmlformats.org/drawingml/2006/main" noGrp="1"/>
          </p:cNvSpPr>
          <p:nvPr/>
        </p:nvSpPr>
        <p:spPr>
          <a:xfrm xmlns:a="http://schemas.openxmlformats.org/drawingml/2006/main">
            <a:off x="609600" y="210502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L</a:t>
            </a:r>
          </a:p>
        </p:txBody>
      </p:sp>
      <p:sp>
        <p:nvSpPr>
          <p:cNvPr id="7" name="">
            <a:extLst xmlns:a="http://schemas.openxmlformats.org/drawingml/2006/main">
              <a:ext uri="{FF2B5EF4-FFF2-40B4-BE49-F238E27FC236}">
                <a16:creationId xmlns:a16="http://schemas.microsoft.com/office/drawing/2014/main" id="{A6230BAF-F694-4FC4-996D-EC9D72E69721}"/>
              </a:ext>
            </a:extLst>
          </p:cNvPr>
          <p:cNvSpPr>
            <a:spLocks xmlns:a="http://schemas.openxmlformats.org/drawingml/2006/main" noGrp="1"/>
          </p:cNvSpPr>
          <p:nvPr/>
        </p:nvSpPr>
        <p:spPr>
          <a:xfrm xmlns:a="http://schemas.openxmlformats.org/drawingml/2006/main">
            <a:off x="6762750" y="210502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R</a:t>
            </a:r>
          </a:p>
        </p:txBody>
      </p:sp>
      <p:graphicFrame>
        <p:nvGraphicFramePr>
          <p:cNvPr id="8" name="">
            <a:extLst xmlns:a="http://schemas.openxmlformats.org/drawingml/2006/main">
              <a:ext uri="{FF2B5EF4-FFF2-40B4-BE49-F238E27FC236}">
                <a16:creationId xmlns:a16="http://schemas.microsoft.com/office/drawing/2014/main" id="{C8ED43A9-0B24-4F07-891E-BE8D1878F976}"/>
              </a:ext>
            </a:extLst>
          </p:cNvPr>
          <p:cNvGraphicFramePr/>
          <p:nvPr/>
        </p:nvGraphicFramePr>
        <p:xfrm>
          <a:off xmlns:a="http://schemas.openxmlformats.org/drawingml/2006/main" x="609600" y="2514600"/>
          <a:ext xmlns:a="http://schemas.openxmlformats.org/drawingml/2006/main" cx="4762500" cy="1171575"/>
        </p:xfrm>
        <a:graphic xmlns:a="http://schemas.openxmlformats.org/drawingml/2006/main">
          <a:graphicData uri="http://schemas.openxmlformats.org/drawingml/2006/table">
            <a:tbl>
              <a:tblPr/>
              <a:tblGrid>
                <a:gridCol w="1587500"/>
                <a:gridCol w="1587500"/>
                <a:gridCol w="1587500"/>
              </a:tblGrid>
              <a:tr h="390525">
                <a:tc>
                  <a:txBody>
                    <a:bodyPr/>
                    <a:lstStyle/>
                    <a:p>
                      <a:r>
                        <a:rPr sz="1950" b="1">
                          <a:solidFill>
                            <a:srgbClr val="FFFFFF"/>
                          </a:solidFill>
                          <a:latin typeface="Arial"/>
                          <a:ea typeface="Arial"/>
                          <a:cs typeface="Arial"/>
                        </a:rPr>
                        <a:t>A</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B</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C</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390525">
                <a:tc>
                  <a:txBody>
                    <a:bodyPr/>
                    <a:lstStyle/>
                    <a:p>
                      <a:r>
                        <a:rPr sz="1950" b="0">
                          <a:solidFill>
                            <a:srgbClr val="202B33"/>
                          </a:solidFill>
                          <a:latin typeface="Arial"/>
                          <a:ea typeface="Arial"/>
                          <a:cs typeface="Arial"/>
                        </a:rPr>
                        <a:t>a₁</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b₁</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c₁</a:t>
                      </a:r>
                    </a:p>
                  </a:txBody>
                  <a:tcPr marL="95250" marR="66675" marT="28575" marB="28575" anchor="ctr">
                    <a:lnR w="6668">
                      <a:solidFill>
                        <a:srgbClr val="CBD8E1"/>
                      </a:solidFill>
                    </a:lnR>
                    <a:lnB w="6668">
                      <a:solidFill>
                        <a:srgbClr val="CBD8E1"/>
                      </a:solidFill>
                    </a:lnB>
                    <a:solidFill>
                      <a:srgbClr val="FFFFFF"/>
                    </a:solidFill>
                  </a:tcPr>
                </a:tc>
              </a:tr>
              <a:tr h="390525">
                <a:tc>
                  <a:txBody>
                    <a:bodyPr/>
                    <a:lstStyle/>
                    <a:p>
                      <a:r>
                        <a:rPr sz="1950" b="0">
                          <a:solidFill>
                            <a:srgbClr val="202B33"/>
                          </a:solidFill>
                          <a:latin typeface="Arial"/>
                          <a:ea typeface="Arial"/>
                          <a:cs typeface="Arial"/>
                        </a:rPr>
                        <a:t>a₂</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b₂</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c₂</a:t>
                      </a:r>
                    </a:p>
                  </a:txBody>
                  <a:tcPr marL="95250" marR="66675" marT="28575" marB="28575" anchor="ctr">
                    <a:lnR w="6668">
                      <a:solidFill>
                        <a:srgbClr val="CBD8E1"/>
                      </a:solidFill>
                    </a:lnR>
                    <a:lnB w="6668">
                      <a:solidFill>
                        <a:srgbClr val="CBD8E1"/>
                      </a:solidFill>
                    </a:lnB>
                    <a:solidFill>
                      <a:srgbClr val="EDF4F9"/>
                    </a:solidFill>
                  </a:tcPr>
                </a:tc>
              </a:tr>
            </a:tbl>
          </a:graphicData>
        </a:graphic>
      </p:graphicFrame>
      <p:graphicFrame>
        <p:nvGraphicFramePr>
          <p:cNvPr id="9" name="">
            <a:extLst xmlns:a="http://schemas.openxmlformats.org/drawingml/2006/main">
              <a:ext uri="{FF2B5EF4-FFF2-40B4-BE49-F238E27FC236}">
                <a16:creationId xmlns:a16="http://schemas.microsoft.com/office/drawing/2014/main" id="{4E1969B7-3FFF-4F46-8A35-3597E6B56C68}"/>
              </a:ext>
            </a:extLst>
          </p:cNvPr>
          <p:cNvGraphicFramePr/>
          <p:nvPr/>
        </p:nvGraphicFramePr>
        <p:xfrm>
          <a:off xmlns:a="http://schemas.openxmlformats.org/drawingml/2006/main" x="6762750" y="2514600"/>
          <a:ext xmlns:a="http://schemas.openxmlformats.org/drawingml/2006/main" cx="4762500" cy="1171575"/>
        </p:xfrm>
        <a:graphic xmlns:a="http://schemas.openxmlformats.org/drawingml/2006/main">
          <a:graphicData uri="http://schemas.openxmlformats.org/drawingml/2006/table">
            <a:tbl>
              <a:tblPr/>
              <a:tblGrid>
                <a:gridCol w="1587500"/>
                <a:gridCol w="1587500"/>
                <a:gridCol w="1587500"/>
              </a:tblGrid>
              <a:tr h="390525">
                <a:tc>
                  <a:txBody>
                    <a:bodyPr/>
                    <a:lstStyle/>
                    <a:p>
                      <a:r>
                        <a:rPr sz="1950" b="1">
                          <a:solidFill>
                            <a:srgbClr val="FFFFFF"/>
                          </a:solidFill>
                          <a:latin typeface="Arial"/>
                          <a:ea typeface="Arial"/>
                          <a:cs typeface="Arial"/>
                        </a:rPr>
                        <a:t>C</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D</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E</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390525">
                <a:tc>
                  <a:txBody>
                    <a:bodyPr/>
                    <a:lstStyle/>
                    <a:p>
                      <a:r>
                        <a:rPr sz="1950" b="0">
                          <a:solidFill>
                            <a:srgbClr val="202B33"/>
                          </a:solidFill>
                          <a:latin typeface="Arial"/>
                          <a:ea typeface="Arial"/>
                          <a:cs typeface="Arial"/>
                        </a:rPr>
                        <a:t>c₁</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d₁</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e₁</a:t>
                      </a:r>
                    </a:p>
                  </a:txBody>
                  <a:tcPr marL="95250" marR="66675" marT="28575" marB="28575" anchor="ctr">
                    <a:lnR w="6668">
                      <a:solidFill>
                        <a:srgbClr val="CBD8E1"/>
                      </a:solidFill>
                    </a:lnR>
                    <a:lnB w="6668">
                      <a:solidFill>
                        <a:srgbClr val="CBD8E1"/>
                      </a:solidFill>
                    </a:lnB>
                    <a:solidFill>
                      <a:srgbClr val="FFFFFF"/>
                    </a:solidFill>
                  </a:tcPr>
                </a:tc>
              </a:tr>
              <a:tr h="390525">
                <a:tc>
                  <a:txBody>
                    <a:bodyPr/>
                    <a:lstStyle/>
                    <a:p>
                      <a:r>
                        <a:rPr sz="1950" b="0">
                          <a:solidFill>
                            <a:srgbClr val="202B33"/>
                          </a:solidFill>
                          <a:latin typeface="Arial"/>
                          <a:ea typeface="Arial"/>
                          <a:cs typeface="Arial"/>
                        </a:rPr>
                        <a:t>c₃</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d₂</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e₂</a:t>
                      </a:r>
                    </a:p>
                  </a:txBody>
                  <a:tcPr marL="95250" marR="66675" marT="28575" marB="28575" anchor="ctr">
                    <a:lnR w="6668">
                      <a:solidFill>
                        <a:srgbClr val="CBD8E1"/>
                      </a:solidFill>
                    </a:lnR>
                    <a:lnB w="6668">
                      <a:solidFill>
                        <a:srgbClr val="CBD8E1"/>
                      </a:solidFill>
                    </a:lnB>
                    <a:solidFill>
                      <a:srgbClr val="EDF4F9"/>
                    </a:solidFill>
                  </a:tcPr>
                </a:tc>
              </a:tr>
            </a:tbl>
          </a:graphicData>
        </a:graphic>
      </p:graphicFrame>
      <p:sp>
        <p:nvSpPr>
          <p:cNvPr id="10" name="">
            <a:extLst xmlns:a="http://schemas.openxmlformats.org/drawingml/2006/main">
              <a:ext uri="{FF2B5EF4-FFF2-40B4-BE49-F238E27FC236}">
                <a16:creationId xmlns:a16="http://schemas.microsoft.com/office/drawing/2014/main" id="{9ECF5181-2ACE-4CD3-B5C2-C6FA56A58FD1}"/>
              </a:ext>
            </a:extLst>
          </p:cNvPr>
          <p:cNvSpPr>
            <a:spLocks xmlns:a="http://schemas.openxmlformats.org/drawingml/2006/main" noGrp="1"/>
          </p:cNvSpPr>
          <p:nvPr/>
        </p:nvSpPr>
        <p:spPr>
          <a:xfrm xmlns:a="http://schemas.openxmlformats.org/drawingml/2006/main">
            <a:off x="609600" y="390525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Ergebnis</a:t>
            </a:r>
          </a:p>
        </p:txBody>
      </p:sp>
      <p:graphicFrame>
        <p:nvGraphicFramePr>
          <p:cNvPr id="11" name="">
            <a:extLst xmlns:a="http://schemas.openxmlformats.org/drawingml/2006/main">
              <a:ext uri="{FF2B5EF4-FFF2-40B4-BE49-F238E27FC236}">
                <a16:creationId xmlns:a16="http://schemas.microsoft.com/office/drawing/2014/main" id="{7BB0B733-5B73-4EBF-A617-1E6E2FEC70E5}"/>
              </a:ext>
            </a:extLst>
          </p:cNvPr>
          <p:cNvGraphicFramePr/>
          <p:nvPr/>
        </p:nvGraphicFramePr>
        <p:xfrm>
          <a:off xmlns:a="http://schemas.openxmlformats.org/drawingml/2006/main" x="609600" y="4333875"/>
          <a:ext xmlns:a="http://schemas.openxmlformats.org/drawingml/2006/main" cx="10972800" cy="1114425"/>
        </p:xfrm>
        <a:graphic xmlns:a="http://schemas.openxmlformats.org/drawingml/2006/main">
          <a:graphicData uri="http://schemas.openxmlformats.org/drawingml/2006/table">
            <a:tbl>
              <a:tblPr/>
              <a:tblGrid>
                <a:gridCol w="2194560"/>
                <a:gridCol w="2194560"/>
                <a:gridCol w="2194560"/>
                <a:gridCol w="2194560"/>
                <a:gridCol w="2194560"/>
              </a:tblGrid>
              <a:tr h="371475">
                <a:tc>
                  <a:txBody>
                    <a:bodyPr/>
                    <a:lstStyle/>
                    <a:p>
                      <a:r>
                        <a:rPr sz="1950" b="1">
                          <a:solidFill>
                            <a:srgbClr val="FFFFFF"/>
                          </a:solidFill>
                          <a:latin typeface="Arial"/>
                          <a:ea typeface="Arial"/>
                          <a:cs typeface="Arial"/>
                        </a:rPr>
                        <a:t>A</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B</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C</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D</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E</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371475">
                <a:tc>
                  <a:txBody>
                    <a:bodyPr/>
                    <a:lstStyle/>
                    <a:p>
                      <a:r>
                        <a:rPr sz="1950" b="0">
                          <a:solidFill>
                            <a:srgbClr val="202B33"/>
                          </a:solidFill>
                          <a:latin typeface="Arial"/>
                          <a:ea typeface="Arial"/>
                          <a:cs typeface="Arial"/>
                        </a:rPr>
                        <a:t>a₁</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b₁</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c₁</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d₁</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e₁</a:t>
                      </a:r>
                    </a:p>
                  </a:txBody>
                  <a:tcPr marL="95250" marR="66675" marT="28575" marB="28575" anchor="ctr">
                    <a:lnR w="6668">
                      <a:solidFill>
                        <a:srgbClr val="CBD8E1"/>
                      </a:solidFill>
                    </a:lnR>
                    <a:lnB w="6668">
                      <a:solidFill>
                        <a:srgbClr val="CBD8E1"/>
                      </a:solidFill>
                    </a:lnB>
                    <a:solidFill>
                      <a:srgbClr val="FFFFFF"/>
                    </a:solidFill>
                  </a:tcPr>
                </a:tc>
              </a:tr>
              <a:tr h="371475">
                <a:tc>
                  <a:txBody>
                    <a:bodyPr/>
                    <a:lstStyle/>
                    <a:p>
                      <a:r>
                        <a:rPr sz="1950" b="0">
                          <a:solidFill>
                            <a:srgbClr val="202B33"/>
                          </a:solidFill>
                          <a:latin typeface="Arial"/>
                          <a:ea typeface="Arial"/>
                          <a:cs typeface="Arial"/>
                        </a:rPr>
                        <a:t>–</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c₃</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d₂</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e₂</a:t>
                      </a:r>
                    </a:p>
                  </a:txBody>
                  <a:tcPr marL="95250" marR="66675" marT="28575" marB="28575" anchor="ctr">
                    <a:lnR w="6668">
                      <a:solidFill>
                        <a:srgbClr val="CBD8E1"/>
                      </a:solidFill>
                    </a:lnR>
                    <a:lnB w="6668">
                      <a:solidFill>
                        <a:srgbClr val="CBD8E1"/>
                      </a:solidFill>
                    </a:lnB>
                    <a:solidFill>
                      <a:srgbClr val="EDF4F9"/>
                    </a:solidFill>
                  </a:tcPr>
                </a:tc>
              </a:tr>
            </a:tbl>
          </a:graphicData>
        </a:graphic>
      </p:graphicFrame>
      <p:sp>
        <p:nvSpPr>
          <p:cNvPr id="12" name="">
            <a:extLst xmlns:a="http://schemas.openxmlformats.org/drawingml/2006/main">
              <a:ext uri="{FF2B5EF4-FFF2-40B4-BE49-F238E27FC236}">
                <a16:creationId xmlns:a16="http://schemas.microsoft.com/office/drawing/2014/main" id="{D0C725E6-6681-474F-A106-E4C97F225705}"/>
              </a:ext>
            </a:extLst>
          </p:cNvPr>
          <p:cNvSpPr>
            <a:spLocks xmlns:a="http://schemas.openxmlformats.org/drawingml/2006/main" noGrp="1"/>
          </p:cNvSpPr>
          <p:nvPr/>
        </p:nvSpPr>
        <p:spPr>
          <a:xfrm xmlns:a="http://schemas.openxmlformats.org/drawingml/2006/main">
            <a:off x="609600" y="59150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005293"/>
                </a:solidFill>
                <a:latin typeface="Arial"/>
                <a:ea typeface="Arial"/>
                <a:cs typeface="Arial"/>
              </a:defRPr>
            </a:defPPr>
            <a:lvl1pPr>
              <a:defRPr sz="1800" b="1">
                <a:solidFill>
                  <a:srgbClr val="005293"/>
                </a:solidFill>
                <a:latin typeface="Arial"/>
                <a:ea typeface="Arial"/>
                <a:cs typeface="Arial"/>
              </a:defRPr>
            </a:lvl1pPr>
            <a:lvl2pPr>
              <a:defRPr sz="1800" b="1">
                <a:solidFill>
                  <a:srgbClr val="005293"/>
                </a:solidFill>
                <a:latin typeface="Arial"/>
                <a:ea typeface="Arial"/>
                <a:cs typeface="Arial"/>
              </a:defRPr>
            </a:lvl2pPr>
            <a:lvl3pPr>
              <a:defRPr sz="1800" b="1">
                <a:solidFill>
                  <a:srgbClr val="005293"/>
                </a:solidFill>
                <a:latin typeface="Arial"/>
                <a:ea typeface="Arial"/>
                <a:cs typeface="Arial"/>
              </a:defRPr>
            </a:lvl3pPr>
            <a:lvl4pPr>
              <a:defRPr sz="1800" b="1">
                <a:solidFill>
                  <a:srgbClr val="005293"/>
                </a:solidFill>
                <a:latin typeface="Arial"/>
                <a:ea typeface="Arial"/>
                <a:cs typeface="Arial"/>
              </a:defRPr>
            </a:lvl4pPr>
            <a:lvl5pPr>
              <a:defRPr sz="1800" b="1">
                <a:solidFill>
                  <a:srgbClr val="005293"/>
                </a:solidFill>
                <a:latin typeface="Arial"/>
                <a:ea typeface="Arial"/>
                <a:cs typeface="Arial"/>
              </a:defRPr>
            </a:lvl5pPr>
            <a:lvl6pPr>
              <a:defRPr sz="1800" b="1">
                <a:solidFill>
                  <a:srgbClr val="005293"/>
                </a:solidFill>
                <a:latin typeface="Arial"/>
                <a:ea typeface="Arial"/>
                <a:cs typeface="Arial"/>
              </a:defRPr>
            </a:lvl6pPr>
            <a:lvl7pPr>
              <a:defRPr sz="1800" b="1">
                <a:solidFill>
                  <a:srgbClr val="005293"/>
                </a:solidFill>
                <a:latin typeface="Arial"/>
                <a:ea typeface="Arial"/>
                <a:cs typeface="Arial"/>
              </a:defRPr>
            </a:lvl7pPr>
            <a:lvl8pPr>
              <a:defRPr sz="1800" b="1">
                <a:solidFill>
                  <a:srgbClr val="005293"/>
                </a:solidFill>
                <a:latin typeface="Arial"/>
                <a:ea typeface="Arial"/>
                <a:cs typeface="Arial"/>
              </a:defRPr>
            </a:lvl8pPr>
            <a:lvl9pPr>
              <a:defRPr sz="1800" b="1">
                <a:solidFill>
                  <a:srgbClr val="005293"/>
                </a:solidFill>
                <a:latin typeface="Arial"/>
                <a:ea typeface="Arial"/>
                <a:cs typeface="Arial"/>
              </a:defRPr>
            </a:lvl9pPr>
          </a:lstStyle>
          <a:p xmlns:a="http://schemas.openxmlformats.org/drawingml/2006/main">
            <a:pPr>
              <a:defRPr sz="1800" b="1">
                <a:solidFill>
                  <a:srgbClr val="005293"/>
                </a:solidFill>
                <a:latin typeface="Arial"/>
                <a:ea typeface="Arial"/>
                <a:cs typeface="Arial"/>
              </a:defRPr>
            </a:pPr>
            <a:r>
              <a:rPr sz="1800" b="1">
                <a:solidFill>
                  <a:srgbClr val="005293"/>
                </a:solidFill>
                <a:latin typeface="Arial"/>
                <a:ea typeface="Arial"/>
                <a:cs typeface="Arial"/>
              </a:rPr>
              <a:t>Join über C. „–“ markiert einen fehlenden Wert (NULL).</a:t>
            </a:r>
          </a:p>
        </p:txBody>
      </p:sp>
    </p:spTree>
    <p:extLst>
      <p:ext uri="{BB962C8B-B14F-4D97-AF65-F5344CB8AC3E}">
        <p14:creationId xmlns:p14="http://schemas.microsoft.com/office/powerpoint/2010/main" val="66830563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B839F21-6EA8-40EA-9D16-C70B531B9AEB}"/>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Linker Semi-Join</a:t>
            </a:r>
          </a:p>
        </p:txBody>
      </p:sp>
      <p:sp>
        <p:nvSpPr>
          <p:cNvPr id="2" name="">
            <a:extLst xmlns:a="http://schemas.openxmlformats.org/drawingml/2006/main">
              <a:ext uri="{FF2B5EF4-FFF2-40B4-BE49-F238E27FC236}">
                <a16:creationId xmlns:a16="http://schemas.microsoft.com/office/drawing/2014/main" id="{E9175777-BC59-40AE-815C-1AC0CF8BD9FB}"/>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D93C39E8-2B5B-498B-B7EA-CAB228AA46DA}"/>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28</a:t>
            </a:r>
          </a:p>
        </p:txBody>
      </p:sp>
      <p:sp>
        <p:nvSpPr>
          <p:cNvPr id="4" name="">
            <a:extLst xmlns:a="http://schemas.openxmlformats.org/drawingml/2006/main">
              <a:ext uri="{FF2B5EF4-FFF2-40B4-BE49-F238E27FC236}">
                <a16:creationId xmlns:a16="http://schemas.microsoft.com/office/drawing/2014/main" id="{F6B2F59F-D884-4607-AFD3-A6E5244CC14B}"/>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32</a:t>
            </a:r>
          </a:p>
        </p:txBody>
      </p:sp>
      <p:sp>
        <p:nvSpPr>
          <p:cNvPr id="5" name="">
            <a:extLst xmlns:a="http://schemas.openxmlformats.org/drawingml/2006/main">
              <a:ext uri="{FF2B5EF4-FFF2-40B4-BE49-F238E27FC236}">
                <a16:creationId xmlns:a16="http://schemas.microsoft.com/office/drawing/2014/main" id="{F44E4ADF-9382-455F-9EEA-E3CCAD4C3B39}"/>
              </a:ext>
            </a:extLst>
          </p:cNvPr>
          <p:cNvSpPr>
            <a:spLocks xmlns:a="http://schemas.openxmlformats.org/drawingml/2006/main" noGrp="1"/>
          </p:cNvSpPr>
          <p:nvPr/>
        </p:nvSpPr>
        <p:spPr>
          <a:xfrm xmlns:a="http://schemas.openxmlformats.org/drawingml/2006/main">
            <a:off x="609600" y="1428750"/>
            <a:ext cx="171411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3000" b="0">
                <a:solidFill>
                  <a:srgbClr val="005293"/>
                </a:solidFill>
                <a:latin typeface="STIX Two Math"/>
                <a:ea typeface="STIX Two Math"/>
                <a:cs typeface="STIX Two Math"/>
              </a:defRPr>
            </a:defPPr>
            <a:lvl1pPr>
              <a:defRPr sz="3000" b="0">
                <a:solidFill>
                  <a:srgbClr val="005293"/>
                </a:solidFill>
                <a:latin typeface="STIX Two Math"/>
                <a:ea typeface="STIX Two Math"/>
                <a:cs typeface="STIX Two Math"/>
              </a:defRPr>
            </a:lvl1pPr>
            <a:lvl2pPr>
              <a:defRPr sz="3000" b="0">
                <a:solidFill>
                  <a:srgbClr val="005293"/>
                </a:solidFill>
                <a:latin typeface="STIX Two Math"/>
                <a:ea typeface="STIX Two Math"/>
                <a:cs typeface="STIX Two Math"/>
              </a:defRPr>
            </a:lvl2pPr>
            <a:lvl3pPr>
              <a:defRPr sz="3000" b="0">
                <a:solidFill>
                  <a:srgbClr val="005293"/>
                </a:solidFill>
                <a:latin typeface="STIX Two Math"/>
                <a:ea typeface="STIX Two Math"/>
                <a:cs typeface="STIX Two Math"/>
              </a:defRPr>
            </a:lvl3pPr>
            <a:lvl4pPr>
              <a:defRPr sz="3000" b="0">
                <a:solidFill>
                  <a:srgbClr val="005293"/>
                </a:solidFill>
                <a:latin typeface="STIX Two Math"/>
                <a:ea typeface="STIX Two Math"/>
                <a:cs typeface="STIX Two Math"/>
              </a:defRPr>
            </a:lvl4pPr>
            <a:lvl5pPr>
              <a:defRPr sz="3000" b="0">
                <a:solidFill>
                  <a:srgbClr val="005293"/>
                </a:solidFill>
                <a:latin typeface="STIX Two Math"/>
                <a:ea typeface="STIX Two Math"/>
                <a:cs typeface="STIX Two Math"/>
              </a:defRPr>
            </a:lvl5pPr>
            <a:lvl6pPr>
              <a:defRPr sz="3000" b="0">
                <a:solidFill>
                  <a:srgbClr val="005293"/>
                </a:solidFill>
                <a:latin typeface="STIX Two Math"/>
                <a:ea typeface="STIX Two Math"/>
                <a:cs typeface="STIX Two Math"/>
              </a:defRPr>
            </a:lvl6pPr>
            <a:lvl7pPr>
              <a:defRPr sz="3000" b="0">
                <a:solidFill>
                  <a:srgbClr val="005293"/>
                </a:solidFill>
                <a:latin typeface="STIX Two Math"/>
                <a:ea typeface="STIX Two Math"/>
                <a:cs typeface="STIX Two Math"/>
              </a:defRPr>
            </a:lvl7pPr>
            <a:lvl8pPr>
              <a:defRPr sz="3000" b="0">
                <a:solidFill>
                  <a:srgbClr val="005293"/>
                </a:solidFill>
                <a:latin typeface="STIX Two Math"/>
                <a:ea typeface="STIX Two Math"/>
                <a:cs typeface="STIX Two Math"/>
              </a:defRPr>
            </a:lvl8pPr>
            <a:lvl9pPr>
              <a:defRPr sz="3000" b="0">
                <a:solidFill>
                  <a:srgbClr val="005293"/>
                </a:solidFill>
                <a:latin typeface="STIX Two Math"/>
                <a:ea typeface="STIX Two Math"/>
                <a:cs typeface="STIX Two Math"/>
              </a:defRPr>
            </a:lvl9pPr>
          </a:lstStyle>
          <a:p xmlns:a="http://schemas.openxmlformats.org/drawingml/2006/main">
            <a:pPr>
              <a:defRPr sz="3000" b="0">
                <a:solidFill>
                  <a:srgbClr val="005293"/>
                </a:solidFill>
                <a:latin typeface="STIX Two Math"/>
                <a:ea typeface="STIX Two Math"/>
                <a:cs typeface="STIX Two Math"/>
              </a:defRPr>
            </a:pPr>
            <a:r>
              <a:rPr sz="3000" b="0">
                <a:solidFill>
                  <a:srgbClr val="005293"/>
                </a:solidFill>
                <a:latin typeface="STIX Two Math"/>
                <a:ea typeface="STIX Two Math"/>
                <a:cs typeface="STIX Two Math"/>
              </a:rPr>
              <a:t>L ⋉ R = π</a:t>
            </a:r>
          </a:p>
        </p:txBody>
      </p:sp>
      <p:sp>
        <p:nvSpPr>
          <p:cNvPr id="6" name="">
            <a:extLst xmlns:a="http://schemas.openxmlformats.org/drawingml/2006/main">
              <a:ext uri="{FF2B5EF4-FFF2-40B4-BE49-F238E27FC236}">
                <a16:creationId xmlns:a16="http://schemas.microsoft.com/office/drawing/2014/main" id="{866CCF00-BABE-4A5E-80BF-7000AE78A4CA}"/>
              </a:ext>
            </a:extLst>
          </p:cNvPr>
          <p:cNvSpPr>
            <a:spLocks xmlns:a="http://schemas.openxmlformats.org/drawingml/2006/main" noGrp="1"/>
          </p:cNvSpPr>
          <p:nvPr/>
        </p:nvSpPr>
        <p:spPr>
          <a:xfrm xmlns:a="http://schemas.openxmlformats.org/drawingml/2006/main">
            <a:off x="2276094" y="1645920"/>
            <a:ext cx="1678876" cy="4086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1950" b="0">
                <a:solidFill>
                  <a:srgbClr val="005293"/>
                </a:solidFill>
                <a:latin typeface="STIX Two Math"/>
                <a:ea typeface="STIX Two Math"/>
                <a:cs typeface="STIX Two Math"/>
              </a:defRPr>
            </a:defPPr>
            <a:lvl1pPr>
              <a:defRPr sz="1950" b="0">
                <a:solidFill>
                  <a:srgbClr val="005293"/>
                </a:solidFill>
                <a:latin typeface="STIX Two Math"/>
                <a:ea typeface="STIX Two Math"/>
                <a:cs typeface="STIX Two Math"/>
              </a:defRPr>
            </a:lvl1pPr>
            <a:lvl2pPr>
              <a:defRPr sz="1950" b="0">
                <a:solidFill>
                  <a:srgbClr val="005293"/>
                </a:solidFill>
                <a:latin typeface="STIX Two Math"/>
                <a:ea typeface="STIX Two Math"/>
                <a:cs typeface="STIX Two Math"/>
              </a:defRPr>
            </a:lvl2pPr>
            <a:lvl3pPr>
              <a:defRPr sz="1950" b="0">
                <a:solidFill>
                  <a:srgbClr val="005293"/>
                </a:solidFill>
                <a:latin typeface="STIX Two Math"/>
                <a:ea typeface="STIX Two Math"/>
                <a:cs typeface="STIX Two Math"/>
              </a:defRPr>
            </a:lvl3pPr>
            <a:lvl4pPr>
              <a:defRPr sz="1950" b="0">
                <a:solidFill>
                  <a:srgbClr val="005293"/>
                </a:solidFill>
                <a:latin typeface="STIX Two Math"/>
                <a:ea typeface="STIX Two Math"/>
                <a:cs typeface="STIX Two Math"/>
              </a:defRPr>
            </a:lvl4pPr>
            <a:lvl5pPr>
              <a:defRPr sz="1950" b="0">
                <a:solidFill>
                  <a:srgbClr val="005293"/>
                </a:solidFill>
                <a:latin typeface="STIX Two Math"/>
                <a:ea typeface="STIX Two Math"/>
                <a:cs typeface="STIX Two Math"/>
              </a:defRPr>
            </a:lvl5pPr>
            <a:lvl6pPr>
              <a:defRPr sz="1950" b="0">
                <a:solidFill>
                  <a:srgbClr val="005293"/>
                </a:solidFill>
                <a:latin typeface="STIX Two Math"/>
                <a:ea typeface="STIX Two Math"/>
                <a:cs typeface="STIX Two Math"/>
              </a:defRPr>
            </a:lvl6pPr>
            <a:lvl7pPr>
              <a:defRPr sz="1950" b="0">
                <a:solidFill>
                  <a:srgbClr val="005293"/>
                </a:solidFill>
                <a:latin typeface="STIX Two Math"/>
                <a:ea typeface="STIX Two Math"/>
                <a:cs typeface="STIX Two Math"/>
              </a:defRPr>
            </a:lvl7pPr>
            <a:lvl8pPr>
              <a:defRPr sz="1950" b="0">
                <a:solidFill>
                  <a:srgbClr val="005293"/>
                </a:solidFill>
                <a:latin typeface="STIX Two Math"/>
                <a:ea typeface="STIX Two Math"/>
                <a:cs typeface="STIX Two Math"/>
              </a:defRPr>
            </a:lvl8pPr>
            <a:lvl9pPr>
              <a:defRPr sz="1950" b="0">
                <a:solidFill>
                  <a:srgbClr val="005293"/>
                </a:solidFill>
                <a:latin typeface="STIX Two Math"/>
                <a:ea typeface="STIX Two Math"/>
                <a:cs typeface="STIX Two Math"/>
              </a:defRPr>
            </a:lvl9pPr>
          </a:lstStyle>
          <a:p xmlns:a="http://schemas.openxmlformats.org/drawingml/2006/main">
            <a:pPr>
              <a:defRPr sz="1950" b="0">
                <a:solidFill>
                  <a:srgbClr val="005293"/>
                </a:solidFill>
                <a:latin typeface="STIX Two Math"/>
                <a:ea typeface="STIX Two Math"/>
                <a:cs typeface="STIX Two Math"/>
              </a:defRPr>
            </a:pPr>
            <a:r>
              <a:rPr sz="1950" b="0">
                <a:solidFill>
                  <a:srgbClr val="005293"/>
                </a:solidFill>
                <a:latin typeface="STIX Two Math"/>
                <a:ea typeface="STIX Two Math"/>
                <a:cs typeface="STIX Two Math"/>
              </a:rPr>
              <a:t>Attribute von L</a:t>
            </a:r>
          </a:p>
        </p:txBody>
      </p:sp>
      <p:sp>
        <p:nvSpPr>
          <p:cNvPr id="7" name="">
            <a:extLst xmlns:a="http://schemas.openxmlformats.org/drawingml/2006/main">
              <a:ext uri="{FF2B5EF4-FFF2-40B4-BE49-F238E27FC236}">
                <a16:creationId xmlns:a16="http://schemas.microsoft.com/office/drawing/2014/main" id="{A3C38BD9-1A60-4830-BF3F-96E60093E1D7}"/>
              </a:ext>
            </a:extLst>
          </p:cNvPr>
          <p:cNvSpPr>
            <a:spLocks xmlns:a="http://schemas.openxmlformats.org/drawingml/2006/main" noGrp="1"/>
          </p:cNvSpPr>
          <p:nvPr/>
        </p:nvSpPr>
        <p:spPr>
          <a:xfrm xmlns:a="http://schemas.openxmlformats.org/drawingml/2006/main">
            <a:off x="3907345" y="1428750"/>
            <a:ext cx="1307592"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3000" b="0">
                <a:solidFill>
                  <a:srgbClr val="005293"/>
                </a:solidFill>
                <a:latin typeface="STIX Two Math"/>
                <a:ea typeface="STIX Two Math"/>
                <a:cs typeface="STIX Two Math"/>
              </a:defRPr>
            </a:defPPr>
            <a:lvl1pPr>
              <a:defRPr sz="3000" b="0">
                <a:solidFill>
                  <a:srgbClr val="005293"/>
                </a:solidFill>
                <a:latin typeface="STIX Two Math"/>
                <a:ea typeface="STIX Two Math"/>
                <a:cs typeface="STIX Two Math"/>
              </a:defRPr>
            </a:lvl1pPr>
            <a:lvl2pPr>
              <a:defRPr sz="3000" b="0">
                <a:solidFill>
                  <a:srgbClr val="005293"/>
                </a:solidFill>
                <a:latin typeface="STIX Two Math"/>
                <a:ea typeface="STIX Two Math"/>
                <a:cs typeface="STIX Two Math"/>
              </a:defRPr>
            </a:lvl2pPr>
            <a:lvl3pPr>
              <a:defRPr sz="3000" b="0">
                <a:solidFill>
                  <a:srgbClr val="005293"/>
                </a:solidFill>
                <a:latin typeface="STIX Two Math"/>
                <a:ea typeface="STIX Two Math"/>
                <a:cs typeface="STIX Two Math"/>
              </a:defRPr>
            </a:lvl3pPr>
            <a:lvl4pPr>
              <a:defRPr sz="3000" b="0">
                <a:solidFill>
                  <a:srgbClr val="005293"/>
                </a:solidFill>
                <a:latin typeface="STIX Two Math"/>
                <a:ea typeface="STIX Two Math"/>
                <a:cs typeface="STIX Two Math"/>
              </a:defRPr>
            </a:lvl4pPr>
            <a:lvl5pPr>
              <a:defRPr sz="3000" b="0">
                <a:solidFill>
                  <a:srgbClr val="005293"/>
                </a:solidFill>
                <a:latin typeface="STIX Two Math"/>
                <a:ea typeface="STIX Two Math"/>
                <a:cs typeface="STIX Two Math"/>
              </a:defRPr>
            </a:lvl5pPr>
            <a:lvl6pPr>
              <a:defRPr sz="3000" b="0">
                <a:solidFill>
                  <a:srgbClr val="005293"/>
                </a:solidFill>
                <a:latin typeface="STIX Two Math"/>
                <a:ea typeface="STIX Two Math"/>
                <a:cs typeface="STIX Two Math"/>
              </a:defRPr>
            </a:lvl6pPr>
            <a:lvl7pPr>
              <a:defRPr sz="3000" b="0">
                <a:solidFill>
                  <a:srgbClr val="005293"/>
                </a:solidFill>
                <a:latin typeface="STIX Two Math"/>
                <a:ea typeface="STIX Two Math"/>
                <a:cs typeface="STIX Two Math"/>
              </a:defRPr>
            </a:lvl7pPr>
            <a:lvl8pPr>
              <a:defRPr sz="3000" b="0">
                <a:solidFill>
                  <a:srgbClr val="005293"/>
                </a:solidFill>
                <a:latin typeface="STIX Two Math"/>
                <a:ea typeface="STIX Two Math"/>
                <a:cs typeface="STIX Two Math"/>
              </a:defRPr>
            </a:lvl8pPr>
            <a:lvl9pPr>
              <a:defRPr sz="3000" b="0">
                <a:solidFill>
                  <a:srgbClr val="005293"/>
                </a:solidFill>
                <a:latin typeface="STIX Two Math"/>
                <a:ea typeface="STIX Two Math"/>
                <a:cs typeface="STIX Two Math"/>
              </a:defRPr>
            </a:lvl9pPr>
          </a:lstStyle>
          <a:p xmlns:a="http://schemas.openxmlformats.org/drawingml/2006/main">
            <a:pPr>
              <a:defRPr sz="3000" b="0">
                <a:solidFill>
                  <a:srgbClr val="005293"/>
                </a:solidFill>
                <a:latin typeface="STIX Two Math"/>
                <a:ea typeface="STIX Two Math"/>
                <a:cs typeface="STIX Two Math"/>
              </a:defRPr>
            </a:pPr>
            <a:r>
              <a:rPr sz="3000" b="0">
                <a:solidFill>
                  <a:srgbClr val="005293"/>
                </a:solidFill>
                <a:latin typeface="STIX Two Math"/>
                <a:ea typeface="STIX Two Math"/>
                <a:cs typeface="STIX Two Math"/>
              </a:rPr>
              <a:t>(L ⋈ R)</a:t>
            </a:r>
          </a:p>
        </p:txBody>
      </p:sp>
      <p:sp>
        <p:nvSpPr>
          <p:cNvPr id="8" name="">
            <a:extLst xmlns:a="http://schemas.openxmlformats.org/drawingml/2006/main">
              <a:ext uri="{FF2B5EF4-FFF2-40B4-BE49-F238E27FC236}">
                <a16:creationId xmlns:a16="http://schemas.microsoft.com/office/drawing/2014/main" id="{62503CC5-2E99-4A05-B245-21D0495ECE60}"/>
              </a:ext>
            </a:extLst>
          </p:cNvPr>
          <p:cNvSpPr>
            <a:spLocks xmlns:a="http://schemas.openxmlformats.org/drawingml/2006/main" noGrp="1"/>
          </p:cNvSpPr>
          <p:nvPr/>
        </p:nvSpPr>
        <p:spPr>
          <a:xfrm xmlns:a="http://schemas.openxmlformats.org/drawingml/2006/main">
            <a:off x="609600" y="24765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Behält nur Tupel aus L, die mindestens einen Joinpartner in R haben.</a:t>
            </a:r>
          </a:p>
        </p:txBody>
      </p:sp>
      <p:sp>
        <p:nvSpPr>
          <p:cNvPr id="9" name="">
            <a:extLst xmlns:a="http://schemas.openxmlformats.org/drawingml/2006/main">
              <a:ext uri="{FF2B5EF4-FFF2-40B4-BE49-F238E27FC236}">
                <a16:creationId xmlns:a16="http://schemas.microsoft.com/office/drawing/2014/main" id="{62652212-A1FE-41B5-8747-71FEA610D7C3}"/>
              </a:ext>
            </a:extLst>
          </p:cNvPr>
          <p:cNvSpPr>
            <a:spLocks xmlns:a="http://schemas.openxmlformats.org/drawingml/2006/main" noGrp="1"/>
          </p:cNvSpPr>
          <p:nvPr/>
        </p:nvSpPr>
        <p:spPr>
          <a:xfrm xmlns:a="http://schemas.openxmlformats.org/drawingml/2006/main">
            <a:off x="609600" y="34290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Die Ausgabe enthält ausschließlich die Attribute von L.</a:t>
            </a:r>
          </a:p>
        </p:txBody>
      </p:sp>
      <p:sp>
        <p:nvSpPr>
          <p:cNvPr id="10" name="">
            <a:extLst xmlns:a="http://schemas.openxmlformats.org/drawingml/2006/main">
              <a:ext uri="{FF2B5EF4-FFF2-40B4-BE49-F238E27FC236}">
                <a16:creationId xmlns:a16="http://schemas.microsoft.com/office/drawing/2014/main" id="{2F488803-BF0B-4536-B281-2ACEA2A3F9A9}"/>
              </a:ext>
            </a:extLst>
          </p:cNvPr>
          <p:cNvSpPr>
            <a:spLocks xmlns:a="http://schemas.openxmlformats.org/drawingml/2006/main" noGrp="1"/>
          </p:cNvSpPr>
          <p:nvPr/>
        </p:nvSpPr>
        <p:spPr>
          <a:xfrm xmlns:a="http://schemas.openxmlformats.org/drawingml/2006/main">
            <a:off x="609600" y="43815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Mehrere passende Partner erzeugen keine doppelten Tupel.</a:t>
            </a:r>
          </a:p>
        </p:txBody>
      </p:sp>
    </p:spTree>
    <p:extLst>
      <p:ext uri="{BB962C8B-B14F-4D97-AF65-F5344CB8AC3E}">
        <p14:creationId xmlns:p14="http://schemas.microsoft.com/office/powerpoint/2010/main" val="65528500"/>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3D1EC00-195D-49BF-836E-470779FC47CF}"/>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Linker Semi-Join: Beispiel</a:t>
            </a:r>
          </a:p>
        </p:txBody>
      </p:sp>
      <p:sp>
        <p:nvSpPr>
          <p:cNvPr id="2" name="">
            <a:extLst xmlns:a="http://schemas.openxmlformats.org/drawingml/2006/main">
              <a:ext uri="{FF2B5EF4-FFF2-40B4-BE49-F238E27FC236}">
                <a16:creationId xmlns:a16="http://schemas.microsoft.com/office/drawing/2014/main" id="{EAB85C35-752B-4D29-8B0D-B18DC23ED07B}"/>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232538CC-8EB9-448B-962A-BDA63004BCDB}"/>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29</a:t>
            </a:r>
          </a:p>
        </p:txBody>
      </p:sp>
      <p:sp>
        <p:nvSpPr>
          <p:cNvPr id="4" name="">
            <a:extLst xmlns:a="http://schemas.openxmlformats.org/drawingml/2006/main">
              <a:ext uri="{FF2B5EF4-FFF2-40B4-BE49-F238E27FC236}">
                <a16:creationId xmlns:a16="http://schemas.microsoft.com/office/drawing/2014/main" id="{C2219947-9E51-4BAB-970D-6DCDD5309A68}"/>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32</a:t>
            </a:r>
          </a:p>
        </p:txBody>
      </p:sp>
      <p:sp>
        <p:nvSpPr>
          <p:cNvPr id="5" name="">
            <a:extLst xmlns:a="http://schemas.openxmlformats.org/drawingml/2006/main">
              <a:ext uri="{FF2B5EF4-FFF2-40B4-BE49-F238E27FC236}">
                <a16:creationId xmlns:a16="http://schemas.microsoft.com/office/drawing/2014/main" id="{5CAADA1B-BFD7-461D-A363-6ACA14639EC6}"/>
              </a:ext>
            </a:extLst>
          </p:cNvPr>
          <p:cNvSpPr>
            <a:spLocks xmlns:a="http://schemas.openxmlformats.org/drawingml/2006/main" noGrp="1"/>
          </p:cNvSpPr>
          <p:nvPr/>
        </p:nvSpPr>
        <p:spPr>
          <a:xfrm xmlns:a="http://schemas.openxmlformats.org/drawingml/2006/main">
            <a:off x="609600" y="1381125"/>
            <a:ext cx="1035558"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3000" b="0">
                <a:solidFill>
                  <a:srgbClr val="005293"/>
                </a:solidFill>
                <a:latin typeface="STIX Two Math"/>
                <a:ea typeface="STIX Two Math"/>
                <a:cs typeface="STIX Two Math"/>
              </a:defRPr>
            </a:defPPr>
            <a:lvl1pPr>
              <a:defRPr sz="3000" b="0">
                <a:solidFill>
                  <a:srgbClr val="005293"/>
                </a:solidFill>
                <a:latin typeface="STIX Two Math"/>
                <a:ea typeface="STIX Two Math"/>
                <a:cs typeface="STIX Two Math"/>
              </a:defRPr>
            </a:lvl1pPr>
            <a:lvl2pPr>
              <a:defRPr sz="3000" b="0">
                <a:solidFill>
                  <a:srgbClr val="005293"/>
                </a:solidFill>
                <a:latin typeface="STIX Two Math"/>
                <a:ea typeface="STIX Two Math"/>
                <a:cs typeface="STIX Two Math"/>
              </a:defRPr>
            </a:lvl2pPr>
            <a:lvl3pPr>
              <a:defRPr sz="3000" b="0">
                <a:solidFill>
                  <a:srgbClr val="005293"/>
                </a:solidFill>
                <a:latin typeface="STIX Two Math"/>
                <a:ea typeface="STIX Two Math"/>
                <a:cs typeface="STIX Two Math"/>
              </a:defRPr>
            </a:lvl3pPr>
            <a:lvl4pPr>
              <a:defRPr sz="3000" b="0">
                <a:solidFill>
                  <a:srgbClr val="005293"/>
                </a:solidFill>
                <a:latin typeface="STIX Two Math"/>
                <a:ea typeface="STIX Two Math"/>
                <a:cs typeface="STIX Two Math"/>
              </a:defRPr>
            </a:lvl4pPr>
            <a:lvl5pPr>
              <a:defRPr sz="3000" b="0">
                <a:solidFill>
                  <a:srgbClr val="005293"/>
                </a:solidFill>
                <a:latin typeface="STIX Two Math"/>
                <a:ea typeface="STIX Two Math"/>
                <a:cs typeface="STIX Two Math"/>
              </a:defRPr>
            </a:lvl5pPr>
            <a:lvl6pPr>
              <a:defRPr sz="3000" b="0">
                <a:solidFill>
                  <a:srgbClr val="005293"/>
                </a:solidFill>
                <a:latin typeface="STIX Two Math"/>
                <a:ea typeface="STIX Two Math"/>
                <a:cs typeface="STIX Two Math"/>
              </a:defRPr>
            </a:lvl6pPr>
            <a:lvl7pPr>
              <a:defRPr sz="3000" b="0">
                <a:solidFill>
                  <a:srgbClr val="005293"/>
                </a:solidFill>
                <a:latin typeface="STIX Two Math"/>
                <a:ea typeface="STIX Two Math"/>
                <a:cs typeface="STIX Two Math"/>
              </a:defRPr>
            </a:lvl7pPr>
            <a:lvl8pPr>
              <a:defRPr sz="3000" b="0">
                <a:solidFill>
                  <a:srgbClr val="005293"/>
                </a:solidFill>
                <a:latin typeface="STIX Two Math"/>
                <a:ea typeface="STIX Two Math"/>
                <a:cs typeface="STIX Two Math"/>
              </a:defRPr>
            </a:lvl8pPr>
            <a:lvl9pPr>
              <a:defRPr sz="3000" b="0">
                <a:solidFill>
                  <a:srgbClr val="005293"/>
                </a:solidFill>
                <a:latin typeface="STIX Two Math"/>
                <a:ea typeface="STIX Two Math"/>
                <a:cs typeface="STIX Two Math"/>
              </a:defRPr>
            </a:lvl9pPr>
          </a:lstStyle>
          <a:p xmlns:a="http://schemas.openxmlformats.org/drawingml/2006/main">
            <a:pPr>
              <a:defRPr sz="3000" b="0">
                <a:solidFill>
                  <a:srgbClr val="005293"/>
                </a:solidFill>
                <a:latin typeface="STIX Two Math"/>
                <a:ea typeface="STIX Two Math"/>
                <a:cs typeface="STIX Two Math"/>
              </a:defRPr>
            </a:pPr>
            <a:r>
              <a:rPr sz="3000" b="0">
                <a:solidFill>
                  <a:srgbClr val="005293"/>
                </a:solidFill>
                <a:latin typeface="STIX Two Math"/>
                <a:ea typeface="STIX Two Math"/>
                <a:cs typeface="STIX Two Math"/>
              </a:rPr>
              <a:t>L ⋉ R</a:t>
            </a:r>
          </a:p>
        </p:txBody>
      </p:sp>
      <p:sp>
        <p:nvSpPr>
          <p:cNvPr id="6" name="">
            <a:extLst xmlns:a="http://schemas.openxmlformats.org/drawingml/2006/main">
              <a:ext uri="{FF2B5EF4-FFF2-40B4-BE49-F238E27FC236}">
                <a16:creationId xmlns:a16="http://schemas.microsoft.com/office/drawing/2014/main" id="{ADF3C9E0-DBFD-4960-BC80-872CAEB1A74D}"/>
              </a:ext>
            </a:extLst>
          </p:cNvPr>
          <p:cNvSpPr>
            <a:spLocks xmlns:a="http://schemas.openxmlformats.org/drawingml/2006/main" noGrp="1"/>
          </p:cNvSpPr>
          <p:nvPr/>
        </p:nvSpPr>
        <p:spPr>
          <a:xfrm xmlns:a="http://schemas.openxmlformats.org/drawingml/2006/main">
            <a:off x="609600" y="210502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L</a:t>
            </a:r>
          </a:p>
        </p:txBody>
      </p:sp>
      <p:sp>
        <p:nvSpPr>
          <p:cNvPr id="7" name="">
            <a:extLst xmlns:a="http://schemas.openxmlformats.org/drawingml/2006/main">
              <a:ext uri="{FF2B5EF4-FFF2-40B4-BE49-F238E27FC236}">
                <a16:creationId xmlns:a16="http://schemas.microsoft.com/office/drawing/2014/main" id="{413A1CD6-A4CE-4DC8-A3D0-DAC2594AD462}"/>
              </a:ext>
            </a:extLst>
          </p:cNvPr>
          <p:cNvSpPr>
            <a:spLocks xmlns:a="http://schemas.openxmlformats.org/drawingml/2006/main" noGrp="1"/>
          </p:cNvSpPr>
          <p:nvPr/>
        </p:nvSpPr>
        <p:spPr>
          <a:xfrm xmlns:a="http://schemas.openxmlformats.org/drawingml/2006/main">
            <a:off x="6762750" y="210502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R</a:t>
            </a:r>
          </a:p>
        </p:txBody>
      </p:sp>
      <p:graphicFrame>
        <p:nvGraphicFramePr>
          <p:cNvPr id="8" name="">
            <a:extLst xmlns:a="http://schemas.openxmlformats.org/drawingml/2006/main">
              <a:ext uri="{FF2B5EF4-FFF2-40B4-BE49-F238E27FC236}">
                <a16:creationId xmlns:a16="http://schemas.microsoft.com/office/drawing/2014/main" id="{58DD3DDC-F4F5-47AC-BD00-3EF6B1CDE853}"/>
              </a:ext>
            </a:extLst>
          </p:cNvPr>
          <p:cNvGraphicFramePr/>
          <p:nvPr/>
        </p:nvGraphicFramePr>
        <p:xfrm>
          <a:off xmlns:a="http://schemas.openxmlformats.org/drawingml/2006/main" x="609600" y="2514600"/>
          <a:ext xmlns:a="http://schemas.openxmlformats.org/drawingml/2006/main" cx="4762500" cy="1171575"/>
        </p:xfrm>
        <a:graphic xmlns:a="http://schemas.openxmlformats.org/drawingml/2006/main">
          <a:graphicData uri="http://schemas.openxmlformats.org/drawingml/2006/table">
            <a:tbl>
              <a:tblPr/>
              <a:tblGrid>
                <a:gridCol w="1587500"/>
                <a:gridCol w="1587500"/>
                <a:gridCol w="1587500"/>
              </a:tblGrid>
              <a:tr h="390525">
                <a:tc>
                  <a:txBody>
                    <a:bodyPr/>
                    <a:lstStyle/>
                    <a:p>
                      <a:r>
                        <a:rPr sz="1950" b="1">
                          <a:solidFill>
                            <a:srgbClr val="FFFFFF"/>
                          </a:solidFill>
                          <a:latin typeface="Arial"/>
                          <a:ea typeface="Arial"/>
                          <a:cs typeface="Arial"/>
                        </a:rPr>
                        <a:t>A</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B</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C</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390525">
                <a:tc>
                  <a:txBody>
                    <a:bodyPr/>
                    <a:lstStyle/>
                    <a:p>
                      <a:r>
                        <a:rPr sz="1950" b="0">
                          <a:solidFill>
                            <a:srgbClr val="202B33"/>
                          </a:solidFill>
                          <a:latin typeface="Arial"/>
                          <a:ea typeface="Arial"/>
                          <a:cs typeface="Arial"/>
                        </a:rPr>
                        <a:t>a₁</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b₁</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c₁</a:t>
                      </a:r>
                    </a:p>
                  </a:txBody>
                  <a:tcPr marL="95250" marR="66675" marT="28575" marB="28575" anchor="ctr">
                    <a:lnR w="6668">
                      <a:solidFill>
                        <a:srgbClr val="CBD8E1"/>
                      </a:solidFill>
                    </a:lnR>
                    <a:lnB w="6668">
                      <a:solidFill>
                        <a:srgbClr val="CBD8E1"/>
                      </a:solidFill>
                    </a:lnB>
                    <a:solidFill>
                      <a:srgbClr val="FFFFFF"/>
                    </a:solidFill>
                  </a:tcPr>
                </a:tc>
              </a:tr>
              <a:tr h="390525">
                <a:tc>
                  <a:txBody>
                    <a:bodyPr/>
                    <a:lstStyle/>
                    <a:p>
                      <a:r>
                        <a:rPr sz="1950" b="0">
                          <a:solidFill>
                            <a:srgbClr val="202B33"/>
                          </a:solidFill>
                          <a:latin typeface="Arial"/>
                          <a:ea typeface="Arial"/>
                          <a:cs typeface="Arial"/>
                        </a:rPr>
                        <a:t>a₂</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b₂</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c₂</a:t>
                      </a:r>
                    </a:p>
                  </a:txBody>
                  <a:tcPr marL="95250" marR="66675" marT="28575" marB="28575" anchor="ctr">
                    <a:lnR w="6668">
                      <a:solidFill>
                        <a:srgbClr val="CBD8E1"/>
                      </a:solidFill>
                    </a:lnR>
                    <a:lnB w="6668">
                      <a:solidFill>
                        <a:srgbClr val="CBD8E1"/>
                      </a:solidFill>
                    </a:lnB>
                    <a:solidFill>
                      <a:srgbClr val="EDF4F9"/>
                    </a:solidFill>
                  </a:tcPr>
                </a:tc>
              </a:tr>
            </a:tbl>
          </a:graphicData>
        </a:graphic>
      </p:graphicFrame>
      <p:graphicFrame>
        <p:nvGraphicFramePr>
          <p:cNvPr id="9" name="">
            <a:extLst xmlns:a="http://schemas.openxmlformats.org/drawingml/2006/main">
              <a:ext uri="{FF2B5EF4-FFF2-40B4-BE49-F238E27FC236}">
                <a16:creationId xmlns:a16="http://schemas.microsoft.com/office/drawing/2014/main" id="{D1B14AD1-59D4-48EA-89E0-2D8366DA3ACC}"/>
              </a:ext>
            </a:extLst>
          </p:cNvPr>
          <p:cNvGraphicFramePr/>
          <p:nvPr/>
        </p:nvGraphicFramePr>
        <p:xfrm>
          <a:off xmlns:a="http://schemas.openxmlformats.org/drawingml/2006/main" x="6762750" y="2514600"/>
          <a:ext xmlns:a="http://schemas.openxmlformats.org/drawingml/2006/main" cx="4762500" cy="1171575"/>
        </p:xfrm>
        <a:graphic xmlns:a="http://schemas.openxmlformats.org/drawingml/2006/main">
          <a:graphicData uri="http://schemas.openxmlformats.org/drawingml/2006/table">
            <a:tbl>
              <a:tblPr/>
              <a:tblGrid>
                <a:gridCol w="1587500"/>
                <a:gridCol w="1587500"/>
                <a:gridCol w="1587500"/>
              </a:tblGrid>
              <a:tr h="390525">
                <a:tc>
                  <a:txBody>
                    <a:bodyPr/>
                    <a:lstStyle/>
                    <a:p>
                      <a:r>
                        <a:rPr sz="1950" b="1">
                          <a:solidFill>
                            <a:srgbClr val="FFFFFF"/>
                          </a:solidFill>
                          <a:latin typeface="Arial"/>
                          <a:ea typeface="Arial"/>
                          <a:cs typeface="Arial"/>
                        </a:rPr>
                        <a:t>C</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D</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E</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390525">
                <a:tc>
                  <a:txBody>
                    <a:bodyPr/>
                    <a:lstStyle/>
                    <a:p>
                      <a:r>
                        <a:rPr sz="1950" b="0">
                          <a:solidFill>
                            <a:srgbClr val="202B33"/>
                          </a:solidFill>
                          <a:latin typeface="Arial"/>
                          <a:ea typeface="Arial"/>
                          <a:cs typeface="Arial"/>
                        </a:rPr>
                        <a:t>c₁</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d₁</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e₁</a:t>
                      </a:r>
                    </a:p>
                  </a:txBody>
                  <a:tcPr marL="95250" marR="66675" marT="28575" marB="28575" anchor="ctr">
                    <a:lnR w="6668">
                      <a:solidFill>
                        <a:srgbClr val="CBD8E1"/>
                      </a:solidFill>
                    </a:lnR>
                    <a:lnB w="6668">
                      <a:solidFill>
                        <a:srgbClr val="CBD8E1"/>
                      </a:solidFill>
                    </a:lnB>
                    <a:solidFill>
                      <a:srgbClr val="FFFFFF"/>
                    </a:solidFill>
                  </a:tcPr>
                </a:tc>
              </a:tr>
              <a:tr h="390525">
                <a:tc>
                  <a:txBody>
                    <a:bodyPr/>
                    <a:lstStyle/>
                    <a:p>
                      <a:r>
                        <a:rPr sz="1950" b="0">
                          <a:solidFill>
                            <a:srgbClr val="202B33"/>
                          </a:solidFill>
                          <a:latin typeface="Arial"/>
                          <a:ea typeface="Arial"/>
                          <a:cs typeface="Arial"/>
                        </a:rPr>
                        <a:t>c₃</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d₂</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e₂</a:t>
                      </a:r>
                    </a:p>
                  </a:txBody>
                  <a:tcPr marL="95250" marR="66675" marT="28575" marB="28575" anchor="ctr">
                    <a:lnR w="6668">
                      <a:solidFill>
                        <a:srgbClr val="CBD8E1"/>
                      </a:solidFill>
                    </a:lnR>
                    <a:lnB w="6668">
                      <a:solidFill>
                        <a:srgbClr val="CBD8E1"/>
                      </a:solidFill>
                    </a:lnB>
                    <a:solidFill>
                      <a:srgbClr val="EDF4F9"/>
                    </a:solidFill>
                  </a:tcPr>
                </a:tc>
              </a:tr>
            </a:tbl>
          </a:graphicData>
        </a:graphic>
      </p:graphicFrame>
      <p:sp>
        <p:nvSpPr>
          <p:cNvPr id="10" name="">
            <a:extLst xmlns:a="http://schemas.openxmlformats.org/drawingml/2006/main">
              <a:ext uri="{FF2B5EF4-FFF2-40B4-BE49-F238E27FC236}">
                <a16:creationId xmlns:a16="http://schemas.microsoft.com/office/drawing/2014/main" id="{F47B63DC-9C93-4CCA-B451-3BBB8450D61D}"/>
              </a:ext>
            </a:extLst>
          </p:cNvPr>
          <p:cNvSpPr>
            <a:spLocks xmlns:a="http://schemas.openxmlformats.org/drawingml/2006/main" noGrp="1"/>
          </p:cNvSpPr>
          <p:nvPr/>
        </p:nvSpPr>
        <p:spPr>
          <a:xfrm xmlns:a="http://schemas.openxmlformats.org/drawingml/2006/main">
            <a:off x="609600" y="390525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Ergebnis</a:t>
            </a:r>
          </a:p>
        </p:txBody>
      </p:sp>
      <p:graphicFrame>
        <p:nvGraphicFramePr>
          <p:cNvPr id="11" name="">
            <a:extLst xmlns:a="http://schemas.openxmlformats.org/drawingml/2006/main">
              <a:ext uri="{FF2B5EF4-FFF2-40B4-BE49-F238E27FC236}">
                <a16:creationId xmlns:a16="http://schemas.microsoft.com/office/drawing/2014/main" id="{BA9721E0-B6D9-44C6-BDF2-6A9D4661E575}"/>
              </a:ext>
            </a:extLst>
          </p:cNvPr>
          <p:cNvGraphicFramePr/>
          <p:nvPr/>
        </p:nvGraphicFramePr>
        <p:xfrm>
          <a:off xmlns:a="http://schemas.openxmlformats.org/drawingml/2006/main" x="609600" y="4333875"/>
          <a:ext xmlns:a="http://schemas.openxmlformats.org/drawingml/2006/main" cx="10972800" cy="742950"/>
        </p:xfrm>
        <a:graphic xmlns:a="http://schemas.openxmlformats.org/drawingml/2006/main">
          <a:graphicData uri="http://schemas.openxmlformats.org/drawingml/2006/table">
            <a:tbl>
              <a:tblPr/>
              <a:tblGrid>
                <a:gridCol w="3657600"/>
                <a:gridCol w="3657600"/>
                <a:gridCol w="3657600"/>
              </a:tblGrid>
              <a:tr h="371475">
                <a:tc>
                  <a:txBody>
                    <a:bodyPr/>
                    <a:lstStyle/>
                    <a:p>
                      <a:r>
                        <a:rPr sz="1950" b="1">
                          <a:solidFill>
                            <a:srgbClr val="FFFFFF"/>
                          </a:solidFill>
                          <a:latin typeface="Arial"/>
                          <a:ea typeface="Arial"/>
                          <a:cs typeface="Arial"/>
                        </a:rPr>
                        <a:t>A</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B</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C</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371475">
                <a:tc>
                  <a:txBody>
                    <a:bodyPr/>
                    <a:lstStyle/>
                    <a:p>
                      <a:r>
                        <a:rPr sz="1950" b="0">
                          <a:solidFill>
                            <a:srgbClr val="202B33"/>
                          </a:solidFill>
                          <a:latin typeface="Arial"/>
                          <a:ea typeface="Arial"/>
                          <a:cs typeface="Arial"/>
                        </a:rPr>
                        <a:t>a₁</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b₁</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c₁</a:t>
                      </a:r>
                    </a:p>
                  </a:txBody>
                  <a:tcPr marL="95250" marR="66675" marT="28575" marB="28575" anchor="ctr">
                    <a:lnR w="6668">
                      <a:solidFill>
                        <a:srgbClr val="CBD8E1"/>
                      </a:solidFill>
                    </a:lnR>
                    <a:lnB w="6668">
                      <a:solidFill>
                        <a:srgbClr val="CBD8E1"/>
                      </a:solidFill>
                    </a:lnB>
                    <a:solidFill>
                      <a:srgbClr val="FFFFFF"/>
                    </a:solidFill>
                  </a:tcPr>
                </a:tc>
              </a:tr>
            </a:tbl>
          </a:graphicData>
        </a:graphic>
      </p:graphicFrame>
      <p:sp>
        <p:nvSpPr>
          <p:cNvPr id="12" name="">
            <a:extLst xmlns:a="http://schemas.openxmlformats.org/drawingml/2006/main">
              <a:ext uri="{FF2B5EF4-FFF2-40B4-BE49-F238E27FC236}">
                <a16:creationId xmlns:a16="http://schemas.microsoft.com/office/drawing/2014/main" id="{89D332DE-4F41-4A8F-90B1-0D90C4DF465F}"/>
              </a:ext>
            </a:extLst>
          </p:cNvPr>
          <p:cNvSpPr>
            <a:spLocks xmlns:a="http://schemas.openxmlformats.org/drawingml/2006/main" noGrp="1"/>
          </p:cNvSpPr>
          <p:nvPr/>
        </p:nvSpPr>
        <p:spPr>
          <a:xfrm xmlns:a="http://schemas.openxmlformats.org/drawingml/2006/main">
            <a:off x="609600" y="59150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005293"/>
                </a:solidFill>
                <a:latin typeface="Arial"/>
                <a:ea typeface="Arial"/>
                <a:cs typeface="Arial"/>
              </a:defRPr>
            </a:defPPr>
            <a:lvl1pPr>
              <a:defRPr sz="1800" b="1">
                <a:solidFill>
                  <a:srgbClr val="005293"/>
                </a:solidFill>
                <a:latin typeface="Arial"/>
                <a:ea typeface="Arial"/>
                <a:cs typeface="Arial"/>
              </a:defRPr>
            </a:lvl1pPr>
            <a:lvl2pPr>
              <a:defRPr sz="1800" b="1">
                <a:solidFill>
                  <a:srgbClr val="005293"/>
                </a:solidFill>
                <a:latin typeface="Arial"/>
                <a:ea typeface="Arial"/>
                <a:cs typeface="Arial"/>
              </a:defRPr>
            </a:lvl2pPr>
            <a:lvl3pPr>
              <a:defRPr sz="1800" b="1">
                <a:solidFill>
                  <a:srgbClr val="005293"/>
                </a:solidFill>
                <a:latin typeface="Arial"/>
                <a:ea typeface="Arial"/>
                <a:cs typeface="Arial"/>
              </a:defRPr>
            </a:lvl3pPr>
            <a:lvl4pPr>
              <a:defRPr sz="1800" b="1">
                <a:solidFill>
                  <a:srgbClr val="005293"/>
                </a:solidFill>
                <a:latin typeface="Arial"/>
                <a:ea typeface="Arial"/>
                <a:cs typeface="Arial"/>
              </a:defRPr>
            </a:lvl4pPr>
            <a:lvl5pPr>
              <a:defRPr sz="1800" b="1">
                <a:solidFill>
                  <a:srgbClr val="005293"/>
                </a:solidFill>
                <a:latin typeface="Arial"/>
                <a:ea typeface="Arial"/>
                <a:cs typeface="Arial"/>
              </a:defRPr>
            </a:lvl5pPr>
            <a:lvl6pPr>
              <a:defRPr sz="1800" b="1">
                <a:solidFill>
                  <a:srgbClr val="005293"/>
                </a:solidFill>
                <a:latin typeface="Arial"/>
                <a:ea typeface="Arial"/>
                <a:cs typeface="Arial"/>
              </a:defRPr>
            </a:lvl6pPr>
            <a:lvl7pPr>
              <a:defRPr sz="1800" b="1">
                <a:solidFill>
                  <a:srgbClr val="005293"/>
                </a:solidFill>
                <a:latin typeface="Arial"/>
                <a:ea typeface="Arial"/>
                <a:cs typeface="Arial"/>
              </a:defRPr>
            </a:lvl7pPr>
            <a:lvl8pPr>
              <a:defRPr sz="1800" b="1">
                <a:solidFill>
                  <a:srgbClr val="005293"/>
                </a:solidFill>
                <a:latin typeface="Arial"/>
                <a:ea typeface="Arial"/>
                <a:cs typeface="Arial"/>
              </a:defRPr>
            </a:lvl8pPr>
            <a:lvl9pPr>
              <a:defRPr sz="1800" b="1">
                <a:solidFill>
                  <a:srgbClr val="005293"/>
                </a:solidFill>
                <a:latin typeface="Arial"/>
                <a:ea typeface="Arial"/>
                <a:cs typeface="Arial"/>
              </a:defRPr>
            </a:lvl9pPr>
          </a:lstStyle>
          <a:p xmlns:a="http://schemas.openxmlformats.org/drawingml/2006/main">
            <a:pPr>
              <a:defRPr sz="1800" b="1">
                <a:solidFill>
                  <a:srgbClr val="005293"/>
                </a:solidFill>
                <a:latin typeface="Arial"/>
                <a:ea typeface="Arial"/>
                <a:cs typeface="Arial"/>
              </a:defRPr>
            </a:pPr>
            <a:r>
              <a:rPr sz="1800" b="1">
                <a:solidFill>
                  <a:srgbClr val="005293"/>
                </a:solidFill>
                <a:latin typeface="Arial"/>
                <a:ea typeface="Arial"/>
                <a:cs typeface="Arial"/>
              </a:rPr>
              <a:t>Nur c₁ besitzt einen Partner in R. Ausgegeben werden nur Spalten aus L.</a:t>
            </a:r>
          </a:p>
        </p:txBody>
      </p:sp>
    </p:spTree>
    <p:extLst>
      <p:ext uri="{BB962C8B-B14F-4D97-AF65-F5344CB8AC3E}">
        <p14:creationId xmlns:p14="http://schemas.microsoft.com/office/powerpoint/2010/main" val="5957409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2D38139-B580-47A8-95E7-5C5FA95C33DB}"/>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Rechter Semi-Join</a:t>
            </a:r>
          </a:p>
        </p:txBody>
      </p:sp>
      <p:sp>
        <p:nvSpPr>
          <p:cNvPr id="2" name="">
            <a:extLst xmlns:a="http://schemas.openxmlformats.org/drawingml/2006/main">
              <a:ext uri="{FF2B5EF4-FFF2-40B4-BE49-F238E27FC236}">
                <a16:creationId xmlns:a16="http://schemas.microsoft.com/office/drawing/2014/main" id="{7E64CD7E-A5CB-4F43-A733-E180B0E7570F}"/>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565425F4-B97C-4D64-9F6B-0A8349E8E70F}"/>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30</a:t>
            </a:r>
          </a:p>
        </p:txBody>
      </p:sp>
      <p:sp>
        <p:nvSpPr>
          <p:cNvPr id="4" name="">
            <a:extLst xmlns:a="http://schemas.openxmlformats.org/drawingml/2006/main">
              <a:ext uri="{FF2B5EF4-FFF2-40B4-BE49-F238E27FC236}">
                <a16:creationId xmlns:a16="http://schemas.microsoft.com/office/drawing/2014/main" id="{5E21CEF7-5135-44EE-83AB-000724565587}"/>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33</a:t>
            </a:r>
          </a:p>
        </p:txBody>
      </p:sp>
      <p:sp>
        <p:nvSpPr>
          <p:cNvPr id="5" name="">
            <a:extLst xmlns:a="http://schemas.openxmlformats.org/drawingml/2006/main">
              <a:ext uri="{FF2B5EF4-FFF2-40B4-BE49-F238E27FC236}">
                <a16:creationId xmlns:a16="http://schemas.microsoft.com/office/drawing/2014/main" id="{4C336D3E-DD8C-4783-ACC0-4BA273A68E11}"/>
              </a:ext>
            </a:extLst>
          </p:cNvPr>
          <p:cNvSpPr>
            <a:spLocks xmlns:a="http://schemas.openxmlformats.org/drawingml/2006/main" noGrp="1"/>
          </p:cNvSpPr>
          <p:nvPr/>
        </p:nvSpPr>
        <p:spPr>
          <a:xfrm xmlns:a="http://schemas.openxmlformats.org/drawingml/2006/main">
            <a:off x="609600" y="1428750"/>
            <a:ext cx="171411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3000" b="0">
                <a:solidFill>
                  <a:srgbClr val="005293"/>
                </a:solidFill>
                <a:latin typeface="STIX Two Math"/>
                <a:ea typeface="STIX Two Math"/>
                <a:cs typeface="STIX Two Math"/>
              </a:defRPr>
            </a:defPPr>
            <a:lvl1pPr>
              <a:defRPr sz="3000" b="0">
                <a:solidFill>
                  <a:srgbClr val="005293"/>
                </a:solidFill>
                <a:latin typeface="STIX Two Math"/>
                <a:ea typeface="STIX Two Math"/>
                <a:cs typeface="STIX Two Math"/>
              </a:defRPr>
            </a:lvl1pPr>
            <a:lvl2pPr>
              <a:defRPr sz="3000" b="0">
                <a:solidFill>
                  <a:srgbClr val="005293"/>
                </a:solidFill>
                <a:latin typeface="STIX Two Math"/>
                <a:ea typeface="STIX Two Math"/>
                <a:cs typeface="STIX Two Math"/>
              </a:defRPr>
            </a:lvl2pPr>
            <a:lvl3pPr>
              <a:defRPr sz="3000" b="0">
                <a:solidFill>
                  <a:srgbClr val="005293"/>
                </a:solidFill>
                <a:latin typeface="STIX Two Math"/>
                <a:ea typeface="STIX Two Math"/>
                <a:cs typeface="STIX Two Math"/>
              </a:defRPr>
            </a:lvl3pPr>
            <a:lvl4pPr>
              <a:defRPr sz="3000" b="0">
                <a:solidFill>
                  <a:srgbClr val="005293"/>
                </a:solidFill>
                <a:latin typeface="STIX Two Math"/>
                <a:ea typeface="STIX Two Math"/>
                <a:cs typeface="STIX Two Math"/>
              </a:defRPr>
            </a:lvl4pPr>
            <a:lvl5pPr>
              <a:defRPr sz="3000" b="0">
                <a:solidFill>
                  <a:srgbClr val="005293"/>
                </a:solidFill>
                <a:latin typeface="STIX Two Math"/>
                <a:ea typeface="STIX Two Math"/>
                <a:cs typeface="STIX Two Math"/>
              </a:defRPr>
            </a:lvl5pPr>
            <a:lvl6pPr>
              <a:defRPr sz="3000" b="0">
                <a:solidFill>
                  <a:srgbClr val="005293"/>
                </a:solidFill>
                <a:latin typeface="STIX Two Math"/>
                <a:ea typeface="STIX Two Math"/>
                <a:cs typeface="STIX Two Math"/>
              </a:defRPr>
            </a:lvl6pPr>
            <a:lvl7pPr>
              <a:defRPr sz="3000" b="0">
                <a:solidFill>
                  <a:srgbClr val="005293"/>
                </a:solidFill>
                <a:latin typeface="STIX Two Math"/>
                <a:ea typeface="STIX Two Math"/>
                <a:cs typeface="STIX Two Math"/>
              </a:defRPr>
            </a:lvl7pPr>
            <a:lvl8pPr>
              <a:defRPr sz="3000" b="0">
                <a:solidFill>
                  <a:srgbClr val="005293"/>
                </a:solidFill>
                <a:latin typeface="STIX Two Math"/>
                <a:ea typeface="STIX Two Math"/>
                <a:cs typeface="STIX Two Math"/>
              </a:defRPr>
            </a:lvl8pPr>
            <a:lvl9pPr>
              <a:defRPr sz="3000" b="0">
                <a:solidFill>
                  <a:srgbClr val="005293"/>
                </a:solidFill>
                <a:latin typeface="STIX Two Math"/>
                <a:ea typeface="STIX Two Math"/>
                <a:cs typeface="STIX Two Math"/>
              </a:defRPr>
            </a:lvl9pPr>
          </a:lstStyle>
          <a:p xmlns:a="http://schemas.openxmlformats.org/drawingml/2006/main">
            <a:pPr>
              <a:defRPr sz="3000" b="0">
                <a:solidFill>
                  <a:srgbClr val="005293"/>
                </a:solidFill>
                <a:latin typeface="STIX Two Math"/>
                <a:ea typeface="STIX Two Math"/>
                <a:cs typeface="STIX Two Math"/>
              </a:defRPr>
            </a:pPr>
            <a:r>
              <a:rPr sz="3000" b="0">
                <a:solidFill>
                  <a:srgbClr val="005293"/>
                </a:solidFill>
                <a:latin typeface="STIX Two Math"/>
                <a:ea typeface="STIX Two Math"/>
                <a:cs typeface="STIX Two Math"/>
              </a:rPr>
              <a:t>L ⋊ R = π</a:t>
            </a:r>
          </a:p>
        </p:txBody>
      </p:sp>
      <p:sp>
        <p:nvSpPr>
          <p:cNvPr id="6" name="">
            <a:extLst xmlns:a="http://schemas.openxmlformats.org/drawingml/2006/main">
              <a:ext uri="{FF2B5EF4-FFF2-40B4-BE49-F238E27FC236}">
                <a16:creationId xmlns:a16="http://schemas.microsoft.com/office/drawing/2014/main" id="{8FEA150A-B4DA-429E-A346-E02C0F725BCD}"/>
              </a:ext>
            </a:extLst>
          </p:cNvPr>
          <p:cNvSpPr>
            <a:spLocks xmlns:a="http://schemas.openxmlformats.org/drawingml/2006/main" noGrp="1"/>
          </p:cNvSpPr>
          <p:nvPr/>
        </p:nvSpPr>
        <p:spPr>
          <a:xfrm xmlns:a="http://schemas.openxmlformats.org/drawingml/2006/main">
            <a:off x="2276094" y="1645920"/>
            <a:ext cx="1697203" cy="4086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1950" b="0">
                <a:solidFill>
                  <a:srgbClr val="005293"/>
                </a:solidFill>
                <a:latin typeface="STIX Two Math"/>
                <a:ea typeface="STIX Two Math"/>
                <a:cs typeface="STIX Two Math"/>
              </a:defRPr>
            </a:defPPr>
            <a:lvl1pPr>
              <a:defRPr sz="1950" b="0">
                <a:solidFill>
                  <a:srgbClr val="005293"/>
                </a:solidFill>
                <a:latin typeface="STIX Two Math"/>
                <a:ea typeface="STIX Two Math"/>
                <a:cs typeface="STIX Two Math"/>
              </a:defRPr>
            </a:lvl1pPr>
            <a:lvl2pPr>
              <a:defRPr sz="1950" b="0">
                <a:solidFill>
                  <a:srgbClr val="005293"/>
                </a:solidFill>
                <a:latin typeface="STIX Two Math"/>
                <a:ea typeface="STIX Two Math"/>
                <a:cs typeface="STIX Two Math"/>
              </a:defRPr>
            </a:lvl2pPr>
            <a:lvl3pPr>
              <a:defRPr sz="1950" b="0">
                <a:solidFill>
                  <a:srgbClr val="005293"/>
                </a:solidFill>
                <a:latin typeface="STIX Two Math"/>
                <a:ea typeface="STIX Two Math"/>
                <a:cs typeface="STIX Two Math"/>
              </a:defRPr>
            </a:lvl3pPr>
            <a:lvl4pPr>
              <a:defRPr sz="1950" b="0">
                <a:solidFill>
                  <a:srgbClr val="005293"/>
                </a:solidFill>
                <a:latin typeface="STIX Two Math"/>
                <a:ea typeface="STIX Two Math"/>
                <a:cs typeface="STIX Two Math"/>
              </a:defRPr>
            </a:lvl4pPr>
            <a:lvl5pPr>
              <a:defRPr sz="1950" b="0">
                <a:solidFill>
                  <a:srgbClr val="005293"/>
                </a:solidFill>
                <a:latin typeface="STIX Two Math"/>
                <a:ea typeface="STIX Two Math"/>
                <a:cs typeface="STIX Two Math"/>
              </a:defRPr>
            </a:lvl5pPr>
            <a:lvl6pPr>
              <a:defRPr sz="1950" b="0">
                <a:solidFill>
                  <a:srgbClr val="005293"/>
                </a:solidFill>
                <a:latin typeface="STIX Two Math"/>
                <a:ea typeface="STIX Two Math"/>
                <a:cs typeface="STIX Two Math"/>
              </a:defRPr>
            </a:lvl6pPr>
            <a:lvl7pPr>
              <a:defRPr sz="1950" b="0">
                <a:solidFill>
                  <a:srgbClr val="005293"/>
                </a:solidFill>
                <a:latin typeface="STIX Two Math"/>
                <a:ea typeface="STIX Two Math"/>
                <a:cs typeface="STIX Two Math"/>
              </a:defRPr>
            </a:lvl7pPr>
            <a:lvl8pPr>
              <a:defRPr sz="1950" b="0">
                <a:solidFill>
                  <a:srgbClr val="005293"/>
                </a:solidFill>
                <a:latin typeface="STIX Two Math"/>
                <a:ea typeface="STIX Two Math"/>
                <a:cs typeface="STIX Two Math"/>
              </a:defRPr>
            </a:lvl8pPr>
            <a:lvl9pPr>
              <a:defRPr sz="1950" b="0">
                <a:solidFill>
                  <a:srgbClr val="005293"/>
                </a:solidFill>
                <a:latin typeface="STIX Two Math"/>
                <a:ea typeface="STIX Two Math"/>
                <a:cs typeface="STIX Two Math"/>
              </a:defRPr>
            </a:lvl9pPr>
          </a:lstStyle>
          <a:p xmlns:a="http://schemas.openxmlformats.org/drawingml/2006/main">
            <a:pPr>
              <a:defRPr sz="1950" b="0">
                <a:solidFill>
                  <a:srgbClr val="005293"/>
                </a:solidFill>
                <a:latin typeface="STIX Two Math"/>
                <a:ea typeface="STIX Two Math"/>
                <a:cs typeface="STIX Two Math"/>
              </a:defRPr>
            </a:pPr>
            <a:r>
              <a:rPr sz="1950" b="0">
                <a:solidFill>
                  <a:srgbClr val="005293"/>
                </a:solidFill>
                <a:latin typeface="STIX Two Math"/>
                <a:ea typeface="STIX Two Math"/>
                <a:cs typeface="STIX Two Math"/>
              </a:rPr>
              <a:t>Attribute von R</a:t>
            </a:r>
          </a:p>
        </p:txBody>
      </p:sp>
      <p:sp>
        <p:nvSpPr>
          <p:cNvPr id="7" name="">
            <a:extLst xmlns:a="http://schemas.openxmlformats.org/drawingml/2006/main">
              <a:ext uri="{FF2B5EF4-FFF2-40B4-BE49-F238E27FC236}">
                <a16:creationId xmlns:a16="http://schemas.microsoft.com/office/drawing/2014/main" id="{7C6F3C79-5C26-490D-BAF3-F74B045757D4}"/>
              </a:ext>
            </a:extLst>
          </p:cNvPr>
          <p:cNvSpPr>
            <a:spLocks xmlns:a="http://schemas.openxmlformats.org/drawingml/2006/main" noGrp="1"/>
          </p:cNvSpPr>
          <p:nvPr/>
        </p:nvSpPr>
        <p:spPr>
          <a:xfrm xmlns:a="http://schemas.openxmlformats.org/drawingml/2006/main">
            <a:off x="3925672" y="1428750"/>
            <a:ext cx="1307592"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3000" b="0">
                <a:solidFill>
                  <a:srgbClr val="005293"/>
                </a:solidFill>
                <a:latin typeface="STIX Two Math"/>
                <a:ea typeface="STIX Two Math"/>
                <a:cs typeface="STIX Two Math"/>
              </a:defRPr>
            </a:defPPr>
            <a:lvl1pPr>
              <a:defRPr sz="3000" b="0">
                <a:solidFill>
                  <a:srgbClr val="005293"/>
                </a:solidFill>
                <a:latin typeface="STIX Two Math"/>
                <a:ea typeface="STIX Two Math"/>
                <a:cs typeface="STIX Two Math"/>
              </a:defRPr>
            </a:lvl1pPr>
            <a:lvl2pPr>
              <a:defRPr sz="3000" b="0">
                <a:solidFill>
                  <a:srgbClr val="005293"/>
                </a:solidFill>
                <a:latin typeface="STIX Two Math"/>
                <a:ea typeface="STIX Two Math"/>
                <a:cs typeface="STIX Two Math"/>
              </a:defRPr>
            </a:lvl2pPr>
            <a:lvl3pPr>
              <a:defRPr sz="3000" b="0">
                <a:solidFill>
                  <a:srgbClr val="005293"/>
                </a:solidFill>
                <a:latin typeface="STIX Two Math"/>
                <a:ea typeface="STIX Two Math"/>
                <a:cs typeface="STIX Two Math"/>
              </a:defRPr>
            </a:lvl3pPr>
            <a:lvl4pPr>
              <a:defRPr sz="3000" b="0">
                <a:solidFill>
                  <a:srgbClr val="005293"/>
                </a:solidFill>
                <a:latin typeface="STIX Two Math"/>
                <a:ea typeface="STIX Two Math"/>
                <a:cs typeface="STIX Two Math"/>
              </a:defRPr>
            </a:lvl4pPr>
            <a:lvl5pPr>
              <a:defRPr sz="3000" b="0">
                <a:solidFill>
                  <a:srgbClr val="005293"/>
                </a:solidFill>
                <a:latin typeface="STIX Two Math"/>
                <a:ea typeface="STIX Two Math"/>
                <a:cs typeface="STIX Two Math"/>
              </a:defRPr>
            </a:lvl5pPr>
            <a:lvl6pPr>
              <a:defRPr sz="3000" b="0">
                <a:solidFill>
                  <a:srgbClr val="005293"/>
                </a:solidFill>
                <a:latin typeface="STIX Two Math"/>
                <a:ea typeface="STIX Two Math"/>
                <a:cs typeface="STIX Two Math"/>
              </a:defRPr>
            </a:lvl6pPr>
            <a:lvl7pPr>
              <a:defRPr sz="3000" b="0">
                <a:solidFill>
                  <a:srgbClr val="005293"/>
                </a:solidFill>
                <a:latin typeface="STIX Two Math"/>
                <a:ea typeface="STIX Two Math"/>
                <a:cs typeface="STIX Two Math"/>
              </a:defRPr>
            </a:lvl7pPr>
            <a:lvl8pPr>
              <a:defRPr sz="3000" b="0">
                <a:solidFill>
                  <a:srgbClr val="005293"/>
                </a:solidFill>
                <a:latin typeface="STIX Two Math"/>
                <a:ea typeface="STIX Two Math"/>
                <a:cs typeface="STIX Two Math"/>
              </a:defRPr>
            </a:lvl8pPr>
            <a:lvl9pPr>
              <a:defRPr sz="3000" b="0">
                <a:solidFill>
                  <a:srgbClr val="005293"/>
                </a:solidFill>
                <a:latin typeface="STIX Two Math"/>
                <a:ea typeface="STIX Two Math"/>
                <a:cs typeface="STIX Two Math"/>
              </a:defRPr>
            </a:lvl9pPr>
          </a:lstStyle>
          <a:p xmlns:a="http://schemas.openxmlformats.org/drawingml/2006/main">
            <a:pPr>
              <a:defRPr sz="3000" b="0">
                <a:solidFill>
                  <a:srgbClr val="005293"/>
                </a:solidFill>
                <a:latin typeface="STIX Two Math"/>
                <a:ea typeface="STIX Two Math"/>
                <a:cs typeface="STIX Two Math"/>
              </a:defRPr>
            </a:pPr>
            <a:r>
              <a:rPr sz="3000" b="0">
                <a:solidFill>
                  <a:srgbClr val="005293"/>
                </a:solidFill>
                <a:latin typeface="STIX Two Math"/>
                <a:ea typeface="STIX Two Math"/>
                <a:cs typeface="STIX Two Math"/>
              </a:rPr>
              <a:t>(L ⋈ R)</a:t>
            </a:r>
          </a:p>
        </p:txBody>
      </p:sp>
      <p:sp>
        <p:nvSpPr>
          <p:cNvPr id="8" name="">
            <a:extLst xmlns:a="http://schemas.openxmlformats.org/drawingml/2006/main">
              <a:ext uri="{FF2B5EF4-FFF2-40B4-BE49-F238E27FC236}">
                <a16:creationId xmlns:a16="http://schemas.microsoft.com/office/drawing/2014/main" id="{58D968CF-1B1A-433A-A4EB-997A5CBF34E2}"/>
              </a:ext>
            </a:extLst>
          </p:cNvPr>
          <p:cNvSpPr>
            <a:spLocks xmlns:a="http://schemas.openxmlformats.org/drawingml/2006/main" noGrp="1"/>
          </p:cNvSpPr>
          <p:nvPr/>
        </p:nvSpPr>
        <p:spPr>
          <a:xfrm xmlns:a="http://schemas.openxmlformats.org/drawingml/2006/main">
            <a:off x="609600" y="24765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Behält nur Tupel aus R, die mindestens einen Joinpartner in L haben.</a:t>
            </a:r>
          </a:p>
        </p:txBody>
      </p:sp>
      <p:sp>
        <p:nvSpPr>
          <p:cNvPr id="9" name="">
            <a:extLst xmlns:a="http://schemas.openxmlformats.org/drawingml/2006/main">
              <a:ext uri="{FF2B5EF4-FFF2-40B4-BE49-F238E27FC236}">
                <a16:creationId xmlns:a16="http://schemas.microsoft.com/office/drawing/2014/main" id="{4BDA6FE6-E01F-46DF-9DE2-F7251E91427D}"/>
              </a:ext>
            </a:extLst>
          </p:cNvPr>
          <p:cNvSpPr>
            <a:spLocks xmlns:a="http://schemas.openxmlformats.org/drawingml/2006/main" noGrp="1"/>
          </p:cNvSpPr>
          <p:nvPr/>
        </p:nvSpPr>
        <p:spPr>
          <a:xfrm xmlns:a="http://schemas.openxmlformats.org/drawingml/2006/main">
            <a:off x="609600" y="34290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Die Ausgabe enthält ausschließlich die Attribute von R.</a:t>
            </a:r>
          </a:p>
        </p:txBody>
      </p:sp>
      <p:sp>
        <p:nvSpPr>
          <p:cNvPr id="10" name="">
            <a:extLst xmlns:a="http://schemas.openxmlformats.org/drawingml/2006/main">
              <a:ext uri="{FF2B5EF4-FFF2-40B4-BE49-F238E27FC236}">
                <a16:creationId xmlns:a16="http://schemas.microsoft.com/office/drawing/2014/main" id="{33D06C27-C66A-40F1-B62B-050198891B2E}"/>
              </a:ext>
            </a:extLst>
          </p:cNvPr>
          <p:cNvSpPr>
            <a:spLocks xmlns:a="http://schemas.openxmlformats.org/drawingml/2006/main" noGrp="1"/>
          </p:cNvSpPr>
          <p:nvPr/>
        </p:nvSpPr>
        <p:spPr>
          <a:xfrm xmlns:a="http://schemas.openxmlformats.org/drawingml/2006/main">
            <a:off x="609600" y="43815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Die Reihenfolge der Operanden bestimmt die ausgegebene Seite.</a:t>
            </a:r>
          </a:p>
        </p:txBody>
      </p:sp>
    </p:spTree>
    <p:extLst>
      <p:ext uri="{BB962C8B-B14F-4D97-AF65-F5344CB8AC3E}">
        <p14:creationId xmlns:p14="http://schemas.microsoft.com/office/powerpoint/2010/main" val="1105379970"/>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2541035-632E-4B3C-B32C-5DC54C474926}"/>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Rechter Semi-Join: Beispiel</a:t>
            </a:r>
          </a:p>
        </p:txBody>
      </p:sp>
      <p:sp>
        <p:nvSpPr>
          <p:cNvPr id="2" name="">
            <a:extLst xmlns:a="http://schemas.openxmlformats.org/drawingml/2006/main">
              <a:ext uri="{FF2B5EF4-FFF2-40B4-BE49-F238E27FC236}">
                <a16:creationId xmlns:a16="http://schemas.microsoft.com/office/drawing/2014/main" id="{04C62FE1-6A9B-4C6C-9D14-01BE35E495EA}"/>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B511142C-EFE4-447B-93D6-03AF3527D010}"/>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31</a:t>
            </a:r>
          </a:p>
        </p:txBody>
      </p:sp>
      <p:sp>
        <p:nvSpPr>
          <p:cNvPr id="4" name="">
            <a:extLst xmlns:a="http://schemas.openxmlformats.org/drawingml/2006/main">
              <a:ext uri="{FF2B5EF4-FFF2-40B4-BE49-F238E27FC236}">
                <a16:creationId xmlns:a16="http://schemas.microsoft.com/office/drawing/2014/main" id="{3958C567-8E2E-45E6-85A5-F120BAC6E851}"/>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33</a:t>
            </a:r>
          </a:p>
        </p:txBody>
      </p:sp>
      <p:sp>
        <p:nvSpPr>
          <p:cNvPr id="5" name="">
            <a:extLst xmlns:a="http://schemas.openxmlformats.org/drawingml/2006/main">
              <a:ext uri="{FF2B5EF4-FFF2-40B4-BE49-F238E27FC236}">
                <a16:creationId xmlns:a16="http://schemas.microsoft.com/office/drawing/2014/main" id="{D0BF1D40-EDB6-439C-A166-6E06D7C6B91E}"/>
              </a:ext>
            </a:extLst>
          </p:cNvPr>
          <p:cNvSpPr>
            <a:spLocks xmlns:a="http://schemas.openxmlformats.org/drawingml/2006/main" noGrp="1"/>
          </p:cNvSpPr>
          <p:nvPr/>
        </p:nvSpPr>
        <p:spPr>
          <a:xfrm xmlns:a="http://schemas.openxmlformats.org/drawingml/2006/main">
            <a:off x="609600" y="1381125"/>
            <a:ext cx="1035558"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3000" b="0">
                <a:solidFill>
                  <a:srgbClr val="005293"/>
                </a:solidFill>
                <a:latin typeface="STIX Two Math"/>
                <a:ea typeface="STIX Two Math"/>
                <a:cs typeface="STIX Two Math"/>
              </a:defRPr>
            </a:defPPr>
            <a:lvl1pPr>
              <a:defRPr sz="3000" b="0">
                <a:solidFill>
                  <a:srgbClr val="005293"/>
                </a:solidFill>
                <a:latin typeface="STIX Two Math"/>
                <a:ea typeface="STIX Two Math"/>
                <a:cs typeface="STIX Two Math"/>
              </a:defRPr>
            </a:lvl1pPr>
            <a:lvl2pPr>
              <a:defRPr sz="3000" b="0">
                <a:solidFill>
                  <a:srgbClr val="005293"/>
                </a:solidFill>
                <a:latin typeface="STIX Two Math"/>
                <a:ea typeface="STIX Two Math"/>
                <a:cs typeface="STIX Two Math"/>
              </a:defRPr>
            </a:lvl2pPr>
            <a:lvl3pPr>
              <a:defRPr sz="3000" b="0">
                <a:solidFill>
                  <a:srgbClr val="005293"/>
                </a:solidFill>
                <a:latin typeface="STIX Two Math"/>
                <a:ea typeface="STIX Two Math"/>
                <a:cs typeface="STIX Two Math"/>
              </a:defRPr>
            </a:lvl3pPr>
            <a:lvl4pPr>
              <a:defRPr sz="3000" b="0">
                <a:solidFill>
                  <a:srgbClr val="005293"/>
                </a:solidFill>
                <a:latin typeface="STIX Two Math"/>
                <a:ea typeface="STIX Two Math"/>
                <a:cs typeface="STIX Two Math"/>
              </a:defRPr>
            </a:lvl4pPr>
            <a:lvl5pPr>
              <a:defRPr sz="3000" b="0">
                <a:solidFill>
                  <a:srgbClr val="005293"/>
                </a:solidFill>
                <a:latin typeface="STIX Two Math"/>
                <a:ea typeface="STIX Two Math"/>
                <a:cs typeface="STIX Two Math"/>
              </a:defRPr>
            </a:lvl5pPr>
            <a:lvl6pPr>
              <a:defRPr sz="3000" b="0">
                <a:solidFill>
                  <a:srgbClr val="005293"/>
                </a:solidFill>
                <a:latin typeface="STIX Two Math"/>
                <a:ea typeface="STIX Two Math"/>
                <a:cs typeface="STIX Two Math"/>
              </a:defRPr>
            </a:lvl6pPr>
            <a:lvl7pPr>
              <a:defRPr sz="3000" b="0">
                <a:solidFill>
                  <a:srgbClr val="005293"/>
                </a:solidFill>
                <a:latin typeface="STIX Two Math"/>
                <a:ea typeface="STIX Two Math"/>
                <a:cs typeface="STIX Two Math"/>
              </a:defRPr>
            </a:lvl7pPr>
            <a:lvl8pPr>
              <a:defRPr sz="3000" b="0">
                <a:solidFill>
                  <a:srgbClr val="005293"/>
                </a:solidFill>
                <a:latin typeface="STIX Two Math"/>
                <a:ea typeface="STIX Two Math"/>
                <a:cs typeface="STIX Two Math"/>
              </a:defRPr>
            </a:lvl8pPr>
            <a:lvl9pPr>
              <a:defRPr sz="3000" b="0">
                <a:solidFill>
                  <a:srgbClr val="005293"/>
                </a:solidFill>
                <a:latin typeface="STIX Two Math"/>
                <a:ea typeface="STIX Two Math"/>
                <a:cs typeface="STIX Two Math"/>
              </a:defRPr>
            </a:lvl9pPr>
          </a:lstStyle>
          <a:p xmlns:a="http://schemas.openxmlformats.org/drawingml/2006/main">
            <a:pPr>
              <a:defRPr sz="3000" b="0">
                <a:solidFill>
                  <a:srgbClr val="005293"/>
                </a:solidFill>
                <a:latin typeface="STIX Two Math"/>
                <a:ea typeface="STIX Two Math"/>
                <a:cs typeface="STIX Two Math"/>
              </a:defRPr>
            </a:pPr>
            <a:r>
              <a:rPr sz="3000" b="0">
                <a:solidFill>
                  <a:srgbClr val="005293"/>
                </a:solidFill>
                <a:latin typeface="STIX Two Math"/>
                <a:ea typeface="STIX Two Math"/>
                <a:cs typeface="STIX Two Math"/>
              </a:rPr>
              <a:t>L ⋊ R</a:t>
            </a:r>
          </a:p>
        </p:txBody>
      </p:sp>
      <p:sp>
        <p:nvSpPr>
          <p:cNvPr id="6" name="">
            <a:extLst xmlns:a="http://schemas.openxmlformats.org/drawingml/2006/main">
              <a:ext uri="{FF2B5EF4-FFF2-40B4-BE49-F238E27FC236}">
                <a16:creationId xmlns:a16="http://schemas.microsoft.com/office/drawing/2014/main" id="{5D1808D7-CBD7-4233-91B4-EE7C68E0BBF7}"/>
              </a:ext>
            </a:extLst>
          </p:cNvPr>
          <p:cNvSpPr>
            <a:spLocks xmlns:a="http://schemas.openxmlformats.org/drawingml/2006/main" noGrp="1"/>
          </p:cNvSpPr>
          <p:nvPr/>
        </p:nvSpPr>
        <p:spPr>
          <a:xfrm xmlns:a="http://schemas.openxmlformats.org/drawingml/2006/main">
            <a:off x="609600" y="210502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L</a:t>
            </a:r>
          </a:p>
        </p:txBody>
      </p:sp>
      <p:sp>
        <p:nvSpPr>
          <p:cNvPr id="7" name="">
            <a:extLst xmlns:a="http://schemas.openxmlformats.org/drawingml/2006/main">
              <a:ext uri="{FF2B5EF4-FFF2-40B4-BE49-F238E27FC236}">
                <a16:creationId xmlns:a16="http://schemas.microsoft.com/office/drawing/2014/main" id="{64C791C6-2D06-43D1-B8BB-A12EE6834198}"/>
              </a:ext>
            </a:extLst>
          </p:cNvPr>
          <p:cNvSpPr>
            <a:spLocks xmlns:a="http://schemas.openxmlformats.org/drawingml/2006/main" noGrp="1"/>
          </p:cNvSpPr>
          <p:nvPr/>
        </p:nvSpPr>
        <p:spPr>
          <a:xfrm xmlns:a="http://schemas.openxmlformats.org/drawingml/2006/main">
            <a:off x="6762750" y="210502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R</a:t>
            </a:r>
          </a:p>
        </p:txBody>
      </p:sp>
      <p:graphicFrame>
        <p:nvGraphicFramePr>
          <p:cNvPr id="8" name="">
            <a:extLst xmlns:a="http://schemas.openxmlformats.org/drawingml/2006/main">
              <a:ext uri="{FF2B5EF4-FFF2-40B4-BE49-F238E27FC236}">
                <a16:creationId xmlns:a16="http://schemas.microsoft.com/office/drawing/2014/main" id="{EDC77D76-CD0D-418A-9360-930A0E06789E}"/>
              </a:ext>
            </a:extLst>
          </p:cNvPr>
          <p:cNvGraphicFramePr/>
          <p:nvPr/>
        </p:nvGraphicFramePr>
        <p:xfrm>
          <a:off xmlns:a="http://schemas.openxmlformats.org/drawingml/2006/main" x="609600" y="2514600"/>
          <a:ext xmlns:a="http://schemas.openxmlformats.org/drawingml/2006/main" cx="4762500" cy="1171575"/>
        </p:xfrm>
        <a:graphic xmlns:a="http://schemas.openxmlformats.org/drawingml/2006/main">
          <a:graphicData uri="http://schemas.openxmlformats.org/drawingml/2006/table">
            <a:tbl>
              <a:tblPr/>
              <a:tblGrid>
                <a:gridCol w="1587500"/>
                <a:gridCol w="1587500"/>
                <a:gridCol w="1587500"/>
              </a:tblGrid>
              <a:tr h="390525">
                <a:tc>
                  <a:txBody>
                    <a:bodyPr/>
                    <a:lstStyle/>
                    <a:p>
                      <a:r>
                        <a:rPr sz="1950" b="1">
                          <a:solidFill>
                            <a:srgbClr val="FFFFFF"/>
                          </a:solidFill>
                          <a:latin typeface="Arial"/>
                          <a:ea typeface="Arial"/>
                          <a:cs typeface="Arial"/>
                        </a:rPr>
                        <a:t>A</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B</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C</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390525">
                <a:tc>
                  <a:txBody>
                    <a:bodyPr/>
                    <a:lstStyle/>
                    <a:p>
                      <a:r>
                        <a:rPr sz="1950" b="0">
                          <a:solidFill>
                            <a:srgbClr val="202B33"/>
                          </a:solidFill>
                          <a:latin typeface="Arial"/>
                          <a:ea typeface="Arial"/>
                          <a:cs typeface="Arial"/>
                        </a:rPr>
                        <a:t>a₁</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b₁</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c₁</a:t>
                      </a:r>
                    </a:p>
                  </a:txBody>
                  <a:tcPr marL="95250" marR="66675" marT="28575" marB="28575" anchor="ctr">
                    <a:lnR w="6668">
                      <a:solidFill>
                        <a:srgbClr val="CBD8E1"/>
                      </a:solidFill>
                    </a:lnR>
                    <a:lnB w="6668">
                      <a:solidFill>
                        <a:srgbClr val="CBD8E1"/>
                      </a:solidFill>
                    </a:lnB>
                    <a:solidFill>
                      <a:srgbClr val="FFFFFF"/>
                    </a:solidFill>
                  </a:tcPr>
                </a:tc>
              </a:tr>
              <a:tr h="390525">
                <a:tc>
                  <a:txBody>
                    <a:bodyPr/>
                    <a:lstStyle/>
                    <a:p>
                      <a:r>
                        <a:rPr sz="1950" b="0">
                          <a:solidFill>
                            <a:srgbClr val="202B33"/>
                          </a:solidFill>
                          <a:latin typeface="Arial"/>
                          <a:ea typeface="Arial"/>
                          <a:cs typeface="Arial"/>
                        </a:rPr>
                        <a:t>a₂</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b₂</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c₂</a:t>
                      </a:r>
                    </a:p>
                  </a:txBody>
                  <a:tcPr marL="95250" marR="66675" marT="28575" marB="28575" anchor="ctr">
                    <a:lnR w="6668">
                      <a:solidFill>
                        <a:srgbClr val="CBD8E1"/>
                      </a:solidFill>
                    </a:lnR>
                    <a:lnB w="6668">
                      <a:solidFill>
                        <a:srgbClr val="CBD8E1"/>
                      </a:solidFill>
                    </a:lnB>
                    <a:solidFill>
                      <a:srgbClr val="EDF4F9"/>
                    </a:solidFill>
                  </a:tcPr>
                </a:tc>
              </a:tr>
            </a:tbl>
          </a:graphicData>
        </a:graphic>
      </p:graphicFrame>
      <p:graphicFrame>
        <p:nvGraphicFramePr>
          <p:cNvPr id="9" name="">
            <a:extLst xmlns:a="http://schemas.openxmlformats.org/drawingml/2006/main">
              <a:ext uri="{FF2B5EF4-FFF2-40B4-BE49-F238E27FC236}">
                <a16:creationId xmlns:a16="http://schemas.microsoft.com/office/drawing/2014/main" id="{A5154E7A-A9DE-4D57-996D-7E4312F6512B}"/>
              </a:ext>
            </a:extLst>
          </p:cNvPr>
          <p:cNvGraphicFramePr/>
          <p:nvPr/>
        </p:nvGraphicFramePr>
        <p:xfrm>
          <a:off xmlns:a="http://schemas.openxmlformats.org/drawingml/2006/main" x="6762750" y="2514600"/>
          <a:ext xmlns:a="http://schemas.openxmlformats.org/drawingml/2006/main" cx="4762500" cy="1171575"/>
        </p:xfrm>
        <a:graphic xmlns:a="http://schemas.openxmlformats.org/drawingml/2006/main">
          <a:graphicData uri="http://schemas.openxmlformats.org/drawingml/2006/table">
            <a:tbl>
              <a:tblPr/>
              <a:tblGrid>
                <a:gridCol w="1587500"/>
                <a:gridCol w="1587500"/>
                <a:gridCol w="1587500"/>
              </a:tblGrid>
              <a:tr h="390525">
                <a:tc>
                  <a:txBody>
                    <a:bodyPr/>
                    <a:lstStyle/>
                    <a:p>
                      <a:r>
                        <a:rPr sz="1950" b="1">
                          <a:solidFill>
                            <a:srgbClr val="FFFFFF"/>
                          </a:solidFill>
                          <a:latin typeface="Arial"/>
                          <a:ea typeface="Arial"/>
                          <a:cs typeface="Arial"/>
                        </a:rPr>
                        <a:t>C</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D</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E</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390525">
                <a:tc>
                  <a:txBody>
                    <a:bodyPr/>
                    <a:lstStyle/>
                    <a:p>
                      <a:r>
                        <a:rPr sz="1950" b="0">
                          <a:solidFill>
                            <a:srgbClr val="202B33"/>
                          </a:solidFill>
                          <a:latin typeface="Arial"/>
                          <a:ea typeface="Arial"/>
                          <a:cs typeface="Arial"/>
                        </a:rPr>
                        <a:t>c₁</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d₁</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e₁</a:t>
                      </a:r>
                    </a:p>
                  </a:txBody>
                  <a:tcPr marL="95250" marR="66675" marT="28575" marB="28575" anchor="ctr">
                    <a:lnR w="6668">
                      <a:solidFill>
                        <a:srgbClr val="CBD8E1"/>
                      </a:solidFill>
                    </a:lnR>
                    <a:lnB w="6668">
                      <a:solidFill>
                        <a:srgbClr val="CBD8E1"/>
                      </a:solidFill>
                    </a:lnB>
                    <a:solidFill>
                      <a:srgbClr val="FFFFFF"/>
                    </a:solidFill>
                  </a:tcPr>
                </a:tc>
              </a:tr>
              <a:tr h="390525">
                <a:tc>
                  <a:txBody>
                    <a:bodyPr/>
                    <a:lstStyle/>
                    <a:p>
                      <a:r>
                        <a:rPr sz="1950" b="0">
                          <a:solidFill>
                            <a:srgbClr val="202B33"/>
                          </a:solidFill>
                          <a:latin typeface="Arial"/>
                          <a:ea typeface="Arial"/>
                          <a:cs typeface="Arial"/>
                        </a:rPr>
                        <a:t>c₃</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d₂</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e₂</a:t>
                      </a:r>
                    </a:p>
                  </a:txBody>
                  <a:tcPr marL="95250" marR="66675" marT="28575" marB="28575" anchor="ctr">
                    <a:lnR w="6668">
                      <a:solidFill>
                        <a:srgbClr val="CBD8E1"/>
                      </a:solidFill>
                    </a:lnR>
                    <a:lnB w="6668">
                      <a:solidFill>
                        <a:srgbClr val="CBD8E1"/>
                      </a:solidFill>
                    </a:lnB>
                    <a:solidFill>
                      <a:srgbClr val="EDF4F9"/>
                    </a:solidFill>
                  </a:tcPr>
                </a:tc>
              </a:tr>
            </a:tbl>
          </a:graphicData>
        </a:graphic>
      </p:graphicFrame>
      <p:sp>
        <p:nvSpPr>
          <p:cNvPr id="10" name="">
            <a:extLst xmlns:a="http://schemas.openxmlformats.org/drawingml/2006/main">
              <a:ext uri="{FF2B5EF4-FFF2-40B4-BE49-F238E27FC236}">
                <a16:creationId xmlns:a16="http://schemas.microsoft.com/office/drawing/2014/main" id="{B7BD9A02-D2C1-4F11-9984-A1CD7CEDFA0D}"/>
              </a:ext>
            </a:extLst>
          </p:cNvPr>
          <p:cNvSpPr>
            <a:spLocks xmlns:a="http://schemas.openxmlformats.org/drawingml/2006/main" noGrp="1"/>
          </p:cNvSpPr>
          <p:nvPr/>
        </p:nvSpPr>
        <p:spPr>
          <a:xfrm xmlns:a="http://schemas.openxmlformats.org/drawingml/2006/main">
            <a:off x="609600" y="390525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Ergebnis</a:t>
            </a:r>
          </a:p>
        </p:txBody>
      </p:sp>
      <p:graphicFrame>
        <p:nvGraphicFramePr>
          <p:cNvPr id="11" name="">
            <a:extLst xmlns:a="http://schemas.openxmlformats.org/drawingml/2006/main">
              <a:ext uri="{FF2B5EF4-FFF2-40B4-BE49-F238E27FC236}">
                <a16:creationId xmlns:a16="http://schemas.microsoft.com/office/drawing/2014/main" id="{99042BE8-53BB-470D-A692-1CFA9E80BD9E}"/>
              </a:ext>
            </a:extLst>
          </p:cNvPr>
          <p:cNvGraphicFramePr/>
          <p:nvPr/>
        </p:nvGraphicFramePr>
        <p:xfrm>
          <a:off xmlns:a="http://schemas.openxmlformats.org/drawingml/2006/main" x="609600" y="4333875"/>
          <a:ext xmlns:a="http://schemas.openxmlformats.org/drawingml/2006/main" cx="10972800" cy="742950"/>
        </p:xfrm>
        <a:graphic xmlns:a="http://schemas.openxmlformats.org/drawingml/2006/main">
          <a:graphicData uri="http://schemas.openxmlformats.org/drawingml/2006/table">
            <a:tbl>
              <a:tblPr/>
              <a:tblGrid>
                <a:gridCol w="3657600"/>
                <a:gridCol w="3657600"/>
                <a:gridCol w="3657600"/>
              </a:tblGrid>
              <a:tr h="371475">
                <a:tc>
                  <a:txBody>
                    <a:bodyPr/>
                    <a:lstStyle/>
                    <a:p>
                      <a:r>
                        <a:rPr sz="1950" b="1">
                          <a:solidFill>
                            <a:srgbClr val="FFFFFF"/>
                          </a:solidFill>
                          <a:latin typeface="Arial"/>
                          <a:ea typeface="Arial"/>
                          <a:cs typeface="Arial"/>
                        </a:rPr>
                        <a:t>C</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D</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E</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371475">
                <a:tc>
                  <a:txBody>
                    <a:bodyPr/>
                    <a:lstStyle/>
                    <a:p>
                      <a:r>
                        <a:rPr sz="1950" b="0">
                          <a:solidFill>
                            <a:srgbClr val="202B33"/>
                          </a:solidFill>
                          <a:latin typeface="Arial"/>
                          <a:ea typeface="Arial"/>
                          <a:cs typeface="Arial"/>
                        </a:rPr>
                        <a:t>c₁</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d₁</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e₁</a:t>
                      </a:r>
                    </a:p>
                  </a:txBody>
                  <a:tcPr marL="95250" marR="66675" marT="28575" marB="28575" anchor="ctr">
                    <a:lnR w="6668">
                      <a:solidFill>
                        <a:srgbClr val="CBD8E1"/>
                      </a:solidFill>
                    </a:lnR>
                    <a:lnB w="6668">
                      <a:solidFill>
                        <a:srgbClr val="CBD8E1"/>
                      </a:solidFill>
                    </a:lnB>
                    <a:solidFill>
                      <a:srgbClr val="FFFFFF"/>
                    </a:solidFill>
                  </a:tcPr>
                </a:tc>
              </a:tr>
            </a:tbl>
          </a:graphicData>
        </a:graphic>
      </p:graphicFrame>
      <p:sp>
        <p:nvSpPr>
          <p:cNvPr id="12" name="">
            <a:extLst xmlns:a="http://schemas.openxmlformats.org/drawingml/2006/main">
              <a:ext uri="{FF2B5EF4-FFF2-40B4-BE49-F238E27FC236}">
                <a16:creationId xmlns:a16="http://schemas.microsoft.com/office/drawing/2014/main" id="{9E67C0BF-55F0-48F8-8AED-F21977FB12D8}"/>
              </a:ext>
            </a:extLst>
          </p:cNvPr>
          <p:cNvSpPr>
            <a:spLocks xmlns:a="http://schemas.openxmlformats.org/drawingml/2006/main" noGrp="1"/>
          </p:cNvSpPr>
          <p:nvPr/>
        </p:nvSpPr>
        <p:spPr>
          <a:xfrm xmlns:a="http://schemas.openxmlformats.org/drawingml/2006/main">
            <a:off x="609600" y="59150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005293"/>
                </a:solidFill>
                <a:latin typeface="Arial"/>
                <a:ea typeface="Arial"/>
                <a:cs typeface="Arial"/>
              </a:defRPr>
            </a:defPPr>
            <a:lvl1pPr>
              <a:defRPr sz="1800" b="1">
                <a:solidFill>
                  <a:srgbClr val="005293"/>
                </a:solidFill>
                <a:latin typeface="Arial"/>
                <a:ea typeface="Arial"/>
                <a:cs typeface="Arial"/>
              </a:defRPr>
            </a:lvl1pPr>
            <a:lvl2pPr>
              <a:defRPr sz="1800" b="1">
                <a:solidFill>
                  <a:srgbClr val="005293"/>
                </a:solidFill>
                <a:latin typeface="Arial"/>
                <a:ea typeface="Arial"/>
                <a:cs typeface="Arial"/>
              </a:defRPr>
            </a:lvl2pPr>
            <a:lvl3pPr>
              <a:defRPr sz="1800" b="1">
                <a:solidFill>
                  <a:srgbClr val="005293"/>
                </a:solidFill>
                <a:latin typeface="Arial"/>
                <a:ea typeface="Arial"/>
                <a:cs typeface="Arial"/>
              </a:defRPr>
            </a:lvl3pPr>
            <a:lvl4pPr>
              <a:defRPr sz="1800" b="1">
                <a:solidFill>
                  <a:srgbClr val="005293"/>
                </a:solidFill>
                <a:latin typeface="Arial"/>
                <a:ea typeface="Arial"/>
                <a:cs typeface="Arial"/>
              </a:defRPr>
            </a:lvl4pPr>
            <a:lvl5pPr>
              <a:defRPr sz="1800" b="1">
                <a:solidFill>
                  <a:srgbClr val="005293"/>
                </a:solidFill>
                <a:latin typeface="Arial"/>
                <a:ea typeface="Arial"/>
                <a:cs typeface="Arial"/>
              </a:defRPr>
            </a:lvl5pPr>
            <a:lvl6pPr>
              <a:defRPr sz="1800" b="1">
                <a:solidFill>
                  <a:srgbClr val="005293"/>
                </a:solidFill>
                <a:latin typeface="Arial"/>
                <a:ea typeface="Arial"/>
                <a:cs typeface="Arial"/>
              </a:defRPr>
            </a:lvl6pPr>
            <a:lvl7pPr>
              <a:defRPr sz="1800" b="1">
                <a:solidFill>
                  <a:srgbClr val="005293"/>
                </a:solidFill>
                <a:latin typeface="Arial"/>
                <a:ea typeface="Arial"/>
                <a:cs typeface="Arial"/>
              </a:defRPr>
            </a:lvl7pPr>
            <a:lvl8pPr>
              <a:defRPr sz="1800" b="1">
                <a:solidFill>
                  <a:srgbClr val="005293"/>
                </a:solidFill>
                <a:latin typeface="Arial"/>
                <a:ea typeface="Arial"/>
                <a:cs typeface="Arial"/>
              </a:defRPr>
            </a:lvl8pPr>
            <a:lvl9pPr>
              <a:defRPr sz="1800" b="1">
                <a:solidFill>
                  <a:srgbClr val="005293"/>
                </a:solidFill>
                <a:latin typeface="Arial"/>
                <a:ea typeface="Arial"/>
                <a:cs typeface="Arial"/>
              </a:defRPr>
            </a:lvl9pPr>
          </a:lstStyle>
          <a:p xmlns:a="http://schemas.openxmlformats.org/drawingml/2006/main">
            <a:pPr>
              <a:defRPr sz="1800" b="1">
                <a:solidFill>
                  <a:srgbClr val="005293"/>
                </a:solidFill>
                <a:latin typeface="Arial"/>
                <a:ea typeface="Arial"/>
                <a:cs typeface="Arial"/>
              </a:defRPr>
            </a:pPr>
            <a:r>
              <a:rPr sz="1800" b="1">
                <a:solidFill>
                  <a:srgbClr val="005293"/>
                </a:solidFill>
                <a:latin typeface="Arial"/>
                <a:ea typeface="Arial"/>
                <a:cs typeface="Arial"/>
              </a:rPr>
              <a:t>Nur c₁ besitzt einen Partner in L. Ausgegeben werden nur Spalten aus R.</a:t>
            </a:r>
          </a:p>
        </p:txBody>
      </p:sp>
    </p:spTree>
    <p:extLst>
      <p:ext uri="{BB962C8B-B14F-4D97-AF65-F5344CB8AC3E}">
        <p14:creationId xmlns:p14="http://schemas.microsoft.com/office/powerpoint/2010/main" val="1174855176"/>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F8E0A23-418A-4E10-A12A-FB29F05D7F8F}"/>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Anti-Join</a:t>
            </a:r>
          </a:p>
        </p:txBody>
      </p:sp>
      <p:sp>
        <p:nvSpPr>
          <p:cNvPr id="2" name="">
            <a:extLst xmlns:a="http://schemas.openxmlformats.org/drawingml/2006/main">
              <a:ext uri="{FF2B5EF4-FFF2-40B4-BE49-F238E27FC236}">
                <a16:creationId xmlns:a16="http://schemas.microsoft.com/office/drawing/2014/main" id="{A67C8C45-7F1F-48EA-A465-89078FB30BBD}"/>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AE516540-ADCC-4816-8E5D-628B6B8BC0BE}"/>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32</a:t>
            </a:r>
          </a:p>
        </p:txBody>
      </p:sp>
      <p:sp>
        <p:nvSpPr>
          <p:cNvPr id="4" name="">
            <a:extLst xmlns:a="http://schemas.openxmlformats.org/drawingml/2006/main">
              <a:ext uri="{FF2B5EF4-FFF2-40B4-BE49-F238E27FC236}">
                <a16:creationId xmlns:a16="http://schemas.microsoft.com/office/drawing/2014/main" id="{3C3BB663-8D28-4DE4-8687-2CAD388DCF5C}"/>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34</a:t>
            </a:r>
          </a:p>
        </p:txBody>
      </p:sp>
      <p:sp>
        <p:nvSpPr>
          <p:cNvPr id="5" name="">
            <a:extLst xmlns:a="http://schemas.openxmlformats.org/drawingml/2006/main">
              <a:ext uri="{FF2B5EF4-FFF2-40B4-BE49-F238E27FC236}">
                <a16:creationId xmlns:a16="http://schemas.microsoft.com/office/drawing/2014/main" id="{A8BB8E19-710C-43D8-8AD7-FDA4EF5ECF4A}"/>
              </a:ext>
            </a:extLst>
          </p:cNvPr>
          <p:cNvSpPr>
            <a:spLocks xmlns:a="http://schemas.openxmlformats.org/drawingml/2006/main" noGrp="1"/>
          </p:cNvSpPr>
          <p:nvPr/>
        </p:nvSpPr>
        <p:spPr>
          <a:xfrm xmlns:a="http://schemas.openxmlformats.org/drawingml/2006/main">
            <a:off x="609600" y="1428750"/>
            <a:ext cx="3426714"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3000" b="0">
                <a:solidFill>
                  <a:srgbClr val="005293"/>
                </a:solidFill>
                <a:latin typeface="STIX Two Math"/>
                <a:ea typeface="STIX Two Math"/>
                <a:cs typeface="STIX Two Math"/>
              </a:defRPr>
            </a:defPPr>
            <a:lvl1pPr>
              <a:defRPr sz="3000" b="0">
                <a:solidFill>
                  <a:srgbClr val="005293"/>
                </a:solidFill>
                <a:latin typeface="STIX Two Math"/>
                <a:ea typeface="STIX Two Math"/>
                <a:cs typeface="STIX Two Math"/>
              </a:defRPr>
            </a:lvl1pPr>
            <a:lvl2pPr>
              <a:defRPr sz="3000" b="0">
                <a:solidFill>
                  <a:srgbClr val="005293"/>
                </a:solidFill>
                <a:latin typeface="STIX Two Math"/>
                <a:ea typeface="STIX Two Math"/>
                <a:cs typeface="STIX Two Math"/>
              </a:defRPr>
            </a:lvl2pPr>
            <a:lvl3pPr>
              <a:defRPr sz="3000" b="0">
                <a:solidFill>
                  <a:srgbClr val="005293"/>
                </a:solidFill>
                <a:latin typeface="STIX Two Math"/>
                <a:ea typeface="STIX Two Math"/>
                <a:cs typeface="STIX Two Math"/>
              </a:defRPr>
            </a:lvl3pPr>
            <a:lvl4pPr>
              <a:defRPr sz="3000" b="0">
                <a:solidFill>
                  <a:srgbClr val="005293"/>
                </a:solidFill>
                <a:latin typeface="STIX Two Math"/>
                <a:ea typeface="STIX Two Math"/>
                <a:cs typeface="STIX Two Math"/>
              </a:defRPr>
            </a:lvl4pPr>
            <a:lvl5pPr>
              <a:defRPr sz="3000" b="0">
                <a:solidFill>
                  <a:srgbClr val="005293"/>
                </a:solidFill>
                <a:latin typeface="STIX Two Math"/>
                <a:ea typeface="STIX Two Math"/>
                <a:cs typeface="STIX Two Math"/>
              </a:defRPr>
            </a:lvl5pPr>
            <a:lvl6pPr>
              <a:defRPr sz="3000" b="0">
                <a:solidFill>
                  <a:srgbClr val="005293"/>
                </a:solidFill>
                <a:latin typeface="STIX Two Math"/>
                <a:ea typeface="STIX Two Math"/>
                <a:cs typeface="STIX Two Math"/>
              </a:defRPr>
            </a:lvl6pPr>
            <a:lvl7pPr>
              <a:defRPr sz="3000" b="0">
                <a:solidFill>
                  <a:srgbClr val="005293"/>
                </a:solidFill>
                <a:latin typeface="STIX Two Math"/>
                <a:ea typeface="STIX Two Math"/>
                <a:cs typeface="STIX Two Math"/>
              </a:defRPr>
            </a:lvl7pPr>
            <a:lvl8pPr>
              <a:defRPr sz="3000" b="0">
                <a:solidFill>
                  <a:srgbClr val="005293"/>
                </a:solidFill>
                <a:latin typeface="STIX Two Math"/>
                <a:ea typeface="STIX Two Math"/>
                <a:cs typeface="STIX Two Math"/>
              </a:defRPr>
            </a:lvl8pPr>
            <a:lvl9pPr>
              <a:defRPr sz="3000" b="0">
                <a:solidFill>
                  <a:srgbClr val="005293"/>
                </a:solidFill>
                <a:latin typeface="STIX Two Math"/>
                <a:ea typeface="STIX Two Math"/>
                <a:cs typeface="STIX Two Math"/>
              </a:defRPr>
            </a:lvl9pPr>
          </a:lstStyle>
          <a:p xmlns:a="http://schemas.openxmlformats.org/drawingml/2006/main">
            <a:pPr>
              <a:defRPr sz="3000" b="0">
                <a:solidFill>
                  <a:srgbClr val="005293"/>
                </a:solidFill>
                <a:latin typeface="STIX Two Math"/>
                <a:ea typeface="STIX Two Math"/>
                <a:cs typeface="STIX Two Math"/>
              </a:defRPr>
            </a:pPr>
            <a:r>
              <a:rPr sz="3000" b="0">
                <a:solidFill>
                  <a:srgbClr val="005293"/>
                </a:solidFill>
                <a:latin typeface="STIX Two Math"/>
                <a:ea typeface="STIX Two Math"/>
                <a:cs typeface="STIX Two Math"/>
              </a:rPr>
              <a:t>L ▷ R = L ∖ (L ⋉ R)</a:t>
            </a:r>
          </a:p>
        </p:txBody>
      </p:sp>
      <p:sp>
        <p:nvSpPr>
          <p:cNvPr id="6" name="">
            <a:extLst xmlns:a="http://schemas.openxmlformats.org/drawingml/2006/main">
              <a:ext uri="{FF2B5EF4-FFF2-40B4-BE49-F238E27FC236}">
                <a16:creationId xmlns:a16="http://schemas.microsoft.com/office/drawing/2014/main" id="{F33E15CA-8B3F-4AE8-B8B3-6419631C9B8F}"/>
              </a:ext>
            </a:extLst>
          </p:cNvPr>
          <p:cNvSpPr>
            <a:spLocks xmlns:a="http://schemas.openxmlformats.org/drawingml/2006/main" noGrp="1"/>
          </p:cNvSpPr>
          <p:nvPr/>
        </p:nvSpPr>
        <p:spPr>
          <a:xfrm xmlns:a="http://schemas.openxmlformats.org/drawingml/2006/main">
            <a:off x="609600" y="24765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Behält Tupel aus L, für die kein passender Joinpartner in R existiert.</a:t>
            </a:r>
          </a:p>
        </p:txBody>
      </p:sp>
      <p:sp>
        <p:nvSpPr>
          <p:cNvPr id="7" name="">
            <a:extLst xmlns:a="http://schemas.openxmlformats.org/drawingml/2006/main">
              <a:ext uri="{FF2B5EF4-FFF2-40B4-BE49-F238E27FC236}">
                <a16:creationId xmlns:a16="http://schemas.microsoft.com/office/drawing/2014/main" id="{563FA9F0-7928-46C1-BC02-A07C7C4DF341}"/>
              </a:ext>
            </a:extLst>
          </p:cNvPr>
          <p:cNvSpPr>
            <a:spLocks xmlns:a="http://schemas.openxmlformats.org/drawingml/2006/main" noGrp="1"/>
          </p:cNvSpPr>
          <p:nvPr/>
        </p:nvSpPr>
        <p:spPr>
          <a:xfrm xmlns:a="http://schemas.openxmlformats.org/drawingml/2006/main">
            <a:off x="609600" y="34290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Die Ausgabe enthält ausschließlich die Attribute von L.</a:t>
            </a:r>
          </a:p>
        </p:txBody>
      </p:sp>
      <p:sp>
        <p:nvSpPr>
          <p:cNvPr id="8" name="">
            <a:extLst xmlns:a="http://schemas.openxmlformats.org/drawingml/2006/main">
              <a:ext uri="{FF2B5EF4-FFF2-40B4-BE49-F238E27FC236}">
                <a16:creationId xmlns:a16="http://schemas.microsoft.com/office/drawing/2014/main" id="{34AAD0C8-DE37-442D-B1E4-2AACED83BDEF}"/>
              </a:ext>
            </a:extLst>
          </p:cNvPr>
          <p:cNvSpPr>
            <a:spLocks xmlns:a="http://schemas.openxmlformats.org/drawingml/2006/main" noGrp="1"/>
          </p:cNvSpPr>
          <p:nvPr/>
        </p:nvSpPr>
        <p:spPr>
          <a:xfrm xmlns:a="http://schemas.openxmlformats.org/drawingml/2006/main">
            <a:off x="609600" y="43815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Entscheidend ist „kein Partner“, also die Verneinung der Existenz.</a:t>
            </a:r>
          </a:p>
        </p:txBody>
      </p:sp>
    </p:spTree>
    <p:extLst>
      <p:ext uri="{BB962C8B-B14F-4D97-AF65-F5344CB8AC3E}">
        <p14:creationId xmlns:p14="http://schemas.microsoft.com/office/powerpoint/2010/main" val="23051547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11A6E4B-1BFF-4AC2-B14E-248382A6CD73}"/>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Anti-Join: Beispiel</a:t>
            </a:r>
          </a:p>
        </p:txBody>
      </p:sp>
      <p:sp>
        <p:nvSpPr>
          <p:cNvPr id="2" name="">
            <a:extLst xmlns:a="http://schemas.openxmlformats.org/drawingml/2006/main">
              <a:ext uri="{FF2B5EF4-FFF2-40B4-BE49-F238E27FC236}">
                <a16:creationId xmlns:a16="http://schemas.microsoft.com/office/drawing/2014/main" id="{183B3051-FE4C-46F5-A366-827359EB418C}"/>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5FD3EB49-1D4C-46AD-8824-4B9CCBB02968}"/>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33</a:t>
            </a:r>
          </a:p>
        </p:txBody>
      </p:sp>
      <p:sp>
        <p:nvSpPr>
          <p:cNvPr id="4" name="">
            <a:extLst xmlns:a="http://schemas.openxmlformats.org/drawingml/2006/main">
              <a:ext uri="{FF2B5EF4-FFF2-40B4-BE49-F238E27FC236}">
                <a16:creationId xmlns:a16="http://schemas.microsoft.com/office/drawing/2014/main" id="{A8622FEF-6536-488E-BC8D-313047F5A984}"/>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34</a:t>
            </a:r>
          </a:p>
        </p:txBody>
      </p:sp>
      <p:sp>
        <p:nvSpPr>
          <p:cNvPr id="5" name="">
            <a:extLst xmlns:a="http://schemas.openxmlformats.org/drawingml/2006/main">
              <a:ext uri="{FF2B5EF4-FFF2-40B4-BE49-F238E27FC236}">
                <a16:creationId xmlns:a16="http://schemas.microsoft.com/office/drawing/2014/main" id="{12585CB9-A52D-42EB-8C30-CB19E1DB342F}"/>
              </a:ext>
            </a:extLst>
          </p:cNvPr>
          <p:cNvSpPr>
            <a:spLocks xmlns:a="http://schemas.openxmlformats.org/drawingml/2006/main" noGrp="1"/>
          </p:cNvSpPr>
          <p:nvPr/>
        </p:nvSpPr>
        <p:spPr>
          <a:xfrm xmlns:a="http://schemas.openxmlformats.org/drawingml/2006/main">
            <a:off x="609600" y="1381125"/>
            <a:ext cx="1126617"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3000" b="0">
                <a:solidFill>
                  <a:srgbClr val="005293"/>
                </a:solidFill>
                <a:latin typeface="STIX Two Math"/>
                <a:ea typeface="STIX Two Math"/>
                <a:cs typeface="STIX Two Math"/>
              </a:defRPr>
            </a:defPPr>
            <a:lvl1pPr>
              <a:defRPr sz="3000" b="0">
                <a:solidFill>
                  <a:srgbClr val="005293"/>
                </a:solidFill>
                <a:latin typeface="STIX Two Math"/>
                <a:ea typeface="STIX Two Math"/>
                <a:cs typeface="STIX Two Math"/>
              </a:defRPr>
            </a:lvl1pPr>
            <a:lvl2pPr>
              <a:defRPr sz="3000" b="0">
                <a:solidFill>
                  <a:srgbClr val="005293"/>
                </a:solidFill>
                <a:latin typeface="STIX Two Math"/>
                <a:ea typeface="STIX Two Math"/>
                <a:cs typeface="STIX Two Math"/>
              </a:defRPr>
            </a:lvl2pPr>
            <a:lvl3pPr>
              <a:defRPr sz="3000" b="0">
                <a:solidFill>
                  <a:srgbClr val="005293"/>
                </a:solidFill>
                <a:latin typeface="STIX Two Math"/>
                <a:ea typeface="STIX Two Math"/>
                <a:cs typeface="STIX Two Math"/>
              </a:defRPr>
            </a:lvl3pPr>
            <a:lvl4pPr>
              <a:defRPr sz="3000" b="0">
                <a:solidFill>
                  <a:srgbClr val="005293"/>
                </a:solidFill>
                <a:latin typeface="STIX Two Math"/>
                <a:ea typeface="STIX Two Math"/>
                <a:cs typeface="STIX Two Math"/>
              </a:defRPr>
            </a:lvl4pPr>
            <a:lvl5pPr>
              <a:defRPr sz="3000" b="0">
                <a:solidFill>
                  <a:srgbClr val="005293"/>
                </a:solidFill>
                <a:latin typeface="STIX Two Math"/>
                <a:ea typeface="STIX Two Math"/>
                <a:cs typeface="STIX Two Math"/>
              </a:defRPr>
            </a:lvl5pPr>
            <a:lvl6pPr>
              <a:defRPr sz="3000" b="0">
                <a:solidFill>
                  <a:srgbClr val="005293"/>
                </a:solidFill>
                <a:latin typeface="STIX Two Math"/>
                <a:ea typeface="STIX Two Math"/>
                <a:cs typeface="STIX Two Math"/>
              </a:defRPr>
            </a:lvl6pPr>
            <a:lvl7pPr>
              <a:defRPr sz="3000" b="0">
                <a:solidFill>
                  <a:srgbClr val="005293"/>
                </a:solidFill>
                <a:latin typeface="STIX Two Math"/>
                <a:ea typeface="STIX Two Math"/>
                <a:cs typeface="STIX Two Math"/>
              </a:defRPr>
            </a:lvl7pPr>
            <a:lvl8pPr>
              <a:defRPr sz="3000" b="0">
                <a:solidFill>
                  <a:srgbClr val="005293"/>
                </a:solidFill>
                <a:latin typeface="STIX Two Math"/>
                <a:ea typeface="STIX Two Math"/>
                <a:cs typeface="STIX Two Math"/>
              </a:defRPr>
            </a:lvl8pPr>
            <a:lvl9pPr>
              <a:defRPr sz="3000" b="0">
                <a:solidFill>
                  <a:srgbClr val="005293"/>
                </a:solidFill>
                <a:latin typeface="STIX Two Math"/>
                <a:ea typeface="STIX Two Math"/>
                <a:cs typeface="STIX Two Math"/>
              </a:defRPr>
            </a:lvl9pPr>
          </a:lstStyle>
          <a:p xmlns:a="http://schemas.openxmlformats.org/drawingml/2006/main">
            <a:pPr>
              <a:defRPr sz="3000" b="0">
                <a:solidFill>
                  <a:srgbClr val="005293"/>
                </a:solidFill>
                <a:latin typeface="STIX Two Math"/>
                <a:ea typeface="STIX Two Math"/>
                <a:cs typeface="STIX Two Math"/>
              </a:defRPr>
            </a:pPr>
            <a:r>
              <a:rPr sz="3000" b="0">
                <a:solidFill>
                  <a:srgbClr val="005293"/>
                </a:solidFill>
                <a:latin typeface="STIX Two Math"/>
                <a:ea typeface="STIX Two Math"/>
                <a:cs typeface="STIX Two Math"/>
              </a:rPr>
              <a:t>L ▷ R</a:t>
            </a:r>
          </a:p>
        </p:txBody>
      </p:sp>
      <p:sp>
        <p:nvSpPr>
          <p:cNvPr id="6" name="">
            <a:extLst xmlns:a="http://schemas.openxmlformats.org/drawingml/2006/main">
              <a:ext uri="{FF2B5EF4-FFF2-40B4-BE49-F238E27FC236}">
                <a16:creationId xmlns:a16="http://schemas.microsoft.com/office/drawing/2014/main" id="{17C0FB33-EE6B-4473-A323-FB69A34A1650}"/>
              </a:ext>
            </a:extLst>
          </p:cNvPr>
          <p:cNvSpPr>
            <a:spLocks xmlns:a="http://schemas.openxmlformats.org/drawingml/2006/main" noGrp="1"/>
          </p:cNvSpPr>
          <p:nvPr/>
        </p:nvSpPr>
        <p:spPr>
          <a:xfrm xmlns:a="http://schemas.openxmlformats.org/drawingml/2006/main">
            <a:off x="609600" y="210502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L</a:t>
            </a:r>
          </a:p>
        </p:txBody>
      </p:sp>
      <p:sp>
        <p:nvSpPr>
          <p:cNvPr id="7" name="">
            <a:extLst xmlns:a="http://schemas.openxmlformats.org/drawingml/2006/main">
              <a:ext uri="{FF2B5EF4-FFF2-40B4-BE49-F238E27FC236}">
                <a16:creationId xmlns:a16="http://schemas.microsoft.com/office/drawing/2014/main" id="{A40AC8A2-D6BD-44C0-84F4-5A092C410FFD}"/>
              </a:ext>
            </a:extLst>
          </p:cNvPr>
          <p:cNvSpPr>
            <a:spLocks xmlns:a="http://schemas.openxmlformats.org/drawingml/2006/main" noGrp="1"/>
          </p:cNvSpPr>
          <p:nvPr/>
        </p:nvSpPr>
        <p:spPr>
          <a:xfrm xmlns:a="http://schemas.openxmlformats.org/drawingml/2006/main">
            <a:off x="6762750" y="210502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R</a:t>
            </a:r>
          </a:p>
        </p:txBody>
      </p:sp>
      <p:graphicFrame>
        <p:nvGraphicFramePr>
          <p:cNvPr id="8" name="">
            <a:extLst xmlns:a="http://schemas.openxmlformats.org/drawingml/2006/main">
              <a:ext uri="{FF2B5EF4-FFF2-40B4-BE49-F238E27FC236}">
                <a16:creationId xmlns:a16="http://schemas.microsoft.com/office/drawing/2014/main" id="{6E174D85-6FDD-4455-8FDD-38B0FC069C5F}"/>
              </a:ext>
            </a:extLst>
          </p:cNvPr>
          <p:cNvGraphicFramePr/>
          <p:nvPr/>
        </p:nvGraphicFramePr>
        <p:xfrm>
          <a:off xmlns:a="http://schemas.openxmlformats.org/drawingml/2006/main" x="609600" y="2514600"/>
          <a:ext xmlns:a="http://schemas.openxmlformats.org/drawingml/2006/main" cx="4762500" cy="1171575"/>
        </p:xfrm>
        <a:graphic xmlns:a="http://schemas.openxmlformats.org/drawingml/2006/main">
          <a:graphicData uri="http://schemas.openxmlformats.org/drawingml/2006/table">
            <a:tbl>
              <a:tblPr/>
              <a:tblGrid>
                <a:gridCol w="1587500"/>
                <a:gridCol w="1587500"/>
                <a:gridCol w="1587500"/>
              </a:tblGrid>
              <a:tr h="390525">
                <a:tc>
                  <a:txBody>
                    <a:bodyPr/>
                    <a:lstStyle/>
                    <a:p>
                      <a:r>
                        <a:rPr sz="1950" b="1">
                          <a:solidFill>
                            <a:srgbClr val="FFFFFF"/>
                          </a:solidFill>
                          <a:latin typeface="Arial"/>
                          <a:ea typeface="Arial"/>
                          <a:cs typeface="Arial"/>
                        </a:rPr>
                        <a:t>A</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B</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C</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390525">
                <a:tc>
                  <a:txBody>
                    <a:bodyPr/>
                    <a:lstStyle/>
                    <a:p>
                      <a:r>
                        <a:rPr sz="1950" b="0">
                          <a:solidFill>
                            <a:srgbClr val="202B33"/>
                          </a:solidFill>
                          <a:latin typeface="Arial"/>
                          <a:ea typeface="Arial"/>
                          <a:cs typeface="Arial"/>
                        </a:rPr>
                        <a:t>a₁</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b₁</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c₁</a:t>
                      </a:r>
                    </a:p>
                  </a:txBody>
                  <a:tcPr marL="95250" marR="66675" marT="28575" marB="28575" anchor="ctr">
                    <a:lnR w="6668">
                      <a:solidFill>
                        <a:srgbClr val="CBD8E1"/>
                      </a:solidFill>
                    </a:lnR>
                    <a:lnB w="6668">
                      <a:solidFill>
                        <a:srgbClr val="CBD8E1"/>
                      </a:solidFill>
                    </a:lnB>
                    <a:solidFill>
                      <a:srgbClr val="FFFFFF"/>
                    </a:solidFill>
                  </a:tcPr>
                </a:tc>
              </a:tr>
              <a:tr h="390525">
                <a:tc>
                  <a:txBody>
                    <a:bodyPr/>
                    <a:lstStyle/>
                    <a:p>
                      <a:r>
                        <a:rPr sz="1950" b="0">
                          <a:solidFill>
                            <a:srgbClr val="202B33"/>
                          </a:solidFill>
                          <a:latin typeface="Arial"/>
                          <a:ea typeface="Arial"/>
                          <a:cs typeface="Arial"/>
                        </a:rPr>
                        <a:t>a₂</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b₂</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c₂</a:t>
                      </a:r>
                    </a:p>
                  </a:txBody>
                  <a:tcPr marL="95250" marR="66675" marT="28575" marB="28575" anchor="ctr">
                    <a:lnR w="6668">
                      <a:solidFill>
                        <a:srgbClr val="CBD8E1"/>
                      </a:solidFill>
                    </a:lnR>
                    <a:lnB w="6668">
                      <a:solidFill>
                        <a:srgbClr val="CBD8E1"/>
                      </a:solidFill>
                    </a:lnB>
                    <a:solidFill>
                      <a:srgbClr val="EDF4F9"/>
                    </a:solidFill>
                  </a:tcPr>
                </a:tc>
              </a:tr>
            </a:tbl>
          </a:graphicData>
        </a:graphic>
      </p:graphicFrame>
      <p:graphicFrame>
        <p:nvGraphicFramePr>
          <p:cNvPr id="9" name="">
            <a:extLst xmlns:a="http://schemas.openxmlformats.org/drawingml/2006/main">
              <a:ext uri="{FF2B5EF4-FFF2-40B4-BE49-F238E27FC236}">
                <a16:creationId xmlns:a16="http://schemas.microsoft.com/office/drawing/2014/main" id="{978C2BCF-E8C3-4D9F-8FE9-E1E1AFFE7C29}"/>
              </a:ext>
            </a:extLst>
          </p:cNvPr>
          <p:cNvGraphicFramePr/>
          <p:nvPr/>
        </p:nvGraphicFramePr>
        <p:xfrm>
          <a:off xmlns:a="http://schemas.openxmlformats.org/drawingml/2006/main" x="6762750" y="2514600"/>
          <a:ext xmlns:a="http://schemas.openxmlformats.org/drawingml/2006/main" cx="4762500" cy="1171575"/>
        </p:xfrm>
        <a:graphic xmlns:a="http://schemas.openxmlformats.org/drawingml/2006/main">
          <a:graphicData uri="http://schemas.openxmlformats.org/drawingml/2006/table">
            <a:tbl>
              <a:tblPr/>
              <a:tblGrid>
                <a:gridCol w="1587500"/>
                <a:gridCol w="1587500"/>
                <a:gridCol w="1587500"/>
              </a:tblGrid>
              <a:tr h="390525">
                <a:tc>
                  <a:txBody>
                    <a:bodyPr/>
                    <a:lstStyle/>
                    <a:p>
                      <a:r>
                        <a:rPr sz="1950" b="1">
                          <a:solidFill>
                            <a:srgbClr val="FFFFFF"/>
                          </a:solidFill>
                          <a:latin typeface="Arial"/>
                          <a:ea typeface="Arial"/>
                          <a:cs typeface="Arial"/>
                        </a:rPr>
                        <a:t>C</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D</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E</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390525">
                <a:tc>
                  <a:txBody>
                    <a:bodyPr/>
                    <a:lstStyle/>
                    <a:p>
                      <a:r>
                        <a:rPr sz="1950" b="0">
                          <a:solidFill>
                            <a:srgbClr val="202B33"/>
                          </a:solidFill>
                          <a:latin typeface="Arial"/>
                          <a:ea typeface="Arial"/>
                          <a:cs typeface="Arial"/>
                        </a:rPr>
                        <a:t>c₁</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d₁</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e₁</a:t>
                      </a:r>
                    </a:p>
                  </a:txBody>
                  <a:tcPr marL="95250" marR="66675" marT="28575" marB="28575" anchor="ctr">
                    <a:lnR w="6668">
                      <a:solidFill>
                        <a:srgbClr val="CBD8E1"/>
                      </a:solidFill>
                    </a:lnR>
                    <a:lnB w="6668">
                      <a:solidFill>
                        <a:srgbClr val="CBD8E1"/>
                      </a:solidFill>
                    </a:lnB>
                    <a:solidFill>
                      <a:srgbClr val="FFFFFF"/>
                    </a:solidFill>
                  </a:tcPr>
                </a:tc>
              </a:tr>
              <a:tr h="390525">
                <a:tc>
                  <a:txBody>
                    <a:bodyPr/>
                    <a:lstStyle/>
                    <a:p>
                      <a:r>
                        <a:rPr sz="1950" b="0">
                          <a:solidFill>
                            <a:srgbClr val="202B33"/>
                          </a:solidFill>
                          <a:latin typeface="Arial"/>
                          <a:ea typeface="Arial"/>
                          <a:cs typeface="Arial"/>
                        </a:rPr>
                        <a:t>c₃</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d₂</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e₂</a:t>
                      </a:r>
                    </a:p>
                  </a:txBody>
                  <a:tcPr marL="95250" marR="66675" marT="28575" marB="28575" anchor="ctr">
                    <a:lnR w="6668">
                      <a:solidFill>
                        <a:srgbClr val="CBD8E1"/>
                      </a:solidFill>
                    </a:lnR>
                    <a:lnB w="6668">
                      <a:solidFill>
                        <a:srgbClr val="CBD8E1"/>
                      </a:solidFill>
                    </a:lnB>
                    <a:solidFill>
                      <a:srgbClr val="EDF4F9"/>
                    </a:solidFill>
                  </a:tcPr>
                </a:tc>
              </a:tr>
            </a:tbl>
          </a:graphicData>
        </a:graphic>
      </p:graphicFrame>
      <p:sp>
        <p:nvSpPr>
          <p:cNvPr id="10" name="">
            <a:extLst xmlns:a="http://schemas.openxmlformats.org/drawingml/2006/main">
              <a:ext uri="{FF2B5EF4-FFF2-40B4-BE49-F238E27FC236}">
                <a16:creationId xmlns:a16="http://schemas.microsoft.com/office/drawing/2014/main" id="{F083DEA7-6B91-42C8-88CE-379791DEFBB4}"/>
              </a:ext>
            </a:extLst>
          </p:cNvPr>
          <p:cNvSpPr>
            <a:spLocks xmlns:a="http://schemas.openxmlformats.org/drawingml/2006/main" noGrp="1"/>
          </p:cNvSpPr>
          <p:nvPr/>
        </p:nvSpPr>
        <p:spPr>
          <a:xfrm xmlns:a="http://schemas.openxmlformats.org/drawingml/2006/main">
            <a:off x="609600" y="390525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Ergebnis</a:t>
            </a:r>
          </a:p>
        </p:txBody>
      </p:sp>
      <p:graphicFrame>
        <p:nvGraphicFramePr>
          <p:cNvPr id="11" name="">
            <a:extLst xmlns:a="http://schemas.openxmlformats.org/drawingml/2006/main">
              <a:ext uri="{FF2B5EF4-FFF2-40B4-BE49-F238E27FC236}">
                <a16:creationId xmlns:a16="http://schemas.microsoft.com/office/drawing/2014/main" id="{5E6D68BD-559B-46F3-84F7-CCD4312933F3}"/>
              </a:ext>
            </a:extLst>
          </p:cNvPr>
          <p:cNvGraphicFramePr/>
          <p:nvPr/>
        </p:nvGraphicFramePr>
        <p:xfrm>
          <a:off xmlns:a="http://schemas.openxmlformats.org/drawingml/2006/main" x="609600" y="4333875"/>
          <a:ext xmlns:a="http://schemas.openxmlformats.org/drawingml/2006/main" cx="10972800" cy="742950"/>
        </p:xfrm>
        <a:graphic xmlns:a="http://schemas.openxmlformats.org/drawingml/2006/main">
          <a:graphicData uri="http://schemas.openxmlformats.org/drawingml/2006/table">
            <a:tbl>
              <a:tblPr/>
              <a:tblGrid>
                <a:gridCol w="3657600"/>
                <a:gridCol w="3657600"/>
                <a:gridCol w="3657600"/>
              </a:tblGrid>
              <a:tr h="371475">
                <a:tc>
                  <a:txBody>
                    <a:bodyPr/>
                    <a:lstStyle/>
                    <a:p>
                      <a:r>
                        <a:rPr sz="1950" b="1">
                          <a:solidFill>
                            <a:srgbClr val="FFFFFF"/>
                          </a:solidFill>
                          <a:latin typeface="Arial"/>
                          <a:ea typeface="Arial"/>
                          <a:cs typeface="Arial"/>
                        </a:rPr>
                        <a:t>A</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B</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C</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371475">
                <a:tc>
                  <a:txBody>
                    <a:bodyPr/>
                    <a:lstStyle/>
                    <a:p>
                      <a:r>
                        <a:rPr sz="1950" b="0">
                          <a:solidFill>
                            <a:srgbClr val="202B33"/>
                          </a:solidFill>
                          <a:latin typeface="Arial"/>
                          <a:ea typeface="Arial"/>
                          <a:cs typeface="Arial"/>
                        </a:rPr>
                        <a:t>a₂</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b₂</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c₂</a:t>
                      </a:r>
                    </a:p>
                  </a:txBody>
                  <a:tcPr marL="95250" marR="66675" marT="28575" marB="28575" anchor="ctr">
                    <a:lnR w="6668">
                      <a:solidFill>
                        <a:srgbClr val="CBD8E1"/>
                      </a:solidFill>
                    </a:lnR>
                    <a:lnB w="6668">
                      <a:solidFill>
                        <a:srgbClr val="CBD8E1"/>
                      </a:solidFill>
                    </a:lnB>
                    <a:solidFill>
                      <a:srgbClr val="FFFFFF"/>
                    </a:solidFill>
                  </a:tcPr>
                </a:tc>
              </a:tr>
            </a:tbl>
          </a:graphicData>
        </a:graphic>
      </p:graphicFrame>
      <p:sp>
        <p:nvSpPr>
          <p:cNvPr id="12" name="">
            <a:extLst xmlns:a="http://schemas.openxmlformats.org/drawingml/2006/main">
              <a:ext uri="{FF2B5EF4-FFF2-40B4-BE49-F238E27FC236}">
                <a16:creationId xmlns:a16="http://schemas.microsoft.com/office/drawing/2014/main" id="{C5A7ACD2-2B9C-4E94-BDCA-63E07D3C9867}"/>
              </a:ext>
            </a:extLst>
          </p:cNvPr>
          <p:cNvSpPr>
            <a:spLocks xmlns:a="http://schemas.openxmlformats.org/drawingml/2006/main" noGrp="1"/>
          </p:cNvSpPr>
          <p:nvPr/>
        </p:nvSpPr>
        <p:spPr>
          <a:xfrm xmlns:a="http://schemas.openxmlformats.org/drawingml/2006/main">
            <a:off x="609600" y="59150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005293"/>
                </a:solidFill>
                <a:latin typeface="Arial"/>
                <a:ea typeface="Arial"/>
                <a:cs typeface="Arial"/>
              </a:defRPr>
            </a:defPPr>
            <a:lvl1pPr>
              <a:defRPr sz="1800" b="1">
                <a:solidFill>
                  <a:srgbClr val="005293"/>
                </a:solidFill>
                <a:latin typeface="Arial"/>
                <a:ea typeface="Arial"/>
                <a:cs typeface="Arial"/>
              </a:defRPr>
            </a:lvl1pPr>
            <a:lvl2pPr>
              <a:defRPr sz="1800" b="1">
                <a:solidFill>
                  <a:srgbClr val="005293"/>
                </a:solidFill>
                <a:latin typeface="Arial"/>
                <a:ea typeface="Arial"/>
                <a:cs typeface="Arial"/>
              </a:defRPr>
            </a:lvl2pPr>
            <a:lvl3pPr>
              <a:defRPr sz="1800" b="1">
                <a:solidFill>
                  <a:srgbClr val="005293"/>
                </a:solidFill>
                <a:latin typeface="Arial"/>
                <a:ea typeface="Arial"/>
                <a:cs typeface="Arial"/>
              </a:defRPr>
            </a:lvl3pPr>
            <a:lvl4pPr>
              <a:defRPr sz="1800" b="1">
                <a:solidFill>
                  <a:srgbClr val="005293"/>
                </a:solidFill>
                <a:latin typeface="Arial"/>
                <a:ea typeface="Arial"/>
                <a:cs typeface="Arial"/>
              </a:defRPr>
            </a:lvl4pPr>
            <a:lvl5pPr>
              <a:defRPr sz="1800" b="1">
                <a:solidFill>
                  <a:srgbClr val="005293"/>
                </a:solidFill>
                <a:latin typeface="Arial"/>
                <a:ea typeface="Arial"/>
                <a:cs typeface="Arial"/>
              </a:defRPr>
            </a:lvl5pPr>
            <a:lvl6pPr>
              <a:defRPr sz="1800" b="1">
                <a:solidFill>
                  <a:srgbClr val="005293"/>
                </a:solidFill>
                <a:latin typeface="Arial"/>
                <a:ea typeface="Arial"/>
                <a:cs typeface="Arial"/>
              </a:defRPr>
            </a:lvl6pPr>
            <a:lvl7pPr>
              <a:defRPr sz="1800" b="1">
                <a:solidFill>
                  <a:srgbClr val="005293"/>
                </a:solidFill>
                <a:latin typeface="Arial"/>
                <a:ea typeface="Arial"/>
                <a:cs typeface="Arial"/>
              </a:defRPr>
            </a:lvl7pPr>
            <a:lvl8pPr>
              <a:defRPr sz="1800" b="1">
                <a:solidFill>
                  <a:srgbClr val="005293"/>
                </a:solidFill>
                <a:latin typeface="Arial"/>
                <a:ea typeface="Arial"/>
                <a:cs typeface="Arial"/>
              </a:defRPr>
            </a:lvl8pPr>
            <a:lvl9pPr>
              <a:defRPr sz="1800" b="1">
                <a:solidFill>
                  <a:srgbClr val="005293"/>
                </a:solidFill>
                <a:latin typeface="Arial"/>
                <a:ea typeface="Arial"/>
                <a:cs typeface="Arial"/>
              </a:defRPr>
            </a:lvl9pPr>
          </a:lstStyle>
          <a:p xmlns:a="http://schemas.openxmlformats.org/drawingml/2006/main">
            <a:pPr>
              <a:defRPr sz="1800" b="1">
                <a:solidFill>
                  <a:srgbClr val="005293"/>
                </a:solidFill>
                <a:latin typeface="Arial"/>
                <a:ea typeface="Arial"/>
                <a:cs typeface="Arial"/>
              </a:defRPr>
            </a:pPr>
            <a:r>
              <a:rPr sz="1800" b="1">
                <a:solidFill>
                  <a:srgbClr val="005293"/>
                </a:solidFill>
                <a:latin typeface="Arial"/>
                <a:ea typeface="Arial"/>
                <a:cs typeface="Arial"/>
              </a:rPr>
              <a:t>c₂ hat keinen Partner in R. Daher bleibt nur (a₂, b₂, c₂).</a:t>
            </a:r>
          </a:p>
        </p:txBody>
      </p:sp>
    </p:spTree>
    <p:extLst>
      <p:ext uri="{BB962C8B-B14F-4D97-AF65-F5344CB8AC3E}">
        <p14:creationId xmlns:p14="http://schemas.microsoft.com/office/powerpoint/2010/main" val="201556623"/>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E0BE614-2D7A-4CEB-9175-0134CB318A60}"/>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Vereinigung</a:t>
            </a:r>
          </a:p>
        </p:txBody>
      </p:sp>
      <p:sp>
        <p:nvSpPr>
          <p:cNvPr id="2" name="">
            <a:extLst xmlns:a="http://schemas.openxmlformats.org/drawingml/2006/main">
              <a:ext uri="{FF2B5EF4-FFF2-40B4-BE49-F238E27FC236}">
                <a16:creationId xmlns:a16="http://schemas.microsoft.com/office/drawing/2014/main" id="{BC4A7C71-74F0-4686-896B-F26BC56E8795}"/>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F9AA4E28-AC1A-454C-B28E-2B0B1429A11F}"/>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34</a:t>
            </a:r>
          </a:p>
        </p:txBody>
      </p:sp>
      <p:sp>
        <p:nvSpPr>
          <p:cNvPr id="4" name="">
            <a:extLst xmlns:a="http://schemas.openxmlformats.org/drawingml/2006/main">
              <a:ext uri="{FF2B5EF4-FFF2-40B4-BE49-F238E27FC236}">
                <a16:creationId xmlns:a16="http://schemas.microsoft.com/office/drawing/2014/main" id="{0E3530AE-99FE-44E7-BE4F-C9D2A58FA6DA}"/>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35–36</a:t>
            </a:r>
          </a:p>
        </p:txBody>
      </p:sp>
      <p:sp>
        <p:nvSpPr>
          <p:cNvPr id="5" name="">
            <a:extLst xmlns:a="http://schemas.openxmlformats.org/drawingml/2006/main">
              <a:ext uri="{FF2B5EF4-FFF2-40B4-BE49-F238E27FC236}">
                <a16:creationId xmlns:a16="http://schemas.microsoft.com/office/drawing/2014/main" id="{519738AB-F243-4E84-AB72-72260758D4CC}"/>
              </a:ext>
            </a:extLst>
          </p:cNvPr>
          <p:cNvSpPr>
            <a:spLocks xmlns:a="http://schemas.openxmlformats.org/drawingml/2006/main" noGrp="1"/>
          </p:cNvSpPr>
          <p:nvPr/>
        </p:nvSpPr>
        <p:spPr>
          <a:xfrm xmlns:a="http://schemas.openxmlformats.org/drawingml/2006/main">
            <a:off x="609600" y="1428750"/>
            <a:ext cx="931164"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3000" b="0">
                <a:solidFill>
                  <a:srgbClr val="005293"/>
                </a:solidFill>
                <a:latin typeface="STIX Two Math"/>
                <a:ea typeface="STIX Two Math"/>
                <a:cs typeface="STIX Two Math"/>
              </a:defRPr>
            </a:defPPr>
            <a:lvl1pPr>
              <a:defRPr sz="3000" b="0">
                <a:solidFill>
                  <a:srgbClr val="005293"/>
                </a:solidFill>
                <a:latin typeface="STIX Two Math"/>
                <a:ea typeface="STIX Two Math"/>
                <a:cs typeface="STIX Two Math"/>
              </a:defRPr>
            </a:lvl1pPr>
            <a:lvl2pPr>
              <a:defRPr sz="3000" b="0">
                <a:solidFill>
                  <a:srgbClr val="005293"/>
                </a:solidFill>
                <a:latin typeface="STIX Two Math"/>
                <a:ea typeface="STIX Two Math"/>
                <a:cs typeface="STIX Two Math"/>
              </a:defRPr>
            </a:lvl2pPr>
            <a:lvl3pPr>
              <a:defRPr sz="3000" b="0">
                <a:solidFill>
                  <a:srgbClr val="005293"/>
                </a:solidFill>
                <a:latin typeface="STIX Two Math"/>
                <a:ea typeface="STIX Two Math"/>
                <a:cs typeface="STIX Two Math"/>
              </a:defRPr>
            </a:lvl3pPr>
            <a:lvl4pPr>
              <a:defRPr sz="3000" b="0">
                <a:solidFill>
                  <a:srgbClr val="005293"/>
                </a:solidFill>
                <a:latin typeface="STIX Two Math"/>
                <a:ea typeface="STIX Two Math"/>
                <a:cs typeface="STIX Two Math"/>
              </a:defRPr>
            </a:lvl4pPr>
            <a:lvl5pPr>
              <a:defRPr sz="3000" b="0">
                <a:solidFill>
                  <a:srgbClr val="005293"/>
                </a:solidFill>
                <a:latin typeface="STIX Two Math"/>
                <a:ea typeface="STIX Two Math"/>
                <a:cs typeface="STIX Two Math"/>
              </a:defRPr>
            </a:lvl5pPr>
            <a:lvl6pPr>
              <a:defRPr sz="3000" b="0">
                <a:solidFill>
                  <a:srgbClr val="005293"/>
                </a:solidFill>
                <a:latin typeface="STIX Two Math"/>
                <a:ea typeface="STIX Two Math"/>
                <a:cs typeface="STIX Two Math"/>
              </a:defRPr>
            </a:lvl6pPr>
            <a:lvl7pPr>
              <a:defRPr sz="3000" b="0">
                <a:solidFill>
                  <a:srgbClr val="005293"/>
                </a:solidFill>
                <a:latin typeface="STIX Two Math"/>
                <a:ea typeface="STIX Two Math"/>
                <a:cs typeface="STIX Two Math"/>
              </a:defRPr>
            </a:lvl7pPr>
            <a:lvl8pPr>
              <a:defRPr sz="3000" b="0">
                <a:solidFill>
                  <a:srgbClr val="005293"/>
                </a:solidFill>
                <a:latin typeface="STIX Two Math"/>
                <a:ea typeface="STIX Two Math"/>
                <a:cs typeface="STIX Two Math"/>
              </a:defRPr>
            </a:lvl8pPr>
            <a:lvl9pPr>
              <a:defRPr sz="3000" b="0">
                <a:solidFill>
                  <a:srgbClr val="005293"/>
                </a:solidFill>
                <a:latin typeface="STIX Two Math"/>
                <a:ea typeface="STIX Two Math"/>
                <a:cs typeface="STIX Two Math"/>
              </a:defRPr>
            </a:lvl9pPr>
          </a:lstStyle>
          <a:p xmlns:a="http://schemas.openxmlformats.org/drawingml/2006/main">
            <a:pPr>
              <a:defRPr sz="3000" b="0">
                <a:solidFill>
                  <a:srgbClr val="005293"/>
                </a:solidFill>
                <a:latin typeface="STIX Two Math"/>
                <a:ea typeface="STIX Two Math"/>
                <a:cs typeface="STIX Two Math"/>
              </a:defRPr>
            </a:pPr>
            <a:r>
              <a:rPr sz="3000" b="0">
                <a:solidFill>
                  <a:srgbClr val="005293"/>
                </a:solidFill>
                <a:latin typeface="STIX Two Math"/>
                <a:ea typeface="STIX Two Math"/>
                <a:cs typeface="STIX Two Math"/>
              </a:rPr>
              <a:t>R ∪ S</a:t>
            </a:r>
          </a:p>
        </p:txBody>
      </p:sp>
      <p:sp>
        <p:nvSpPr>
          <p:cNvPr id="6" name="">
            <a:extLst xmlns:a="http://schemas.openxmlformats.org/drawingml/2006/main">
              <a:ext uri="{FF2B5EF4-FFF2-40B4-BE49-F238E27FC236}">
                <a16:creationId xmlns:a16="http://schemas.microsoft.com/office/drawing/2014/main" id="{CD5C9BF3-6F0C-4AEE-A209-B3FA5AB2ACD1}"/>
              </a:ext>
            </a:extLst>
          </p:cNvPr>
          <p:cNvSpPr>
            <a:spLocks xmlns:a="http://schemas.openxmlformats.org/drawingml/2006/main" noGrp="1"/>
          </p:cNvSpPr>
          <p:nvPr/>
        </p:nvSpPr>
        <p:spPr>
          <a:xfrm xmlns:a="http://schemas.openxmlformats.org/drawingml/2006/main">
            <a:off x="609600" y="24765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Enthält alle Tupel, die in R oder in S liegen.</a:t>
            </a:r>
          </a:p>
        </p:txBody>
      </p:sp>
      <p:sp>
        <p:nvSpPr>
          <p:cNvPr id="7" name="">
            <a:extLst xmlns:a="http://schemas.openxmlformats.org/drawingml/2006/main">
              <a:ext uri="{FF2B5EF4-FFF2-40B4-BE49-F238E27FC236}">
                <a16:creationId xmlns:a16="http://schemas.microsoft.com/office/drawing/2014/main" id="{6A06B1EC-8917-43E8-9181-7BEE36D38F7A}"/>
              </a:ext>
            </a:extLst>
          </p:cNvPr>
          <p:cNvSpPr>
            <a:spLocks xmlns:a="http://schemas.openxmlformats.org/drawingml/2006/main" noGrp="1"/>
          </p:cNvSpPr>
          <p:nvPr/>
        </p:nvSpPr>
        <p:spPr>
          <a:xfrm xmlns:a="http://schemas.openxmlformats.org/drawingml/2006/main">
            <a:off x="609600" y="34290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Voraussetzung: gleiches Schema bzw. passend angeglichene Attribute und Typen.</a:t>
            </a:r>
          </a:p>
        </p:txBody>
      </p:sp>
      <p:sp>
        <p:nvSpPr>
          <p:cNvPr id="8" name="">
            <a:extLst xmlns:a="http://schemas.openxmlformats.org/drawingml/2006/main">
              <a:ext uri="{FF2B5EF4-FFF2-40B4-BE49-F238E27FC236}">
                <a16:creationId xmlns:a16="http://schemas.microsoft.com/office/drawing/2014/main" id="{B0F15384-7E58-4A4D-B4D3-C0BCA1F62DC9}"/>
              </a:ext>
            </a:extLst>
          </p:cNvPr>
          <p:cNvSpPr>
            <a:spLocks xmlns:a="http://schemas.openxmlformats.org/drawingml/2006/main" noGrp="1"/>
          </p:cNvSpPr>
          <p:nvPr/>
        </p:nvSpPr>
        <p:spPr>
          <a:xfrm xmlns:a="http://schemas.openxmlformats.org/drawingml/2006/main">
            <a:off x="609600" y="43815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Tupel, die in beiden Eingaben liegen, erscheinen nur einmal.</a:t>
            </a:r>
          </a:p>
        </p:txBody>
      </p:sp>
    </p:spTree>
    <p:extLst>
      <p:ext uri="{BB962C8B-B14F-4D97-AF65-F5344CB8AC3E}">
        <p14:creationId xmlns:p14="http://schemas.microsoft.com/office/powerpoint/2010/main" val="1684530890"/>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7ECFA1D-B237-4AA8-84CE-5360C761BBF8}"/>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Vereinigung: Beispiel</a:t>
            </a:r>
          </a:p>
        </p:txBody>
      </p:sp>
      <p:sp>
        <p:nvSpPr>
          <p:cNvPr id="2" name="">
            <a:extLst xmlns:a="http://schemas.openxmlformats.org/drawingml/2006/main">
              <a:ext uri="{FF2B5EF4-FFF2-40B4-BE49-F238E27FC236}">
                <a16:creationId xmlns:a16="http://schemas.microsoft.com/office/drawing/2014/main" id="{12C3F547-48FB-47A4-B0EB-35B461DA2CD9}"/>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88DACEB3-46A0-421B-8D3E-170489D4C6E6}"/>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35</a:t>
            </a:r>
          </a:p>
        </p:txBody>
      </p:sp>
      <p:sp>
        <p:nvSpPr>
          <p:cNvPr id="4" name="">
            <a:extLst xmlns:a="http://schemas.openxmlformats.org/drawingml/2006/main">
              <a:ext uri="{FF2B5EF4-FFF2-40B4-BE49-F238E27FC236}">
                <a16:creationId xmlns:a16="http://schemas.microsoft.com/office/drawing/2014/main" id="{D50FE8B5-B402-482F-B183-C3993619B28D}"/>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36</a:t>
            </a:r>
          </a:p>
        </p:txBody>
      </p:sp>
      <p:sp>
        <p:nvSpPr>
          <p:cNvPr id="5" name="">
            <a:extLst xmlns:a="http://schemas.openxmlformats.org/drawingml/2006/main">
              <a:ext uri="{FF2B5EF4-FFF2-40B4-BE49-F238E27FC236}">
                <a16:creationId xmlns:a16="http://schemas.microsoft.com/office/drawing/2014/main" id="{F0E20396-2940-4053-A1D4-20E9C8A57E33}"/>
              </a:ext>
            </a:extLst>
          </p:cNvPr>
          <p:cNvSpPr>
            <a:spLocks xmlns:a="http://schemas.openxmlformats.org/drawingml/2006/main" noGrp="1"/>
          </p:cNvSpPr>
          <p:nvPr/>
        </p:nvSpPr>
        <p:spPr>
          <a:xfrm xmlns:a="http://schemas.openxmlformats.org/drawingml/2006/main">
            <a:off x="609600" y="13049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B33"/>
                </a:solidFill>
                <a:latin typeface="Arial"/>
                <a:ea typeface="Arial"/>
                <a:cs typeface="Arial"/>
              </a:defRPr>
            </a:defPPr>
            <a:lvl1pPr>
              <a:defRPr sz="2025" b="0">
                <a:solidFill>
                  <a:srgbClr val="202B33"/>
                </a:solidFill>
                <a:latin typeface="Arial"/>
                <a:ea typeface="Arial"/>
                <a:cs typeface="Arial"/>
              </a:defRPr>
            </a:lvl1pPr>
            <a:lvl2pPr>
              <a:defRPr sz="2025" b="0">
                <a:solidFill>
                  <a:srgbClr val="202B33"/>
                </a:solidFill>
                <a:latin typeface="Arial"/>
                <a:ea typeface="Arial"/>
                <a:cs typeface="Arial"/>
              </a:defRPr>
            </a:lvl2pPr>
            <a:lvl3pPr>
              <a:defRPr sz="2025" b="0">
                <a:solidFill>
                  <a:srgbClr val="202B33"/>
                </a:solidFill>
                <a:latin typeface="Arial"/>
                <a:ea typeface="Arial"/>
                <a:cs typeface="Arial"/>
              </a:defRPr>
            </a:lvl3pPr>
            <a:lvl4pPr>
              <a:defRPr sz="2025" b="0">
                <a:solidFill>
                  <a:srgbClr val="202B33"/>
                </a:solidFill>
                <a:latin typeface="Arial"/>
                <a:ea typeface="Arial"/>
                <a:cs typeface="Arial"/>
              </a:defRPr>
            </a:lvl4pPr>
            <a:lvl5pPr>
              <a:defRPr sz="2025" b="0">
                <a:solidFill>
                  <a:srgbClr val="202B33"/>
                </a:solidFill>
                <a:latin typeface="Arial"/>
                <a:ea typeface="Arial"/>
                <a:cs typeface="Arial"/>
              </a:defRPr>
            </a:lvl5pPr>
            <a:lvl6pPr>
              <a:defRPr sz="2025" b="0">
                <a:solidFill>
                  <a:srgbClr val="202B33"/>
                </a:solidFill>
                <a:latin typeface="Arial"/>
                <a:ea typeface="Arial"/>
                <a:cs typeface="Arial"/>
              </a:defRPr>
            </a:lvl6pPr>
            <a:lvl7pPr>
              <a:defRPr sz="2025" b="0">
                <a:solidFill>
                  <a:srgbClr val="202B33"/>
                </a:solidFill>
                <a:latin typeface="Arial"/>
                <a:ea typeface="Arial"/>
                <a:cs typeface="Arial"/>
              </a:defRPr>
            </a:lvl7pPr>
            <a:lvl8pPr>
              <a:defRPr sz="2025" b="0">
                <a:solidFill>
                  <a:srgbClr val="202B33"/>
                </a:solidFill>
                <a:latin typeface="Arial"/>
                <a:ea typeface="Arial"/>
                <a:cs typeface="Arial"/>
              </a:defRPr>
            </a:lvl8pPr>
            <a:lvl9pPr>
              <a:defRPr sz="2025" b="0">
                <a:solidFill>
                  <a:srgbClr val="202B33"/>
                </a:solidFill>
                <a:latin typeface="Arial"/>
                <a:ea typeface="Arial"/>
                <a:cs typeface="Arial"/>
              </a:defRPr>
            </a:lvl9pPr>
          </a:lstStyle>
          <a:p xmlns:a="http://schemas.openxmlformats.org/drawingml/2006/main">
            <a:pPr>
              <a:defRPr sz="2025" b="0">
                <a:solidFill>
                  <a:srgbClr val="202B33"/>
                </a:solidFill>
                <a:latin typeface="Arial"/>
                <a:ea typeface="Arial"/>
                <a:cs typeface="Arial"/>
              </a:defRPr>
            </a:pPr>
            <a:r>
              <a:rPr sz="2025" b="0">
                <a:solidFill>
                  <a:srgbClr val="202B33"/>
                </a:solidFill>
                <a:latin typeface="Arial"/>
                <a:ea typeface="Arial"/>
                <a:cs typeface="Arial"/>
              </a:rPr>
              <a:t>„Vereinige beide Listen.“</a:t>
            </a:r>
          </a:p>
        </p:txBody>
      </p:sp>
      <p:sp>
        <p:nvSpPr>
          <p:cNvPr id="6" name="">
            <a:extLst xmlns:a="http://schemas.openxmlformats.org/drawingml/2006/main">
              <a:ext uri="{FF2B5EF4-FFF2-40B4-BE49-F238E27FC236}">
                <a16:creationId xmlns:a16="http://schemas.microsoft.com/office/drawing/2014/main" id="{D698AF0B-B22C-41E5-B661-AA7199EED0E5}"/>
              </a:ext>
            </a:extLst>
          </p:cNvPr>
          <p:cNvSpPr>
            <a:spLocks xmlns:a="http://schemas.openxmlformats.org/drawingml/2006/main" noGrp="1"/>
          </p:cNvSpPr>
          <p:nvPr/>
        </p:nvSpPr>
        <p:spPr>
          <a:xfrm xmlns:a="http://schemas.openxmlformats.org/drawingml/2006/main">
            <a:off x="609600" y="1895475"/>
            <a:ext cx="2106625" cy="597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2850" b="0">
                <a:solidFill>
                  <a:srgbClr val="005293"/>
                </a:solidFill>
                <a:latin typeface="STIX Two Math"/>
                <a:ea typeface="STIX Two Math"/>
                <a:cs typeface="STIX Two Math"/>
              </a:defRPr>
            </a:defPPr>
            <a:lvl1pPr>
              <a:defRPr sz="2850" b="0">
                <a:solidFill>
                  <a:srgbClr val="005293"/>
                </a:solidFill>
                <a:latin typeface="STIX Two Math"/>
                <a:ea typeface="STIX Two Math"/>
                <a:cs typeface="STIX Two Math"/>
              </a:defRPr>
            </a:lvl1pPr>
            <a:lvl2pPr>
              <a:defRPr sz="2850" b="0">
                <a:solidFill>
                  <a:srgbClr val="005293"/>
                </a:solidFill>
                <a:latin typeface="STIX Two Math"/>
                <a:ea typeface="STIX Two Math"/>
                <a:cs typeface="STIX Two Math"/>
              </a:defRPr>
            </a:lvl2pPr>
            <a:lvl3pPr>
              <a:defRPr sz="2850" b="0">
                <a:solidFill>
                  <a:srgbClr val="005293"/>
                </a:solidFill>
                <a:latin typeface="STIX Two Math"/>
                <a:ea typeface="STIX Two Math"/>
                <a:cs typeface="STIX Two Math"/>
              </a:defRPr>
            </a:lvl3pPr>
            <a:lvl4pPr>
              <a:defRPr sz="2850" b="0">
                <a:solidFill>
                  <a:srgbClr val="005293"/>
                </a:solidFill>
                <a:latin typeface="STIX Two Math"/>
                <a:ea typeface="STIX Two Math"/>
                <a:cs typeface="STIX Two Math"/>
              </a:defRPr>
            </a:lvl4pPr>
            <a:lvl5pPr>
              <a:defRPr sz="2850" b="0">
                <a:solidFill>
                  <a:srgbClr val="005293"/>
                </a:solidFill>
                <a:latin typeface="STIX Two Math"/>
                <a:ea typeface="STIX Two Math"/>
                <a:cs typeface="STIX Two Math"/>
              </a:defRPr>
            </a:lvl5pPr>
            <a:lvl6pPr>
              <a:defRPr sz="2850" b="0">
                <a:solidFill>
                  <a:srgbClr val="005293"/>
                </a:solidFill>
                <a:latin typeface="STIX Two Math"/>
                <a:ea typeface="STIX Two Math"/>
                <a:cs typeface="STIX Two Math"/>
              </a:defRPr>
            </a:lvl6pPr>
            <a:lvl7pPr>
              <a:defRPr sz="2850" b="0">
                <a:solidFill>
                  <a:srgbClr val="005293"/>
                </a:solidFill>
                <a:latin typeface="STIX Two Math"/>
                <a:ea typeface="STIX Two Math"/>
                <a:cs typeface="STIX Two Math"/>
              </a:defRPr>
            </a:lvl7pPr>
            <a:lvl8pPr>
              <a:defRPr sz="2850" b="0">
                <a:solidFill>
                  <a:srgbClr val="005293"/>
                </a:solidFill>
                <a:latin typeface="STIX Two Math"/>
                <a:ea typeface="STIX Two Math"/>
                <a:cs typeface="STIX Two Math"/>
              </a:defRPr>
            </a:lvl8pPr>
            <a:lvl9pPr>
              <a:defRPr sz="2850" b="0">
                <a:solidFill>
                  <a:srgbClr val="005293"/>
                </a:solidFill>
                <a:latin typeface="STIX Two Math"/>
                <a:ea typeface="STIX Two Math"/>
                <a:cs typeface="STIX Two Math"/>
              </a:defRPr>
            </a:lvl9pPr>
          </a:lstStyle>
          <a:p xmlns:a="http://schemas.openxmlformats.org/drawingml/2006/main">
            <a:pPr>
              <a:defRPr sz="2850" b="0">
                <a:solidFill>
                  <a:srgbClr val="005293"/>
                </a:solidFill>
                <a:latin typeface="STIX Two Math"/>
                <a:ea typeface="STIX Two Math"/>
                <a:cs typeface="STIX Two Math"/>
              </a:defRPr>
            </a:pPr>
            <a:r>
              <a:rPr sz="2850" b="0">
                <a:solidFill>
                  <a:srgbClr val="005293"/>
                </a:solidFill>
                <a:latin typeface="STIX Two Math"/>
                <a:ea typeface="STIX Two Math"/>
                <a:cs typeface="STIX Two Math"/>
              </a:rPr>
              <a:t>Prof1 ∪ Prof2</a:t>
            </a:r>
          </a:p>
        </p:txBody>
      </p:sp>
      <p:sp>
        <p:nvSpPr>
          <p:cNvPr id="7" name="">
            <a:extLst xmlns:a="http://schemas.openxmlformats.org/drawingml/2006/main">
              <a:ext uri="{FF2B5EF4-FFF2-40B4-BE49-F238E27FC236}">
                <a16:creationId xmlns:a16="http://schemas.microsoft.com/office/drawing/2014/main" id="{52993CAC-2095-49E5-8520-9450FB0A9CB6}"/>
              </a:ext>
            </a:extLst>
          </p:cNvPr>
          <p:cNvSpPr>
            <a:spLocks xmlns:a="http://schemas.openxmlformats.org/drawingml/2006/main" noGrp="1"/>
          </p:cNvSpPr>
          <p:nvPr/>
        </p:nvSpPr>
        <p:spPr>
          <a:xfrm xmlns:a="http://schemas.openxmlformats.org/drawingml/2006/main">
            <a:off x="609600" y="263842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Prof1</a:t>
            </a:r>
          </a:p>
        </p:txBody>
      </p:sp>
      <p:sp>
        <p:nvSpPr>
          <p:cNvPr id="8" name="">
            <a:extLst xmlns:a="http://schemas.openxmlformats.org/drawingml/2006/main">
              <a:ext uri="{FF2B5EF4-FFF2-40B4-BE49-F238E27FC236}">
                <a16:creationId xmlns:a16="http://schemas.microsoft.com/office/drawing/2014/main" id="{623AC542-9D73-47FB-8612-CED9D25EC93E}"/>
              </a:ext>
            </a:extLst>
          </p:cNvPr>
          <p:cNvSpPr>
            <a:spLocks xmlns:a="http://schemas.openxmlformats.org/drawingml/2006/main" noGrp="1"/>
          </p:cNvSpPr>
          <p:nvPr/>
        </p:nvSpPr>
        <p:spPr>
          <a:xfrm xmlns:a="http://schemas.openxmlformats.org/drawingml/2006/main">
            <a:off x="6762750" y="263842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Prof2</a:t>
            </a:r>
          </a:p>
        </p:txBody>
      </p:sp>
      <p:graphicFrame>
        <p:nvGraphicFramePr>
          <p:cNvPr id="9" name="">
            <a:extLst xmlns:a="http://schemas.openxmlformats.org/drawingml/2006/main">
              <a:ext uri="{FF2B5EF4-FFF2-40B4-BE49-F238E27FC236}">
                <a16:creationId xmlns:a16="http://schemas.microsoft.com/office/drawing/2014/main" id="{8FE082C2-1DD5-4279-B0F9-69509653CB78}"/>
              </a:ext>
            </a:extLst>
          </p:cNvPr>
          <p:cNvGraphicFramePr/>
          <p:nvPr/>
        </p:nvGraphicFramePr>
        <p:xfrm>
          <a:off xmlns:a="http://schemas.openxmlformats.org/drawingml/2006/main" x="609600" y="3048000"/>
          <a:ext xmlns:a="http://schemas.openxmlformats.org/drawingml/2006/main" cx="4762500" cy="1228725"/>
        </p:xfrm>
        <a:graphic xmlns:a="http://schemas.openxmlformats.org/drawingml/2006/main">
          <a:graphicData uri="http://schemas.openxmlformats.org/drawingml/2006/table">
            <a:tbl>
              <a:tblPr/>
              <a:tblGrid>
                <a:gridCol w="1809750"/>
                <a:gridCol w="2952750"/>
              </a:tblGrid>
              <a:tr h="409575">
                <a:tc>
                  <a:txBody>
                    <a:bodyPr/>
                    <a:lstStyle/>
                    <a:p>
                      <a:r>
                        <a:rPr sz="1950" b="1">
                          <a:solidFill>
                            <a:srgbClr val="FFFFFF"/>
                          </a:solidFill>
                          <a:latin typeface="Arial"/>
                          <a:ea typeface="Arial"/>
                          <a:cs typeface="Arial"/>
                        </a:rPr>
                        <a:t>PersNr</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Name</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409575">
                <a:tc>
                  <a:txBody>
                    <a:bodyPr/>
                    <a:lstStyle/>
                    <a:p>
                      <a:r>
                        <a:rPr sz="1950" b="0">
                          <a:solidFill>
                            <a:srgbClr val="202B33"/>
                          </a:solidFill>
                          <a:latin typeface="Arial"/>
                          <a:ea typeface="Arial"/>
                          <a:cs typeface="Arial"/>
                        </a:rPr>
                        <a:t>2125</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Sokrates</a:t>
                      </a:r>
                    </a:p>
                  </a:txBody>
                  <a:tcPr marL="95250" marR="66675" marT="28575" marB="28575" anchor="ctr">
                    <a:lnR w="6668">
                      <a:solidFill>
                        <a:srgbClr val="CBD8E1"/>
                      </a:solidFill>
                    </a:lnR>
                    <a:lnB w="6668">
                      <a:solidFill>
                        <a:srgbClr val="CBD8E1"/>
                      </a:solidFill>
                    </a:lnB>
                    <a:solidFill>
                      <a:srgbClr val="FFFFFF"/>
                    </a:solidFill>
                  </a:tcPr>
                </a:tc>
              </a:tr>
              <a:tr h="409575">
                <a:tc>
                  <a:txBody>
                    <a:bodyPr/>
                    <a:lstStyle/>
                    <a:p>
                      <a:r>
                        <a:rPr sz="1950" b="0">
                          <a:solidFill>
                            <a:srgbClr val="202B33"/>
                          </a:solidFill>
                          <a:latin typeface="Arial"/>
                          <a:ea typeface="Arial"/>
                          <a:cs typeface="Arial"/>
                        </a:rPr>
                        <a:t>2126</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Russel</a:t>
                      </a:r>
                    </a:p>
                  </a:txBody>
                  <a:tcPr marL="95250" marR="66675" marT="28575" marB="28575" anchor="ctr">
                    <a:lnR w="6668">
                      <a:solidFill>
                        <a:srgbClr val="CBD8E1"/>
                      </a:solidFill>
                    </a:lnR>
                    <a:lnB w="6668">
                      <a:solidFill>
                        <a:srgbClr val="CBD8E1"/>
                      </a:solidFill>
                    </a:lnB>
                    <a:solidFill>
                      <a:srgbClr val="EDF4F9"/>
                    </a:solidFill>
                  </a:tcPr>
                </a:tc>
              </a:tr>
            </a:tbl>
          </a:graphicData>
        </a:graphic>
      </p:graphicFrame>
      <p:graphicFrame>
        <p:nvGraphicFramePr>
          <p:cNvPr id="10" name="">
            <a:extLst xmlns:a="http://schemas.openxmlformats.org/drawingml/2006/main">
              <a:ext uri="{FF2B5EF4-FFF2-40B4-BE49-F238E27FC236}">
                <a16:creationId xmlns:a16="http://schemas.microsoft.com/office/drawing/2014/main" id="{8E068ABE-E371-444B-9A95-62BC692A9654}"/>
              </a:ext>
            </a:extLst>
          </p:cNvPr>
          <p:cNvGraphicFramePr/>
          <p:nvPr/>
        </p:nvGraphicFramePr>
        <p:xfrm>
          <a:off xmlns:a="http://schemas.openxmlformats.org/drawingml/2006/main" x="6762750" y="3048000"/>
          <a:ext xmlns:a="http://schemas.openxmlformats.org/drawingml/2006/main" cx="4762500" cy="1228725"/>
        </p:xfrm>
        <a:graphic xmlns:a="http://schemas.openxmlformats.org/drawingml/2006/main">
          <a:graphicData uri="http://schemas.openxmlformats.org/drawingml/2006/table">
            <a:tbl>
              <a:tblPr/>
              <a:tblGrid>
                <a:gridCol w="1809750"/>
                <a:gridCol w="2952750"/>
              </a:tblGrid>
              <a:tr h="409575">
                <a:tc>
                  <a:txBody>
                    <a:bodyPr/>
                    <a:lstStyle/>
                    <a:p>
                      <a:r>
                        <a:rPr sz="1950" b="1">
                          <a:solidFill>
                            <a:srgbClr val="FFFFFF"/>
                          </a:solidFill>
                          <a:latin typeface="Arial"/>
                          <a:ea typeface="Arial"/>
                          <a:cs typeface="Arial"/>
                        </a:rPr>
                        <a:t>PersNr</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Name</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409575">
                <a:tc>
                  <a:txBody>
                    <a:bodyPr/>
                    <a:lstStyle/>
                    <a:p>
                      <a:r>
                        <a:rPr sz="1950" b="0">
                          <a:solidFill>
                            <a:srgbClr val="202B33"/>
                          </a:solidFill>
                          <a:latin typeface="Arial"/>
                          <a:ea typeface="Arial"/>
                          <a:cs typeface="Arial"/>
                        </a:rPr>
                        <a:t>2126</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Russel</a:t>
                      </a:r>
                    </a:p>
                  </a:txBody>
                  <a:tcPr marL="95250" marR="66675" marT="28575" marB="28575" anchor="ctr">
                    <a:lnR w="6668">
                      <a:solidFill>
                        <a:srgbClr val="CBD8E1"/>
                      </a:solidFill>
                    </a:lnR>
                    <a:lnB w="6668">
                      <a:solidFill>
                        <a:srgbClr val="CBD8E1"/>
                      </a:solidFill>
                    </a:lnB>
                    <a:solidFill>
                      <a:srgbClr val="FFFFFF"/>
                    </a:solidFill>
                  </a:tcPr>
                </a:tc>
              </a:tr>
              <a:tr h="409575">
                <a:tc>
                  <a:txBody>
                    <a:bodyPr/>
                    <a:lstStyle/>
                    <a:p>
                      <a:r>
                        <a:rPr sz="1950" b="0">
                          <a:solidFill>
                            <a:srgbClr val="202B33"/>
                          </a:solidFill>
                          <a:latin typeface="Arial"/>
                          <a:ea typeface="Arial"/>
                          <a:cs typeface="Arial"/>
                        </a:rPr>
                        <a:t>2137</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Kant</a:t>
                      </a:r>
                    </a:p>
                  </a:txBody>
                  <a:tcPr marL="95250" marR="66675" marT="28575" marB="28575" anchor="ctr">
                    <a:lnR w="6668">
                      <a:solidFill>
                        <a:srgbClr val="CBD8E1"/>
                      </a:solidFill>
                    </a:lnR>
                    <a:lnB w="6668">
                      <a:solidFill>
                        <a:srgbClr val="CBD8E1"/>
                      </a:solidFill>
                    </a:lnB>
                    <a:solidFill>
                      <a:srgbClr val="EDF4F9"/>
                    </a:solidFill>
                  </a:tcPr>
                </a:tc>
              </a:tr>
            </a:tbl>
          </a:graphicData>
        </a:graphic>
      </p:graphicFrame>
      <p:sp>
        <p:nvSpPr>
          <p:cNvPr id="11" name="">
            <a:extLst xmlns:a="http://schemas.openxmlformats.org/drawingml/2006/main">
              <a:ext uri="{FF2B5EF4-FFF2-40B4-BE49-F238E27FC236}">
                <a16:creationId xmlns:a16="http://schemas.microsoft.com/office/drawing/2014/main" id="{D4725F60-6B67-4257-9826-B754829FED83}"/>
              </a:ext>
            </a:extLst>
          </p:cNvPr>
          <p:cNvSpPr>
            <a:spLocks xmlns:a="http://schemas.openxmlformats.org/drawingml/2006/main" noGrp="1"/>
          </p:cNvSpPr>
          <p:nvPr/>
        </p:nvSpPr>
        <p:spPr>
          <a:xfrm xmlns:a="http://schemas.openxmlformats.org/drawingml/2006/main">
            <a:off x="609600" y="460057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Ergebnis</a:t>
            </a:r>
          </a:p>
        </p:txBody>
      </p:sp>
      <p:graphicFrame>
        <p:nvGraphicFramePr>
          <p:cNvPr id="12" name="">
            <a:extLst xmlns:a="http://schemas.openxmlformats.org/drawingml/2006/main">
              <a:ext uri="{FF2B5EF4-FFF2-40B4-BE49-F238E27FC236}">
                <a16:creationId xmlns:a16="http://schemas.microsoft.com/office/drawing/2014/main" id="{8A192B19-AC12-49D4-AB29-EB48267AE460}"/>
              </a:ext>
            </a:extLst>
          </p:cNvPr>
          <p:cNvGraphicFramePr/>
          <p:nvPr/>
        </p:nvGraphicFramePr>
        <p:xfrm>
          <a:off xmlns:a="http://schemas.openxmlformats.org/drawingml/2006/main" x="609600" y="5010150"/>
          <a:ext xmlns:a="http://schemas.openxmlformats.org/drawingml/2006/main" cx="7239000" cy="1181100"/>
        </p:xfrm>
        <a:graphic xmlns:a="http://schemas.openxmlformats.org/drawingml/2006/main">
          <a:graphicData uri="http://schemas.openxmlformats.org/drawingml/2006/table">
            <a:tbl>
              <a:tblPr/>
              <a:tblGrid>
                <a:gridCol w="2190750"/>
                <a:gridCol w="5048250"/>
              </a:tblGrid>
              <a:tr h="295275">
                <a:tc>
                  <a:txBody>
                    <a:bodyPr/>
                    <a:lstStyle/>
                    <a:p>
                      <a:r>
                        <a:rPr sz="1800" b="1">
                          <a:solidFill>
                            <a:srgbClr val="FFFFFF"/>
                          </a:solidFill>
                          <a:latin typeface="Arial"/>
                          <a:ea typeface="Arial"/>
                          <a:cs typeface="Arial"/>
                        </a:rPr>
                        <a:t>PersNr</a:t>
                      </a:r>
                    </a:p>
                  </a:txBody>
                  <a:tcPr marL="95250" marR="66675" marT="9525" marB="952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800" b="1">
                          <a:solidFill>
                            <a:srgbClr val="FFFFFF"/>
                          </a:solidFill>
                          <a:latin typeface="Arial"/>
                          <a:ea typeface="Arial"/>
                          <a:cs typeface="Arial"/>
                        </a:rPr>
                        <a:t>Name</a:t>
                      </a:r>
                    </a:p>
                  </a:txBody>
                  <a:tcPr marL="95250" marR="66675" marT="9525" marB="9525" anchor="ctr">
                    <a:lnR w="6668">
                      <a:solidFill>
                        <a:srgbClr val="CBD8E1"/>
                      </a:solidFill>
                    </a:lnR>
                    <a:lnT w="6668">
                      <a:solidFill>
                        <a:srgbClr val="CBD8E1"/>
                      </a:solidFill>
                    </a:lnT>
                    <a:lnB w="6668">
                      <a:solidFill>
                        <a:srgbClr val="CBD8E1"/>
                      </a:solidFill>
                    </a:lnB>
                    <a:solidFill>
                      <a:srgbClr val="005293"/>
                    </a:solidFill>
                  </a:tcPr>
                </a:tc>
              </a:tr>
              <a:tr h="295275">
                <a:tc>
                  <a:txBody>
                    <a:bodyPr/>
                    <a:lstStyle/>
                    <a:p>
                      <a:r>
                        <a:rPr sz="1800" b="0">
                          <a:solidFill>
                            <a:srgbClr val="202B33"/>
                          </a:solidFill>
                          <a:latin typeface="Arial"/>
                          <a:ea typeface="Arial"/>
                          <a:cs typeface="Arial"/>
                        </a:rPr>
                        <a:t>2125</a:t>
                      </a:r>
                    </a:p>
                  </a:txBody>
                  <a:tcPr marL="95250" marR="66675" marT="9525" marB="9525" anchor="ctr">
                    <a:lnL w="6668">
                      <a:solidFill>
                        <a:srgbClr val="CBD8E1"/>
                      </a:solidFill>
                    </a:lnL>
                    <a:lnR w="6668">
                      <a:solidFill>
                        <a:srgbClr val="CBD8E1"/>
                      </a:solidFill>
                    </a:lnR>
                    <a:lnB w="6668">
                      <a:solidFill>
                        <a:srgbClr val="CBD8E1"/>
                      </a:solidFill>
                    </a:lnB>
                    <a:solidFill>
                      <a:srgbClr val="FFFFFF"/>
                    </a:solidFill>
                  </a:tcPr>
                </a:tc>
                <a:tc>
                  <a:txBody>
                    <a:bodyPr/>
                    <a:lstStyle/>
                    <a:p>
                      <a:r>
                        <a:rPr sz="1800" b="0">
                          <a:solidFill>
                            <a:srgbClr val="202B33"/>
                          </a:solidFill>
                          <a:latin typeface="Arial"/>
                          <a:ea typeface="Arial"/>
                          <a:cs typeface="Arial"/>
                        </a:rPr>
                        <a:t>Sokrates</a:t>
                      </a:r>
                    </a:p>
                  </a:txBody>
                  <a:tcPr marL="95250" marR="66675" marT="9525" marB="9525" anchor="ctr">
                    <a:lnR w="6668">
                      <a:solidFill>
                        <a:srgbClr val="CBD8E1"/>
                      </a:solidFill>
                    </a:lnR>
                    <a:lnB w="6668">
                      <a:solidFill>
                        <a:srgbClr val="CBD8E1"/>
                      </a:solidFill>
                    </a:lnB>
                    <a:solidFill>
                      <a:srgbClr val="FFFFFF"/>
                    </a:solidFill>
                  </a:tcPr>
                </a:tc>
              </a:tr>
              <a:tr h="295275">
                <a:tc>
                  <a:txBody>
                    <a:bodyPr/>
                    <a:lstStyle/>
                    <a:p>
                      <a:r>
                        <a:rPr sz="1800" b="0">
                          <a:solidFill>
                            <a:srgbClr val="202B33"/>
                          </a:solidFill>
                          <a:latin typeface="Arial"/>
                          <a:ea typeface="Arial"/>
                          <a:cs typeface="Arial"/>
                        </a:rPr>
                        <a:t>2126</a:t>
                      </a:r>
                    </a:p>
                  </a:txBody>
                  <a:tcPr marL="95250" marR="66675" marT="9525" marB="9525" anchor="ctr">
                    <a:lnL w="6668">
                      <a:solidFill>
                        <a:srgbClr val="CBD8E1"/>
                      </a:solidFill>
                    </a:lnL>
                    <a:lnR w="6668">
                      <a:solidFill>
                        <a:srgbClr val="CBD8E1"/>
                      </a:solidFill>
                    </a:lnR>
                    <a:lnB w="6668">
                      <a:solidFill>
                        <a:srgbClr val="CBD8E1"/>
                      </a:solidFill>
                    </a:lnB>
                    <a:solidFill>
                      <a:srgbClr val="EDF4F9"/>
                    </a:solidFill>
                  </a:tcPr>
                </a:tc>
                <a:tc>
                  <a:txBody>
                    <a:bodyPr/>
                    <a:lstStyle/>
                    <a:p>
                      <a:r>
                        <a:rPr sz="1800" b="0">
                          <a:solidFill>
                            <a:srgbClr val="202B33"/>
                          </a:solidFill>
                          <a:latin typeface="Arial"/>
                          <a:ea typeface="Arial"/>
                          <a:cs typeface="Arial"/>
                        </a:rPr>
                        <a:t>Russel</a:t>
                      </a:r>
                    </a:p>
                  </a:txBody>
                  <a:tcPr marL="95250" marR="66675" marT="9525" marB="9525" anchor="ctr">
                    <a:lnR w="6668">
                      <a:solidFill>
                        <a:srgbClr val="CBD8E1"/>
                      </a:solidFill>
                    </a:lnR>
                    <a:lnB w="6668">
                      <a:solidFill>
                        <a:srgbClr val="CBD8E1"/>
                      </a:solidFill>
                    </a:lnB>
                    <a:solidFill>
                      <a:srgbClr val="EDF4F9"/>
                    </a:solidFill>
                  </a:tcPr>
                </a:tc>
              </a:tr>
              <a:tr h="295275">
                <a:tc>
                  <a:txBody>
                    <a:bodyPr/>
                    <a:lstStyle/>
                    <a:p>
                      <a:r>
                        <a:rPr sz="1800" b="0">
                          <a:solidFill>
                            <a:srgbClr val="202B33"/>
                          </a:solidFill>
                          <a:latin typeface="Arial"/>
                          <a:ea typeface="Arial"/>
                          <a:cs typeface="Arial"/>
                        </a:rPr>
                        <a:t>2137</a:t>
                      </a:r>
                    </a:p>
                  </a:txBody>
                  <a:tcPr marL="95250" marR="66675" marT="9525" marB="9525" anchor="ctr">
                    <a:lnL w="6668">
                      <a:solidFill>
                        <a:srgbClr val="CBD8E1"/>
                      </a:solidFill>
                    </a:lnL>
                    <a:lnR w="6668">
                      <a:solidFill>
                        <a:srgbClr val="CBD8E1"/>
                      </a:solidFill>
                    </a:lnR>
                    <a:lnB w="6668">
                      <a:solidFill>
                        <a:srgbClr val="CBD8E1"/>
                      </a:solidFill>
                    </a:lnB>
                    <a:solidFill>
                      <a:srgbClr val="FFFFFF"/>
                    </a:solidFill>
                  </a:tcPr>
                </a:tc>
                <a:tc>
                  <a:txBody>
                    <a:bodyPr/>
                    <a:lstStyle/>
                    <a:p>
                      <a:r>
                        <a:rPr sz="1800" b="0">
                          <a:solidFill>
                            <a:srgbClr val="202B33"/>
                          </a:solidFill>
                          <a:latin typeface="Arial"/>
                          <a:ea typeface="Arial"/>
                          <a:cs typeface="Arial"/>
                        </a:rPr>
                        <a:t>Kant</a:t>
                      </a:r>
                    </a:p>
                  </a:txBody>
                  <a:tcPr marL="95250" marR="66675" marT="9525" marB="9525" anchor="ctr">
                    <a:lnR w="6668">
                      <a:solidFill>
                        <a:srgbClr val="CBD8E1"/>
                      </a:solidFill>
                    </a:lnR>
                    <a:lnB w="6668">
                      <a:solidFill>
                        <a:srgbClr val="CBD8E1"/>
                      </a:solidFill>
                    </a:lnB>
                    <a:solidFill>
                      <a:srgbClr val="FFFFFF"/>
                    </a:solidFill>
                  </a:tcPr>
                </a:tc>
              </a:tr>
            </a:tbl>
          </a:graphicData>
        </a:graphic>
      </p:graphicFrame>
    </p:spTree>
    <p:extLst>
      <p:ext uri="{BB962C8B-B14F-4D97-AF65-F5344CB8AC3E}">
        <p14:creationId xmlns:p14="http://schemas.microsoft.com/office/powerpoint/2010/main" val="763472523"/>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45A73D3-F7B4-416B-983D-09C63B73D543}"/>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Schnitt</a:t>
            </a:r>
          </a:p>
        </p:txBody>
      </p:sp>
      <p:sp>
        <p:nvSpPr>
          <p:cNvPr id="2" name="">
            <a:extLst xmlns:a="http://schemas.openxmlformats.org/drawingml/2006/main">
              <a:ext uri="{FF2B5EF4-FFF2-40B4-BE49-F238E27FC236}">
                <a16:creationId xmlns:a16="http://schemas.microsoft.com/office/drawing/2014/main" id="{6909E8B1-B5A5-41F7-B85E-2772F354B11D}"/>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46F5CD72-C68E-40E4-9E9E-2FB89A1C34FA}"/>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36</a:t>
            </a:r>
          </a:p>
        </p:txBody>
      </p:sp>
      <p:sp>
        <p:nvSpPr>
          <p:cNvPr id="4" name="">
            <a:extLst xmlns:a="http://schemas.openxmlformats.org/drawingml/2006/main">
              <a:ext uri="{FF2B5EF4-FFF2-40B4-BE49-F238E27FC236}">
                <a16:creationId xmlns:a16="http://schemas.microsoft.com/office/drawing/2014/main" id="{04DDBA01-CA7D-4322-A9C2-193E748866B3}"/>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35, 37</a:t>
            </a:r>
          </a:p>
        </p:txBody>
      </p:sp>
      <p:sp>
        <p:nvSpPr>
          <p:cNvPr id="5" name="">
            <a:extLst xmlns:a="http://schemas.openxmlformats.org/drawingml/2006/main">
              <a:ext uri="{FF2B5EF4-FFF2-40B4-BE49-F238E27FC236}">
                <a16:creationId xmlns:a16="http://schemas.microsoft.com/office/drawing/2014/main" id="{D22C88C8-BCF3-4712-A839-9C36103409FA}"/>
              </a:ext>
            </a:extLst>
          </p:cNvPr>
          <p:cNvSpPr>
            <a:spLocks xmlns:a="http://schemas.openxmlformats.org/drawingml/2006/main" noGrp="1"/>
          </p:cNvSpPr>
          <p:nvPr/>
        </p:nvSpPr>
        <p:spPr>
          <a:xfrm xmlns:a="http://schemas.openxmlformats.org/drawingml/2006/main">
            <a:off x="609600" y="1428750"/>
            <a:ext cx="931164"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3000" b="0">
                <a:solidFill>
                  <a:srgbClr val="005293"/>
                </a:solidFill>
                <a:latin typeface="STIX Two Math"/>
                <a:ea typeface="STIX Two Math"/>
                <a:cs typeface="STIX Two Math"/>
              </a:defRPr>
            </a:defPPr>
            <a:lvl1pPr>
              <a:defRPr sz="3000" b="0">
                <a:solidFill>
                  <a:srgbClr val="005293"/>
                </a:solidFill>
                <a:latin typeface="STIX Two Math"/>
                <a:ea typeface="STIX Two Math"/>
                <a:cs typeface="STIX Two Math"/>
              </a:defRPr>
            </a:lvl1pPr>
            <a:lvl2pPr>
              <a:defRPr sz="3000" b="0">
                <a:solidFill>
                  <a:srgbClr val="005293"/>
                </a:solidFill>
                <a:latin typeface="STIX Two Math"/>
                <a:ea typeface="STIX Two Math"/>
                <a:cs typeface="STIX Two Math"/>
              </a:defRPr>
            </a:lvl2pPr>
            <a:lvl3pPr>
              <a:defRPr sz="3000" b="0">
                <a:solidFill>
                  <a:srgbClr val="005293"/>
                </a:solidFill>
                <a:latin typeface="STIX Two Math"/>
                <a:ea typeface="STIX Two Math"/>
                <a:cs typeface="STIX Two Math"/>
              </a:defRPr>
            </a:lvl3pPr>
            <a:lvl4pPr>
              <a:defRPr sz="3000" b="0">
                <a:solidFill>
                  <a:srgbClr val="005293"/>
                </a:solidFill>
                <a:latin typeface="STIX Two Math"/>
                <a:ea typeface="STIX Two Math"/>
                <a:cs typeface="STIX Two Math"/>
              </a:defRPr>
            </a:lvl4pPr>
            <a:lvl5pPr>
              <a:defRPr sz="3000" b="0">
                <a:solidFill>
                  <a:srgbClr val="005293"/>
                </a:solidFill>
                <a:latin typeface="STIX Two Math"/>
                <a:ea typeface="STIX Two Math"/>
                <a:cs typeface="STIX Two Math"/>
              </a:defRPr>
            </a:lvl5pPr>
            <a:lvl6pPr>
              <a:defRPr sz="3000" b="0">
                <a:solidFill>
                  <a:srgbClr val="005293"/>
                </a:solidFill>
                <a:latin typeface="STIX Two Math"/>
                <a:ea typeface="STIX Two Math"/>
                <a:cs typeface="STIX Two Math"/>
              </a:defRPr>
            </a:lvl6pPr>
            <a:lvl7pPr>
              <a:defRPr sz="3000" b="0">
                <a:solidFill>
                  <a:srgbClr val="005293"/>
                </a:solidFill>
                <a:latin typeface="STIX Two Math"/>
                <a:ea typeface="STIX Two Math"/>
                <a:cs typeface="STIX Two Math"/>
              </a:defRPr>
            </a:lvl7pPr>
            <a:lvl8pPr>
              <a:defRPr sz="3000" b="0">
                <a:solidFill>
                  <a:srgbClr val="005293"/>
                </a:solidFill>
                <a:latin typeface="STIX Two Math"/>
                <a:ea typeface="STIX Two Math"/>
                <a:cs typeface="STIX Two Math"/>
              </a:defRPr>
            </a:lvl8pPr>
            <a:lvl9pPr>
              <a:defRPr sz="3000" b="0">
                <a:solidFill>
                  <a:srgbClr val="005293"/>
                </a:solidFill>
                <a:latin typeface="STIX Two Math"/>
                <a:ea typeface="STIX Two Math"/>
                <a:cs typeface="STIX Two Math"/>
              </a:defRPr>
            </a:lvl9pPr>
          </a:lstStyle>
          <a:p xmlns:a="http://schemas.openxmlformats.org/drawingml/2006/main">
            <a:pPr>
              <a:defRPr sz="3000" b="0">
                <a:solidFill>
                  <a:srgbClr val="005293"/>
                </a:solidFill>
                <a:latin typeface="STIX Two Math"/>
                <a:ea typeface="STIX Two Math"/>
                <a:cs typeface="STIX Two Math"/>
              </a:defRPr>
            </a:pPr>
            <a:r>
              <a:rPr sz="3000" b="0">
                <a:solidFill>
                  <a:srgbClr val="005293"/>
                </a:solidFill>
                <a:latin typeface="STIX Two Math"/>
                <a:ea typeface="STIX Two Math"/>
                <a:cs typeface="STIX Two Math"/>
              </a:rPr>
              <a:t>R ∩ S</a:t>
            </a:r>
          </a:p>
        </p:txBody>
      </p:sp>
      <p:sp>
        <p:nvSpPr>
          <p:cNvPr id="6" name="">
            <a:extLst xmlns:a="http://schemas.openxmlformats.org/drawingml/2006/main">
              <a:ext uri="{FF2B5EF4-FFF2-40B4-BE49-F238E27FC236}">
                <a16:creationId xmlns:a16="http://schemas.microsoft.com/office/drawing/2014/main" id="{286C6F80-82FF-451D-9A2F-A31B1882DBD6}"/>
              </a:ext>
            </a:extLst>
          </p:cNvPr>
          <p:cNvSpPr>
            <a:spLocks xmlns:a="http://schemas.openxmlformats.org/drawingml/2006/main" noGrp="1"/>
          </p:cNvSpPr>
          <p:nvPr/>
        </p:nvSpPr>
        <p:spPr>
          <a:xfrm xmlns:a="http://schemas.openxmlformats.org/drawingml/2006/main">
            <a:off x="609600" y="24765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Enthält genau die Tupel, die in beiden Relationen liegen.</a:t>
            </a:r>
          </a:p>
        </p:txBody>
      </p:sp>
      <p:sp>
        <p:nvSpPr>
          <p:cNvPr id="7" name="">
            <a:extLst xmlns:a="http://schemas.openxmlformats.org/drawingml/2006/main">
              <a:ext uri="{FF2B5EF4-FFF2-40B4-BE49-F238E27FC236}">
                <a16:creationId xmlns:a16="http://schemas.microsoft.com/office/drawing/2014/main" id="{C4F0E29D-3C6E-4BFE-92B9-54C1E9267DB0}"/>
              </a:ext>
            </a:extLst>
          </p:cNvPr>
          <p:cNvSpPr>
            <a:spLocks xmlns:a="http://schemas.openxmlformats.org/drawingml/2006/main" noGrp="1"/>
          </p:cNvSpPr>
          <p:nvPr/>
        </p:nvSpPr>
        <p:spPr>
          <a:xfrm xmlns:a="http://schemas.openxmlformats.org/drawingml/2006/main">
            <a:off x="609600" y="34290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Beide Eingaben müssen dasselbe kompatible Schema haben.</a:t>
            </a:r>
          </a:p>
        </p:txBody>
      </p:sp>
      <p:sp>
        <p:nvSpPr>
          <p:cNvPr id="8" name="">
            <a:extLst xmlns:a="http://schemas.openxmlformats.org/drawingml/2006/main">
              <a:ext uri="{FF2B5EF4-FFF2-40B4-BE49-F238E27FC236}">
                <a16:creationId xmlns:a16="http://schemas.microsoft.com/office/drawing/2014/main" id="{64429D12-3607-4A76-96F1-26B6863AEE88}"/>
              </a:ext>
            </a:extLst>
          </p:cNvPr>
          <p:cNvSpPr>
            <a:spLocks xmlns:a="http://schemas.openxmlformats.org/drawingml/2006/main" noGrp="1"/>
          </p:cNvSpPr>
          <p:nvPr/>
        </p:nvSpPr>
        <p:spPr>
          <a:xfrm xmlns:a="http://schemas.openxmlformats.org/drawingml/2006/main">
            <a:off x="609600" y="43815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Verglichen werden ganze Tupel, nicht nur einzelne Attributwerte.</a:t>
            </a:r>
          </a:p>
        </p:txBody>
      </p:sp>
    </p:spTree>
    <p:extLst>
      <p:ext uri="{BB962C8B-B14F-4D97-AF65-F5344CB8AC3E}">
        <p14:creationId xmlns:p14="http://schemas.microsoft.com/office/powerpoint/2010/main" val="216657546"/>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146FC53-22D0-4E9F-9426-096ECBBE608E}"/>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Schnitt: Beispiel</a:t>
            </a:r>
          </a:p>
        </p:txBody>
      </p:sp>
      <p:sp>
        <p:nvSpPr>
          <p:cNvPr id="2" name="">
            <a:extLst xmlns:a="http://schemas.openxmlformats.org/drawingml/2006/main">
              <a:ext uri="{FF2B5EF4-FFF2-40B4-BE49-F238E27FC236}">
                <a16:creationId xmlns:a16="http://schemas.microsoft.com/office/drawing/2014/main" id="{1C69DA6E-1BC0-4FD1-AE80-405C18016269}"/>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4FB6FDE6-4930-4983-9FA1-5BBF5CC5B8D5}"/>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37</a:t>
            </a:r>
          </a:p>
        </p:txBody>
      </p:sp>
      <p:sp>
        <p:nvSpPr>
          <p:cNvPr id="4" name="">
            <a:extLst xmlns:a="http://schemas.openxmlformats.org/drawingml/2006/main">
              <a:ext uri="{FF2B5EF4-FFF2-40B4-BE49-F238E27FC236}">
                <a16:creationId xmlns:a16="http://schemas.microsoft.com/office/drawing/2014/main" id="{884FBB58-6163-4A11-A43E-C80AC167E3EC}"/>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37</a:t>
            </a:r>
          </a:p>
        </p:txBody>
      </p:sp>
      <p:sp>
        <p:nvSpPr>
          <p:cNvPr id="5" name="">
            <a:extLst xmlns:a="http://schemas.openxmlformats.org/drawingml/2006/main">
              <a:ext uri="{FF2B5EF4-FFF2-40B4-BE49-F238E27FC236}">
                <a16:creationId xmlns:a16="http://schemas.microsoft.com/office/drawing/2014/main" id="{D77EB5DD-426E-4126-8DF3-F9C258DCBE46}"/>
              </a:ext>
            </a:extLst>
          </p:cNvPr>
          <p:cNvSpPr>
            <a:spLocks xmlns:a="http://schemas.openxmlformats.org/drawingml/2006/main" noGrp="1"/>
          </p:cNvSpPr>
          <p:nvPr/>
        </p:nvSpPr>
        <p:spPr>
          <a:xfrm xmlns:a="http://schemas.openxmlformats.org/drawingml/2006/main">
            <a:off x="609600" y="13049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B33"/>
                </a:solidFill>
                <a:latin typeface="Arial"/>
                <a:ea typeface="Arial"/>
                <a:cs typeface="Arial"/>
              </a:defRPr>
            </a:defPPr>
            <a:lvl1pPr>
              <a:defRPr sz="2025" b="0">
                <a:solidFill>
                  <a:srgbClr val="202B33"/>
                </a:solidFill>
                <a:latin typeface="Arial"/>
                <a:ea typeface="Arial"/>
                <a:cs typeface="Arial"/>
              </a:defRPr>
            </a:lvl1pPr>
            <a:lvl2pPr>
              <a:defRPr sz="2025" b="0">
                <a:solidFill>
                  <a:srgbClr val="202B33"/>
                </a:solidFill>
                <a:latin typeface="Arial"/>
                <a:ea typeface="Arial"/>
                <a:cs typeface="Arial"/>
              </a:defRPr>
            </a:lvl2pPr>
            <a:lvl3pPr>
              <a:defRPr sz="2025" b="0">
                <a:solidFill>
                  <a:srgbClr val="202B33"/>
                </a:solidFill>
                <a:latin typeface="Arial"/>
                <a:ea typeface="Arial"/>
                <a:cs typeface="Arial"/>
              </a:defRPr>
            </a:lvl3pPr>
            <a:lvl4pPr>
              <a:defRPr sz="2025" b="0">
                <a:solidFill>
                  <a:srgbClr val="202B33"/>
                </a:solidFill>
                <a:latin typeface="Arial"/>
                <a:ea typeface="Arial"/>
                <a:cs typeface="Arial"/>
              </a:defRPr>
            </a:lvl4pPr>
            <a:lvl5pPr>
              <a:defRPr sz="2025" b="0">
                <a:solidFill>
                  <a:srgbClr val="202B33"/>
                </a:solidFill>
                <a:latin typeface="Arial"/>
                <a:ea typeface="Arial"/>
                <a:cs typeface="Arial"/>
              </a:defRPr>
            </a:lvl5pPr>
            <a:lvl6pPr>
              <a:defRPr sz="2025" b="0">
                <a:solidFill>
                  <a:srgbClr val="202B33"/>
                </a:solidFill>
                <a:latin typeface="Arial"/>
                <a:ea typeface="Arial"/>
                <a:cs typeface="Arial"/>
              </a:defRPr>
            </a:lvl6pPr>
            <a:lvl7pPr>
              <a:defRPr sz="2025" b="0">
                <a:solidFill>
                  <a:srgbClr val="202B33"/>
                </a:solidFill>
                <a:latin typeface="Arial"/>
                <a:ea typeface="Arial"/>
                <a:cs typeface="Arial"/>
              </a:defRPr>
            </a:lvl7pPr>
            <a:lvl8pPr>
              <a:defRPr sz="2025" b="0">
                <a:solidFill>
                  <a:srgbClr val="202B33"/>
                </a:solidFill>
                <a:latin typeface="Arial"/>
                <a:ea typeface="Arial"/>
                <a:cs typeface="Arial"/>
              </a:defRPr>
            </a:lvl8pPr>
            <a:lvl9pPr>
              <a:defRPr sz="2025" b="0">
                <a:solidFill>
                  <a:srgbClr val="202B33"/>
                </a:solidFill>
                <a:latin typeface="Arial"/>
                <a:ea typeface="Arial"/>
                <a:cs typeface="Arial"/>
              </a:defRPr>
            </a:lvl9pPr>
          </a:lstStyle>
          <a:p xmlns:a="http://schemas.openxmlformats.org/drawingml/2006/main">
            <a:pPr>
              <a:defRPr sz="2025" b="0">
                <a:solidFill>
                  <a:srgbClr val="202B33"/>
                </a:solidFill>
                <a:latin typeface="Arial"/>
                <a:ea typeface="Arial"/>
                <a:cs typeface="Arial"/>
              </a:defRPr>
            </a:pPr>
            <a:r>
              <a:rPr sz="2025" b="0">
                <a:solidFill>
                  <a:srgbClr val="202B33"/>
                </a:solidFill>
                <a:latin typeface="Arial"/>
                <a:ea typeface="Arial"/>
                <a:cs typeface="Arial"/>
              </a:rPr>
              <a:t>„Welche Professoren sind auf beiden Listen?“</a:t>
            </a:r>
          </a:p>
        </p:txBody>
      </p:sp>
      <p:sp>
        <p:nvSpPr>
          <p:cNvPr id="6" name="">
            <a:extLst xmlns:a="http://schemas.openxmlformats.org/drawingml/2006/main">
              <a:ext uri="{FF2B5EF4-FFF2-40B4-BE49-F238E27FC236}">
                <a16:creationId xmlns:a16="http://schemas.microsoft.com/office/drawing/2014/main" id="{3FC6C97E-CC5D-4B48-BCF6-852F0411D13A}"/>
              </a:ext>
            </a:extLst>
          </p:cNvPr>
          <p:cNvSpPr>
            <a:spLocks xmlns:a="http://schemas.openxmlformats.org/drawingml/2006/main" noGrp="1"/>
          </p:cNvSpPr>
          <p:nvPr/>
        </p:nvSpPr>
        <p:spPr>
          <a:xfrm xmlns:a="http://schemas.openxmlformats.org/drawingml/2006/main">
            <a:off x="609600" y="1895475"/>
            <a:ext cx="2106625" cy="597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2850" b="0">
                <a:solidFill>
                  <a:srgbClr val="005293"/>
                </a:solidFill>
                <a:latin typeface="STIX Two Math"/>
                <a:ea typeface="STIX Two Math"/>
                <a:cs typeface="STIX Two Math"/>
              </a:defRPr>
            </a:defPPr>
            <a:lvl1pPr>
              <a:defRPr sz="2850" b="0">
                <a:solidFill>
                  <a:srgbClr val="005293"/>
                </a:solidFill>
                <a:latin typeface="STIX Two Math"/>
                <a:ea typeface="STIX Two Math"/>
                <a:cs typeface="STIX Two Math"/>
              </a:defRPr>
            </a:lvl1pPr>
            <a:lvl2pPr>
              <a:defRPr sz="2850" b="0">
                <a:solidFill>
                  <a:srgbClr val="005293"/>
                </a:solidFill>
                <a:latin typeface="STIX Two Math"/>
                <a:ea typeface="STIX Two Math"/>
                <a:cs typeface="STIX Two Math"/>
              </a:defRPr>
            </a:lvl2pPr>
            <a:lvl3pPr>
              <a:defRPr sz="2850" b="0">
                <a:solidFill>
                  <a:srgbClr val="005293"/>
                </a:solidFill>
                <a:latin typeface="STIX Two Math"/>
                <a:ea typeface="STIX Two Math"/>
                <a:cs typeface="STIX Two Math"/>
              </a:defRPr>
            </a:lvl3pPr>
            <a:lvl4pPr>
              <a:defRPr sz="2850" b="0">
                <a:solidFill>
                  <a:srgbClr val="005293"/>
                </a:solidFill>
                <a:latin typeface="STIX Two Math"/>
                <a:ea typeface="STIX Two Math"/>
                <a:cs typeface="STIX Two Math"/>
              </a:defRPr>
            </a:lvl4pPr>
            <a:lvl5pPr>
              <a:defRPr sz="2850" b="0">
                <a:solidFill>
                  <a:srgbClr val="005293"/>
                </a:solidFill>
                <a:latin typeface="STIX Two Math"/>
                <a:ea typeface="STIX Two Math"/>
                <a:cs typeface="STIX Two Math"/>
              </a:defRPr>
            </a:lvl5pPr>
            <a:lvl6pPr>
              <a:defRPr sz="2850" b="0">
                <a:solidFill>
                  <a:srgbClr val="005293"/>
                </a:solidFill>
                <a:latin typeface="STIX Two Math"/>
                <a:ea typeface="STIX Two Math"/>
                <a:cs typeface="STIX Two Math"/>
              </a:defRPr>
            </a:lvl6pPr>
            <a:lvl7pPr>
              <a:defRPr sz="2850" b="0">
                <a:solidFill>
                  <a:srgbClr val="005293"/>
                </a:solidFill>
                <a:latin typeface="STIX Two Math"/>
                <a:ea typeface="STIX Two Math"/>
                <a:cs typeface="STIX Two Math"/>
              </a:defRPr>
            </a:lvl7pPr>
            <a:lvl8pPr>
              <a:defRPr sz="2850" b="0">
                <a:solidFill>
                  <a:srgbClr val="005293"/>
                </a:solidFill>
                <a:latin typeface="STIX Two Math"/>
                <a:ea typeface="STIX Two Math"/>
                <a:cs typeface="STIX Two Math"/>
              </a:defRPr>
            </a:lvl8pPr>
            <a:lvl9pPr>
              <a:defRPr sz="2850" b="0">
                <a:solidFill>
                  <a:srgbClr val="005293"/>
                </a:solidFill>
                <a:latin typeface="STIX Two Math"/>
                <a:ea typeface="STIX Two Math"/>
                <a:cs typeface="STIX Two Math"/>
              </a:defRPr>
            </a:lvl9pPr>
          </a:lstStyle>
          <a:p xmlns:a="http://schemas.openxmlformats.org/drawingml/2006/main">
            <a:pPr>
              <a:defRPr sz="2850" b="0">
                <a:solidFill>
                  <a:srgbClr val="005293"/>
                </a:solidFill>
                <a:latin typeface="STIX Two Math"/>
                <a:ea typeface="STIX Two Math"/>
                <a:cs typeface="STIX Two Math"/>
              </a:defRPr>
            </a:pPr>
            <a:r>
              <a:rPr sz="2850" b="0">
                <a:solidFill>
                  <a:srgbClr val="005293"/>
                </a:solidFill>
                <a:latin typeface="STIX Two Math"/>
                <a:ea typeface="STIX Two Math"/>
                <a:cs typeface="STIX Two Math"/>
              </a:rPr>
              <a:t>Prof1 ∩ Prof2</a:t>
            </a:r>
          </a:p>
        </p:txBody>
      </p:sp>
      <p:sp>
        <p:nvSpPr>
          <p:cNvPr id="7" name="">
            <a:extLst xmlns:a="http://schemas.openxmlformats.org/drawingml/2006/main">
              <a:ext uri="{FF2B5EF4-FFF2-40B4-BE49-F238E27FC236}">
                <a16:creationId xmlns:a16="http://schemas.microsoft.com/office/drawing/2014/main" id="{D90B776A-BFD8-4D8C-900D-B7E257D57FA2}"/>
              </a:ext>
            </a:extLst>
          </p:cNvPr>
          <p:cNvSpPr>
            <a:spLocks xmlns:a="http://schemas.openxmlformats.org/drawingml/2006/main" noGrp="1"/>
          </p:cNvSpPr>
          <p:nvPr/>
        </p:nvSpPr>
        <p:spPr>
          <a:xfrm xmlns:a="http://schemas.openxmlformats.org/drawingml/2006/main">
            <a:off x="609600" y="263842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Prof1</a:t>
            </a:r>
          </a:p>
        </p:txBody>
      </p:sp>
      <p:sp>
        <p:nvSpPr>
          <p:cNvPr id="8" name="">
            <a:extLst xmlns:a="http://schemas.openxmlformats.org/drawingml/2006/main">
              <a:ext uri="{FF2B5EF4-FFF2-40B4-BE49-F238E27FC236}">
                <a16:creationId xmlns:a16="http://schemas.microsoft.com/office/drawing/2014/main" id="{BA875B9B-BC50-41B0-A6D9-BC06E9846651}"/>
              </a:ext>
            </a:extLst>
          </p:cNvPr>
          <p:cNvSpPr>
            <a:spLocks xmlns:a="http://schemas.openxmlformats.org/drawingml/2006/main" noGrp="1"/>
          </p:cNvSpPr>
          <p:nvPr/>
        </p:nvSpPr>
        <p:spPr>
          <a:xfrm xmlns:a="http://schemas.openxmlformats.org/drawingml/2006/main">
            <a:off x="6762750" y="263842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Prof2</a:t>
            </a:r>
          </a:p>
        </p:txBody>
      </p:sp>
      <p:graphicFrame>
        <p:nvGraphicFramePr>
          <p:cNvPr id="9" name="">
            <a:extLst xmlns:a="http://schemas.openxmlformats.org/drawingml/2006/main">
              <a:ext uri="{FF2B5EF4-FFF2-40B4-BE49-F238E27FC236}">
                <a16:creationId xmlns:a16="http://schemas.microsoft.com/office/drawing/2014/main" id="{C649641A-0BC3-495E-A83C-2883493DB0E8}"/>
              </a:ext>
            </a:extLst>
          </p:cNvPr>
          <p:cNvGraphicFramePr/>
          <p:nvPr/>
        </p:nvGraphicFramePr>
        <p:xfrm>
          <a:off xmlns:a="http://schemas.openxmlformats.org/drawingml/2006/main" x="609600" y="3048000"/>
          <a:ext xmlns:a="http://schemas.openxmlformats.org/drawingml/2006/main" cx="4762500" cy="1228725"/>
        </p:xfrm>
        <a:graphic xmlns:a="http://schemas.openxmlformats.org/drawingml/2006/main">
          <a:graphicData uri="http://schemas.openxmlformats.org/drawingml/2006/table">
            <a:tbl>
              <a:tblPr/>
              <a:tblGrid>
                <a:gridCol w="1809750"/>
                <a:gridCol w="2952750"/>
              </a:tblGrid>
              <a:tr h="409575">
                <a:tc>
                  <a:txBody>
                    <a:bodyPr/>
                    <a:lstStyle/>
                    <a:p>
                      <a:r>
                        <a:rPr sz="1950" b="1">
                          <a:solidFill>
                            <a:srgbClr val="FFFFFF"/>
                          </a:solidFill>
                          <a:latin typeface="Arial"/>
                          <a:ea typeface="Arial"/>
                          <a:cs typeface="Arial"/>
                        </a:rPr>
                        <a:t>PersNr</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Name</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409575">
                <a:tc>
                  <a:txBody>
                    <a:bodyPr/>
                    <a:lstStyle/>
                    <a:p>
                      <a:r>
                        <a:rPr sz="1950" b="0">
                          <a:solidFill>
                            <a:srgbClr val="202B33"/>
                          </a:solidFill>
                          <a:latin typeface="Arial"/>
                          <a:ea typeface="Arial"/>
                          <a:cs typeface="Arial"/>
                        </a:rPr>
                        <a:t>2125</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Sokrates</a:t>
                      </a:r>
                    </a:p>
                  </a:txBody>
                  <a:tcPr marL="95250" marR="66675" marT="28575" marB="28575" anchor="ctr">
                    <a:lnR w="6668">
                      <a:solidFill>
                        <a:srgbClr val="CBD8E1"/>
                      </a:solidFill>
                    </a:lnR>
                    <a:lnB w="6668">
                      <a:solidFill>
                        <a:srgbClr val="CBD8E1"/>
                      </a:solidFill>
                    </a:lnB>
                    <a:solidFill>
                      <a:srgbClr val="FFFFFF"/>
                    </a:solidFill>
                  </a:tcPr>
                </a:tc>
              </a:tr>
              <a:tr h="409575">
                <a:tc>
                  <a:txBody>
                    <a:bodyPr/>
                    <a:lstStyle/>
                    <a:p>
                      <a:r>
                        <a:rPr sz="1950" b="0">
                          <a:solidFill>
                            <a:srgbClr val="202B33"/>
                          </a:solidFill>
                          <a:latin typeface="Arial"/>
                          <a:ea typeface="Arial"/>
                          <a:cs typeface="Arial"/>
                        </a:rPr>
                        <a:t>2126</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Russel</a:t>
                      </a:r>
                    </a:p>
                  </a:txBody>
                  <a:tcPr marL="95250" marR="66675" marT="28575" marB="28575" anchor="ctr">
                    <a:lnR w="6668">
                      <a:solidFill>
                        <a:srgbClr val="CBD8E1"/>
                      </a:solidFill>
                    </a:lnR>
                    <a:lnB w="6668">
                      <a:solidFill>
                        <a:srgbClr val="CBD8E1"/>
                      </a:solidFill>
                    </a:lnB>
                    <a:solidFill>
                      <a:srgbClr val="EDF4F9"/>
                    </a:solidFill>
                  </a:tcPr>
                </a:tc>
              </a:tr>
            </a:tbl>
          </a:graphicData>
        </a:graphic>
      </p:graphicFrame>
      <p:graphicFrame>
        <p:nvGraphicFramePr>
          <p:cNvPr id="10" name="">
            <a:extLst xmlns:a="http://schemas.openxmlformats.org/drawingml/2006/main">
              <a:ext uri="{FF2B5EF4-FFF2-40B4-BE49-F238E27FC236}">
                <a16:creationId xmlns:a16="http://schemas.microsoft.com/office/drawing/2014/main" id="{4A03172D-486D-4418-BBEF-F6B76782BA1E}"/>
              </a:ext>
            </a:extLst>
          </p:cNvPr>
          <p:cNvGraphicFramePr/>
          <p:nvPr/>
        </p:nvGraphicFramePr>
        <p:xfrm>
          <a:off xmlns:a="http://schemas.openxmlformats.org/drawingml/2006/main" x="6762750" y="3048000"/>
          <a:ext xmlns:a="http://schemas.openxmlformats.org/drawingml/2006/main" cx="4762500" cy="1228725"/>
        </p:xfrm>
        <a:graphic xmlns:a="http://schemas.openxmlformats.org/drawingml/2006/main">
          <a:graphicData uri="http://schemas.openxmlformats.org/drawingml/2006/table">
            <a:tbl>
              <a:tblPr/>
              <a:tblGrid>
                <a:gridCol w="1809750"/>
                <a:gridCol w="2952750"/>
              </a:tblGrid>
              <a:tr h="409575">
                <a:tc>
                  <a:txBody>
                    <a:bodyPr/>
                    <a:lstStyle/>
                    <a:p>
                      <a:r>
                        <a:rPr sz="1950" b="1">
                          <a:solidFill>
                            <a:srgbClr val="FFFFFF"/>
                          </a:solidFill>
                          <a:latin typeface="Arial"/>
                          <a:ea typeface="Arial"/>
                          <a:cs typeface="Arial"/>
                        </a:rPr>
                        <a:t>PersNr</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Name</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409575">
                <a:tc>
                  <a:txBody>
                    <a:bodyPr/>
                    <a:lstStyle/>
                    <a:p>
                      <a:r>
                        <a:rPr sz="1950" b="0">
                          <a:solidFill>
                            <a:srgbClr val="202B33"/>
                          </a:solidFill>
                          <a:latin typeface="Arial"/>
                          <a:ea typeface="Arial"/>
                          <a:cs typeface="Arial"/>
                        </a:rPr>
                        <a:t>2126</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Russel</a:t>
                      </a:r>
                    </a:p>
                  </a:txBody>
                  <a:tcPr marL="95250" marR="66675" marT="28575" marB="28575" anchor="ctr">
                    <a:lnR w="6668">
                      <a:solidFill>
                        <a:srgbClr val="CBD8E1"/>
                      </a:solidFill>
                    </a:lnR>
                    <a:lnB w="6668">
                      <a:solidFill>
                        <a:srgbClr val="CBD8E1"/>
                      </a:solidFill>
                    </a:lnB>
                    <a:solidFill>
                      <a:srgbClr val="FFFFFF"/>
                    </a:solidFill>
                  </a:tcPr>
                </a:tc>
              </a:tr>
              <a:tr h="409575">
                <a:tc>
                  <a:txBody>
                    <a:bodyPr/>
                    <a:lstStyle/>
                    <a:p>
                      <a:r>
                        <a:rPr sz="1950" b="0">
                          <a:solidFill>
                            <a:srgbClr val="202B33"/>
                          </a:solidFill>
                          <a:latin typeface="Arial"/>
                          <a:ea typeface="Arial"/>
                          <a:cs typeface="Arial"/>
                        </a:rPr>
                        <a:t>2137</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Kant</a:t>
                      </a:r>
                    </a:p>
                  </a:txBody>
                  <a:tcPr marL="95250" marR="66675" marT="28575" marB="28575" anchor="ctr">
                    <a:lnR w="6668">
                      <a:solidFill>
                        <a:srgbClr val="CBD8E1"/>
                      </a:solidFill>
                    </a:lnR>
                    <a:lnB w="6668">
                      <a:solidFill>
                        <a:srgbClr val="CBD8E1"/>
                      </a:solidFill>
                    </a:lnB>
                    <a:solidFill>
                      <a:srgbClr val="EDF4F9"/>
                    </a:solidFill>
                  </a:tcPr>
                </a:tc>
              </a:tr>
            </a:tbl>
          </a:graphicData>
        </a:graphic>
      </p:graphicFrame>
      <p:sp>
        <p:nvSpPr>
          <p:cNvPr id="11" name="">
            <a:extLst xmlns:a="http://schemas.openxmlformats.org/drawingml/2006/main">
              <a:ext uri="{FF2B5EF4-FFF2-40B4-BE49-F238E27FC236}">
                <a16:creationId xmlns:a16="http://schemas.microsoft.com/office/drawing/2014/main" id="{57938C23-B483-47CE-A243-BBF8FF809B6C}"/>
              </a:ext>
            </a:extLst>
          </p:cNvPr>
          <p:cNvSpPr>
            <a:spLocks xmlns:a="http://schemas.openxmlformats.org/drawingml/2006/main" noGrp="1"/>
          </p:cNvSpPr>
          <p:nvPr/>
        </p:nvSpPr>
        <p:spPr>
          <a:xfrm xmlns:a="http://schemas.openxmlformats.org/drawingml/2006/main">
            <a:off x="609600" y="460057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Ergebnis</a:t>
            </a:r>
          </a:p>
        </p:txBody>
      </p:sp>
      <p:graphicFrame>
        <p:nvGraphicFramePr>
          <p:cNvPr id="12" name="">
            <a:extLst xmlns:a="http://schemas.openxmlformats.org/drawingml/2006/main">
              <a:ext uri="{FF2B5EF4-FFF2-40B4-BE49-F238E27FC236}">
                <a16:creationId xmlns:a16="http://schemas.microsoft.com/office/drawing/2014/main" id="{07DEF04B-D37D-4A35-B801-F0E70C8950C6}"/>
              </a:ext>
            </a:extLst>
          </p:cNvPr>
          <p:cNvGraphicFramePr/>
          <p:nvPr/>
        </p:nvGraphicFramePr>
        <p:xfrm>
          <a:off xmlns:a="http://schemas.openxmlformats.org/drawingml/2006/main" x="609600" y="5010150"/>
          <a:ext xmlns:a="http://schemas.openxmlformats.org/drawingml/2006/main" cx="7239000" cy="590550"/>
        </p:xfrm>
        <a:graphic xmlns:a="http://schemas.openxmlformats.org/drawingml/2006/main">
          <a:graphicData uri="http://schemas.openxmlformats.org/drawingml/2006/table">
            <a:tbl>
              <a:tblPr/>
              <a:tblGrid>
                <a:gridCol w="2190750"/>
                <a:gridCol w="5048250"/>
              </a:tblGrid>
              <a:tr h="295275">
                <a:tc>
                  <a:txBody>
                    <a:bodyPr/>
                    <a:lstStyle/>
                    <a:p>
                      <a:r>
                        <a:rPr sz="1800" b="1">
                          <a:solidFill>
                            <a:srgbClr val="FFFFFF"/>
                          </a:solidFill>
                          <a:latin typeface="Arial"/>
                          <a:ea typeface="Arial"/>
                          <a:cs typeface="Arial"/>
                        </a:rPr>
                        <a:t>PersNr</a:t>
                      </a:r>
                    </a:p>
                  </a:txBody>
                  <a:tcPr marL="95250" marR="66675" marT="9525" marB="952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800" b="1">
                          <a:solidFill>
                            <a:srgbClr val="FFFFFF"/>
                          </a:solidFill>
                          <a:latin typeface="Arial"/>
                          <a:ea typeface="Arial"/>
                          <a:cs typeface="Arial"/>
                        </a:rPr>
                        <a:t>Name</a:t>
                      </a:r>
                    </a:p>
                  </a:txBody>
                  <a:tcPr marL="95250" marR="66675" marT="9525" marB="9525" anchor="ctr">
                    <a:lnR w="6668">
                      <a:solidFill>
                        <a:srgbClr val="CBD8E1"/>
                      </a:solidFill>
                    </a:lnR>
                    <a:lnT w="6668">
                      <a:solidFill>
                        <a:srgbClr val="CBD8E1"/>
                      </a:solidFill>
                    </a:lnT>
                    <a:lnB w="6668">
                      <a:solidFill>
                        <a:srgbClr val="CBD8E1"/>
                      </a:solidFill>
                    </a:lnB>
                    <a:solidFill>
                      <a:srgbClr val="005293"/>
                    </a:solidFill>
                  </a:tcPr>
                </a:tc>
              </a:tr>
              <a:tr h="295275">
                <a:tc>
                  <a:txBody>
                    <a:bodyPr/>
                    <a:lstStyle/>
                    <a:p>
                      <a:r>
                        <a:rPr sz="1800" b="0">
                          <a:solidFill>
                            <a:srgbClr val="202B33"/>
                          </a:solidFill>
                          <a:latin typeface="Arial"/>
                          <a:ea typeface="Arial"/>
                          <a:cs typeface="Arial"/>
                        </a:rPr>
                        <a:t>2126</a:t>
                      </a:r>
                    </a:p>
                  </a:txBody>
                  <a:tcPr marL="95250" marR="66675" marT="9525" marB="9525" anchor="ctr">
                    <a:lnL w="6668">
                      <a:solidFill>
                        <a:srgbClr val="CBD8E1"/>
                      </a:solidFill>
                    </a:lnL>
                    <a:lnR w="6668">
                      <a:solidFill>
                        <a:srgbClr val="CBD8E1"/>
                      </a:solidFill>
                    </a:lnR>
                    <a:lnB w="6668">
                      <a:solidFill>
                        <a:srgbClr val="CBD8E1"/>
                      </a:solidFill>
                    </a:lnB>
                    <a:solidFill>
                      <a:srgbClr val="FFFFFF"/>
                    </a:solidFill>
                  </a:tcPr>
                </a:tc>
                <a:tc>
                  <a:txBody>
                    <a:bodyPr/>
                    <a:lstStyle/>
                    <a:p>
                      <a:r>
                        <a:rPr sz="1800" b="0">
                          <a:solidFill>
                            <a:srgbClr val="202B33"/>
                          </a:solidFill>
                          <a:latin typeface="Arial"/>
                          <a:ea typeface="Arial"/>
                          <a:cs typeface="Arial"/>
                        </a:rPr>
                        <a:t>Russel</a:t>
                      </a:r>
                    </a:p>
                  </a:txBody>
                  <a:tcPr marL="95250" marR="66675" marT="9525" marB="9525" anchor="ctr">
                    <a:lnR w="6668">
                      <a:solidFill>
                        <a:srgbClr val="CBD8E1"/>
                      </a:solidFill>
                    </a:lnR>
                    <a:lnB w="6668">
                      <a:solidFill>
                        <a:srgbClr val="CBD8E1"/>
                      </a:solidFill>
                    </a:lnB>
                    <a:solidFill>
                      <a:srgbClr val="FFFFFF"/>
                    </a:solidFill>
                  </a:tcPr>
                </a:tc>
              </a:tr>
            </a:tbl>
          </a:graphicData>
        </a:graphic>
      </p:graphicFrame>
    </p:spTree>
    <p:extLst>
      <p:ext uri="{BB962C8B-B14F-4D97-AF65-F5344CB8AC3E}">
        <p14:creationId xmlns:p14="http://schemas.microsoft.com/office/powerpoint/2010/main" val="557160448"/>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0AB88DB-D579-48CD-84E4-4B6E6D7ECED2}"/>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Mengendifferenz</a:t>
            </a:r>
          </a:p>
        </p:txBody>
      </p:sp>
      <p:sp>
        <p:nvSpPr>
          <p:cNvPr id="2" name="">
            <a:extLst xmlns:a="http://schemas.openxmlformats.org/drawingml/2006/main">
              <a:ext uri="{FF2B5EF4-FFF2-40B4-BE49-F238E27FC236}">
                <a16:creationId xmlns:a16="http://schemas.microsoft.com/office/drawing/2014/main" id="{7C1DF026-5894-4009-A4E0-2623C80DCEBC}"/>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6E38BCBB-B177-437A-A81A-A18369503A39}"/>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38</a:t>
            </a:r>
          </a:p>
        </p:txBody>
      </p:sp>
      <p:sp>
        <p:nvSpPr>
          <p:cNvPr id="4" name="">
            <a:extLst xmlns:a="http://schemas.openxmlformats.org/drawingml/2006/main">
              <a:ext uri="{FF2B5EF4-FFF2-40B4-BE49-F238E27FC236}">
                <a16:creationId xmlns:a16="http://schemas.microsoft.com/office/drawing/2014/main" id="{408EC30A-60E8-477A-988B-1DED600094B3}"/>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35, 38</a:t>
            </a:r>
          </a:p>
        </p:txBody>
      </p:sp>
      <p:sp>
        <p:nvSpPr>
          <p:cNvPr id="5" name="">
            <a:extLst xmlns:a="http://schemas.openxmlformats.org/drawingml/2006/main">
              <a:ext uri="{FF2B5EF4-FFF2-40B4-BE49-F238E27FC236}">
                <a16:creationId xmlns:a16="http://schemas.microsoft.com/office/drawing/2014/main" id="{D46A0D8D-8244-4E17-9D80-D5B1731AAE4A}"/>
              </a:ext>
            </a:extLst>
          </p:cNvPr>
          <p:cNvSpPr>
            <a:spLocks xmlns:a="http://schemas.openxmlformats.org/drawingml/2006/main" noGrp="1"/>
          </p:cNvSpPr>
          <p:nvPr/>
        </p:nvSpPr>
        <p:spPr>
          <a:xfrm xmlns:a="http://schemas.openxmlformats.org/drawingml/2006/main">
            <a:off x="609600" y="1428750"/>
            <a:ext cx="892683"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3000" b="0">
                <a:solidFill>
                  <a:srgbClr val="005293"/>
                </a:solidFill>
                <a:latin typeface="STIX Two Math"/>
                <a:ea typeface="STIX Two Math"/>
                <a:cs typeface="STIX Two Math"/>
              </a:defRPr>
            </a:defPPr>
            <a:lvl1pPr>
              <a:defRPr sz="3000" b="0">
                <a:solidFill>
                  <a:srgbClr val="005293"/>
                </a:solidFill>
                <a:latin typeface="STIX Two Math"/>
                <a:ea typeface="STIX Two Math"/>
                <a:cs typeface="STIX Two Math"/>
              </a:defRPr>
            </a:lvl1pPr>
            <a:lvl2pPr>
              <a:defRPr sz="3000" b="0">
                <a:solidFill>
                  <a:srgbClr val="005293"/>
                </a:solidFill>
                <a:latin typeface="STIX Two Math"/>
                <a:ea typeface="STIX Two Math"/>
                <a:cs typeface="STIX Two Math"/>
              </a:defRPr>
            </a:lvl2pPr>
            <a:lvl3pPr>
              <a:defRPr sz="3000" b="0">
                <a:solidFill>
                  <a:srgbClr val="005293"/>
                </a:solidFill>
                <a:latin typeface="STIX Two Math"/>
                <a:ea typeface="STIX Two Math"/>
                <a:cs typeface="STIX Two Math"/>
              </a:defRPr>
            </a:lvl3pPr>
            <a:lvl4pPr>
              <a:defRPr sz="3000" b="0">
                <a:solidFill>
                  <a:srgbClr val="005293"/>
                </a:solidFill>
                <a:latin typeface="STIX Two Math"/>
                <a:ea typeface="STIX Two Math"/>
                <a:cs typeface="STIX Two Math"/>
              </a:defRPr>
            </a:lvl4pPr>
            <a:lvl5pPr>
              <a:defRPr sz="3000" b="0">
                <a:solidFill>
                  <a:srgbClr val="005293"/>
                </a:solidFill>
                <a:latin typeface="STIX Two Math"/>
                <a:ea typeface="STIX Two Math"/>
                <a:cs typeface="STIX Two Math"/>
              </a:defRPr>
            </a:lvl5pPr>
            <a:lvl6pPr>
              <a:defRPr sz="3000" b="0">
                <a:solidFill>
                  <a:srgbClr val="005293"/>
                </a:solidFill>
                <a:latin typeface="STIX Two Math"/>
                <a:ea typeface="STIX Two Math"/>
                <a:cs typeface="STIX Two Math"/>
              </a:defRPr>
            </a:lvl6pPr>
            <a:lvl7pPr>
              <a:defRPr sz="3000" b="0">
                <a:solidFill>
                  <a:srgbClr val="005293"/>
                </a:solidFill>
                <a:latin typeface="STIX Two Math"/>
                <a:ea typeface="STIX Two Math"/>
                <a:cs typeface="STIX Two Math"/>
              </a:defRPr>
            </a:lvl7pPr>
            <a:lvl8pPr>
              <a:defRPr sz="3000" b="0">
                <a:solidFill>
                  <a:srgbClr val="005293"/>
                </a:solidFill>
                <a:latin typeface="STIX Two Math"/>
                <a:ea typeface="STIX Two Math"/>
                <a:cs typeface="STIX Two Math"/>
              </a:defRPr>
            </a:lvl8pPr>
            <a:lvl9pPr>
              <a:defRPr sz="3000" b="0">
                <a:solidFill>
                  <a:srgbClr val="005293"/>
                </a:solidFill>
                <a:latin typeface="STIX Two Math"/>
                <a:ea typeface="STIX Two Math"/>
                <a:cs typeface="STIX Two Math"/>
              </a:defRPr>
            </a:lvl9pPr>
          </a:lstStyle>
          <a:p xmlns:a="http://schemas.openxmlformats.org/drawingml/2006/main">
            <a:pPr>
              <a:defRPr sz="3000" b="0">
                <a:solidFill>
                  <a:srgbClr val="005293"/>
                </a:solidFill>
                <a:latin typeface="STIX Two Math"/>
                <a:ea typeface="STIX Two Math"/>
                <a:cs typeface="STIX Two Math"/>
              </a:defRPr>
            </a:pPr>
            <a:r>
              <a:rPr sz="3000" b="0">
                <a:solidFill>
                  <a:srgbClr val="005293"/>
                </a:solidFill>
                <a:latin typeface="STIX Two Math"/>
                <a:ea typeface="STIX Two Math"/>
                <a:cs typeface="STIX Two Math"/>
              </a:rPr>
              <a:t>R ∖ S</a:t>
            </a:r>
          </a:p>
        </p:txBody>
      </p:sp>
      <p:sp>
        <p:nvSpPr>
          <p:cNvPr id="6" name="">
            <a:extLst xmlns:a="http://schemas.openxmlformats.org/drawingml/2006/main">
              <a:ext uri="{FF2B5EF4-FFF2-40B4-BE49-F238E27FC236}">
                <a16:creationId xmlns:a16="http://schemas.microsoft.com/office/drawing/2014/main" id="{87135AB6-DB79-4406-97DF-4A721F631B36}"/>
              </a:ext>
            </a:extLst>
          </p:cNvPr>
          <p:cNvSpPr>
            <a:spLocks xmlns:a="http://schemas.openxmlformats.org/drawingml/2006/main" noGrp="1"/>
          </p:cNvSpPr>
          <p:nvPr/>
        </p:nvSpPr>
        <p:spPr>
          <a:xfrm xmlns:a="http://schemas.openxmlformats.org/drawingml/2006/main">
            <a:off x="609600" y="24765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Enthält Tupel aus R, die nicht in S liegen.</a:t>
            </a:r>
          </a:p>
        </p:txBody>
      </p:sp>
      <p:sp>
        <p:nvSpPr>
          <p:cNvPr id="7" name="">
            <a:extLst xmlns:a="http://schemas.openxmlformats.org/drawingml/2006/main">
              <a:ext uri="{FF2B5EF4-FFF2-40B4-BE49-F238E27FC236}">
                <a16:creationId xmlns:a16="http://schemas.microsoft.com/office/drawing/2014/main" id="{EA3BED88-D9DF-40D1-9C3D-52362F81296E}"/>
              </a:ext>
            </a:extLst>
          </p:cNvPr>
          <p:cNvSpPr>
            <a:spLocks xmlns:a="http://schemas.openxmlformats.org/drawingml/2006/main" noGrp="1"/>
          </p:cNvSpPr>
          <p:nvPr/>
        </p:nvSpPr>
        <p:spPr>
          <a:xfrm xmlns:a="http://schemas.openxmlformats.org/drawingml/2006/main">
            <a:off x="609600" y="34290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Beide Eingaben müssen dasselbe kompatible Schema haben.</a:t>
            </a:r>
          </a:p>
        </p:txBody>
      </p:sp>
      <p:sp>
        <p:nvSpPr>
          <p:cNvPr id="8" name="">
            <a:extLst xmlns:a="http://schemas.openxmlformats.org/drawingml/2006/main">
              <a:ext uri="{FF2B5EF4-FFF2-40B4-BE49-F238E27FC236}">
                <a16:creationId xmlns:a16="http://schemas.microsoft.com/office/drawing/2014/main" id="{0416E8A5-7A8A-4BAA-8C4C-6F4827EC128C}"/>
              </a:ext>
            </a:extLst>
          </p:cNvPr>
          <p:cNvSpPr>
            <a:spLocks xmlns:a="http://schemas.openxmlformats.org/drawingml/2006/main" noGrp="1"/>
          </p:cNvSpPr>
          <p:nvPr/>
        </p:nvSpPr>
        <p:spPr>
          <a:xfrm xmlns:a="http://schemas.openxmlformats.org/drawingml/2006/main">
            <a:off x="609600" y="43815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Die Reihenfolge ist wichtig: R ∖ S ist im Allgemeinen ungleich S ∖ R.</a:t>
            </a:r>
          </a:p>
        </p:txBody>
      </p:sp>
    </p:spTree>
    <p:extLst>
      <p:ext uri="{BB962C8B-B14F-4D97-AF65-F5344CB8AC3E}">
        <p14:creationId xmlns:p14="http://schemas.microsoft.com/office/powerpoint/2010/main" val="1118126814"/>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E8EB8A7-01BB-4948-BFE1-FC9198900742}"/>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Mengendifferenz: Beispiel</a:t>
            </a:r>
          </a:p>
        </p:txBody>
      </p:sp>
      <p:sp>
        <p:nvSpPr>
          <p:cNvPr id="2" name="">
            <a:extLst xmlns:a="http://schemas.openxmlformats.org/drawingml/2006/main">
              <a:ext uri="{FF2B5EF4-FFF2-40B4-BE49-F238E27FC236}">
                <a16:creationId xmlns:a16="http://schemas.microsoft.com/office/drawing/2014/main" id="{DA011D82-9EA7-49BB-B8ED-7999ACC555B3}"/>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E1EC3568-6047-4FFD-87AA-2D07FB675CEF}"/>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39</a:t>
            </a:r>
          </a:p>
        </p:txBody>
      </p:sp>
      <p:sp>
        <p:nvSpPr>
          <p:cNvPr id="4" name="">
            <a:extLst xmlns:a="http://schemas.openxmlformats.org/drawingml/2006/main">
              <a:ext uri="{FF2B5EF4-FFF2-40B4-BE49-F238E27FC236}">
                <a16:creationId xmlns:a16="http://schemas.microsoft.com/office/drawing/2014/main" id="{1F53D45F-C490-4675-BA40-AA20BCA95220}"/>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38</a:t>
            </a:r>
          </a:p>
        </p:txBody>
      </p:sp>
      <p:sp>
        <p:nvSpPr>
          <p:cNvPr id="5" name="">
            <a:extLst xmlns:a="http://schemas.openxmlformats.org/drawingml/2006/main">
              <a:ext uri="{FF2B5EF4-FFF2-40B4-BE49-F238E27FC236}">
                <a16:creationId xmlns:a16="http://schemas.microsoft.com/office/drawing/2014/main" id="{EF56CC7C-09FE-4147-9CB4-532A2BA21F3D}"/>
              </a:ext>
            </a:extLst>
          </p:cNvPr>
          <p:cNvSpPr>
            <a:spLocks xmlns:a="http://schemas.openxmlformats.org/drawingml/2006/main" noGrp="1"/>
          </p:cNvSpPr>
          <p:nvPr/>
        </p:nvSpPr>
        <p:spPr>
          <a:xfrm xmlns:a="http://schemas.openxmlformats.org/drawingml/2006/main">
            <a:off x="609600" y="13049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B33"/>
                </a:solidFill>
                <a:latin typeface="Arial"/>
                <a:ea typeface="Arial"/>
                <a:cs typeface="Arial"/>
              </a:defRPr>
            </a:defPPr>
            <a:lvl1pPr>
              <a:defRPr sz="2025" b="0">
                <a:solidFill>
                  <a:srgbClr val="202B33"/>
                </a:solidFill>
                <a:latin typeface="Arial"/>
                <a:ea typeface="Arial"/>
                <a:cs typeface="Arial"/>
              </a:defRPr>
            </a:lvl1pPr>
            <a:lvl2pPr>
              <a:defRPr sz="2025" b="0">
                <a:solidFill>
                  <a:srgbClr val="202B33"/>
                </a:solidFill>
                <a:latin typeface="Arial"/>
                <a:ea typeface="Arial"/>
                <a:cs typeface="Arial"/>
              </a:defRPr>
            </a:lvl2pPr>
            <a:lvl3pPr>
              <a:defRPr sz="2025" b="0">
                <a:solidFill>
                  <a:srgbClr val="202B33"/>
                </a:solidFill>
                <a:latin typeface="Arial"/>
                <a:ea typeface="Arial"/>
                <a:cs typeface="Arial"/>
              </a:defRPr>
            </a:lvl3pPr>
            <a:lvl4pPr>
              <a:defRPr sz="2025" b="0">
                <a:solidFill>
                  <a:srgbClr val="202B33"/>
                </a:solidFill>
                <a:latin typeface="Arial"/>
                <a:ea typeface="Arial"/>
                <a:cs typeface="Arial"/>
              </a:defRPr>
            </a:lvl4pPr>
            <a:lvl5pPr>
              <a:defRPr sz="2025" b="0">
                <a:solidFill>
                  <a:srgbClr val="202B33"/>
                </a:solidFill>
                <a:latin typeface="Arial"/>
                <a:ea typeface="Arial"/>
                <a:cs typeface="Arial"/>
              </a:defRPr>
            </a:lvl5pPr>
            <a:lvl6pPr>
              <a:defRPr sz="2025" b="0">
                <a:solidFill>
                  <a:srgbClr val="202B33"/>
                </a:solidFill>
                <a:latin typeface="Arial"/>
                <a:ea typeface="Arial"/>
                <a:cs typeface="Arial"/>
              </a:defRPr>
            </a:lvl6pPr>
            <a:lvl7pPr>
              <a:defRPr sz="2025" b="0">
                <a:solidFill>
                  <a:srgbClr val="202B33"/>
                </a:solidFill>
                <a:latin typeface="Arial"/>
                <a:ea typeface="Arial"/>
                <a:cs typeface="Arial"/>
              </a:defRPr>
            </a:lvl7pPr>
            <a:lvl8pPr>
              <a:defRPr sz="2025" b="0">
                <a:solidFill>
                  <a:srgbClr val="202B33"/>
                </a:solidFill>
                <a:latin typeface="Arial"/>
                <a:ea typeface="Arial"/>
                <a:cs typeface="Arial"/>
              </a:defRPr>
            </a:lvl8pPr>
            <a:lvl9pPr>
              <a:defRPr sz="2025" b="0">
                <a:solidFill>
                  <a:srgbClr val="202B33"/>
                </a:solidFill>
                <a:latin typeface="Arial"/>
                <a:ea typeface="Arial"/>
                <a:cs typeface="Arial"/>
              </a:defRPr>
            </a:lvl9pPr>
          </a:lstStyle>
          <a:p xmlns:a="http://schemas.openxmlformats.org/drawingml/2006/main">
            <a:pPr>
              <a:defRPr sz="2025" b="0">
                <a:solidFill>
                  <a:srgbClr val="202B33"/>
                </a:solidFill>
                <a:latin typeface="Arial"/>
                <a:ea typeface="Arial"/>
                <a:cs typeface="Arial"/>
              </a:defRPr>
            </a:pPr>
            <a:r>
              <a:rPr sz="2025" b="0">
                <a:solidFill>
                  <a:srgbClr val="202B33"/>
                </a:solidFill>
                <a:latin typeface="Arial"/>
                <a:ea typeface="Arial"/>
                <a:cs typeface="Arial"/>
              </a:rPr>
              <a:t>„Welche Professoren sind auf der ersten, aber nicht auf der zweiten Liste?“</a:t>
            </a:r>
          </a:p>
        </p:txBody>
      </p:sp>
      <p:sp>
        <p:nvSpPr>
          <p:cNvPr id="6" name="">
            <a:extLst xmlns:a="http://schemas.openxmlformats.org/drawingml/2006/main">
              <a:ext uri="{FF2B5EF4-FFF2-40B4-BE49-F238E27FC236}">
                <a16:creationId xmlns:a16="http://schemas.microsoft.com/office/drawing/2014/main" id="{673E469C-5F4B-4E86-A6DA-84360E544BC3}"/>
              </a:ext>
            </a:extLst>
          </p:cNvPr>
          <p:cNvSpPr>
            <a:spLocks xmlns:a="http://schemas.openxmlformats.org/drawingml/2006/main" noGrp="1"/>
          </p:cNvSpPr>
          <p:nvPr/>
        </p:nvSpPr>
        <p:spPr>
          <a:xfrm xmlns:a="http://schemas.openxmlformats.org/drawingml/2006/main">
            <a:off x="609600" y="1895475"/>
            <a:ext cx="2070068" cy="5972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2850" b="0">
                <a:solidFill>
                  <a:srgbClr val="005293"/>
                </a:solidFill>
                <a:latin typeface="STIX Two Math"/>
                <a:ea typeface="STIX Two Math"/>
                <a:cs typeface="STIX Two Math"/>
              </a:defRPr>
            </a:defPPr>
            <a:lvl1pPr>
              <a:defRPr sz="2850" b="0">
                <a:solidFill>
                  <a:srgbClr val="005293"/>
                </a:solidFill>
                <a:latin typeface="STIX Two Math"/>
                <a:ea typeface="STIX Two Math"/>
                <a:cs typeface="STIX Two Math"/>
              </a:defRPr>
            </a:lvl1pPr>
            <a:lvl2pPr>
              <a:defRPr sz="2850" b="0">
                <a:solidFill>
                  <a:srgbClr val="005293"/>
                </a:solidFill>
                <a:latin typeface="STIX Two Math"/>
                <a:ea typeface="STIX Two Math"/>
                <a:cs typeface="STIX Two Math"/>
              </a:defRPr>
            </a:lvl2pPr>
            <a:lvl3pPr>
              <a:defRPr sz="2850" b="0">
                <a:solidFill>
                  <a:srgbClr val="005293"/>
                </a:solidFill>
                <a:latin typeface="STIX Two Math"/>
                <a:ea typeface="STIX Two Math"/>
                <a:cs typeface="STIX Two Math"/>
              </a:defRPr>
            </a:lvl3pPr>
            <a:lvl4pPr>
              <a:defRPr sz="2850" b="0">
                <a:solidFill>
                  <a:srgbClr val="005293"/>
                </a:solidFill>
                <a:latin typeface="STIX Two Math"/>
                <a:ea typeface="STIX Two Math"/>
                <a:cs typeface="STIX Two Math"/>
              </a:defRPr>
            </a:lvl4pPr>
            <a:lvl5pPr>
              <a:defRPr sz="2850" b="0">
                <a:solidFill>
                  <a:srgbClr val="005293"/>
                </a:solidFill>
                <a:latin typeface="STIX Two Math"/>
                <a:ea typeface="STIX Two Math"/>
                <a:cs typeface="STIX Two Math"/>
              </a:defRPr>
            </a:lvl5pPr>
            <a:lvl6pPr>
              <a:defRPr sz="2850" b="0">
                <a:solidFill>
                  <a:srgbClr val="005293"/>
                </a:solidFill>
                <a:latin typeface="STIX Two Math"/>
                <a:ea typeface="STIX Two Math"/>
                <a:cs typeface="STIX Two Math"/>
              </a:defRPr>
            </a:lvl6pPr>
            <a:lvl7pPr>
              <a:defRPr sz="2850" b="0">
                <a:solidFill>
                  <a:srgbClr val="005293"/>
                </a:solidFill>
                <a:latin typeface="STIX Two Math"/>
                <a:ea typeface="STIX Two Math"/>
                <a:cs typeface="STIX Two Math"/>
              </a:defRPr>
            </a:lvl7pPr>
            <a:lvl8pPr>
              <a:defRPr sz="2850" b="0">
                <a:solidFill>
                  <a:srgbClr val="005293"/>
                </a:solidFill>
                <a:latin typeface="STIX Two Math"/>
                <a:ea typeface="STIX Two Math"/>
                <a:cs typeface="STIX Two Math"/>
              </a:defRPr>
            </a:lvl8pPr>
            <a:lvl9pPr>
              <a:defRPr sz="2850" b="0">
                <a:solidFill>
                  <a:srgbClr val="005293"/>
                </a:solidFill>
                <a:latin typeface="STIX Two Math"/>
                <a:ea typeface="STIX Two Math"/>
                <a:cs typeface="STIX Two Math"/>
              </a:defRPr>
            </a:lvl9pPr>
          </a:lstStyle>
          <a:p xmlns:a="http://schemas.openxmlformats.org/drawingml/2006/main">
            <a:pPr>
              <a:defRPr sz="2850" b="0">
                <a:solidFill>
                  <a:srgbClr val="005293"/>
                </a:solidFill>
                <a:latin typeface="STIX Two Math"/>
                <a:ea typeface="STIX Two Math"/>
                <a:cs typeface="STIX Two Math"/>
              </a:defRPr>
            </a:pPr>
            <a:r>
              <a:rPr sz="2850" b="0">
                <a:solidFill>
                  <a:srgbClr val="005293"/>
                </a:solidFill>
                <a:latin typeface="STIX Two Math"/>
                <a:ea typeface="STIX Two Math"/>
                <a:cs typeface="STIX Two Math"/>
              </a:rPr>
              <a:t>Prof1 ∖ Prof2</a:t>
            </a:r>
          </a:p>
        </p:txBody>
      </p:sp>
      <p:sp>
        <p:nvSpPr>
          <p:cNvPr id="7" name="">
            <a:extLst xmlns:a="http://schemas.openxmlformats.org/drawingml/2006/main">
              <a:ext uri="{FF2B5EF4-FFF2-40B4-BE49-F238E27FC236}">
                <a16:creationId xmlns:a16="http://schemas.microsoft.com/office/drawing/2014/main" id="{17E4CD16-D2B1-4891-8625-29FF7AEF2CA3}"/>
              </a:ext>
            </a:extLst>
          </p:cNvPr>
          <p:cNvSpPr>
            <a:spLocks xmlns:a="http://schemas.openxmlformats.org/drawingml/2006/main" noGrp="1"/>
          </p:cNvSpPr>
          <p:nvPr/>
        </p:nvSpPr>
        <p:spPr>
          <a:xfrm xmlns:a="http://schemas.openxmlformats.org/drawingml/2006/main">
            <a:off x="609600" y="263842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Prof1</a:t>
            </a:r>
          </a:p>
        </p:txBody>
      </p:sp>
      <p:sp>
        <p:nvSpPr>
          <p:cNvPr id="8" name="">
            <a:extLst xmlns:a="http://schemas.openxmlformats.org/drawingml/2006/main">
              <a:ext uri="{FF2B5EF4-FFF2-40B4-BE49-F238E27FC236}">
                <a16:creationId xmlns:a16="http://schemas.microsoft.com/office/drawing/2014/main" id="{18EDFAF9-26AF-4D2B-BE26-4939609ABDF4}"/>
              </a:ext>
            </a:extLst>
          </p:cNvPr>
          <p:cNvSpPr>
            <a:spLocks xmlns:a="http://schemas.openxmlformats.org/drawingml/2006/main" noGrp="1"/>
          </p:cNvSpPr>
          <p:nvPr/>
        </p:nvSpPr>
        <p:spPr>
          <a:xfrm xmlns:a="http://schemas.openxmlformats.org/drawingml/2006/main">
            <a:off x="6762750" y="263842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Prof2</a:t>
            </a:r>
          </a:p>
        </p:txBody>
      </p:sp>
      <p:graphicFrame>
        <p:nvGraphicFramePr>
          <p:cNvPr id="9" name="">
            <a:extLst xmlns:a="http://schemas.openxmlformats.org/drawingml/2006/main">
              <a:ext uri="{FF2B5EF4-FFF2-40B4-BE49-F238E27FC236}">
                <a16:creationId xmlns:a16="http://schemas.microsoft.com/office/drawing/2014/main" id="{8B9A95D1-669D-4D5A-8AC8-B29B89C4D246}"/>
              </a:ext>
            </a:extLst>
          </p:cNvPr>
          <p:cNvGraphicFramePr/>
          <p:nvPr/>
        </p:nvGraphicFramePr>
        <p:xfrm>
          <a:off xmlns:a="http://schemas.openxmlformats.org/drawingml/2006/main" x="609600" y="3048000"/>
          <a:ext xmlns:a="http://schemas.openxmlformats.org/drawingml/2006/main" cx="4762500" cy="1228725"/>
        </p:xfrm>
        <a:graphic xmlns:a="http://schemas.openxmlformats.org/drawingml/2006/main">
          <a:graphicData uri="http://schemas.openxmlformats.org/drawingml/2006/table">
            <a:tbl>
              <a:tblPr/>
              <a:tblGrid>
                <a:gridCol w="1809750"/>
                <a:gridCol w="2952750"/>
              </a:tblGrid>
              <a:tr h="409575">
                <a:tc>
                  <a:txBody>
                    <a:bodyPr/>
                    <a:lstStyle/>
                    <a:p>
                      <a:r>
                        <a:rPr sz="1950" b="1">
                          <a:solidFill>
                            <a:srgbClr val="FFFFFF"/>
                          </a:solidFill>
                          <a:latin typeface="Arial"/>
                          <a:ea typeface="Arial"/>
                          <a:cs typeface="Arial"/>
                        </a:rPr>
                        <a:t>PersNr</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Name</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409575">
                <a:tc>
                  <a:txBody>
                    <a:bodyPr/>
                    <a:lstStyle/>
                    <a:p>
                      <a:r>
                        <a:rPr sz="1950" b="0">
                          <a:solidFill>
                            <a:srgbClr val="202B33"/>
                          </a:solidFill>
                          <a:latin typeface="Arial"/>
                          <a:ea typeface="Arial"/>
                          <a:cs typeface="Arial"/>
                        </a:rPr>
                        <a:t>2125</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Sokrates</a:t>
                      </a:r>
                    </a:p>
                  </a:txBody>
                  <a:tcPr marL="95250" marR="66675" marT="28575" marB="28575" anchor="ctr">
                    <a:lnR w="6668">
                      <a:solidFill>
                        <a:srgbClr val="CBD8E1"/>
                      </a:solidFill>
                    </a:lnR>
                    <a:lnB w="6668">
                      <a:solidFill>
                        <a:srgbClr val="CBD8E1"/>
                      </a:solidFill>
                    </a:lnB>
                    <a:solidFill>
                      <a:srgbClr val="FFFFFF"/>
                    </a:solidFill>
                  </a:tcPr>
                </a:tc>
              </a:tr>
              <a:tr h="409575">
                <a:tc>
                  <a:txBody>
                    <a:bodyPr/>
                    <a:lstStyle/>
                    <a:p>
                      <a:r>
                        <a:rPr sz="1950" b="0">
                          <a:solidFill>
                            <a:srgbClr val="202B33"/>
                          </a:solidFill>
                          <a:latin typeface="Arial"/>
                          <a:ea typeface="Arial"/>
                          <a:cs typeface="Arial"/>
                        </a:rPr>
                        <a:t>2126</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Russel</a:t>
                      </a:r>
                    </a:p>
                  </a:txBody>
                  <a:tcPr marL="95250" marR="66675" marT="28575" marB="28575" anchor="ctr">
                    <a:lnR w="6668">
                      <a:solidFill>
                        <a:srgbClr val="CBD8E1"/>
                      </a:solidFill>
                    </a:lnR>
                    <a:lnB w="6668">
                      <a:solidFill>
                        <a:srgbClr val="CBD8E1"/>
                      </a:solidFill>
                    </a:lnB>
                    <a:solidFill>
                      <a:srgbClr val="EDF4F9"/>
                    </a:solidFill>
                  </a:tcPr>
                </a:tc>
              </a:tr>
            </a:tbl>
          </a:graphicData>
        </a:graphic>
      </p:graphicFrame>
      <p:graphicFrame>
        <p:nvGraphicFramePr>
          <p:cNvPr id="10" name="">
            <a:extLst xmlns:a="http://schemas.openxmlformats.org/drawingml/2006/main">
              <a:ext uri="{FF2B5EF4-FFF2-40B4-BE49-F238E27FC236}">
                <a16:creationId xmlns:a16="http://schemas.microsoft.com/office/drawing/2014/main" id="{97EBAA34-B3BD-4AB5-BAEC-384E08B7641F}"/>
              </a:ext>
            </a:extLst>
          </p:cNvPr>
          <p:cNvGraphicFramePr/>
          <p:nvPr/>
        </p:nvGraphicFramePr>
        <p:xfrm>
          <a:off xmlns:a="http://schemas.openxmlformats.org/drawingml/2006/main" x="6762750" y="3048000"/>
          <a:ext xmlns:a="http://schemas.openxmlformats.org/drawingml/2006/main" cx="4762500" cy="1228725"/>
        </p:xfrm>
        <a:graphic xmlns:a="http://schemas.openxmlformats.org/drawingml/2006/main">
          <a:graphicData uri="http://schemas.openxmlformats.org/drawingml/2006/table">
            <a:tbl>
              <a:tblPr/>
              <a:tblGrid>
                <a:gridCol w="1809750"/>
                <a:gridCol w="2952750"/>
              </a:tblGrid>
              <a:tr h="409575">
                <a:tc>
                  <a:txBody>
                    <a:bodyPr/>
                    <a:lstStyle/>
                    <a:p>
                      <a:r>
                        <a:rPr sz="1950" b="1">
                          <a:solidFill>
                            <a:srgbClr val="FFFFFF"/>
                          </a:solidFill>
                          <a:latin typeface="Arial"/>
                          <a:ea typeface="Arial"/>
                          <a:cs typeface="Arial"/>
                        </a:rPr>
                        <a:t>PersNr</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950" b="1">
                          <a:solidFill>
                            <a:srgbClr val="FFFFFF"/>
                          </a:solidFill>
                          <a:latin typeface="Arial"/>
                          <a:ea typeface="Arial"/>
                          <a:cs typeface="Arial"/>
                        </a:rPr>
                        <a:t>Name</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409575">
                <a:tc>
                  <a:txBody>
                    <a:bodyPr/>
                    <a:lstStyle/>
                    <a:p>
                      <a:r>
                        <a:rPr sz="1950" b="0">
                          <a:solidFill>
                            <a:srgbClr val="202B33"/>
                          </a:solidFill>
                          <a:latin typeface="Arial"/>
                          <a:ea typeface="Arial"/>
                          <a:cs typeface="Arial"/>
                        </a:rPr>
                        <a:t>2126</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950" b="0">
                          <a:solidFill>
                            <a:srgbClr val="202B33"/>
                          </a:solidFill>
                          <a:latin typeface="Arial"/>
                          <a:ea typeface="Arial"/>
                          <a:cs typeface="Arial"/>
                        </a:rPr>
                        <a:t>Russel</a:t>
                      </a:r>
                    </a:p>
                  </a:txBody>
                  <a:tcPr marL="95250" marR="66675" marT="28575" marB="28575" anchor="ctr">
                    <a:lnR w="6668">
                      <a:solidFill>
                        <a:srgbClr val="CBD8E1"/>
                      </a:solidFill>
                    </a:lnR>
                    <a:lnB w="6668">
                      <a:solidFill>
                        <a:srgbClr val="CBD8E1"/>
                      </a:solidFill>
                    </a:lnB>
                    <a:solidFill>
                      <a:srgbClr val="FFFFFF"/>
                    </a:solidFill>
                  </a:tcPr>
                </a:tc>
              </a:tr>
              <a:tr h="409575">
                <a:tc>
                  <a:txBody>
                    <a:bodyPr/>
                    <a:lstStyle/>
                    <a:p>
                      <a:r>
                        <a:rPr sz="1950" b="0">
                          <a:solidFill>
                            <a:srgbClr val="202B33"/>
                          </a:solidFill>
                          <a:latin typeface="Arial"/>
                          <a:ea typeface="Arial"/>
                          <a:cs typeface="Arial"/>
                        </a:rPr>
                        <a:t>2137</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950" b="0">
                          <a:solidFill>
                            <a:srgbClr val="202B33"/>
                          </a:solidFill>
                          <a:latin typeface="Arial"/>
                          <a:ea typeface="Arial"/>
                          <a:cs typeface="Arial"/>
                        </a:rPr>
                        <a:t>Kant</a:t>
                      </a:r>
                    </a:p>
                  </a:txBody>
                  <a:tcPr marL="95250" marR="66675" marT="28575" marB="28575" anchor="ctr">
                    <a:lnR w="6668">
                      <a:solidFill>
                        <a:srgbClr val="CBD8E1"/>
                      </a:solidFill>
                    </a:lnR>
                    <a:lnB w="6668">
                      <a:solidFill>
                        <a:srgbClr val="CBD8E1"/>
                      </a:solidFill>
                    </a:lnB>
                    <a:solidFill>
                      <a:srgbClr val="EDF4F9"/>
                    </a:solidFill>
                  </a:tcPr>
                </a:tc>
              </a:tr>
            </a:tbl>
          </a:graphicData>
        </a:graphic>
      </p:graphicFrame>
      <p:sp>
        <p:nvSpPr>
          <p:cNvPr id="11" name="">
            <a:extLst xmlns:a="http://schemas.openxmlformats.org/drawingml/2006/main">
              <a:ext uri="{FF2B5EF4-FFF2-40B4-BE49-F238E27FC236}">
                <a16:creationId xmlns:a16="http://schemas.microsoft.com/office/drawing/2014/main" id="{663DE4D1-7514-4D92-82CF-C9626EEBC1EE}"/>
              </a:ext>
            </a:extLst>
          </p:cNvPr>
          <p:cNvSpPr>
            <a:spLocks xmlns:a="http://schemas.openxmlformats.org/drawingml/2006/main" noGrp="1"/>
          </p:cNvSpPr>
          <p:nvPr/>
        </p:nvSpPr>
        <p:spPr>
          <a:xfrm xmlns:a="http://schemas.openxmlformats.org/drawingml/2006/main">
            <a:off x="609600" y="460057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Ergebnis</a:t>
            </a:r>
          </a:p>
        </p:txBody>
      </p:sp>
      <p:graphicFrame>
        <p:nvGraphicFramePr>
          <p:cNvPr id="12" name="">
            <a:extLst xmlns:a="http://schemas.openxmlformats.org/drawingml/2006/main">
              <a:ext uri="{FF2B5EF4-FFF2-40B4-BE49-F238E27FC236}">
                <a16:creationId xmlns:a16="http://schemas.microsoft.com/office/drawing/2014/main" id="{B37AE1D3-FE63-437F-982E-9C5A45C798B0}"/>
              </a:ext>
            </a:extLst>
          </p:cNvPr>
          <p:cNvGraphicFramePr/>
          <p:nvPr/>
        </p:nvGraphicFramePr>
        <p:xfrm>
          <a:off xmlns:a="http://schemas.openxmlformats.org/drawingml/2006/main" x="609600" y="5010150"/>
          <a:ext xmlns:a="http://schemas.openxmlformats.org/drawingml/2006/main" cx="7239000" cy="590550"/>
        </p:xfrm>
        <a:graphic xmlns:a="http://schemas.openxmlformats.org/drawingml/2006/main">
          <a:graphicData uri="http://schemas.openxmlformats.org/drawingml/2006/table">
            <a:tbl>
              <a:tblPr/>
              <a:tblGrid>
                <a:gridCol w="2190750"/>
                <a:gridCol w="5048250"/>
              </a:tblGrid>
              <a:tr h="295275">
                <a:tc>
                  <a:txBody>
                    <a:bodyPr/>
                    <a:lstStyle/>
                    <a:p>
                      <a:r>
                        <a:rPr sz="1800" b="1">
                          <a:solidFill>
                            <a:srgbClr val="FFFFFF"/>
                          </a:solidFill>
                          <a:latin typeface="Arial"/>
                          <a:ea typeface="Arial"/>
                          <a:cs typeface="Arial"/>
                        </a:rPr>
                        <a:t>PersNr</a:t>
                      </a:r>
                    </a:p>
                  </a:txBody>
                  <a:tcPr marL="95250" marR="66675" marT="9525" marB="952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800" b="1">
                          <a:solidFill>
                            <a:srgbClr val="FFFFFF"/>
                          </a:solidFill>
                          <a:latin typeface="Arial"/>
                          <a:ea typeface="Arial"/>
                          <a:cs typeface="Arial"/>
                        </a:rPr>
                        <a:t>Name</a:t>
                      </a:r>
                    </a:p>
                  </a:txBody>
                  <a:tcPr marL="95250" marR="66675" marT="9525" marB="9525" anchor="ctr">
                    <a:lnR w="6668">
                      <a:solidFill>
                        <a:srgbClr val="CBD8E1"/>
                      </a:solidFill>
                    </a:lnR>
                    <a:lnT w="6668">
                      <a:solidFill>
                        <a:srgbClr val="CBD8E1"/>
                      </a:solidFill>
                    </a:lnT>
                    <a:lnB w="6668">
                      <a:solidFill>
                        <a:srgbClr val="CBD8E1"/>
                      </a:solidFill>
                    </a:lnB>
                    <a:solidFill>
                      <a:srgbClr val="005293"/>
                    </a:solidFill>
                  </a:tcPr>
                </a:tc>
              </a:tr>
              <a:tr h="295275">
                <a:tc>
                  <a:txBody>
                    <a:bodyPr/>
                    <a:lstStyle/>
                    <a:p>
                      <a:r>
                        <a:rPr sz="1800" b="0">
                          <a:solidFill>
                            <a:srgbClr val="202B33"/>
                          </a:solidFill>
                          <a:latin typeface="Arial"/>
                          <a:ea typeface="Arial"/>
                          <a:cs typeface="Arial"/>
                        </a:rPr>
                        <a:t>2125</a:t>
                      </a:r>
                    </a:p>
                  </a:txBody>
                  <a:tcPr marL="95250" marR="66675" marT="9525" marB="9525" anchor="ctr">
                    <a:lnL w="6668">
                      <a:solidFill>
                        <a:srgbClr val="CBD8E1"/>
                      </a:solidFill>
                    </a:lnL>
                    <a:lnR w="6668">
                      <a:solidFill>
                        <a:srgbClr val="CBD8E1"/>
                      </a:solidFill>
                    </a:lnR>
                    <a:lnB w="6668">
                      <a:solidFill>
                        <a:srgbClr val="CBD8E1"/>
                      </a:solidFill>
                    </a:lnB>
                    <a:solidFill>
                      <a:srgbClr val="FFFFFF"/>
                    </a:solidFill>
                  </a:tcPr>
                </a:tc>
                <a:tc>
                  <a:txBody>
                    <a:bodyPr/>
                    <a:lstStyle/>
                    <a:p>
                      <a:r>
                        <a:rPr sz="1800" b="0">
                          <a:solidFill>
                            <a:srgbClr val="202B33"/>
                          </a:solidFill>
                          <a:latin typeface="Arial"/>
                          <a:ea typeface="Arial"/>
                          <a:cs typeface="Arial"/>
                        </a:rPr>
                        <a:t>Sokrates</a:t>
                      </a:r>
                    </a:p>
                  </a:txBody>
                  <a:tcPr marL="95250" marR="66675" marT="9525" marB="9525" anchor="ctr">
                    <a:lnR w="6668">
                      <a:solidFill>
                        <a:srgbClr val="CBD8E1"/>
                      </a:solidFill>
                    </a:lnR>
                    <a:lnB w="6668">
                      <a:solidFill>
                        <a:srgbClr val="CBD8E1"/>
                      </a:solidFill>
                    </a:lnB>
                    <a:solidFill>
                      <a:srgbClr val="FFFFFF"/>
                    </a:solidFill>
                  </a:tcPr>
                </a:tc>
              </a:tr>
            </a:tbl>
          </a:graphicData>
        </a:graphic>
      </p:graphicFrame>
    </p:spTree>
    <p:extLst>
      <p:ext uri="{BB962C8B-B14F-4D97-AF65-F5344CB8AC3E}">
        <p14:creationId xmlns:p14="http://schemas.microsoft.com/office/powerpoint/2010/main" val="499043580"/>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10818DE-D426-44FC-9792-A1F342B877EC}"/>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Relationale Division</a:t>
            </a:r>
          </a:p>
        </p:txBody>
      </p:sp>
      <p:sp>
        <p:nvSpPr>
          <p:cNvPr id="2" name="">
            <a:extLst xmlns:a="http://schemas.openxmlformats.org/drawingml/2006/main">
              <a:ext uri="{FF2B5EF4-FFF2-40B4-BE49-F238E27FC236}">
                <a16:creationId xmlns:a16="http://schemas.microsoft.com/office/drawing/2014/main" id="{017ACC60-0F65-446B-B56C-71654059A9DA}"/>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2C6D769E-4E58-4126-B8D6-82836F798DA3}"/>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40</a:t>
            </a:r>
          </a:p>
        </p:txBody>
      </p:sp>
      <p:sp>
        <p:nvSpPr>
          <p:cNvPr id="4" name="">
            <a:extLst xmlns:a="http://schemas.openxmlformats.org/drawingml/2006/main">
              <a:ext uri="{FF2B5EF4-FFF2-40B4-BE49-F238E27FC236}">
                <a16:creationId xmlns:a16="http://schemas.microsoft.com/office/drawing/2014/main" id="{C564A0ED-8BCF-49ED-ABDC-D36B5BA45DF4}"/>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39</a:t>
            </a:r>
          </a:p>
        </p:txBody>
      </p:sp>
      <p:sp>
        <p:nvSpPr>
          <p:cNvPr id="5" name="">
            <a:extLst xmlns:a="http://schemas.openxmlformats.org/drawingml/2006/main">
              <a:ext uri="{FF2B5EF4-FFF2-40B4-BE49-F238E27FC236}">
                <a16:creationId xmlns:a16="http://schemas.microsoft.com/office/drawing/2014/main" id="{2F77BBE0-0B13-450D-8C8E-4CA6CF9CDF26}"/>
              </a:ext>
            </a:extLst>
          </p:cNvPr>
          <p:cNvSpPr>
            <a:spLocks xmlns:a="http://schemas.openxmlformats.org/drawingml/2006/main" noGrp="1"/>
          </p:cNvSpPr>
          <p:nvPr/>
        </p:nvSpPr>
        <p:spPr>
          <a:xfrm xmlns:a="http://schemas.openxmlformats.org/drawingml/2006/main">
            <a:off x="609600" y="1428750"/>
            <a:ext cx="2436114"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3000" b="0">
                <a:solidFill>
                  <a:srgbClr val="005293"/>
                </a:solidFill>
                <a:latin typeface="STIX Two Math"/>
                <a:ea typeface="STIX Two Math"/>
                <a:cs typeface="STIX Two Math"/>
              </a:defRPr>
            </a:defPPr>
            <a:lvl1pPr>
              <a:defRPr sz="3000" b="0">
                <a:solidFill>
                  <a:srgbClr val="005293"/>
                </a:solidFill>
                <a:latin typeface="STIX Two Math"/>
                <a:ea typeface="STIX Two Math"/>
                <a:cs typeface="STIX Two Math"/>
              </a:defRPr>
            </a:lvl1pPr>
            <a:lvl2pPr>
              <a:defRPr sz="3000" b="0">
                <a:solidFill>
                  <a:srgbClr val="005293"/>
                </a:solidFill>
                <a:latin typeface="STIX Two Math"/>
                <a:ea typeface="STIX Two Math"/>
                <a:cs typeface="STIX Two Math"/>
              </a:defRPr>
            </a:lvl2pPr>
            <a:lvl3pPr>
              <a:defRPr sz="3000" b="0">
                <a:solidFill>
                  <a:srgbClr val="005293"/>
                </a:solidFill>
                <a:latin typeface="STIX Two Math"/>
                <a:ea typeface="STIX Two Math"/>
                <a:cs typeface="STIX Two Math"/>
              </a:defRPr>
            </a:lvl3pPr>
            <a:lvl4pPr>
              <a:defRPr sz="3000" b="0">
                <a:solidFill>
                  <a:srgbClr val="005293"/>
                </a:solidFill>
                <a:latin typeface="STIX Two Math"/>
                <a:ea typeface="STIX Two Math"/>
                <a:cs typeface="STIX Two Math"/>
              </a:defRPr>
            </a:lvl4pPr>
            <a:lvl5pPr>
              <a:defRPr sz="3000" b="0">
                <a:solidFill>
                  <a:srgbClr val="005293"/>
                </a:solidFill>
                <a:latin typeface="STIX Two Math"/>
                <a:ea typeface="STIX Two Math"/>
                <a:cs typeface="STIX Two Math"/>
              </a:defRPr>
            </a:lvl5pPr>
            <a:lvl6pPr>
              <a:defRPr sz="3000" b="0">
                <a:solidFill>
                  <a:srgbClr val="005293"/>
                </a:solidFill>
                <a:latin typeface="STIX Two Math"/>
                <a:ea typeface="STIX Two Math"/>
                <a:cs typeface="STIX Two Math"/>
              </a:defRPr>
            </a:lvl6pPr>
            <a:lvl7pPr>
              <a:defRPr sz="3000" b="0">
                <a:solidFill>
                  <a:srgbClr val="005293"/>
                </a:solidFill>
                <a:latin typeface="STIX Two Math"/>
                <a:ea typeface="STIX Two Math"/>
                <a:cs typeface="STIX Two Math"/>
              </a:defRPr>
            </a:lvl7pPr>
            <a:lvl8pPr>
              <a:defRPr sz="3000" b="0">
                <a:solidFill>
                  <a:srgbClr val="005293"/>
                </a:solidFill>
                <a:latin typeface="STIX Two Math"/>
                <a:ea typeface="STIX Two Math"/>
                <a:cs typeface="STIX Two Math"/>
              </a:defRPr>
            </a:lvl8pPr>
            <a:lvl9pPr>
              <a:defRPr sz="3000" b="0">
                <a:solidFill>
                  <a:srgbClr val="005293"/>
                </a:solidFill>
                <a:latin typeface="STIX Two Math"/>
                <a:ea typeface="STIX Two Math"/>
                <a:cs typeface="STIX Two Math"/>
              </a:defRPr>
            </a:lvl9pPr>
          </a:lstStyle>
          <a:p xmlns:a="http://schemas.openxmlformats.org/drawingml/2006/main">
            <a:pPr>
              <a:defRPr sz="3000" b="0">
                <a:solidFill>
                  <a:srgbClr val="005293"/>
                </a:solidFill>
                <a:latin typeface="STIX Two Math"/>
                <a:ea typeface="STIX Two Math"/>
                <a:cs typeface="STIX Two Math"/>
              </a:defRPr>
            </a:pPr>
            <a:r>
              <a:rPr sz="3000" b="0">
                <a:solidFill>
                  <a:srgbClr val="005293"/>
                </a:solidFill>
                <a:latin typeface="STIX Two Math"/>
                <a:ea typeface="STIX Two Math"/>
                <a:cs typeface="STIX Two Math"/>
              </a:rPr>
              <a:t>R(X, Y) ÷ S(Y)</a:t>
            </a:r>
          </a:p>
        </p:txBody>
      </p:sp>
      <p:sp>
        <p:nvSpPr>
          <p:cNvPr id="6" name="">
            <a:extLst xmlns:a="http://schemas.openxmlformats.org/drawingml/2006/main">
              <a:ext uri="{FF2B5EF4-FFF2-40B4-BE49-F238E27FC236}">
                <a16:creationId xmlns:a16="http://schemas.microsoft.com/office/drawing/2014/main" id="{4239E4CD-4C3E-4AC3-9DC9-E490395651DE}"/>
              </a:ext>
            </a:extLst>
          </p:cNvPr>
          <p:cNvSpPr>
            <a:spLocks xmlns:a="http://schemas.openxmlformats.org/drawingml/2006/main" noGrp="1"/>
          </p:cNvSpPr>
          <p:nvPr/>
        </p:nvSpPr>
        <p:spPr>
          <a:xfrm xmlns:a="http://schemas.openxmlformats.org/drawingml/2006/main">
            <a:off x="609600" y="24765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Für „alle“-Anfragen: Welche X-Werte kommen mit jedem Y-Tupel aus S vor?</a:t>
            </a:r>
          </a:p>
        </p:txBody>
      </p:sp>
      <p:sp>
        <p:nvSpPr>
          <p:cNvPr id="7" name="">
            <a:extLst xmlns:a="http://schemas.openxmlformats.org/drawingml/2006/main">
              <a:ext uri="{FF2B5EF4-FFF2-40B4-BE49-F238E27FC236}">
                <a16:creationId xmlns:a16="http://schemas.microsoft.com/office/drawing/2014/main" id="{7965D7EC-B4F3-4D58-AB76-73A7098DB1D0}"/>
              </a:ext>
            </a:extLst>
          </p:cNvPr>
          <p:cNvSpPr>
            <a:spLocks xmlns:a="http://schemas.openxmlformats.org/drawingml/2006/main" noGrp="1"/>
          </p:cNvSpPr>
          <p:nvPr/>
        </p:nvSpPr>
        <p:spPr>
          <a:xfrm xmlns:a="http://schemas.openxmlformats.org/drawingml/2006/main">
            <a:off x="609600" y="34290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Das Schema von S muss als passender Attributteil in R enthalten sein.</a:t>
            </a:r>
          </a:p>
        </p:txBody>
      </p:sp>
      <p:sp>
        <p:nvSpPr>
          <p:cNvPr id="8" name="">
            <a:extLst xmlns:a="http://schemas.openxmlformats.org/drawingml/2006/main">
              <a:ext uri="{FF2B5EF4-FFF2-40B4-BE49-F238E27FC236}">
                <a16:creationId xmlns:a16="http://schemas.microsoft.com/office/drawing/2014/main" id="{8BE5B4C9-EBD3-465C-95CC-565A6646E7BC}"/>
              </a:ext>
            </a:extLst>
          </p:cNvPr>
          <p:cNvSpPr>
            <a:spLocks xmlns:a="http://schemas.openxmlformats.org/drawingml/2006/main" noGrp="1"/>
          </p:cNvSpPr>
          <p:nvPr/>
        </p:nvSpPr>
        <p:spPr>
          <a:xfrm xmlns:a="http://schemas.openxmlformats.org/drawingml/2006/main">
            <a:off x="609600" y="43815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Das Ergebnis hat die Attribute X. Kandidaten stammen aus der Projektion auf X.</a:t>
            </a:r>
          </a:p>
        </p:txBody>
      </p:sp>
    </p:spTree>
    <p:extLst>
      <p:ext uri="{BB962C8B-B14F-4D97-AF65-F5344CB8AC3E}">
        <p14:creationId xmlns:p14="http://schemas.microsoft.com/office/powerpoint/2010/main" val="1653217146"/>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C8E0AE6-D1A0-4A16-99D6-8171F32819B8}"/>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Division: alle Vorlesungen einer Liste</a:t>
            </a:r>
          </a:p>
        </p:txBody>
      </p:sp>
      <p:sp>
        <p:nvSpPr>
          <p:cNvPr id="2" name="">
            <a:extLst xmlns:a="http://schemas.openxmlformats.org/drawingml/2006/main">
              <a:ext uri="{FF2B5EF4-FFF2-40B4-BE49-F238E27FC236}">
                <a16:creationId xmlns:a16="http://schemas.microsoft.com/office/drawing/2014/main" id="{03FDCECB-E9E2-4A1C-9A2B-9DE739A3E561}"/>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DB269AB2-5EF0-49EC-8CC7-5D96777064F5}"/>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41</a:t>
            </a:r>
          </a:p>
        </p:txBody>
      </p:sp>
      <p:sp>
        <p:nvSpPr>
          <p:cNvPr id="4" name="">
            <a:extLst xmlns:a="http://schemas.openxmlformats.org/drawingml/2006/main">
              <a:ext uri="{FF2B5EF4-FFF2-40B4-BE49-F238E27FC236}">
                <a16:creationId xmlns:a16="http://schemas.microsoft.com/office/drawing/2014/main" id="{024218DA-0384-47C7-BE3B-FD500DAADCF8}"/>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40–41</a:t>
            </a:r>
          </a:p>
        </p:txBody>
      </p:sp>
      <p:sp>
        <p:nvSpPr>
          <p:cNvPr id="5" name="">
            <a:extLst xmlns:a="http://schemas.openxmlformats.org/drawingml/2006/main">
              <a:ext uri="{FF2B5EF4-FFF2-40B4-BE49-F238E27FC236}">
                <a16:creationId xmlns:a16="http://schemas.microsoft.com/office/drawing/2014/main" id="{BE954659-0EFE-45DC-9F97-B36B93DE4657}"/>
              </a:ext>
            </a:extLst>
          </p:cNvPr>
          <p:cNvSpPr>
            <a:spLocks xmlns:a="http://schemas.openxmlformats.org/drawingml/2006/main" noGrp="1"/>
          </p:cNvSpPr>
          <p:nvPr/>
        </p:nvSpPr>
        <p:spPr>
          <a:xfrm xmlns:a="http://schemas.openxmlformats.org/drawingml/2006/main">
            <a:off x="609600" y="12573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B33"/>
                </a:solidFill>
                <a:latin typeface="Arial"/>
                <a:ea typeface="Arial"/>
                <a:cs typeface="Arial"/>
              </a:defRPr>
            </a:defPPr>
            <a:lvl1pPr>
              <a:defRPr sz="1950" b="0">
                <a:solidFill>
                  <a:srgbClr val="202B33"/>
                </a:solidFill>
                <a:latin typeface="Arial"/>
                <a:ea typeface="Arial"/>
                <a:cs typeface="Arial"/>
              </a:defRPr>
            </a:lvl1pPr>
            <a:lvl2pPr>
              <a:defRPr sz="1950" b="0">
                <a:solidFill>
                  <a:srgbClr val="202B33"/>
                </a:solidFill>
                <a:latin typeface="Arial"/>
                <a:ea typeface="Arial"/>
                <a:cs typeface="Arial"/>
              </a:defRPr>
            </a:lvl2pPr>
            <a:lvl3pPr>
              <a:defRPr sz="1950" b="0">
                <a:solidFill>
                  <a:srgbClr val="202B33"/>
                </a:solidFill>
                <a:latin typeface="Arial"/>
                <a:ea typeface="Arial"/>
                <a:cs typeface="Arial"/>
              </a:defRPr>
            </a:lvl3pPr>
            <a:lvl4pPr>
              <a:defRPr sz="1950" b="0">
                <a:solidFill>
                  <a:srgbClr val="202B33"/>
                </a:solidFill>
                <a:latin typeface="Arial"/>
                <a:ea typeface="Arial"/>
                <a:cs typeface="Arial"/>
              </a:defRPr>
            </a:lvl4pPr>
            <a:lvl5pPr>
              <a:defRPr sz="1950" b="0">
                <a:solidFill>
                  <a:srgbClr val="202B33"/>
                </a:solidFill>
                <a:latin typeface="Arial"/>
                <a:ea typeface="Arial"/>
                <a:cs typeface="Arial"/>
              </a:defRPr>
            </a:lvl5pPr>
            <a:lvl6pPr>
              <a:defRPr sz="1950" b="0">
                <a:solidFill>
                  <a:srgbClr val="202B33"/>
                </a:solidFill>
                <a:latin typeface="Arial"/>
                <a:ea typeface="Arial"/>
                <a:cs typeface="Arial"/>
              </a:defRPr>
            </a:lvl6pPr>
            <a:lvl7pPr>
              <a:defRPr sz="1950" b="0">
                <a:solidFill>
                  <a:srgbClr val="202B33"/>
                </a:solidFill>
                <a:latin typeface="Arial"/>
                <a:ea typeface="Arial"/>
                <a:cs typeface="Arial"/>
              </a:defRPr>
            </a:lvl7pPr>
            <a:lvl8pPr>
              <a:defRPr sz="1950" b="0">
                <a:solidFill>
                  <a:srgbClr val="202B33"/>
                </a:solidFill>
                <a:latin typeface="Arial"/>
                <a:ea typeface="Arial"/>
                <a:cs typeface="Arial"/>
              </a:defRPr>
            </a:lvl8pPr>
            <a:lvl9pPr>
              <a:defRPr sz="1950" b="0">
                <a:solidFill>
                  <a:srgbClr val="202B33"/>
                </a:solidFill>
                <a:latin typeface="Arial"/>
                <a:ea typeface="Arial"/>
                <a:cs typeface="Arial"/>
              </a:defRPr>
            </a:lvl9pPr>
          </a:lstStyle>
          <a:p xmlns:a="http://schemas.openxmlformats.org/drawingml/2006/main">
            <a:pPr>
              <a:defRPr sz="1950" b="0">
                <a:solidFill>
                  <a:srgbClr val="202B33"/>
                </a:solidFill>
                <a:latin typeface="Arial"/>
                <a:ea typeface="Arial"/>
                <a:cs typeface="Arial"/>
              </a:defRPr>
            </a:pPr>
            <a:r>
              <a:rPr sz="1950" b="0">
                <a:solidFill>
                  <a:srgbClr val="202B33"/>
                </a:solidFill>
                <a:latin typeface="Arial"/>
                <a:ea typeface="Arial"/>
                <a:cs typeface="Arial"/>
              </a:rPr>
              <a:t>„Liste die MatrNr aller Studenten, die alle Vorlesungen der jeweiligen Liste hören.“</a:t>
            </a:r>
          </a:p>
        </p:txBody>
      </p:sp>
      <p:sp>
        <p:nvSpPr>
          <p:cNvPr id="6" name="">
            <a:extLst xmlns:a="http://schemas.openxmlformats.org/drawingml/2006/main">
              <a:ext uri="{FF2B5EF4-FFF2-40B4-BE49-F238E27FC236}">
                <a16:creationId xmlns:a16="http://schemas.microsoft.com/office/drawing/2014/main" id="{A3AF43B5-B949-4C1E-B497-A207BE7EB60F}"/>
              </a:ext>
            </a:extLst>
          </p:cNvPr>
          <p:cNvSpPr>
            <a:spLocks xmlns:a="http://schemas.openxmlformats.org/drawingml/2006/main" noGrp="1"/>
          </p:cNvSpPr>
          <p:nvPr/>
        </p:nvSpPr>
        <p:spPr>
          <a:xfrm xmlns:a="http://schemas.openxmlformats.org/drawingml/2006/main">
            <a:off x="609600" y="188595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hören</a:t>
            </a:r>
          </a:p>
        </p:txBody>
      </p:sp>
      <p:graphicFrame>
        <p:nvGraphicFramePr>
          <p:cNvPr id="7" name="">
            <a:extLst xmlns:a="http://schemas.openxmlformats.org/drawingml/2006/main">
              <a:ext uri="{FF2B5EF4-FFF2-40B4-BE49-F238E27FC236}">
                <a16:creationId xmlns:a16="http://schemas.microsoft.com/office/drawing/2014/main" id="{D5A21E79-15D5-49FF-AEF9-DB366D30FFA3}"/>
              </a:ext>
            </a:extLst>
          </p:cNvPr>
          <p:cNvGraphicFramePr/>
          <p:nvPr/>
        </p:nvGraphicFramePr>
        <p:xfrm>
          <a:off xmlns:a="http://schemas.openxmlformats.org/drawingml/2006/main" x="609600" y="2266950"/>
          <a:ext xmlns:a="http://schemas.openxmlformats.org/drawingml/2006/main" cx="4191000" cy="3733800"/>
        </p:xfrm>
        <a:graphic xmlns:a="http://schemas.openxmlformats.org/drawingml/2006/main">
          <a:graphicData uri="http://schemas.openxmlformats.org/drawingml/2006/table">
            <a:tbl>
              <a:tblPr/>
              <a:tblGrid>
                <a:gridCol w="2095500"/>
                <a:gridCol w="2095500"/>
              </a:tblGrid>
              <a:tr h="266700">
                <a:tc>
                  <a:txBody>
                    <a:bodyPr/>
                    <a:lstStyle/>
                    <a:p>
                      <a:r>
                        <a:rPr sz="1500" b="1">
                          <a:solidFill>
                            <a:srgbClr val="FFFFFF"/>
                          </a:solidFill>
                          <a:latin typeface="Arial"/>
                          <a:ea typeface="Arial"/>
                          <a:cs typeface="Arial"/>
                        </a:rPr>
                        <a:t>MatrNr</a:t>
                      </a:r>
                    </a:p>
                  </a:txBody>
                  <a:tcPr marL="95250" marR="66675" marT="9525" marB="952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500" b="1">
                          <a:solidFill>
                            <a:srgbClr val="FFFFFF"/>
                          </a:solidFill>
                          <a:latin typeface="Arial"/>
                          <a:ea typeface="Arial"/>
                          <a:cs typeface="Arial"/>
                        </a:rPr>
                        <a:t>VorlNr</a:t>
                      </a:r>
                    </a:p>
                  </a:txBody>
                  <a:tcPr marL="95250" marR="66675" marT="9525" marB="9525" anchor="ctr">
                    <a:lnR w="6668">
                      <a:solidFill>
                        <a:srgbClr val="CBD8E1"/>
                      </a:solidFill>
                    </a:lnR>
                    <a:lnT w="6668">
                      <a:solidFill>
                        <a:srgbClr val="CBD8E1"/>
                      </a:solidFill>
                    </a:lnT>
                    <a:lnB w="6668">
                      <a:solidFill>
                        <a:srgbClr val="CBD8E1"/>
                      </a:solidFill>
                    </a:lnB>
                    <a:solidFill>
                      <a:srgbClr val="005293"/>
                    </a:solidFill>
                  </a:tcPr>
                </a:tc>
              </a:tr>
              <a:tr h="266700">
                <a:tc>
                  <a:txBody>
                    <a:bodyPr/>
                    <a:lstStyle/>
                    <a:p>
                      <a:r>
                        <a:rPr sz="1500" b="0">
                          <a:solidFill>
                            <a:srgbClr val="202B33"/>
                          </a:solidFill>
                          <a:latin typeface="Arial"/>
                          <a:ea typeface="Arial"/>
                          <a:cs typeface="Arial"/>
                        </a:rPr>
                        <a:t>25403</a:t>
                      </a:r>
                    </a:p>
                  </a:txBody>
                  <a:tcPr marL="95250" marR="66675" marT="9525" marB="9525" anchor="ctr">
                    <a:lnL w="6668">
                      <a:solidFill>
                        <a:srgbClr val="CBD8E1"/>
                      </a:solidFill>
                    </a:lnL>
                    <a:lnR w="6668">
                      <a:solidFill>
                        <a:srgbClr val="CBD8E1"/>
                      </a:solidFill>
                    </a:lnR>
                    <a:lnB w="6668">
                      <a:solidFill>
                        <a:srgbClr val="CBD8E1"/>
                      </a:solidFill>
                    </a:lnB>
                    <a:solidFill>
                      <a:srgbClr val="FFFFFF"/>
                    </a:solidFill>
                  </a:tcPr>
                </a:tc>
                <a:tc>
                  <a:txBody>
                    <a:bodyPr/>
                    <a:lstStyle/>
                    <a:p>
                      <a:r>
                        <a:rPr sz="1500" b="0">
                          <a:solidFill>
                            <a:srgbClr val="202B33"/>
                          </a:solidFill>
                          <a:latin typeface="Arial"/>
                          <a:ea typeface="Arial"/>
                          <a:cs typeface="Arial"/>
                        </a:rPr>
                        <a:t>5022</a:t>
                      </a:r>
                    </a:p>
                  </a:txBody>
                  <a:tcPr marL="95250" marR="66675" marT="9525" marB="9525" anchor="ctr">
                    <a:lnR w="6668">
                      <a:solidFill>
                        <a:srgbClr val="CBD8E1"/>
                      </a:solidFill>
                    </a:lnR>
                    <a:lnB w="6668">
                      <a:solidFill>
                        <a:srgbClr val="CBD8E1"/>
                      </a:solidFill>
                    </a:lnB>
                    <a:solidFill>
                      <a:srgbClr val="FFFFFF"/>
                    </a:solidFill>
                  </a:tcPr>
                </a:tc>
              </a:tr>
              <a:tr h="266700">
                <a:tc>
                  <a:txBody>
                    <a:bodyPr/>
                    <a:lstStyle/>
                    <a:p>
                      <a:r>
                        <a:rPr sz="1500" b="0">
                          <a:solidFill>
                            <a:srgbClr val="202B33"/>
                          </a:solidFill>
                          <a:latin typeface="Arial"/>
                          <a:ea typeface="Arial"/>
                          <a:cs typeface="Arial"/>
                        </a:rPr>
                        <a:t>26120</a:t>
                      </a:r>
                    </a:p>
                  </a:txBody>
                  <a:tcPr marL="95250" marR="66675" marT="9525" marB="9525" anchor="ctr">
                    <a:lnL w="6668">
                      <a:solidFill>
                        <a:srgbClr val="CBD8E1"/>
                      </a:solidFill>
                    </a:lnL>
                    <a:lnR w="6668">
                      <a:solidFill>
                        <a:srgbClr val="CBD8E1"/>
                      </a:solidFill>
                    </a:lnR>
                    <a:lnB w="6668">
                      <a:solidFill>
                        <a:srgbClr val="CBD8E1"/>
                      </a:solidFill>
                    </a:lnB>
                    <a:solidFill>
                      <a:srgbClr val="EDF4F9"/>
                    </a:solidFill>
                  </a:tcPr>
                </a:tc>
                <a:tc>
                  <a:txBody>
                    <a:bodyPr/>
                    <a:lstStyle/>
                    <a:p>
                      <a:r>
                        <a:rPr sz="1500" b="0">
                          <a:solidFill>
                            <a:srgbClr val="202B33"/>
                          </a:solidFill>
                          <a:latin typeface="Arial"/>
                          <a:ea typeface="Arial"/>
                          <a:cs typeface="Arial"/>
                        </a:rPr>
                        <a:t>5001</a:t>
                      </a:r>
                    </a:p>
                  </a:txBody>
                  <a:tcPr marL="95250" marR="66675" marT="9525" marB="9525" anchor="ctr">
                    <a:lnR w="6668">
                      <a:solidFill>
                        <a:srgbClr val="CBD8E1"/>
                      </a:solidFill>
                    </a:lnR>
                    <a:lnB w="6668">
                      <a:solidFill>
                        <a:srgbClr val="CBD8E1"/>
                      </a:solidFill>
                    </a:lnB>
                    <a:solidFill>
                      <a:srgbClr val="EDF4F9"/>
                    </a:solidFill>
                  </a:tcPr>
                </a:tc>
              </a:tr>
              <a:tr h="266700">
                <a:tc>
                  <a:txBody>
                    <a:bodyPr/>
                    <a:lstStyle/>
                    <a:p>
                      <a:r>
                        <a:rPr sz="1500" b="0">
                          <a:solidFill>
                            <a:srgbClr val="202B33"/>
                          </a:solidFill>
                          <a:latin typeface="Arial"/>
                          <a:ea typeface="Arial"/>
                          <a:cs typeface="Arial"/>
                        </a:rPr>
                        <a:t>27550</a:t>
                      </a:r>
                    </a:p>
                  </a:txBody>
                  <a:tcPr marL="95250" marR="66675" marT="9525" marB="9525" anchor="ctr">
                    <a:lnL w="6668">
                      <a:solidFill>
                        <a:srgbClr val="CBD8E1"/>
                      </a:solidFill>
                    </a:lnL>
                    <a:lnR w="6668">
                      <a:solidFill>
                        <a:srgbClr val="CBD8E1"/>
                      </a:solidFill>
                    </a:lnR>
                    <a:lnB w="6668">
                      <a:solidFill>
                        <a:srgbClr val="CBD8E1"/>
                      </a:solidFill>
                    </a:lnB>
                    <a:solidFill>
                      <a:srgbClr val="FFFFFF"/>
                    </a:solidFill>
                  </a:tcPr>
                </a:tc>
                <a:tc>
                  <a:txBody>
                    <a:bodyPr/>
                    <a:lstStyle/>
                    <a:p>
                      <a:r>
                        <a:rPr sz="1500" b="0">
                          <a:solidFill>
                            <a:srgbClr val="202B33"/>
                          </a:solidFill>
                          <a:latin typeface="Arial"/>
                          <a:ea typeface="Arial"/>
                          <a:cs typeface="Arial"/>
                        </a:rPr>
                        <a:t>4052</a:t>
                      </a:r>
                    </a:p>
                  </a:txBody>
                  <a:tcPr marL="95250" marR="66675" marT="9525" marB="9525" anchor="ctr">
                    <a:lnR w="6668">
                      <a:solidFill>
                        <a:srgbClr val="CBD8E1"/>
                      </a:solidFill>
                    </a:lnR>
                    <a:lnB w="6668">
                      <a:solidFill>
                        <a:srgbClr val="CBD8E1"/>
                      </a:solidFill>
                    </a:lnB>
                    <a:solidFill>
                      <a:srgbClr val="FFFFFF"/>
                    </a:solidFill>
                  </a:tcPr>
                </a:tc>
              </a:tr>
              <a:tr h="266700">
                <a:tc>
                  <a:txBody>
                    <a:bodyPr/>
                    <a:lstStyle/>
                    <a:p>
                      <a:r>
                        <a:rPr sz="1500" b="0">
                          <a:solidFill>
                            <a:srgbClr val="202B33"/>
                          </a:solidFill>
                          <a:latin typeface="Arial"/>
                          <a:ea typeface="Arial"/>
                          <a:cs typeface="Arial"/>
                        </a:rPr>
                        <a:t>27550</a:t>
                      </a:r>
                    </a:p>
                  </a:txBody>
                  <a:tcPr marL="95250" marR="66675" marT="9525" marB="9525" anchor="ctr">
                    <a:lnL w="6668">
                      <a:solidFill>
                        <a:srgbClr val="CBD8E1"/>
                      </a:solidFill>
                    </a:lnL>
                    <a:lnR w="6668">
                      <a:solidFill>
                        <a:srgbClr val="CBD8E1"/>
                      </a:solidFill>
                    </a:lnR>
                    <a:lnB w="6668">
                      <a:solidFill>
                        <a:srgbClr val="CBD8E1"/>
                      </a:solidFill>
                    </a:lnB>
                    <a:solidFill>
                      <a:srgbClr val="EDF4F9"/>
                    </a:solidFill>
                  </a:tcPr>
                </a:tc>
                <a:tc>
                  <a:txBody>
                    <a:bodyPr/>
                    <a:lstStyle/>
                    <a:p>
                      <a:r>
                        <a:rPr sz="1500" b="0">
                          <a:solidFill>
                            <a:srgbClr val="202B33"/>
                          </a:solidFill>
                          <a:latin typeface="Arial"/>
                          <a:ea typeface="Arial"/>
                          <a:cs typeface="Arial"/>
                        </a:rPr>
                        <a:t>5001</a:t>
                      </a:r>
                    </a:p>
                  </a:txBody>
                  <a:tcPr marL="95250" marR="66675" marT="9525" marB="9525" anchor="ctr">
                    <a:lnR w="6668">
                      <a:solidFill>
                        <a:srgbClr val="CBD8E1"/>
                      </a:solidFill>
                    </a:lnR>
                    <a:lnB w="6668">
                      <a:solidFill>
                        <a:srgbClr val="CBD8E1"/>
                      </a:solidFill>
                    </a:lnB>
                    <a:solidFill>
                      <a:srgbClr val="EDF4F9"/>
                    </a:solidFill>
                  </a:tcPr>
                </a:tc>
              </a:tr>
              <a:tr h="266700">
                <a:tc>
                  <a:txBody>
                    <a:bodyPr/>
                    <a:lstStyle/>
                    <a:p>
                      <a:r>
                        <a:rPr sz="1500" b="0">
                          <a:solidFill>
                            <a:srgbClr val="202B33"/>
                          </a:solidFill>
                          <a:latin typeface="Arial"/>
                          <a:ea typeface="Arial"/>
                          <a:cs typeface="Arial"/>
                        </a:rPr>
                        <a:t>28106</a:t>
                      </a:r>
                    </a:p>
                  </a:txBody>
                  <a:tcPr marL="95250" marR="66675" marT="9525" marB="9525" anchor="ctr">
                    <a:lnL w="6668">
                      <a:solidFill>
                        <a:srgbClr val="CBD8E1"/>
                      </a:solidFill>
                    </a:lnL>
                    <a:lnR w="6668">
                      <a:solidFill>
                        <a:srgbClr val="CBD8E1"/>
                      </a:solidFill>
                    </a:lnR>
                    <a:lnB w="6668">
                      <a:solidFill>
                        <a:srgbClr val="CBD8E1"/>
                      </a:solidFill>
                    </a:lnB>
                    <a:solidFill>
                      <a:srgbClr val="FFFFFF"/>
                    </a:solidFill>
                  </a:tcPr>
                </a:tc>
                <a:tc>
                  <a:txBody>
                    <a:bodyPr/>
                    <a:lstStyle/>
                    <a:p>
                      <a:r>
                        <a:rPr sz="1500" b="0">
                          <a:solidFill>
                            <a:srgbClr val="202B33"/>
                          </a:solidFill>
                          <a:latin typeface="Arial"/>
                          <a:ea typeface="Arial"/>
                          <a:cs typeface="Arial"/>
                        </a:rPr>
                        <a:t>5041</a:t>
                      </a:r>
                    </a:p>
                  </a:txBody>
                  <a:tcPr marL="95250" marR="66675" marT="9525" marB="9525" anchor="ctr">
                    <a:lnR w="6668">
                      <a:solidFill>
                        <a:srgbClr val="CBD8E1"/>
                      </a:solidFill>
                    </a:lnR>
                    <a:lnB w="6668">
                      <a:solidFill>
                        <a:srgbClr val="CBD8E1"/>
                      </a:solidFill>
                    </a:lnB>
                    <a:solidFill>
                      <a:srgbClr val="FFFFFF"/>
                    </a:solidFill>
                  </a:tcPr>
                </a:tc>
              </a:tr>
              <a:tr h="266700">
                <a:tc>
                  <a:txBody>
                    <a:bodyPr/>
                    <a:lstStyle/>
                    <a:p>
                      <a:r>
                        <a:rPr sz="1500" b="0">
                          <a:solidFill>
                            <a:srgbClr val="202B33"/>
                          </a:solidFill>
                          <a:latin typeface="Arial"/>
                          <a:ea typeface="Arial"/>
                          <a:cs typeface="Arial"/>
                        </a:rPr>
                        <a:t>28106</a:t>
                      </a:r>
                    </a:p>
                  </a:txBody>
                  <a:tcPr marL="95250" marR="66675" marT="9525" marB="9525" anchor="ctr">
                    <a:lnL w="6668">
                      <a:solidFill>
                        <a:srgbClr val="CBD8E1"/>
                      </a:solidFill>
                    </a:lnL>
                    <a:lnR w="6668">
                      <a:solidFill>
                        <a:srgbClr val="CBD8E1"/>
                      </a:solidFill>
                    </a:lnR>
                    <a:lnB w="6668">
                      <a:solidFill>
                        <a:srgbClr val="CBD8E1"/>
                      </a:solidFill>
                    </a:lnB>
                    <a:solidFill>
                      <a:srgbClr val="EDF4F9"/>
                    </a:solidFill>
                  </a:tcPr>
                </a:tc>
                <a:tc>
                  <a:txBody>
                    <a:bodyPr/>
                    <a:lstStyle/>
                    <a:p>
                      <a:r>
                        <a:rPr sz="1500" b="0">
                          <a:solidFill>
                            <a:srgbClr val="202B33"/>
                          </a:solidFill>
                          <a:latin typeface="Arial"/>
                          <a:ea typeface="Arial"/>
                          <a:cs typeface="Arial"/>
                        </a:rPr>
                        <a:t>5052</a:t>
                      </a:r>
                    </a:p>
                  </a:txBody>
                  <a:tcPr marL="95250" marR="66675" marT="9525" marB="9525" anchor="ctr">
                    <a:lnR w="6668">
                      <a:solidFill>
                        <a:srgbClr val="CBD8E1"/>
                      </a:solidFill>
                    </a:lnR>
                    <a:lnB w="6668">
                      <a:solidFill>
                        <a:srgbClr val="CBD8E1"/>
                      </a:solidFill>
                    </a:lnB>
                    <a:solidFill>
                      <a:srgbClr val="EDF4F9"/>
                    </a:solidFill>
                  </a:tcPr>
                </a:tc>
              </a:tr>
              <a:tr h="266700">
                <a:tc>
                  <a:txBody>
                    <a:bodyPr/>
                    <a:lstStyle/>
                    <a:p>
                      <a:r>
                        <a:rPr sz="1500" b="0">
                          <a:solidFill>
                            <a:srgbClr val="202B33"/>
                          </a:solidFill>
                          <a:latin typeface="Arial"/>
                          <a:ea typeface="Arial"/>
                          <a:cs typeface="Arial"/>
                        </a:rPr>
                        <a:t>28106</a:t>
                      </a:r>
                    </a:p>
                  </a:txBody>
                  <a:tcPr marL="95250" marR="66675" marT="9525" marB="9525" anchor="ctr">
                    <a:lnL w="6668">
                      <a:solidFill>
                        <a:srgbClr val="CBD8E1"/>
                      </a:solidFill>
                    </a:lnL>
                    <a:lnR w="6668">
                      <a:solidFill>
                        <a:srgbClr val="CBD8E1"/>
                      </a:solidFill>
                    </a:lnR>
                    <a:lnB w="6668">
                      <a:solidFill>
                        <a:srgbClr val="CBD8E1"/>
                      </a:solidFill>
                    </a:lnB>
                    <a:solidFill>
                      <a:srgbClr val="FFFFFF"/>
                    </a:solidFill>
                  </a:tcPr>
                </a:tc>
                <a:tc>
                  <a:txBody>
                    <a:bodyPr/>
                    <a:lstStyle/>
                    <a:p>
                      <a:r>
                        <a:rPr sz="1500" b="0">
                          <a:solidFill>
                            <a:srgbClr val="202B33"/>
                          </a:solidFill>
                          <a:latin typeface="Arial"/>
                          <a:ea typeface="Arial"/>
                          <a:cs typeface="Arial"/>
                        </a:rPr>
                        <a:t>5216</a:t>
                      </a:r>
                    </a:p>
                  </a:txBody>
                  <a:tcPr marL="95250" marR="66675" marT="9525" marB="9525" anchor="ctr">
                    <a:lnR w="6668">
                      <a:solidFill>
                        <a:srgbClr val="CBD8E1"/>
                      </a:solidFill>
                    </a:lnR>
                    <a:lnB w="6668">
                      <a:solidFill>
                        <a:srgbClr val="CBD8E1"/>
                      </a:solidFill>
                    </a:lnB>
                    <a:solidFill>
                      <a:srgbClr val="FFFFFF"/>
                    </a:solidFill>
                  </a:tcPr>
                </a:tc>
              </a:tr>
              <a:tr h="266700">
                <a:tc>
                  <a:txBody>
                    <a:bodyPr/>
                    <a:lstStyle/>
                    <a:p>
                      <a:r>
                        <a:rPr sz="1500" b="0">
                          <a:solidFill>
                            <a:srgbClr val="202B33"/>
                          </a:solidFill>
                          <a:latin typeface="Arial"/>
                          <a:ea typeface="Arial"/>
                          <a:cs typeface="Arial"/>
                        </a:rPr>
                        <a:t>28106</a:t>
                      </a:r>
                    </a:p>
                  </a:txBody>
                  <a:tcPr marL="95250" marR="66675" marT="9525" marB="9525" anchor="ctr">
                    <a:lnL w="6668">
                      <a:solidFill>
                        <a:srgbClr val="CBD8E1"/>
                      </a:solidFill>
                    </a:lnL>
                    <a:lnR w="6668">
                      <a:solidFill>
                        <a:srgbClr val="CBD8E1"/>
                      </a:solidFill>
                    </a:lnR>
                    <a:lnB w="6668">
                      <a:solidFill>
                        <a:srgbClr val="CBD8E1"/>
                      </a:solidFill>
                    </a:lnB>
                    <a:solidFill>
                      <a:srgbClr val="EDF4F9"/>
                    </a:solidFill>
                  </a:tcPr>
                </a:tc>
                <a:tc>
                  <a:txBody>
                    <a:bodyPr/>
                    <a:lstStyle/>
                    <a:p>
                      <a:r>
                        <a:rPr sz="1500" b="0">
                          <a:solidFill>
                            <a:srgbClr val="202B33"/>
                          </a:solidFill>
                          <a:latin typeface="Arial"/>
                          <a:ea typeface="Arial"/>
                          <a:cs typeface="Arial"/>
                        </a:rPr>
                        <a:t>5259</a:t>
                      </a:r>
                    </a:p>
                  </a:txBody>
                  <a:tcPr marL="95250" marR="66675" marT="9525" marB="9525" anchor="ctr">
                    <a:lnR w="6668">
                      <a:solidFill>
                        <a:srgbClr val="CBD8E1"/>
                      </a:solidFill>
                    </a:lnR>
                    <a:lnB w="6668">
                      <a:solidFill>
                        <a:srgbClr val="CBD8E1"/>
                      </a:solidFill>
                    </a:lnB>
                    <a:solidFill>
                      <a:srgbClr val="EDF4F9"/>
                    </a:solidFill>
                  </a:tcPr>
                </a:tc>
              </a:tr>
              <a:tr h="266700">
                <a:tc>
                  <a:txBody>
                    <a:bodyPr/>
                    <a:lstStyle/>
                    <a:p>
                      <a:r>
                        <a:rPr sz="1500" b="0">
                          <a:solidFill>
                            <a:srgbClr val="202B33"/>
                          </a:solidFill>
                          <a:latin typeface="Arial"/>
                          <a:ea typeface="Arial"/>
                          <a:cs typeface="Arial"/>
                        </a:rPr>
                        <a:t>29120</a:t>
                      </a:r>
                    </a:p>
                  </a:txBody>
                  <a:tcPr marL="95250" marR="66675" marT="9525" marB="9525" anchor="ctr">
                    <a:lnL w="6668">
                      <a:solidFill>
                        <a:srgbClr val="CBD8E1"/>
                      </a:solidFill>
                    </a:lnL>
                    <a:lnR w="6668">
                      <a:solidFill>
                        <a:srgbClr val="CBD8E1"/>
                      </a:solidFill>
                    </a:lnR>
                    <a:lnB w="6668">
                      <a:solidFill>
                        <a:srgbClr val="CBD8E1"/>
                      </a:solidFill>
                    </a:lnB>
                    <a:solidFill>
                      <a:srgbClr val="FFFFFF"/>
                    </a:solidFill>
                  </a:tcPr>
                </a:tc>
                <a:tc>
                  <a:txBody>
                    <a:bodyPr/>
                    <a:lstStyle/>
                    <a:p>
                      <a:r>
                        <a:rPr sz="1500" b="0">
                          <a:solidFill>
                            <a:srgbClr val="202B33"/>
                          </a:solidFill>
                          <a:latin typeface="Arial"/>
                          <a:ea typeface="Arial"/>
                          <a:cs typeface="Arial"/>
                        </a:rPr>
                        <a:t>5001</a:t>
                      </a:r>
                    </a:p>
                  </a:txBody>
                  <a:tcPr marL="95250" marR="66675" marT="9525" marB="9525" anchor="ctr">
                    <a:lnR w="6668">
                      <a:solidFill>
                        <a:srgbClr val="CBD8E1"/>
                      </a:solidFill>
                    </a:lnR>
                    <a:lnB w="6668">
                      <a:solidFill>
                        <a:srgbClr val="CBD8E1"/>
                      </a:solidFill>
                    </a:lnB>
                    <a:solidFill>
                      <a:srgbClr val="FFFFFF"/>
                    </a:solidFill>
                  </a:tcPr>
                </a:tc>
              </a:tr>
              <a:tr h="266700">
                <a:tc>
                  <a:txBody>
                    <a:bodyPr/>
                    <a:lstStyle/>
                    <a:p>
                      <a:r>
                        <a:rPr sz="1500" b="0">
                          <a:solidFill>
                            <a:srgbClr val="202B33"/>
                          </a:solidFill>
                          <a:latin typeface="Arial"/>
                          <a:ea typeface="Arial"/>
                          <a:cs typeface="Arial"/>
                        </a:rPr>
                        <a:t>29120</a:t>
                      </a:r>
                    </a:p>
                  </a:txBody>
                  <a:tcPr marL="95250" marR="66675" marT="9525" marB="9525" anchor="ctr">
                    <a:lnL w="6668">
                      <a:solidFill>
                        <a:srgbClr val="CBD8E1"/>
                      </a:solidFill>
                    </a:lnL>
                    <a:lnR w="6668">
                      <a:solidFill>
                        <a:srgbClr val="CBD8E1"/>
                      </a:solidFill>
                    </a:lnR>
                    <a:lnB w="6668">
                      <a:solidFill>
                        <a:srgbClr val="CBD8E1"/>
                      </a:solidFill>
                    </a:lnB>
                    <a:solidFill>
                      <a:srgbClr val="EDF4F9"/>
                    </a:solidFill>
                  </a:tcPr>
                </a:tc>
                <a:tc>
                  <a:txBody>
                    <a:bodyPr/>
                    <a:lstStyle/>
                    <a:p>
                      <a:r>
                        <a:rPr sz="1500" b="0">
                          <a:solidFill>
                            <a:srgbClr val="202B33"/>
                          </a:solidFill>
                          <a:latin typeface="Arial"/>
                          <a:ea typeface="Arial"/>
                          <a:cs typeface="Arial"/>
                        </a:rPr>
                        <a:t>5041</a:t>
                      </a:r>
                    </a:p>
                  </a:txBody>
                  <a:tcPr marL="95250" marR="66675" marT="9525" marB="9525" anchor="ctr">
                    <a:lnR w="6668">
                      <a:solidFill>
                        <a:srgbClr val="CBD8E1"/>
                      </a:solidFill>
                    </a:lnR>
                    <a:lnB w="6668">
                      <a:solidFill>
                        <a:srgbClr val="CBD8E1"/>
                      </a:solidFill>
                    </a:lnB>
                    <a:solidFill>
                      <a:srgbClr val="EDF4F9"/>
                    </a:solidFill>
                  </a:tcPr>
                </a:tc>
              </a:tr>
              <a:tr h="266700">
                <a:tc>
                  <a:txBody>
                    <a:bodyPr/>
                    <a:lstStyle/>
                    <a:p>
                      <a:r>
                        <a:rPr sz="1500" b="0">
                          <a:solidFill>
                            <a:srgbClr val="202B33"/>
                          </a:solidFill>
                          <a:latin typeface="Arial"/>
                          <a:ea typeface="Arial"/>
                          <a:cs typeface="Arial"/>
                        </a:rPr>
                        <a:t>29120</a:t>
                      </a:r>
                    </a:p>
                  </a:txBody>
                  <a:tcPr marL="95250" marR="66675" marT="9525" marB="9525" anchor="ctr">
                    <a:lnL w="6668">
                      <a:solidFill>
                        <a:srgbClr val="CBD8E1"/>
                      </a:solidFill>
                    </a:lnL>
                    <a:lnR w="6668">
                      <a:solidFill>
                        <a:srgbClr val="CBD8E1"/>
                      </a:solidFill>
                    </a:lnR>
                    <a:lnB w="6668">
                      <a:solidFill>
                        <a:srgbClr val="CBD8E1"/>
                      </a:solidFill>
                    </a:lnB>
                    <a:solidFill>
                      <a:srgbClr val="FFFFFF"/>
                    </a:solidFill>
                  </a:tcPr>
                </a:tc>
                <a:tc>
                  <a:txBody>
                    <a:bodyPr/>
                    <a:lstStyle/>
                    <a:p>
                      <a:r>
                        <a:rPr sz="1500" b="0">
                          <a:solidFill>
                            <a:srgbClr val="202B33"/>
                          </a:solidFill>
                          <a:latin typeface="Arial"/>
                          <a:ea typeface="Arial"/>
                          <a:cs typeface="Arial"/>
                        </a:rPr>
                        <a:t>5049</a:t>
                      </a:r>
                    </a:p>
                  </a:txBody>
                  <a:tcPr marL="95250" marR="66675" marT="9525" marB="9525" anchor="ctr">
                    <a:lnR w="6668">
                      <a:solidFill>
                        <a:srgbClr val="CBD8E1"/>
                      </a:solidFill>
                    </a:lnR>
                    <a:lnB w="6668">
                      <a:solidFill>
                        <a:srgbClr val="CBD8E1"/>
                      </a:solidFill>
                    </a:lnB>
                    <a:solidFill>
                      <a:srgbClr val="FFFFFF"/>
                    </a:solidFill>
                  </a:tcPr>
                </a:tc>
              </a:tr>
              <a:tr h="266700">
                <a:tc>
                  <a:txBody>
                    <a:bodyPr/>
                    <a:lstStyle/>
                    <a:p>
                      <a:r>
                        <a:rPr sz="1500" b="0">
                          <a:solidFill>
                            <a:srgbClr val="202B33"/>
                          </a:solidFill>
                          <a:latin typeface="Arial"/>
                          <a:ea typeface="Arial"/>
                          <a:cs typeface="Arial"/>
                        </a:rPr>
                        <a:t>29555</a:t>
                      </a:r>
                    </a:p>
                  </a:txBody>
                  <a:tcPr marL="95250" marR="66675" marT="9525" marB="9525" anchor="ctr">
                    <a:lnL w="6668">
                      <a:solidFill>
                        <a:srgbClr val="CBD8E1"/>
                      </a:solidFill>
                    </a:lnL>
                    <a:lnR w="6668">
                      <a:solidFill>
                        <a:srgbClr val="CBD8E1"/>
                      </a:solidFill>
                    </a:lnR>
                    <a:lnB w="6668">
                      <a:solidFill>
                        <a:srgbClr val="CBD8E1"/>
                      </a:solidFill>
                    </a:lnB>
                    <a:solidFill>
                      <a:srgbClr val="EDF4F9"/>
                    </a:solidFill>
                  </a:tcPr>
                </a:tc>
                <a:tc>
                  <a:txBody>
                    <a:bodyPr/>
                    <a:lstStyle/>
                    <a:p>
                      <a:r>
                        <a:rPr sz="1500" b="0">
                          <a:solidFill>
                            <a:srgbClr val="202B33"/>
                          </a:solidFill>
                          <a:latin typeface="Arial"/>
                          <a:ea typeface="Arial"/>
                          <a:cs typeface="Arial"/>
                        </a:rPr>
                        <a:t>5001</a:t>
                      </a:r>
                    </a:p>
                  </a:txBody>
                  <a:tcPr marL="95250" marR="66675" marT="9525" marB="9525" anchor="ctr">
                    <a:lnR w="6668">
                      <a:solidFill>
                        <a:srgbClr val="CBD8E1"/>
                      </a:solidFill>
                    </a:lnR>
                    <a:lnB w="6668">
                      <a:solidFill>
                        <a:srgbClr val="CBD8E1"/>
                      </a:solidFill>
                    </a:lnB>
                    <a:solidFill>
                      <a:srgbClr val="EDF4F9"/>
                    </a:solidFill>
                  </a:tcPr>
                </a:tc>
              </a:tr>
              <a:tr h="266700">
                <a:tc>
                  <a:txBody>
                    <a:bodyPr/>
                    <a:lstStyle/>
                    <a:p>
                      <a:r>
                        <a:rPr sz="1500" b="0">
                          <a:solidFill>
                            <a:srgbClr val="202B33"/>
                          </a:solidFill>
                          <a:latin typeface="Arial"/>
                          <a:ea typeface="Arial"/>
                          <a:cs typeface="Arial"/>
                        </a:rPr>
                        <a:t>29555</a:t>
                      </a:r>
                    </a:p>
                  </a:txBody>
                  <a:tcPr marL="95250" marR="66675" marT="9525" marB="9525" anchor="ctr">
                    <a:lnL w="6668">
                      <a:solidFill>
                        <a:srgbClr val="CBD8E1"/>
                      </a:solidFill>
                    </a:lnL>
                    <a:lnR w="6668">
                      <a:solidFill>
                        <a:srgbClr val="CBD8E1"/>
                      </a:solidFill>
                    </a:lnR>
                    <a:lnB w="6668">
                      <a:solidFill>
                        <a:srgbClr val="CBD8E1"/>
                      </a:solidFill>
                    </a:lnB>
                    <a:solidFill>
                      <a:srgbClr val="FFFFFF"/>
                    </a:solidFill>
                  </a:tcPr>
                </a:tc>
                <a:tc>
                  <a:txBody>
                    <a:bodyPr/>
                    <a:lstStyle/>
                    <a:p>
                      <a:r>
                        <a:rPr sz="1500" b="0">
                          <a:solidFill>
                            <a:srgbClr val="202B33"/>
                          </a:solidFill>
                          <a:latin typeface="Arial"/>
                          <a:ea typeface="Arial"/>
                          <a:cs typeface="Arial"/>
                        </a:rPr>
                        <a:t>5022</a:t>
                      </a:r>
                    </a:p>
                  </a:txBody>
                  <a:tcPr marL="95250" marR="66675" marT="9525" marB="9525" anchor="ctr">
                    <a:lnR w="6668">
                      <a:solidFill>
                        <a:srgbClr val="CBD8E1"/>
                      </a:solidFill>
                    </a:lnR>
                    <a:lnB w="6668">
                      <a:solidFill>
                        <a:srgbClr val="CBD8E1"/>
                      </a:solidFill>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7B574043-42F1-4FBD-87E0-8716BB1C7FB6}"/>
              </a:ext>
            </a:extLst>
          </p:cNvPr>
          <p:cNvSpPr>
            <a:spLocks xmlns:a="http://schemas.openxmlformats.org/drawingml/2006/main" noGrp="1"/>
          </p:cNvSpPr>
          <p:nvPr/>
        </p:nvSpPr>
        <p:spPr>
          <a:xfrm xmlns:a="http://schemas.openxmlformats.org/drawingml/2006/main">
            <a:off x="5953125" y="2200275"/>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Vorl1</a:t>
            </a:r>
          </a:p>
        </p:txBody>
      </p:sp>
      <p:graphicFrame>
        <p:nvGraphicFramePr>
          <p:cNvPr id="9" name="">
            <a:extLst xmlns:a="http://schemas.openxmlformats.org/drawingml/2006/main">
              <a:ext uri="{FF2B5EF4-FFF2-40B4-BE49-F238E27FC236}">
                <a16:creationId xmlns:a16="http://schemas.microsoft.com/office/drawing/2014/main" id="{11D3F622-C6F6-4D00-BB06-137BA0685D39}"/>
              </a:ext>
            </a:extLst>
          </p:cNvPr>
          <p:cNvGraphicFramePr/>
          <p:nvPr/>
        </p:nvGraphicFramePr>
        <p:xfrm>
          <a:off xmlns:a="http://schemas.openxmlformats.org/drawingml/2006/main" x="5953125" y="2619375"/>
          <a:ext xmlns:a="http://schemas.openxmlformats.org/drawingml/2006/main" cx="1619250" cy="819150"/>
        </p:xfrm>
        <a:graphic xmlns:a="http://schemas.openxmlformats.org/drawingml/2006/main">
          <a:graphicData uri="http://schemas.openxmlformats.org/drawingml/2006/table">
            <a:tbl>
              <a:tblPr/>
              <a:tblGrid>
                <a:gridCol w="1619250"/>
              </a:tblGrid>
              <a:tr h="409575">
                <a:tc>
                  <a:txBody>
                    <a:bodyPr/>
                    <a:lstStyle/>
                    <a:p>
                      <a:r>
                        <a:rPr sz="1875" b="1">
                          <a:solidFill>
                            <a:srgbClr val="FFFFFF"/>
                          </a:solidFill>
                          <a:latin typeface="Arial"/>
                          <a:ea typeface="Arial"/>
                          <a:cs typeface="Arial"/>
                        </a:rPr>
                        <a:t>VorlNr</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r>
              <a:tr h="409575">
                <a:tc>
                  <a:txBody>
                    <a:bodyPr/>
                    <a:lstStyle/>
                    <a:p>
                      <a:r>
                        <a:rPr sz="1875" b="0">
                          <a:solidFill>
                            <a:srgbClr val="202B33"/>
                          </a:solidFill>
                          <a:latin typeface="Arial"/>
                          <a:ea typeface="Arial"/>
                          <a:cs typeface="Arial"/>
                        </a:rPr>
                        <a:t>5001</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E027D6A7-A93A-4DD2-9FFA-6C3D1A5202CC}"/>
              </a:ext>
            </a:extLst>
          </p:cNvPr>
          <p:cNvSpPr>
            <a:spLocks xmlns:a="http://schemas.openxmlformats.org/drawingml/2006/main" noGrp="1"/>
          </p:cNvSpPr>
          <p:nvPr/>
        </p:nvSpPr>
        <p:spPr>
          <a:xfrm xmlns:a="http://schemas.openxmlformats.org/drawingml/2006/main">
            <a:off x="7905750" y="2200275"/>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Vorl2</a:t>
            </a:r>
          </a:p>
        </p:txBody>
      </p:sp>
      <p:graphicFrame>
        <p:nvGraphicFramePr>
          <p:cNvPr id="11" name="">
            <a:extLst xmlns:a="http://schemas.openxmlformats.org/drawingml/2006/main">
              <a:ext uri="{FF2B5EF4-FFF2-40B4-BE49-F238E27FC236}">
                <a16:creationId xmlns:a16="http://schemas.microsoft.com/office/drawing/2014/main" id="{9D8001F9-2435-48B7-8C3E-B66B3FCB5EC9}"/>
              </a:ext>
            </a:extLst>
          </p:cNvPr>
          <p:cNvGraphicFramePr/>
          <p:nvPr/>
        </p:nvGraphicFramePr>
        <p:xfrm>
          <a:off xmlns:a="http://schemas.openxmlformats.org/drawingml/2006/main" x="7905750" y="2619375"/>
          <a:ext xmlns:a="http://schemas.openxmlformats.org/drawingml/2006/main" cx="1619250" cy="1228725"/>
        </p:xfrm>
        <a:graphic xmlns:a="http://schemas.openxmlformats.org/drawingml/2006/main">
          <a:graphicData uri="http://schemas.openxmlformats.org/drawingml/2006/table">
            <a:tbl>
              <a:tblPr/>
              <a:tblGrid>
                <a:gridCol w="1619250"/>
              </a:tblGrid>
              <a:tr h="409575">
                <a:tc>
                  <a:txBody>
                    <a:bodyPr/>
                    <a:lstStyle/>
                    <a:p>
                      <a:r>
                        <a:rPr sz="1875" b="1">
                          <a:solidFill>
                            <a:srgbClr val="FFFFFF"/>
                          </a:solidFill>
                          <a:latin typeface="Arial"/>
                          <a:ea typeface="Arial"/>
                          <a:cs typeface="Arial"/>
                        </a:rPr>
                        <a:t>VorlNr</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r>
              <a:tr h="409575">
                <a:tc>
                  <a:txBody>
                    <a:bodyPr/>
                    <a:lstStyle/>
                    <a:p>
                      <a:r>
                        <a:rPr sz="1875" b="0">
                          <a:solidFill>
                            <a:srgbClr val="202B33"/>
                          </a:solidFill>
                          <a:latin typeface="Arial"/>
                          <a:ea typeface="Arial"/>
                          <a:cs typeface="Arial"/>
                        </a:rPr>
                        <a:t>5001</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r>
              <a:tr h="409575">
                <a:tc>
                  <a:txBody>
                    <a:bodyPr/>
                    <a:lstStyle/>
                    <a:p>
                      <a:r>
                        <a:rPr sz="1875" b="0">
                          <a:solidFill>
                            <a:srgbClr val="202B33"/>
                          </a:solidFill>
                          <a:latin typeface="Arial"/>
                          <a:ea typeface="Arial"/>
                          <a:cs typeface="Arial"/>
                        </a:rPr>
                        <a:t>5041</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r>
            </a:tbl>
          </a:graphicData>
        </a:graphic>
      </p:graphicFrame>
      <p:sp>
        <p:nvSpPr>
          <p:cNvPr id="12" name="">
            <a:extLst xmlns:a="http://schemas.openxmlformats.org/drawingml/2006/main">
              <a:ext uri="{FF2B5EF4-FFF2-40B4-BE49-F238E27FC236}">
                <a16:creationId xmlns:a16="http://schemas.microsoft.com/office/drawing/2014/main" id="{9B72743B-F368-490A-A029-40036E3A11F2}"/>
              </a:ext>
            </a:extLst>
          </p:cNvPr>
          <p:cNvSpPr>
            <a:spLocks xmlns:a="http://schemas.openxmlformats.org/drawingml/2006/main" noGrp="1"/>
          </p:cNvSpPr>
          <p:nvPr/>
        </p:nvSpPr>
        <p:spPr>
          <a:xfrm xmlns:a="http://schemas.openxmlformats.org/drawingml/2006/main">
            <a:off x="9858375" y="2200275"/>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Vorl3</a:t>
            </a:r>
          </a:p>
        </p:txBody>
      </p:sp>
      <p:graphicFrame>
        <p:nvGraphicFramePr>
          <p:cNvPr id="13" name="">
            <a:extLst xmlns:a="http://schemas.openxmlformats.org/drawingml/2006/main">
              <a:ext uri="{FF2B5EF4-FFF2-40B4-BE49-F238E27FC236}">
                <a16:creationId xmlns:a16="http://schemas.microsoft.com/office/drawing/2014/main" id="{A0B4E528-7ADE-4D40-AB74-55E68B288AC3}"/>
              </a:ext>
            </a:extLst>
          </p:cNvPr>
          <p:cNvGraphicFramePr/>
          <p:nvPr/>
        </p:nvGraphicFramePr>
        <p:xfrm>
          <a:off xmlns:a="http://schemas.openxmlformats.org/drawingml/2006/main" x="9858375" y="2619375"/>
          <a:ext xmlns:a="http://schemas.openxmlformats.org/drawingml/2006/main" cx="1619250" cy="1228725"/>
        </p:xfrm>
        <a:graphic xmlns:a="http://schemas.openxmlformats.org/drawingml/2006/main">
          <a:graphicData uri="http://schemas.openxmlformats.org/drawingml/2006/table">
            <a:tbl>
              <a:tblPr/>
              <a:tblGrid>
                <a:gridCol w="1619250"/>
              </a:tblGrid>
              <a:tr h="409575">
                <a:tc>
                  <a:txBody>
                    <a:bodyPr/>
                    <a:lstStyle/>
                    <a:p>
                      <a:r>
                        <a:rPr sz="1875" b="1">
                          <a:solidFill>
                            <a:srgbClr val="FFFFFF"/>
                          </a:solidFill>
                          <a:latin typeface="Arial"/>
                          <a:ea typeface="Arial"/>
                          <a:cs typeface="Arial"/>
                        </a:rPr>
                        <a:t>VorlNr</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r>
              <a:tr h="409575">
                <a:tc>
                  <a:txBody>
                    <a:bodyPr/>
                    <a:lstStyle/>
                    <a:p>
                      <a:r>
                        <a:rPr sz="1875" b="0">
                          <a:solidFill>
                            <a:srgbClr val="202B33"/>
                          </a:solidFill>
                          <a:latin typeface="Arial"/>
                          <a:ea typeface="Arial"/>
                          <a:cs typeface="Arial"/>
                        </a:rPr>
                        <a:t>5001</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r>
              <a:tr h="409575">
                <a:tc>
                  <a:txBody>
                    <a:bodyPr/>
                    <a:lstStyle/>
                    <a:p>
                      <a:r>
                        <a:rPr sz="1875" b="0">
                          <a:solidFill>
                            <a:srgbClr val="202B33"/>
                          </a:solidFill>
                          <a:latin typeface="Arial"/>
                          <a:ea typeface="Arial"/>
                          <a:cs typeface="Arial"/>
                        </a:rPr>
                        <a:t>4052</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r>
            </a:tbl>
          </a:graphicData>
        </a:graphic>
      </p:graphicFrame>
      <p:sp>
        <p:nvSpPr>
          <p:cNvPr id="14" name="">
            <a:extLst xmlns:a="http://schemas.openxmlformats.org/drawingml/2006/main">
              <a:ext uri="{FF2B5EF4-FFF2-40B4-BE49-F238E27FC236}">
                <a16:creationId xmlns:a16="http://schemas.microsoft.com/office/drawing/2014/main" id="{0FC085D4-683A-472B-9786-3709F5229B72}"/>
              </a:ext>
            </a:extLst>
          </p:cNvPr>
          <p:cNvSpPr>
            <a:spLocks xmlns:a="http://schemas.openxmlformats.org/drawingml/2006/main" noGrp="1"/>
          </p:cNvSpPr>
          <p:nvPr/>
        </p:nvSpPr>
        <p:spPr>
          <a:xfrm xmlns:a="http://schemas.openxmlformats.org/drawingml/2006/main">
            <a:off x="5953125" y="4238625"/>
            <a:ext cx="5524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5293"/>
                </a:solidFill>
                <a:latin typeface="Arial"/>
                <a:ea typeface="Arial"/>
                <a:cs typeface="Arial"/>
              </a:defRPr>
            </a:defPPr>
            <a:lvl1pPr>
              <a:defRPr sz="2175" b="1">
                <a:solidFill>
                  <a:srgbClr val="005293"/>
                </a:solidFill>
                <a:latin typeface="Arial"/>
                <a:ea typeface="Arial"/>
                <a:cs typeface="Arial"/>
              </a:defRPr>
            </a:lvl1pPr>
            <a:lvl2pPr>
              <a:defRPr sz="2175" b="1">
                <a:solidFill>
                  <a:srgbClr val="005293"/>
                </a:solidFill>
                <a:latin typeface="Arial"/>
                <a:ea typeface="Arial"/>
                <a:cs typeface="Arial"/>
              </a:defRPr>
            </a:lvl2pPr>
            <a:lvl3pPr>
              <a:defRPr sz="2175" b="1">
                <a:solidFill>
                  <a:srgbClr val="005293"/>
                </a:solidFill>
                <a:latin typeface="Arial"/>
                <a:ea typeface="Arial"/>
                <a:cs typeface="Arial"/>
              </a:defRPr>
            </a:lvl3pPr>
            <a:lvl4pPr>
              <a:defRPr sz="2175" b="1">
                <a:solidFill>
                  <a:srgbClr val="005293"/>
                </a:solidFill>
                <a:latin typeface="Arial"/>
                <a:ea typeface="Arial"/>
                <a:cs typeface="Arial"/>
              </a:defRPr>
            </a:lvl4pPr>
            <a:lvl5pPr>
              <a:defRPr sz="2175" b="1">
                <a:solidFill>
                  <a:srgbClr val="005293"/>
                </a:solidFill>
                <a:latin typeface="Arial"/>
                <a:ea typeface="Arial"/>
                <a:cs typeface="Arial"/>
              </a:defRPr>
            </a:lvl5pPr>
            <a:lvl6pPr>
              <a:defRPr sz="2175" b="1">
                <a:solidFill>
                  <a:srgbClr val="005293"/>
                </a:solidFill>
                <a:latin typeface="Arial"/>
                <a:ea typeface="Arial"/>
                <a:cs typeface="Arial"/>
              </a:defRPr>
            </a:lvl6pPr>
            <a:lvl7pPr>
              <a:defRPr sz="2175" b="1">
                <a:solidFill>
                  <a:srgbClr val="005293"/>
                </a:solidFill>
                <a:latin typeface="Arial"/>
                <a:ea typeface="Arial"/>
                <a:cs typeface="Arial"/>
              </a:defRPr>
            </a:lvl7pPr>
            <a:lvl8pPr>
              <a:defRPr sz="2175" b="1">
                <a:solidFill>
                  <a:srgbClr val="005293"/>
                </a:solidFill>
                <a:latin typeface="Arial"/>
                <a:ea typeface="Arial"/>
                <a:cs typeface="Arial"/>
              </a:defRPr>
            </a:lvl8pPr>
            <a:lvl9pPr>
              <a:defRPr sz="2175" b="1">
                <a:solidFill>
                  <a:srgbClr val="005293"/>
                </a:solidFill>
                <a:latin typeface="Arial"/>
                <a:ea typeface="Arial"/>
                <a:cs typeface="Arial"/>
              </a:defRPr>
            </a:lvl9pPr>
          </a:lstStyle>
          <a:p xmlns:a="http://schemas.openxmlformats.org/drawingml/2006/main">
            <a:pPr>
              <a:defRPr sz="2175" b="1">
                <a:solidFill>
                  <a:srgbClr val="005293"/>
                </a:solidFill>
                <a:latin typeface="Arial"/>
                <a:ea typeface="Arial"/>
                <a:cs typeface="Arial"/>
              </a:defRPr>
            </a:pPr>
            <a:r>
              <a:rPr sz="2175" b="1">
                <a:solidFill>
                  <a:srgbClr val="005293"/>
                </a:solidFill>
                <a:latin typeface="Arial"/>
                <a:ea typeface="Arial"/>
                <a:cs typeface="Arial"/>
              </a:rPr>
              <a:t>Eine passende Vorlesung reicht für Vorl2 und Vorl3 nicht aus.</a:t>
            </a:r>
          </a:p>
        </p:txBody>
      </p:sp>
    </p:spTree>
    <p:extLst>
      <p:ext uri="{BB962C8B-B14F-4D97-AF65-F5344CB8AC3E}">
        <p14:creationId xmlns:p14="http://schemas.microsoft.com/office/powerpoint/2010/main" val="727193256"/>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7A24F5B-A41F-4FA9-8F74-C195AF4D6B28}"/>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Division: die drei Ergebnisse</a:t>
            </a:r>
          </a:p>
        </p:txBody>
      </p:sp>
      <p:sp>
        <p:nvSpPr>
          <p:cNvPr id="2" name="">
            <a:extLst xmlns:a="http://schemas.openxmlformats.org/drawingml/2006/main">
              <a:ext uri="{FF2B5EF4-FFF2-40B4-BE49-F238E27FC236}">
                <a16:creationId xmlns:a16="http://schemas.microsoft.com/office/drawing/2014/main" id="{59F2F890-274D-4085-9AD2-9CAE4BB0B9F6}"/>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138D3002-56CC-422E-ACE8-01E69943A4E7}"/>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42</a:t>
            </a:r>
          </a:p>
        </p:txBody>
      </p:sp>
      <p:sp>
        <p:nvSpPr>
          <p:cNvPr id="4" name="">
            <a:extLst xmlns:a="http://schemas.openxmlformats.org/drawingml/2006/main">
              <a:ext uri="{FF2B5EF4-FFF2-40B4-BE49-F238E27FC236}">
                <a16:creationId xmlns:a16="http://schemas.microsoft.com/office/drawing/2014/main" id="{A161B80E-C196-428D-9A9B-0356A3F9FFD7}"/>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42</a:t>
            </a:r>
          </a:p>
        </p:txBody>
      </p:sp>
      <p:sp>
        <p:nvSpPr>
          <p:cNvPr id="5" name="">
            <a:extLst xmlns:a="http://schemas.openxmlformats.org/drawingml/2006/main">
              <a:ext uri="{FF2B5EF4-FFF2-40B4-BE49-F238E27FC236}">
                <a16:creationId xmlns:a16="http://schemas.microsoft.com/office/drawing/2014/main" id="{75B0B864-C95F-408B-92DB-183C947DCCF2}"/>
              </a:ext>
            </a:extLst>
          </p:cNvPr>
          <p:cNvSpPr>
            <a:spLocks xmlns:a="http://schemas.openxmlformats.org/drawingml/2006/main" noGrp="1"/>
          </p:cNvSpPr>
          <p:nvPr/>
        </p:nvSpPr>
        <p:spPr>
          <a:xfrm xmlns:a="http://schemas.openxmlformats.org/drawingml/2006/main">
            <a:off x="609600" y="1657350"/>
            <a:ext cx="2026939" cy="5343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2550" b="0">
                <a:solidFill>
                  <a:srgbClr val="005293"/>
                </a:solidFill>
                <a:latin typeface="STIX Two Math"/>
                <a:ea typeface="STIX Two Math"/>
                <a:cs typeface="STIX Two Math"/>
              </a:defRPr>
            </a:defPPr>
            <a:lvl1pPr>
              <a:defRPr sz="2550" b="0">
                <a:solidFill>
                  <a:srgbClr val="005293"/>
                </a:solidFill>
                <a:latin typeface="STIX Two Math"/>
                <a:ea typeface="STIX Two Math"/>
                <a:cs typeface="STIX Two Math"/>
              </a:defRPr>
            </a:lvl1pPr>
            <a:lvl2pPr>
              <a:defRPr sz="2550" b="0">
                <a:solidFill>
                  <a:srgbClr val="005293"/>
                </a:solidFill>
                <a:latin typeface="STIX Two Math"/>
                <a:ea typeface="STIX Two Math"/>
                <a:cs typeface="STIX Two Math"/>
              </a:defRPr>
            </a:lvl2pPr>
            <a:lvl3pPr>
              <a:defRPr sz="2550" b="0">
                <a:solidFill>
                  <a:srgbClr val="005293"/>
                </a:solidFill>
                <a:latin typeface="STIX Two Math"/>
                <a:ea typeface="STIX Two Math"/>
                <a:cs typeface="STIX Two Math"/>
              </a:defRPr>
            </a:lvl3pPr>
            <a:lvl4pPr>
              <a:defRPr sz="2550" b="0">
                <a:solidFill>
                  <a:srgbClr val="005293"/>
                </a:solidFill>
                <a:latin typeface="STIX Two Math"/>
                <a:ea typeface="STIX Two Math"/>
                <a:cs typeface="STIX Two Math"/>
              </a:defRPr>
            </a:lvl4pPr>
            <a:lvl5pPr>
              <a:defRPr sz="2550" b="0">
                <a:solidFill>
                  <a:srgbClr val="005293"/>
                </a:solidFill>
                <a:latin typeface="STIX Two Math"/>
                <a:ea typeface="STIX Two Math"/>
                <a:cs typeface="STIX Two Math"/>
              </a:defRPr>
            </a:lvl5pPr>
            <a:lvl6pPr>
              <a:defRPr sz="2550" b="0">
                <a:solidFill>
                  <a:srgbClr val="005293"/>
                </a:solidFill>
                <a:latin typeface="STIX Two Math"/>
                <a:ea typeface="STIX Two Math"/>
                <a:cs typeface="STIX Two Math"/>
              </a:defRPr>
            </a:lvl6pPr>
            <a:lvl7pPr>
              <a:defRPr sz="2550" b="0">
                <a:solidFill>
                  <a:srgbClr val="005293"/>
                </a:solidFill>
                <a:latin typeface="STIX Two Math"/>
                <a:ea typeface="STIX Two Math"/>
                <a:cs typeface="STIX Two Math"/>
              </a:defRPr>
            </a:lvl7pPr>
            <a:lvl8pPr>
              <a:defRPr sz="2550" b="0">
                <a:solidFill>
                  <a:srgbClr val="005293"/>
                </a:solidFill>
                <a:latin typeface="STIX Two Math"/>
                <a:ea typeface="STIX Two Math"/>
                <a:cs typeface="STIX Two Math"/>
              </a:defRPr>
            </a:lvl8pPr>
            <a:lvl9pPr>
              <a:defRPr sz="2550" b="0">
                <a:solidFill>
                  <a:srgbClr val="005293"/>
                </a:solidFill>
                <a:latin typeface="STIX Two Math"/>
                <a:ea typeface="STIX Two Math"/>
                <a:cs typeface="STIX Two Math"/>
              </a:defRPr>
            </a:lvl9pPr>
          </a:lstStyle>
          <a:p xmlns:a="http://schemas.openxmlformats.org/drawingml/2006/main">
            <a:pPr>
              <a:defRPr sz="2550" b="0">
                <a:solidFill>
                  <a:srgbClr val="005293"/>
                </a:solidFill>
                <a:latin typeface="STIX Two Math"/>
                <a:ea typeface="STIX Two Math"/>
                <a:cs typeface="STIX Two Math"/>
              </a:defRPr>
            </a:pPr>
            <a:r>
              <a:rPr sz="2550" b="0">
                <a:solidFill>
                  <a:srgbClr val="005293"/>
                </a:solidFill>
                <a:latin typeface="STIX Two Math"/>
                <a:ea typeface="STIX Two Math"/>
                <a:cs typeface="STIX Two Math"/>
              </a:rPr>
              <a:t>hören ÷ Vorl1</a:t>
            </a:r>
          </a:p>
        </p:txBody>
      </p:sp>
      <p:graphicFrame>
        <p:nvGraphicFramePr>
          <p:cNvPr id="6" name="">
            <a:extLst xmlns:a="http://schemas.openxmlformats.org/drawingml/2006/main">
              <a:ext uri="{FF2B5EF4-FFF2-40B4-BE49-F238E27FC236}">
                <a16:creationId xmlns:a16="http://schemas.microsoft.com/office/drawing/2014/main" id="{5066F2E6-5B8E-4337-99A0-80916D3E8FFB}"/>
              </a:ext>
            </a:extLst>
          </p:cNvPr>
          <p:cNvGraphicFramePr/>
          <p:nvPr/>
        </p:nvGraphicFramePr>
        <p:xfrm>
          <a:off xmlns:a="http://schemas.openxmlformats.org/drawingml/2006/main" x="609600" y="2590800"/>
          <a:ext xmlns:a="http://schemas.openxmlformats.org/drawingml/2006/main" cx="3333750" cy="2286000"/>
        </p:xfrm>
        <a:graphic xmlns:a="http://schemas.openxmlformats.org/drawingml/2006/main">
          <a:graphicData uri="http://schemas.openxmlformats.org/drawingml/2006/table">
            <a:tbl>
              <a:tblPr/>
              <a:tblGrid>
                <a:gridCol w="3333750"/>
              </a:tblGrid>
              <a:tr h="457200">
                <a:tc>
                  <a:txBody>
                    <a:bodyPr/>
                    <a:lstStyle/>
                    <a:p>
                      <a:r>
                        <a:rPr sz="2175" b="1">
                          <a:solidFill>
                            <a:srgbClr val="FFFFFF"/>
                          </a:solidFill>
                          <a:latin typeface="Arial"/>
                          <a:ea typeface="Arial"/>
                          <a:cs typeface="Arial"/>
                        </a:rPr>
                        <a:t>MatrNr</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r>
              <a:tr h="457200">
                <a:tc>
                  <a:txBody>
                    <a:bodyPr/>
                    <a:lstStyle/>
                    <a:p>
                      <a:r>
                        <a:rPr sz="2175" b="0">
                          <a:solidFill>
                            <a:srgbClr val="202B33"/>
                          </a:solidFill>
                          <a:latin typeface="Arial"/>
                          <a:ea typeface="Arial"/>
                          <a:cs typeface="Arial"/>
                        </a:rPr>
                        <a:t>26120</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r>
              <a:tr h="457200">
                <a:tc>
                  <a:txBody>
                    <a:bodyPr/>
                    <a:lstStyle/>
                    <a:p>
                      <a:r>
                        <a:rPr sz="2175" b="0">
                          <a:solidFill>
                            <a:srgbClr val="202B33"/>
                          </a:solidFill>
                          <a:latin typeface="Arial"/>
                          <a:ea typeface="Arial"/>
                          <a:cs typeface="Arial"/>
                        </a:rPr>
                        <a:t>27550</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r>
              <a:tr h="457200">
                <a:tc>
                  <a:txBody>
                    <a:bodyPr/>
                    <a:lstStyle/>
                    <a:p>
                      <a:r>
                        <a:rPr sz="2175" b="0">
                          <a:solidFill>
                            <a:srgbClr val="202B33"/>
                          </a:solidFill>
                          <a:latin typeface="Arial"/>
                          <a:ea typeface="Arial"/>
                          <a:cs typeface="Arial"/>
                        </a:rPr>
                        <a:t>29120</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r>
              <a:tr h="457200">
                <a:tc>
                  <a:txBody>
                    <a:bodyPr/>
                    <a:lstStyle/>
                    <a:p>
                      <a:r>
                        <a:rPr sz="2175" b="0">
                          <a:solidFill>
                            <a:srgbClr val="202B33"/>
                          </a:solidFill>
                          <a:latin typeface="Arial"/>
                          <a:ea typeface="Arial"/>
                          <a:cs typeface="Arial"/>
                        </a:rPr>
                        <a:t>29555</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r>
            </a:tbl>
          </a:graphicData>
        </a:graphic>
      </p:graphicFrame>
      <p:sp>
        <p:nvSpPr>
          <p:cNvPr id="7" name="">
            <a:extLst xmlns:a="http://schemas.openxmlformats.org/drawingml/2006/main">
              <a:ext uri="{FF2B5EF4-FFF2-40B4-BE49-F238E27FC236}">
                <a16:creationId xmlns:a16="http://schemas.microsoft.com/office/drawing/2014/main" id="{9EC045D7-7BCD-4875-8100-B01801F4CD8A}"/>
              </a:ext>
            </a:extLst>
          </p:cNvPr>
          <p:cNvSpPr>
            <a:spLocks xmlns:a="http://schemas.openxmlformats.org/drawingml/2006/main" noGrp="1"/>
          </p:cNvSpPr>
          <p:nvPr/>
        </p:nvSpPr>
        <p:spPr>
          <a:xfrm xmlns:a="http://schemas.openxmlformats.org/drawingml/2006/main">
            <a:off x="609600" y="5334000"/>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5293"/>
                </a:solidFill>
                <a:latin typeface="Arial"/>
                <a:ea typeface="Arial"/>
                <a:cs typeface="Arial"/>
              </a:defRPr>
            </a:defPPr>
            <a:lvl1pPr>
              <a:defRPr sz="2025" b="1">
                <a:solidFill>
                  <a:srgbClr val="005293"/>
                </a:solidFill>
                <a:latin typeface="Arial"/>
                <a:ea typeface="Arial"/>
                <a:cs typeface="Arial"/>
              </a:defRPr>
            </a:lvl1pPr>
            <a:lvl2pPr>
              <a:defRPr sz="2025" b="1">
                <a:solidFill>
                  <a:srgbClr val="005293"/>
                </a:solidFill>
                <a:latin typeface="Arial"/>
                <a:ea typeface="Arial"/>
                <a:cs typeface="Arial"/>
              </a:defRPr>
            </a:lvl2pPr>
            <a:lvl3pPr>
              <a:defRPr sz="2025" b="1">
                <a:solidFill>
                  <a:srgbClr val="005293"/>
                </a:solidFill>
                <a:latin typeface="Arial"/>
                <a:ea typeface="Arial"/>
                <a:cs typeface="Arial"/>
              </a:defRPr>
            </a:lvl3pPr>
            <a:lvl4pPr>
              <a:defRPr sz="2025" b="1">
                <a:solidFill>
                  <a:srgbClr val="005293"/>
                </a:solidFill>
                <a:latin typeface="Arial"/>
                <a:ea typeface="Arial"/>
                <a:cs typeface="Arial"/>
              </a:defRPr>
            </a:lvl4pPr>
            <a:lvl5pPr>
              <a:defRPr sz="2025" b="1">
                <a:solidFill>
                  <a:srgbClr val="005293"/>
                </a:solidFill>
                <a:latin typeface="Arial"/>
                <a:ea typeface="Arial"/>
                <a:cs typeface="Arial"/>
              </a:defRPr>
            </a:lvl5pPr>
            <a:lvl6pPr>
              <a:defRPr sz="2025" b="1">
                <a:solidFill>
                  <a:srgbClr val="005293"/>
                </a:solidFill>
                <a:latin typeface="Arial"/>
                <a:ea typeface="Arial"/>
                <a:cs typeface="Arial"/>
              </a:defRPr>
            </a:lvl6pPr>
            <a:lvl7pPr>
              <a:defRPr sz="2025" b="1">
                <a:solidFill>
                  <a:srgbClr val="005293"/>
                </a:solidFill>
                <a:latin typeface="Arial"/>
                <a:ea typeface="Arial"/>
                <a:cs typeface="Arial"/>
              </a:defRPr>
            </a:lvl7pPr>
            <a:lvl8pPr>
              <a:defRPr sz="2025" b="1">
                <a:solidFill>
                  <a:srgbClr val="005293"/>
                </a:solidFill>
                <a:latin typeface="Arial"/>
                <a:ea typeface="Arial"/>
                <a:cs typeface="Arial"/>
              </a:defRPr>
            </a:lvl8pPr>
            <a:lvl9pPr>
              <a:defRPr sz="2025" b="1">
                <a:solidFill>
                  <a:srgbClr val="005293"/>
                </a:solidFill>
                <a:latin typeface="Arial"/>
                <a:ea typeface="Arial"/>
                <a:cs typeface="Arial"/>
              </a:defRPr>
            </a:lvl9pPr>
          </a:lstStyle>
          <a:p xmlns:a="http://schemas.openxmlformats.org/drawingml/2006/main">
            <a:pPr>
              <a:defRPr sz="2025" b="1">
                <a:solidFill>
                  <a:srgbClr val="005293"/>
                </a:solidFill>
                <a:latin typeface="Arial"/>
                <a:ea typeface="Arial"/>
                <a:cs typeface="Arial"/>
              </a:defRPr>
            </a:pPr>
            <a:r>
              <a:rPr sz="2025" b="1">
                <a:solidFill>
                  <a:srgbClr val="005293"/>
                </a:solidFill>
                <a:latin typeface="Arial"/>
                <a:ea typeface="Arial"/>
                <a:cs typeface="Arial"/>
              </a:rPr>
              <a:t>Alle hören 5001.</a:t>
            </a:r>
          </a:p>
        </p:txBody>
      </p:sp>
      <p:sp>
        <p:nvSpPr>
          <p:cNvPr id="8" name="">
            <a:extLst xmlns:a="http://schemas.openxmlformats.org/drawingml/2006/main">
              <a:ext uri="{FF2B5EF4-FFF2-40B4-BE49-F238E27FC236}">
                <a16:creationId xmlns:a16="http://schemas.microsoft.com/office/drawing/2014/main" id="{AF3234DF-9493-4595-855F-BBF5B1626802}"/>
              </a:ext>
            </a:extLst>
          </p:cNvPr>
          <p:cNvSpPr>
            <a:spLocks xmlns:a="http://schemas.openxmlformats.org/drawingml/2006/main" noGrp="1"/>
          </p:cNvSpPr>
          <p:nvPr/>
        </p:nvSpPr>
        <p:spPr>
          <a:xfrm xmlns:a="http://schemas.openxmlformats.org/drawingml/2006/main">
            <a:off x="4400550" y="1657350"/>
            <a:ext cx="2026939" cy="5343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2550" b="0">
                <a:solidFill>
                  <a:srgbClr val="005293"/>
                </a:solidFill>
                <a:latin typeface="STIX Two Math"/>
                <a:ea typeface="STIX Two Math"/>
                <a:cs typeface="STIX Two Math"/>
              </a:defRPr>
            </a:defPPr>
            <a:lvl1pPr>
              <a:defRPr sz="2550" b="0">
                <a:solidFill>
                  <a:srgbClr val="005293"/>
                </a:solidFill>
                <a:latin typeface="STIX Two Math"/>
                <a:ea typeface="STIX Two Math"/>
                <a:cs typeface="STIX Two Math"/>
              </a:defRPr>
            </a:lvl1pPr>
            <a:lvl2pPr>
              <a:defRPr sz="2550" b="0">
                <a:solidFill>
                  <a:srgbClr val="005293"/>
                </a:solidFill>
                <a:latin typeface="STIX Two Math"/>
                <a:ea typeface="STIX Two Math"/>
                <a:cs typeface="STIX Two Math"/>
              </a:defRPr>
            </a:lvl2pPr>
            <a:lvl3pPr>
              <a:defRPr sz="2550" b="0">
                <a:solidFill>
                  <a:srgbClr val="005293"/>
                </a:solidFill>
                <a:latin typeface="STIX Two Math"/>
                <a:ea typeface="STIX Two Math"/>
                <a:cs typeface="STIX Two Math"/>
              </a:defRPr>
            </a:lvl3pPr>
            <a:lvl4pPr>
              <a:defRPr sz="2550" b="0">
                <a:solidFill>
                  <a:srgbClr val="005293"/>
                </a:solidFill>
                <a:latin typeface="STIX Two Math"/>
                <a:ea typeface="STIX Two Math"/>
                <a:cs typeface="STIX Two Math"/>
              </a:defRPr>
            </a:lvl4pPr>
            <a:lvl5pPr>
              <a:defRPr sz="2550" b="0">
                <a:solidFill>
                  <a:srgbClr val="005293"/>
                </a:solidFill>
                <a:latin typeface="STIX Two Math"/>
                <a:ea typeface="STIX Two Math"/>
                <a:cs typeface="STIX Two Math"/>
              </a:defRPr>
            </a:lvl5pPr>
            <a:lvl6pPr>
              <a:defRPr sz="2550" b="0">
                <a:solidFill>
                  <a:srgbClr val="005293"/>
                </a:solidFill>
                <a:latin typeface="STIX Two Math"/>
                <a:ea typeface="STIX Two Math"/>
                <a:cs typeface="STIX Two Math"/>
              </a:defRPr>
            </a:lvl6pPr>
            <a:lvl7pPr>
              <a:defRPr sz="2550" b="0">
                <a:solidFill>
                  <a:srgbClr val="005293"/>
                </a:solidFill>
                <a:latin typeface="STIX Two Math"/>
                <a:ea typeface="STIX Two Math"/>
                <a:cs typeface="STIX Two Math"/>
              </a:defRPr>
            </a:lvl7pPr>
            <a:lvl8pPr>
              <a:defRPr sz="2550" b="0">
                <a:solidFill>
                  <a:srgbClr val="005293"/>
                </a:solidFill>
                <a:latin typeface="STIX Two Math"/>
                <a:ea typeface="STIX Two Math"/>
                <a:cs typeface="STIX Two Math"/>
              </a:defRPr>
            </a:lvl8pPr>
            <a:lvl9pPr>
              <a:defRPr sz="2550" b="0">
                <a:solidFill>
                  <a:srgbClr val="005293"/>
                </a:solidFill>
                <a:latin typeface="STIX Two Math"/>
                <a:ea typeface="STIX Two Math"/>
                <a:cs typeface="STIX Two Math"/>
              </a:defRPr>
            </a:lvl9pPr>
          </a:lstStyle>
          <a:p xmlns:a="http://schemas.openxmlformats.org/drawingml/2006/main">
            <a:pPr>
              <a:defRPr sz="2550" b="0">
                <a:solidFill>
                  <a:srgbClr val="005293"/>
                </a:solidFill>
                <a:latin typeface="STIX Two Math"/>
                <a:ea typeface="STIX Two Math"/>
                <a:cs typeface="STIX Two Math"/>
              </a:defRPr>
            </a:pPr>
            <a:r>
              <a:rPr sz="2550" b="0">
                <a:solidFill>
                  <a:srgbClr val="005293"/>
                </a:solidFill>
                <a:latin typeface="STIX Two Math"/>
                <a:ea typeface="STIX Two Math"/>
                <a:cs typeface="STIX Two Math"/>
              </a:rPr>
              <a:t>hören ÷ Vorl2</a:t>
            </a:r>
          </a:p>
        </p:txBody>
      </p:sp>
      <p:graphicFrame>
        <p:nvGraphicFramePr>
          <p:cNvPr id="9" name="">
            <a:extLst xmlns:a="http://schemas.openxmlformats.org/drawingml/2006/main">
              <a:ext uri="{FF2B5EF4-FFF2-40B4-BE49-F238E27FC236}">
                <a16:creationId xmlns:a16="http://schemas.microsoft.com/office/drawing/2014/main" id="{58490C5D-865F-40A3-9257-B62316CA027F}"/>
              </a:ext>
            </a:extLst>
          </p:cNvPr>
          <p:cNvGraphicFramePr/>
          <p:nvPr/>
        </p:nvGraphicFramePr>
        <p:xfrm>
          <a:off xmlns:a="http://schemas.openxmlformats.org/drawingml/2006/main" x="4400550" y="2590800"/>
          <a:ext xmlns:a="http://schemas.openxmlformats.org/drawingml/2006/main" cx="3333750" cy="914400"/>
        </p:xfrm>
        <a:graphic xmlns:a="http://schemas.openxmlformats.org/drawingml/2006/main">
          <a:graphicData uri="http://schemas.openxmlformats.org/drawingml/2006/table">
            <a:tbl>
              <a:tblPr/>
              <a:tblGrid>
                <a:gridCol w="3333750"/>
              </a:tblGrid>
              <a:tr h="457200">
                <a:tc>
                  <a:txBody>
                    <a:bodyPr/>
                    <a:lstStyle/>
                    <a:p>
                      <a:r>
                        <a:rPr sz="2175" b="1">
                          <a:solidFill>
                            <a:srgbClr val="FFFFFF"/>
                          </a:solidFill>
                          <a:latin typeface="Arial"/>
                          <a:ea typeface="Arial"/>
                          <a:cs typeface="Arial"/>
                        </a:rPr>
                        <a:t>MatrNr</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r>
              <a:tr h="457200">
                <a:tc>
                  <a:txBody>
                    <a:bodyPr/>
                    <a:lstStyle/>
                    <a:p>
                      <a:r>
                        <a:rPr sz="2175" b="0">
                          <a:solidFill>
                            <a:srgbClr val="202B33"/>
                          </a:solidFill>
                          <a:latin typeface="Arial"/>
                          <a:ea typeface="Arial"/>
                          <a:cs typeface="Arial"/>
                        </a:rPr>
                        <a:t>29120</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B518FBCD-84E6-4080-BA79-3A90F843117A}"/>
              </a:ext>
            </a:extLst>
          </p:cNvPr>
          <p:cNvSpPr>
            <a:spLocks xmlns:a="http://schemas.openxmlformats.org/drawingml/2006/main" noGrp="1"/>
          </p:cNvSpPr>
          <p:nvPr/>
        </p:nvSpPr>
        <p:spPr>
          <a:xfrm xmlns:a="http://schemas.openxmlformats.org/drawingml/2006/main">
            <a:off x="4400550" y="5334000"/>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5293"/>
                </a:solidFill>
                <a:latin typeface="Arial"/>
                <a:ea typeface="Arial"/>
                <a:cs typeface="Arial"/>
              </a:defRPr>
            </a:defPPr>
            <a:lvl1pPr>
              <a:defRPr sz="2025" b="1">
                <a:solidFill>
                  <a:srgbClr val="005293"/>
                </a:solidFill>
                <a:latin typeface="Arial"/>
                <a:ea typeface="Arial"/>
                <a:cs typeface="Arial"/>
              </a:defRPr>
            </a:lvl1pPr>
            <a:lvl2pPr>
              <a:defRPr sz="2025" b="1">
                <a:solidFill>
                  <a:srgbClr val="005293"/>
                </a:solidFill>
                <a:latin typeface="Arial"/>
                <a:ea typeface="Arial"/>
                <a:cs typeface="Arial"/>
              </a:defRPr>
            </a:lvl2pPr>
            <a:lvl3pPr>
              <a:defRPr sz="2025" b="1">
                <a:solidFill>
                  <a:srgbClr val="005293"/>
                </a:solidFill>
                <a:latin typeface="Arial"/>
                <a:ea typeface="Arial"/>
                <a:cs typeface="Arial"/>
              </a:defRPr>
            </a:lvl3pPr>
            <a:lvl4pPr>
              <a:defRPr sz="2025" b="1">
                <a:solidFill>
                  <a:srgbClr val="005293"/>
                </a:solidFill>
                <a:latin typeface="Arial"/>
                <a:ea typeface="Arial"/>
                <a:cs typeface="Arial"/>
              </a:defRPr>
            </a:lvl4pPr>
            <a:lvl5pPr>
              <a:defRPr sz="2025" b="1">
                <a:solidFill>
                  <a:srgbClr val="005293"/>
                </a:solidFill>
                <a:latin typeface="Arial"/>
                <a:ea typeface="Arial"/>
                <a:cs typeface="Arial"/>
              </a:defRPr>
            </a:lvl5pPr>
            <a:lvl6pPr>
              <a:defRPr sz="2025" b="1">
                <a:solidFill>
                  <a:srgbClr val="005293"/>
                </a:solidFill>
                <a:latin typeface="Arial"/>
                <a:ea typeface="Arial"/>
                <a:cs typeface="Arial"/>
              </a:defRPr>
            </a:lvl6pPr>
            <a:lvl7pPr>
              <a:defRPr sz="2025" b="1">
                <a:solidFill>
                  <a:srgbClr val="005293"/>
                </a:solidFill>
                <a:latin typeface="Arial"/>
                <a:ea typeface="Arial"/>
                <a:cs typeface="Arial"/>
              </a:defRPr>
            </a:lvl7pPr>
            <a:lvl8pPr>
              <a:defRPr sz="2025" b="1">
                <a:solidFill>
                  <a:srgbClr val="005293"/>
                </a:solidFill>
                <a:latin typeface="Arial"/>
                <a:ea typeface="Arial"/>
                <a:cs typeface="Arial"/>
              </a:defRPr>
            </a:lvl8pPr>
            <a:lvl9pPr>
              <a:defRPr sz="2025" b="1">
                <a:solidFill>
                  <a:srgbClr val="005293"/>
                </a:solidFill>
                <a:latin typeface="Arial"/>
                <a:ea typeface="Arial"/>
                <a:cs typeface="Arial"/>
              </a:defRPr>
            </a:lvl9pPr>
          </a:lstStyle>
          <a:p xmlns:a="http://schemas.openxmlformats.org/drawingml/2006/main">
            <a:pPr>
              <a:defRPr sz="2025" b="1">
                <a:solidFill>
                  <a:srgbClr val="005293"/>
                </a:solidFill>
                <a:latin typeface="Arial"/>
                <a:ea typeface="Arial"/>
                <a:cs typeface="Arial"/>
              </a:defRPr>
            </a:pPr>
            <a:r>
              <a:rPr sz="2025" b="1">
                <a:solidFill>
                  <a:srgbClr val="005293"/>
                </a:solidFill>
                <a:latin typeface="Arial"/>
                <a:ea typeface="Arial"/>
                <a:cs typeface="Arial"/>
              </a:rPr>
              <a:t>Nur 29120 hört 5001 und 5041.</a:t>
            </a:r>
          </a:p>
        </p:txBody>
      </p:sp>
      <p:sp>
        <p:nvSpPr>
          <p:cNvPr id="11" name="">
            <a:extLst xmlns:a="http://schemas.openxmlformats.org/drawingml/2006/main">
              <a:ext uri="{FF2B5EF4-FFF2-40B4-BE49-F238E27FC236}">
                <a16:creationId xmlns:a16="http://schemas.microsoft.com/office/drawing/2014/main" id="{07E64ADB-DB30-4938-AFF3-51AFBF449922}"/>
              </a:ext>
            </a:extLst>
          </p:cNvPr>
          <p:cNvSpPr>
            <a:spLocks xmlns:a="http://schemas.openxmlformats.org/drawingml/2006/main" noGrp="1"/>
          </p:cNvSpPr>
          <p:nvPr/>
        </p:nvSpPr>
        <p:spPr>
          <a:xfrm xmlns:a="http://schemas.openxmlformats.org/drawingml/2006/main">
            <a:off x="8191500" y="1657350"/>
            <a:ext cx="2026939" cy="5343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2550" b="0">
                <a:solidFill>
                  <a:srgbClr val="005293"/>
                </a:solidFill>
                <a:latin typeface="STIX Two Math"/>
                <a:ea typeface="STIX Two Math"/>
                <a:cs typeface="STIX Two Math"/>
              </a:defRPr>
            </a:defPPr>
            <a:lvl1pPr>
              <a:defRPr sz="2550" b="0">
                <a:solidFill>
                  <a:srgbClr val="005293"/>
                </a:solidFill>
                <a:latin typeface="STIX Two Math"/>
                <a:ea typeface="STIX Two Math"/>
                <a:cs typeface="STIX Two Math"/>
              </a:defRPr>
            </a:lvl1pPr>
            <a:lvl2pPr>
              <a:defRPr sz="2550" b="0">
                <a:solidFill>
                  <a:srgbClr val="005293"/>
                </a:solidFill>
                <a:latin typeface="STIX Two Math"/>
                <a:ea typeface="STIX Two Math"/>
                <a:cs typeface="STIX Two Math"/>
              </a:defRPr>
            </a:lvl2pPr>
            <a:lvl3pPr>
              <a:defRPr sz="2550" b="0">
                <a:solidFill>
                  <a:srgbClr val="005293"/>
                </a:solidFill>
                <a:latin typeface="STIX Two Math"/>
                <a:ea typeface="STIX Two Math"/>
                <a:cs typeface="STIX Two Math"/>
              </a:defRPr>
            </a:lvl3pPr>
            <a:lvl4pPr>
              <a:defRPr sz="2550" b="0">
                <a:solidFill>
                  <a:srgbClr val="005293"/>
                </a:solidFill>
                <a:latin typeface="STIX Two Math"/>
                <a:ea typeface="STIX Two Math"/>
                <a:cs typeface="STIX Two Math"/>
              </a:defRPr>
            </a:lvl4pPr>
            <a:lvl5pPr>
              <a:defRPr sz="2550" b="0">
                <a:solidFill>
                  <a:srgbClr val="005293"/>
                </a:solidFill>
                <a:latin typeface="STIX Two Math"/>
                <a:ea typeface="STIX Two Math"/>
                <a:cs typeface="STIX Two Math"/>
              </a:defRPr>
            </a:lvl5pPr>
            <a:lvl6pPr>
              <a:defRPr sz="2550" b="0">
                <a:solidFill>
                  <a:srgbClr val="005293"/>
                </a:solidFill>
                <a:latin typeface="STIX Two Math"/>
                <a:ea typeface="STIX Two Math"/>
                <a:cs typeface="STIX Two Math"/>
              </a:defRPr>
            </a:lvl6pPr>
            <a:lvl7pPr>
              <a:defRPr sz="2550" b="0">
                <a:solidFill>
                  <a:srgbClr val="005293"/>
                </a:solidFill>
                <a:latin typeface="STIX Two Math"/>
                <a:ea typeface="STIX Two Math"/>
                <a:cs typeface="STIX Two Math"/>
              </a:defRPr>
            </a:lvl7pPr>
            <a:lvl8pPr>
              <a:defRPr sz="2550" b="0">
                <a:solidFill>
                  <a:srgbClr val="005293"/>
                </a:solidFill>
                <a:latin typeface="STIX Two Math"/>
                <a:ea typeface="STIX Two Math"/>
                <a:cs typeface="STIX Two Math"/>
              </a:defRPr>
            </a:lvl8pPr>
            <a:lvl9pPr>
              <a:defRPr sz="2550" b="0">
                <a:solidFill>
                  <a:srgbClr val="005293"/>
                </a:solidFill>
                <a:latin typeface="STIX Two Math"/>
                <a:ea typeface="STIX Two Math"/>
                <a:cs typeface="STIX Two Math"/>
              </a:defRPr>
            </a:lvl9pPr>
          </a:lstStyle>
          <a:p xmlns:a="http://schemas.openxmlformats.org/drawingml/2006/main">
            <a:pPr>
              <a:defRPr sz="2550" b="0">
                <a:solidFill>
                  <a:srgbClr val="005293"/>
                </a:solidFill>
                <a:latin typeface="STIX Two Math"/>
                <a:ea typeface="STIX Two Math"/>
                <a:cs typeface="STIX Two Math"/>
              </a:defRPr>
            </a:pPr>
            <a:r>
              <a:rPr sz="2550" b="0">
                <a:solidFill>
                  <a:srgbClr val="005293"/>
                </a:solidFill>
                <a:latin typeface="STIX Two Math"/>
                <a:ea typeface="STIX Two Math"/>
                <a:cs typeface="STIX Two Math"/>
              </a:rPr>
              <a:t>hören ÷ Vorl3</a:t>
            </a:r>
          </a:p>
        </p:txBody>
      </p:sp>
      <p:graphicFrame>
        <p:nvGraphicFramePr>
          <p:cNvPr id="12" name="">
            <a:extLst xmlns:a="http://schemas.openxmlformats.org/drawingml/2006/main">
              <a:ext uri="{FF2B5EF4-FFF2-40B4-BE49-F238E27FC236}">
                <a16:creationId xmlns:a16="http://schemas.microsoft.com/office/drawing/2014/main" id="{C0A73739-2931-48F2-9219-0CE4844D14F9}"/>
              </a:ext>
            </a:extLst>
          </p:cNvPr>
          <p:cNvGraphicFramePr/>
          <p:nvPr/>
        </p:nvGraphicFramePr>
        <p:xfrm>
          <a:off xmlns:a="http://schemas.openxmlformats.org/drawingml/2006/main" x="8191500" y="2590800"/>
          <a:ext xmlns:a="http://schemas.openxmlformats.org/drawingml/2006/main" cx="3333750" cy="914400"/>
        </p:xfrm>
        <a:graphic xmlns:a="http://schemas.openxmlformats.org/drawingml/2006/main">
          <a:graphicData uri="http://schemas.openxmlformats.org/drawingml/2006/table">
            <a:tbl>
              <a:tblPr/>
              <a:tblGrid>
                <a:gridCol w="3333750"/>
              </a:tblGrid>
              <a:tr h="457200">
                <a:tc>
                  <a:txBody>
                    <a:bodyPr/>
                    <a:lstStyle/>
                    <a:p>
                      <a:r>
                        <a:rPr sz="2175" b="1">
                          <a:solidFill>
                            <a:srgbClr val="FFFFFF"/>
                          </a:solidFill>
                          <a:latin typeface="Arial"/>
                          <a:ea typeface="Arial"/>
                          <a:cs typeface="Arial"/>
                        </a:rPr>
                        <a:t>MatrNr</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r>
              <a:tr h="457200">
                <a:tc>
                  <a:txBody>
                    <a:bodyPr/>
                    <a:lstStyle/>
                    <a:p>
                      <a:r>
                        <a:rPr sz="2175" b="0">
                          <a:solidFill>
                            <a:srgbClr val="202B33"/>
                          </a:solidFill>
                          <a:latin typeface="Arial"/>
                          <a:ea typeface="Arial"/>
                          <a:cs typeface="Arial"/>
                        </a:rPr>
                        <a:t>27550</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r>
            </a:tbl>
          </a:graphicData>
        </a:graphic>
      </p:graphicFrame>
      <p:sp>
        <p:nvSpPr>
          <p:cNvPr id="13" name="">
            <a:extLst xmlns:a="http://schemas.openxmlformats.org/drawingml/2006/main">
              <a:ext uri="{FF2B5EF4-FFF2-40B4-BE49-F238E27FC236}">
                <a16:creationId xmlns:a16="http://schemas.microsoft.com/office/drawing/2014/main" id="{7EFAD37F-EB39-4D98-95F0-CAF144AB21D1}"/>
              </a:ext>
            </a:extLst>
          </p:cNvPr>
          <p:cNvSpPr>
            <a:spLocks xmlns:a="http://schemas.openxmlformats.org/drawingml/2006/main" noGrp="1"/>
          </p:cNvSpPr>
          <p:nvPr/>
        </p:nvSpPr>
        <p:spPr>
          <a:xfrm xmlns:a="http://schemas.openxmlformats.org/drawingml/2006/main">
            <a:off x="8191500" y="5334000"/>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5293"/>
                </a:solidFill>
                <a:latin typeface="Arial"/>
                <a:ea typeface="Arial"/>
                <a:cs typeface="Arial"/>
              </a:defRPr>
            </a:defPPr>
            <a:lvl1pPr>
              <a:defRPr sz="2025" b="1">
                <a:solidFill>
                  <a:srgbClr val="005293"/>
                </a:solidFill>
                <a:latin typeface="Arial"/>
                <a:ea typeface="Arial"/>
                <a:cs typeface="Arial"/>
              </a:defRPr>
            </a:lvl1pPr>
            <a:lvl2pPr>
              <a:defRPr sz="2025" b="1">
                <a:solidFill>
                  <a:srgbClr val="005293"/>
                </a:solidFill>
                <a:latin typeface="Arial"/>
                <a:ea typeface="Arial"/>
                <a:cs typeface="Arial"/>
              </a:defRPr>
            </a:lvl2pPr>
            <a:lvl3pPr>
              <a:defRPr sz="2025" b="1">
                <a:solidFill>
                  <a:srgbClr val="005293"/>
                </a:solidFill>
                <a:latin typeface="Arial"/>
                <a:ea typeface="Arial"/>
                <a:cs typeface="Arial"/>
              </a:defRPr>
            </a:lvl3pPr>
            <a:lvl4pPr>
              <a:defRPr sz="2025" b="1">
                <a:solidFill>
                  <a:srgbClr val="005293"/>
                </a:solidFill>
                <a:latin typeface="Arial"/>
                <a:ea typeface="Arial"/>
                <a:cs typeface="Arial"/>
              </a:defRPr>
            </a:lvl4pPr>
            <a:lvl5pPr>
              <a:defRPr sz="2025" b="1">
                <a:solidFill>
                  <a:srgbClr val="005293"/>
                </a:solidFill>
                <a:latin typeface="Arial"/>
                <a:ea typeface="Arial"/>
                <a:cs typeface="Arial"/>
              </a:defRPr>
            </a:lvl5pPr>
            <a:lvl6pPr>
              <a:defRPr sz="2025" b="1">
                <a:solidFill>
                  <a:srgbClr val="005293"/>
                </a:solidFill>
                <a:latin typeface="Arial"/>
                <a:ea typeface="Arial"/>
                <a:cs typeface="Arial"/>
              </a:defRPr>
            </a:lvl6pPr>
            <a:lvl7pPr>
              <a:defRPr sz="2025" b="1">
                <a:solidFill>
                  <a:srgbClr val="005293"/>
                </a:solidFill>
                <a:latin typeface="Arial"/>
                <a:ea typeface="Arial"/>
                <a:cs typeface="Arial"/>
              </a:defRPr>
            </a:lvl7pPr>
            <a:lvl8pPr>
              <a:defRPr sz="2025" b="1">
                <a:solidFill>
                  <a:srgbClr val="005293"/>
                </a:solidFill>
                <a:latin typeface="Arial"/>
                <a:ea typeface="Arial"/>
                <a:cs typeface="Arial"/>
              </a:defRPr>
            </a:lvl8pPr>
            <a:lvl9pPr>
              <a:defRPr sz="2025" b="1">
                <a:solidFill>
                  <a:srgbClr val="005293"/>
                </a:solidFill>
                <a:latin typeface="Arial"/>
                <a:ea typeface="Arial"/>
                <a:cs typeface="Arial"/>
              </a:defRPr>
            </a:lvl9pPr>
          </a:lstStyle>
          <a:p xmlns:a="http://schemas.openxmlformats.org/drawingml/2006/main">
            <a:pPr>
              <a:defRPr sz="2025" b="1">
                <a:solidFill>
                  <a:srgbClr val="005293"/>
                </a:solidFill>
                <a:latin typeface="Arial"/>
                <a:ea typeface="Arial"/>
                <a:cs typeface="Arial"/>
              </a:defRPr>
            </a:pPr>
            <a:r>
              <a:rPr sz="2025" b="1">
                <a:solidFill>
                  <a:srgbClr val="005293"/>
                </a:solidFill>
                <a:latin typeface="Arial"/>
                <a:ea typeface="Arial"/>
                <a:cs typeface="Arial"/>
              </a:rPr>
              <a:t>Nur 27550 hört 5001 und 4052.</a:t>
            </a:r>
          </a:p>
        </p:txBody>
      </p:sp>
    </p:spTree>
    <p:extLst>
      <p:ext uri="{BB962C8B-B14F-4D97-AF65-F5344CB8AC3E}">
        <p14:creationId xmlns:p14="http://schemas.microsoft.com/office/powerpoint/2010/main" val="60829588"/>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A6E68CF-A582-4FCB-B557-602EA1D4A77E}"/>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Division mit Grundoperatoren</a:t>
            </a:r>
          </a:p>
        </p:txBody>
      </p:sp>
      <p:sp>
        <p:nvSpPr>
          <p:cNvPr id="2" name="">
            <a:extLst xmlns:a="http://schemas.openxmlformats.org/drawingml/2006/main">
              <a:ext uri="{FF2B5EF4-FFF2-40B4-BE49-F238E27FC236}">
                <a16:creationId xmlns:a16="http://schemas.microsoft.com/office/drawing/2014/main" id="{187E6C52-5A3C-4C39-81DB-DCC16901942D}"/>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249C23D5-12FB-4A20-89CA-2B628D93FDE4}"/>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43</a:t>
            </a:r>
          </a:p>
        </p:txBody>
      </p:sp>
      <p:sp>
        <p:nvSpPr>
          <p:cNvPr id="4" name="">
            <a:extLst xmlns:a="http://schemas.openxmlformats.org/drawingml/2006/main">
              <a:ext uri="{FF2B5EF4-FFF2-40B4-BE49-F238E27FC236}">
                <a16:creationId xmlns:a16="http://schemas.microsoft.com/office/drawing/2014/main" id="{2733F08E-69FA-4F53-B611-890FB6DC09FD}"/>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39</a:t>
            </a:r>
          </a:p>
        </p:txBody>
      </p:sp>
      <p:sp>
        <p:nvSpPr>
          <p:cNvPr id="5" name="">
            <a:extLst xmlns:a="http://schemas.openxmlformats.org/drawingml/2006/main">
              <a:ext uri="{FF2B5EF4-FFF2-40B4-BE49-F238E27FC236}">
                <a16:creationId xmlns:a16="http://schemas.microsoft.com/office/drawing/2014/main" id="{8E2BB604-37AF-4C13-906F-844385155BB3}"/>
              </a:ext>
            </a:extLst>
          </p:cNvPr>
          <p:cNvSpPr>
            <a:spLocks xmlns:a="http://schemas.openxmlformats.org/drawingml/2006/main" noGrp="1"/>
          </p:cNvSpPr>
          <p:nvPr/>
        </p:nvSpPr>
        <p:spPr>
          <a:xfrm xmlns:a="http://schemas.openxmlformats.org/drawingml/2006/main">
            <a:off x="609600" y="1476375"/>
            <a:ext cx="1484224" cy="5657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2700" b="0">
                <a:solidFill>
                  <a:srgbClr val="005293"/>
                </a:solidFill>
                <a:latin typeface="STIX Two Math"/>
                <a:ea typeface="STIX Two Math"/>
                <a:cs typeface="STIX Two Math"/>
              </a:defRPr>
            </a:defPPr>
            <a:lvl1pPr>
              <a:defRPr sz="2700" b="0">
                <a:solidFill>
                  <a:srgbClr val="005293"/>
                </a:solidFill>
                <a:latin typeface="STIX Two Math"/>
                <a:ea typeface="STIX Two Math"/>
                <a:cs typeface="STIX Two Math"/>
              </a:defRPr>
            </a:lvl1pPr>
            <a:lvl2pPr>
              <a:defRPr sz="2700" b="0">
                <a:solidFill>
                  <a:srgbClr val="005293"/>
                </a:solidFill>
                <a:latin typeface="STIX Two Math"/>
                <a:ea typeface="STIX Two Math"/>
                <a:cs typeface="STIX Two Math"/>
              </a:defRPr>
            </a:lvl2pPr>
            <a:lvl3pPr>
              <a:defRPr sz="2700" b="0">
                <a:solidFill>
                  <a:srgbClr val="005293"/>
                </a:solidFill>
                <a:latin typeface="STIX Two Math"/>
                <a:ea typeface="STIX Two Math"/>
                <a:cs typeface="STIX Two Math"/>
              </a:defRPr>
            </a:lvl3pPr>
            <a:lvl4pPr>
              <a:defRPr sz="2700" b="0">
                <a:solidFill>
                  <a:srgbClr val="005293"/>
                </a:solidFill>
                <a:latin typeface="STIX Two Math"/>
                <a:ea typeface="STIX Two Math"/>
                <a:cs typeface="STIX Two Math"/>
              </a:defRPr>
            </a:lvl4pPr>
            <a:lvl5pPr>
              <a:defRPr sz="2700" b="0">
                <a:solidFill>
                  <a:srgbClr val="005293"/>
                </a:solidFill>
                <a:latin typeface="STIX Two Math"/>
                <a:ea typeface="STIX Two Math"/>
                <a:cs typeface="STIX Two Math"/>
              </a:defRPr>
            </a:lvl5pPr>
            <a:lvl6pPr>
              <a:defRPr sz="2700" b="0">
                <a:solidFill>
                  <a:srgbClr val="005293"/>
                </a:solidFill>
                <a:latin typeface="STIX Two Math"/>
                <a:ea typeface="STIX Two Math"/>
                <a:cs typeface="STIX Two Math"/>
              </a:defRPr>
            </a:lvl6pPr>
            <a:lvl7pPr>
              <a:defRPr sz="2700" b="0">
                <a:solidFill>
                  <a:srgbClr val="005293"/>
                </a:solidFill>
                <a:latin typeface="STIX Two Math"/>
                <a:ea typeface="STIX Two Math"/>
                <a:cs typeface="STIX Two Math"/>
              </a:defRPr>
            </a:lvl7pPr>
            <a:lvl8pPr>
              <a:defRPr sz="2700" b="0">
                <a:solidFill>
                  <a:srgbClr val="005293"/>
                </a:solidFill>
                <a:latin typeface="STIX Two Math"/>
                <a:ea typeface="STIX Two Math"/>
                <a:cs typeface="STIX Two Math"/>
              </a:defRPr>
            </a:lvl8pPr>
            <a:lvl9pPr>
              <a:defRPr sz="2700" b="0">
                <a:solidFill>
                  <a:srgbClr val="005293"/>
                </a:solidFill>
                <a:latin typeface="STIX Two Math"/>
                <a:ea typeface="STIX Two Math"/>
                <a:cs typeface="STIX Two Math"/>
              </a:defRPr>
            </a:lvl9pPr>
          </a:lstStyle>
          <a:p xmlns:a="http://schemas.openxmlformats.org/drawingml/2006/main">
            <a:pPr>
              <a:defRPr sz="2700" b="0">
                <a:solidFill>
                  <a:srgbClr val="005293"/>
                </a:solidFill>
                <a:latin typeface="STIX Two Math"/>
                <a:ea typeface="STIX Two Math"/>
                <a:cs typeface="STIX Two Math"/>
              </a:defRPr>
            </a:pPr>
            <a:r>
              <a:rPr sz="2700" b="0">
                <a:solidFill>
                  <a:srgbClr val="005293"/>
                </a:solidFill>
                <a:latin typeface="STIX Two Math"/>
                <a:ea typeface="STIX Two Math"/>
                <a:cs typeface="STIX Two Math"/>
              </a:rPr>
              <a:t>R ÷ S = π</a:t>
            </a:r>
          </a:p>
        </p:txBody>
      </p:sp>
      <p:sp>
        <p:nvSpPr>
          <p:cNvPr id="6" name="">
            <a:extLst xmlns:a="http://schemas.openxmlformats.org/drawingml/2006/main">
              <a:ext uri="{FF2B5EF4-FFF2-40B4-BE49-F238E27FC236}">
                <a16:creationId xmlns:a16="http://schemas.microsoft.com/office/drawing/2014/main" id="{4F1A7402-AE22-46FF-B7E3-84007E88AD4F}"/>
              </a:ext>
            </a:extLst>
          </p:cNvPr>
          <p:cNvSpPr>
            <a:spLocks xmlns:a="http://schemas.openxmlformats.org/drawingml/2006/main" noGrp="1"/>
          </p:cNvSpPr>
          <p:nvPr/>
        </p:nvSpPr>
        <p:spPr>
          <a:xfrm xmlns:a="http://schemas.openxmlformats.org/drawingml/2006/main">
            <a:off x="2046199" y="1671828"/>
            <a:ext cx="214671" cy="367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1755" b="0">
                <a:solidFill>
                  <a:srgbClr val="005293"/>
                </a:solidFill>
                <a:latin typeface="STIX Two Math"/>
                <a:ea typeface="STIX Two Math"/>
                <a:cs typeface="STIX Two Math"/>
              </a:defRPr>
            </a:defPPr>
            <a:lvl1pPr>
              <a:defRPr sz="1755" b="0">
                <a:solidFill>
                  <a:srgbClr val="005293"/>
                </a:solidFill>
                <a:latin typeface="STIX Two Math"/>
                <a:ea typeface="STIX Two Math"/>
                <a:cs typeface="STIX Two Math"/>
              </a:defRPr>
            </a:lvl1pPr>
            <a:lvl2pPr>
              <a:defRPr sz="1755" b="0">
                <a:solidFill>
                  <a:srgbClr val="005293"/>
                </a:solidFill>
                <a:latin typeface="STIX Two Math"/>
                <a:ea typeface="STIX Two Math"/>
                <a:cs typeface="STIX Two Math"/>
              </a:defRPr>
            </a:lvl2pPr>
            <a:lvl3pPr>
              <a:defRPr sz="1755" b="0">
                <a:solidFill>
                  <a:srgbClr val="005293"/>
                </a:solidFill>
                <a:latin typeface="STIX Two Math"/>
                <a:ea typeface="STIX Two Math"/>
                <a:cs typeface="STIX Two Math"/>
              </a:defRPr>
            </a:lvl3pPr>
            <a:lvl4pPr>
              <a:defRPr sz="1755" b="0">
                <a:solidFill>
                  <a:srgbClr val="005293"/>
                </a:solidFill>
                <a:latin typeface="STIX Two Math"/>
                <a:ea typeface="STIX Two Math"/>
                <a:cs typeface="STIX Two Math"/>
              </a:defRPr>
            </a:lvl4pPr>
            <a:lvl5pPr>
              <a:defRPr sz="1755" b="0">
                <a:solidFill>
                  <a:srgbClr val="005293"/>
                </a:solidFill>
                <a:latin typeface="STIX Two Math"/>
                <a:ea typeface="STIX Two Math"/>
                <a:cs typeface="STIX Two Math"/>
              </a:defRPr>
            </a:lvl5pPr>
            <a:lvl6pPr>
              <a:defRPr sz="1755" b="0">
                <a:solidFill>
                  <a:srgbClr val="005293"/>
                </a:solidFill>
                <a:latin typeface="STIX Two Math"/>
                <a:ea typeface="STIX Two Math"/>
                <a:cs typeface="STIX Two Math"/>
              </a:defRPr>
            </a:lvl6pPr>
            <a:lvl7pPr>
              <a:defRPr sz="1755" b="0">
                <a:solidFill>
                  <a:srgbClr val="005293"/>
                </a:solidFill>
                <a:latin typeface="STIX Two Math"/>
                <a:ea typeface="STIX Two Math"/>
                <a:cs typeface="STIX Two Math"/>
              </a:defRPr>
            </a:lvl7pPr>
            <a:lvl8pPr>
              <a:defRPr sz="1755" b="0">
                <a:solidFill>
                  <a:srgbClr val="005293"/>
                </a:solidFill>
                <a:latin typeface="STIX Two Math"/>
                <a:ea typeface="STIX Two Math"/>
                <a:cs typeface="STIX Two Math"/>
              </a:defRPr>
            </a:lvl8pPr>
            <a:lvl9pPr>
              <a:defRPr sz="1755" b="0">
                <a:solidFill>
                  <a:srgbClr val="005293"/>
                </a:solidFill>
                <a:latin typeface="STIX Two Math"/>
                <a:ea typeface="STIX Two Math"/>
                <a:cs typeface="STIX Two Math"/>
              </a:defRPr>
            </a:lvl9pPr>
          </a:lstStyle>
          <a:p xmlns:a="http://schemas.openxmlformats.org/drawingml/2006/main">
            <a:pPr>
              <a:defRPr sz="1755" b="0">
                <a:solidFill>
                  <a:srgbClr val="005293"/>
                </a:solidFill>
                <a:latin typeface="STIX Two Math"/>
                <a:ea typeface="STIX Two Math"/>
                <a:cs typeface="STIX Two Math"/>
              </a:defRPr>
            </a:pPr>
            <a:r>
              <a:rPr sz="1755" b="0">
                <a:solidFill>
                  <a:srgbClr val="005293"/>
                </a:solidFill>
                <a:latin typeface="STIX Two Math"/>
                <a:ea typeface="STIX Two Math"/>
                <a:cs typeface="STIX Two Math"/>
              </a:rPr>
              <a:t>X</a:t>
            </a:r>
          </a:p>
        </p:txBody>
      </p:sp>
      <p:sp>
        <p:nvSpPr>
          <p:cNvPr id="7" name="">
            <a:extLst xmlns:a="http://schemas.openxmlformats.org/drawingml/2006/main">
              <a:ext uri="{FF2B5EF4-FFF2-40B4-BE49-F238E27FC236}">
                <a16:creationId xmlns:a16="http://schemas.microsoft.com/office/drawing/2014/main" id="{65C2E541-59FC-4900-9F57-F44D5DE0E5AA}"/>
              </a:ext>
            </a:extLst>
          </p:cNvPr>
          <p:cNvSpPr>
            <a:spLocks xmlns:a="http://schemas.openxmlformats.org/drawingml/2006/main" noGrp="1"/>
          </p:cNvSpPr>
          <p:nvPr/>
        </p:nvSpPr>
        <p:spPr>
          <a:xfrm xmlns:a="http://schemas.openxmlformats.org/drawingml/2006/main">
            <a:off x="2213244" y="1476375"/>
            <a:ext cx="1084745" cy="5657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2700" b="0">
                <a:solidFill>
                  <a:srgbClr val="005293"/>
                </a:solidFill>
                <a:latin typeface="STIX Two Math"/>
                <a:ea typeface="STIX Two Math"/>
                <a:cs typeface="STIX Two Math"/>
              </a:defRPr>
            </a:defPPr>
            <a:lvl1pPr>
              <a:defRPr sz="2700" b="0">
                <a:solidFill>
                  <a:srgbClr val="005293"/>
                </a:solidFill>
                <a:latin typeface="STIX Two Math"/>
                <a:ea typeface="STIX Two Math"/>
                <a:cs typeface="STIX Two Math"/>
              </a:defRPr>
            </a:lvl1pPr>
            <a:lvl2pPr>
              <a:defRPr sz="2700" b="0">
                <a:solidFill>
                  <a:srgbClr val="005293"/>
                </a:solidFill>
                <a:latin typeface="STIX Two Math"/>
                <a:ea typeface="STIX Two Math"/>
                <a:cs typeface="STIX Two Math"/>
              </a:defRPr>
            </a:lvl2pPr>
            <a:lvl3pPr>
              <a:defRPr sz="2700" b="0">
                <a:solidFill>
                  <a:srgbClr val="005293"/>
                </a:solidFill>
                <a:latin typeface="STIX Two Math"/>
                <a:ea typeface="STIX Two Math"/>
                <a:cs typeface="STIX Two Math"/>
              </a:defRPr>
            </a:lvl3pPr>
            <a:lvl4pPr>
              <a:defRPr sz="2700" b="0">
                <a:solidFill>
                  <a:srgbClr val="005293"/>
                </a:solidFill>
                <a:latin typeface="STIX Two Math"/>
                <a:ea typeface="STIX Two Math"/>
                <a:cs typeface="STIX Two Math"/>
              </a:defRPr>
            </a:lvl4pPr>
            <a:lvl5pPr>
              <a:defRPr sz="2700" b="0">
                <a:solidFill>
                  <a:srgbClr val="005293"/>
                </a:solidFill>
                <a:latin typeface="STIX Two Math"/>
                <a:ea typeface="STIX Two Math"/>
                <a:cs typeface="STIX Two Math"/>
              </a:defRPr>
            </a:lvl5pPr>
            <a:lvl6pPr>
              <a:defRPr sz="2700" b="0">
                <a:solidFill>
                  <a:srgbClr val="005293"/>
                </a:solidFill>
                <a:latin typeface="STIX Two Math"/>
                <a:ea typeface="STIX Two Math"/>
                <a:cs typeface="STIX Two Math"/>
              </a:defRPr>
            </a:lvl6pPr>
            <a:lvl7pPr>
              <a:defRPr sz="2700" b="0">
                <a:solidFill>
                  <a:srgbClr val="005293"/>
                </a:solidFill>
                <a:latin typeface="STIX Two Math"/>
                <a:ea typeface="STIX Two Math"/>
                <a:cs typeface="STIX Two Math"/>
              </a:defRPr>
            </a:lvl7pPr>
            <a:lvl8pPr>
              <a:defRPr sz="2700" b="0">
                <a:solidFill>
                  <a:srgbClr val="005293"/>
                </a:solidFill>
                <a:latin typeface="STIX Two Math"/>
                <a:ea typeface="STIX Two Math"/>
                <a:cs typeface="STIX Two Math"/>
              </a:defRPr>
            </a:lvl8pPr>
            <a:lvl9pPr>
              <a:defRPr sz="2700" b="0">
                <a:solidFill>
                  <a:srgbClr val="005293"/>
                </a:solidFill>
                <a:latin typeface="STIX Two Math"/>
                <a:ea typeface="STIX Two Math"/>
                <a:cs typeface="STIX Two Math"/>
              </a:defRPr>
            </a:lvl9pPr>
          </a:lstStyle>
          <a:p xmlns:a="http://schemas.openxmlformats.org/drawingml/2006/main">
            <a:pPr>
              <a:defRPr sz="2700" b="0">
                <a:solidFill>
                  <a:srgbClr val="005293"/>
                </a:solidFill>
                <a:latin typeface="STIX Two Math"/>
                <a:ea typeface="STIX Two Math"/>
                <a:cs typeface="STIX Two Math"/>
              </a:defRPr>
            </a:pPr>
            <a:r>
              <a:rPr sz="2700" b="0">
                <a:solidFill>
                  <a:srgbClr val="005293"/>
                </a:solidFill>
                <a:latin typeface="STIX Two Math"/>
                <a:ea typeface="STIX Two Math"/>
                <a:cs typeface="STIX Two Math"/>
              </a:rPr>
              <a:t>(R) ∖ π</a:t>
            </a:r>
          </a:p>
        </p:txBody>
      </p:sp>
      <p:sp>
        <p:nvSpPr>
          <p:cNvPr id="8" name="">
            <a:extLst xmlns:a="http://schemas.openxmlformats.org/drawingml/2006/main">
              <a:ext uri="{FF2B5EF4-FFF2-40B4-BE49-F238E27FC236}">
                <a16:creationId xmlns:a16="http://schemas.microsoft.com/office/drawing/2014/main" id="{9BBA2510-4880-4E47-A29E-7EDAF8B8F982}"/>
              </a:ext>
            </a:extLst>
          </p:cNvPr>
          <p:cNvSpPr>
            <a:spLocks xmlns:a="http://schemas.openxmlformats.org/drawingml/2006/main" noGrp="1"/>
          </p:cNvSpPr>
          <p:nvPr/>
        </p:nvSpPr>
        <p:spPr>
          <a:xfrm xmlns:a="http://schemas.openxmlformats.org/drawingml/2006/main">
            <a:off x="3250364" y="1671828"/>
            <a:ext cx="214671" cy="367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1755" b="0">
                <a:solidFill>
                  <a:srgbClr val="005293"/>
                </a:solidFill>
                <a:latin typeface="STIX Two Math"/>
                <a:ea typeface="STIX Two Math"/>
                <a:cs typeface="STIX Two Math"/>
              </a:defRPr>
            </a:defPPr>
            <a:lvl1pPr>
              <a:defRPr sz="1755" b="0">
                <a:solidFill>
                  <a:srgbClr val="005293"/>
                </a:solidFill>
                <a:latin typeface="STIX Two Math"/>
                <a:ea typeface="STIX Two Math"/>
                <a:cs typeface="STIX Two Math"/>
              </a:defRPr>
            </a:lvl1pPr>
            <a:lvl2pPr>
              <a:defRPr sz="1755" b="0">
                <a:solidFill>
                  <a:srgbClr val="005293"/>
                </a:solidFill>
                <a:latin typeface="STIX Two Math"/>
                <a:ea typeface="STIX Two Math"/>
                <a:cs typeface="STIX Two Math"/>
              </a:defRPr>
            </a:lvl2pPr>
            <a:lvl3pPr>
              <a:defRPr sz="1755" b="0">
                <a:solidFill>
                  <a:srgbClr val="005293"/>
                </a:solidFill>
                <a:latin typeface="STIX Two Math"/>
                <a:ea typeface="STIX Two Math"/>
                <a:cs typeface="STIX Two Math"/>
              </a:defRPr>
            </a:lvl3pPr>
            <a:lvl4pPr>
              <a:defRPr sz="1755" b="0">
                <a:solidFill>
                  <a:srgbClr val="005293"/>
                </a:solidFill>
                <a:latin typeface="STIX Two Math"/>
                <a:ea typeface="STIX Two Math"/>
                <a:cs typeface="STIX Two Math"/>
              </a:defRPr>
            </a:lvl4pPr>
            <a:lvl5pPr>
              <a:defRPr sz="1755" b="0">
                <a:solidFill>
                  <a:srgbClr val="005293"/>
                </a:solidFill>
                <a:latin typeface="STIX Two Math"/>
                <a:ea typeface="STIX Two Math"/>
                <a:cs typeface="STIX Two Math"/>
              </a:defRPr>
            </a:lvl5pPr>
            <a:lvl6pPr>
              <a:defRPr sz="1755" b="0">
                <a:solidFill>
                  <a:srgbClr val="005293"/>
                </a:solidFill>
                <a:latin typeface="STIX Two Math"/>
                <a:ea typeface="STIX Two Math"/>
                <a:cs typeface="STIX Two Math"/>
              </a:defRPr>
            </a:lvl6pPr>
            <a:lvl7pPr>
              <a:defRPr sz="1755" b="0">
                <a:solidFill>
                  <a:srgbClr val="005293"/>
                </a:solidFill>
                <a:latin typeface="STIX Two Math"/>
                <a:ea typeface="STIX Two Math"/>
                <a:cs typeface="STIX Two Math"/>
              </a:defRPr>
            </a:lvl7pPr>
            <a:lvl8pPr>
              <a:defRPr sz="1755" b="0">
                <a:solidFill>
                  <a:srgbClr val="005293"/>
                </a:solidFill>
                <a:latin typeface="STIX Two Math"/>
                <a:ea typeface="STIX Two Math"/>
                <a:cs typeface="STIX Two Math"/>
              </a:defRPr>
            </a:lvl8pPr>
            <a:lvl9pPr>
              <a:defRPr sz="1755" b="0">
                <a:solidFill>
                  <a:srgbClr val="005293"/>
                </a:solidFill>
                <a:latin typeface="STIX Two Math"/>
                <a:ea typeface="STIX Two Math"/>
                <a:cs typeface="STIX Two Math"/>
              </a:defRPr>
            </a:lvl9pPr>
          </a:lstStyle>
          <a:p xmlns:a="http://schemas.openxmlformats.org/drawingml/2006/main">
            <a:pPr>
              <a:defRPr sz="1755" b="0">
                <a:solidFill>
                  <a:srgbClr val="005293"/>
                </a:solidFill>
                <a:latin typeface="STIX Two Math"/>
                <a:ea typeface="STIX Two Math"/>
                <a:cs typeface="STIX Two Math"/>
              </a:defRPr>
            </a:pPr>
            <a:r>
              <a:rPr sz="1755" b="0">
                <a:solidFill>
                  <a:srgbClr val="005293"/>
                </a:solidFill>
                <a:latin typeface="STIX Two Math"/>
                <a:ea typeface="STIX Two Math"/>
                <a:cs typeface="STIX Two Math"/>
              </a:rPr>
              <a:t>X</a:t>
            </a:r>
          </a:p>
        </p:txBody>
      </p:sp>
      <p:sp>
        <p:nvSpPr>
          <p:cNvPr id="9" name="">
            <a:extLst xmlns:a="http://schemas.openxmlformats.org/drawingml/2006/main">
              <a:ext uri="{FF2B5EF4-FFF2-40B4-BE49-F238E27FC236}">
                <a16:creationId xmlns:a16="http://schemas.microsoft.com/office/drawing/2014/main" id="{CDD8C415-0520-4B2F-AEBE-E8B7F5769C40}"/>
              </a:ext>
            </a:extLst>
          </p:cNvPr>
          <p:cNvSpPr>
            <a:spLocks xmlns:a="http://schemas.openxmlformats.org/drawingml/2006/main" noGrp="1"/>
          </p:cNvSpPr>
          <p:nvPr/>
        </p:nvSpPr>
        <p:spPr>
          <a:xfrm xmlns:a="http://schemas.openxmlformats.org/drawingml/2006/main">
            <a:off x="3417410" y="1476375"/>
            <a:ext cx="514160" cy="5657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2700" b="0">
                <a:solidFill>
                  <a:srgbClr val="005293"/>
                </a:solidFill>
                <a:latin typeface="STIX Two Math"/>
                <a:ea typeface="STIX Two Math"/>
                <a:cs typeface="STIX Two Math"/>
              </a:defRPr>
            </a:defPPr>
            <a:lvl1pPr>
              <a:defRPr sz="2700" b="0">
                <a:solidFill>
                  <a:srgbClr val="005293"/>
                </a:solidFill>
                <a:latin typeface="STIX Two Math"/>
                <a:ea typeface="STIX Two Math"/>
                <a:cs typeface="STIX Two Math"/>
              </a:defRPr>
            </a:lvl1pPr>
            <a:lvl2pPr>
              <a:defRPr sz="2700" b="0">
                <a:solidFill>
                  <a:srgbClr val="005293"/>
                </a:solidFill>
                <a:latin typeface="STIX Two Math"/>
                <a:ea typeface="STIX Two Math"/>
                <a:cs typeface="STIX Two Math"/>
              </a:defRPr>
            </a:lvl2pPr>
            <a:lvl3pPr>
              <a:defRPr sz="2700" b="0">
                <a:solidFill>
                  <a:srgbClr val="005293"/>
                </a:solidFill>
                <a:latin typeface="STIX Two Math"/>
                <a:ea typeface="STIX Two Math"/>
                <a:cs typeface="STIX Two Math"/>
              </a:defRPr>
            </a:lvl3pPr>
            <a:lvl4pPr>
              <a:defRPr sz="2700" b="0">
                <a:solidFill>
                  <a:srgbClr val="005293"/>
                </a:solidFill>
                <a:latin typeface="STIX Two Math"/>
                <a:ea typeface="STIX Two Math"/>
                <a:cs typeface="STIX Two Math"/>
              </a:defRPr>
            </a:lvl4pPr>
            <a:lvl5pPr>
              <a:defRPr sz="2700" b="0">
                <a:solidFill>
                  <a:srgbClr val="005293"/>
                </a:solidFill>
                <a:latin typeface="STIX Two Math"/>
                <a:ea typeface="STIX Two Math"/>
                <a:cs typeface="STIX Two Math"/>
              </a:defRPr>
            </a:lvl5pPr>
            <a:lvl6pPr>
              <a:defRPr sz="2700" b="0">
                <a:solidFill>
                  <a:srgbClr val="005293"/>
                </a:solidFill>
                <a:latin typeface="STIX Two Math"/>
                <a:ea typeface="STIX Two Math"/>
                <a:cs typeface="STIX Two Math"/>
              </a:defRPr>
            </a:lvl6pPr>
            <a:lvl7pPr>
              <a:defRPr sz="2700" b="0">
                <a:solidFill>
                  <a:srgbClr val="005293"/>
                </a:solidFill>
                <a:latin typeface="STIX Two Math"/>
                <a:ea typeface="STIX Two Math"/>
                <a:cs typeface="STIX Two Math"/>
              </a:defRPr>
            </a:lvl7pPr>
            <a:lvl8pPr>
              <a:defRPr sz="2700" b="0">
                <a:solidFill>
                  <a:srgbClr val="005293"/>
                </a:solidFill>
                <a:latin typeface="STIX Two Math"/>
                <a:ea typeface="STIX Two Math"/>
                <a:cs typeface="STIX Two Math"/>
              </a:defRPr>
            </a:lvl8pPr>
            <a:lvl9pPr>
              <a:defRPr sz="2700" b="0">
                <a:solidFill>
                  <a:srgbClr val="005293"/>
                </a:solidFill>
                <a:latin typeface="STIX Two Math"/>
                <a:ea typeface="STIX Two Math"/>
                <a:cs typeface="STIX Two Math"/>
              </a:defRPr>
            </a:lvl9pPr>
          </a:lstStyle>
          <a:p xmlns:a="http://schemas.openxmlformats.org/drawingml/2006/main">
            <a:pPr>
              <a:defRPr sz="2700" b="0">
                <a:solidFill>
                  <a:srgbClr val="005293"/>
                </a:solidFill>
                <a:latin typeface="STIX Two Math"/>
                <a:ea typeface="STIX Two Math"/>
                <a:cs typeface="STIX Two Math"/>
              </a:defRPr>
            </a:pPr>
            <a:r>
              <a:rPr sz="2700" b="0">
                <a:solidFill>
                  <a:srgbClr val="005293"/>
                </a:solidFill>
                <a:latin typeface="STIX Two Math"/>
                <a:ea typeface="STIX Two Math"/>
                <a:cs typeface="STIX Two Math"/>
              </a:rPr>
              <a:t>((π</a:t>
            </a:r>
          </a:p>
        </p:txBody>
      </p:sp>
      <p:sp>
        <p:nvSpPr>
          <p:cNvPr id="10" name="">
            <a:extLst xmlns:a="http://schemas.openxmlformats.org/drawingml/2006/main">
              <a:ext uri="{FF2B5EF4-FFF2-40B4-BE49-F238E27FC236}">
                <a16:creationId xmlns:a16="http://schemas.microsoft.com/office/drawing/2014/main" id="{ACA9CF01-7521-4715-9E12-E3F65EDBA8FC}"/>
              </a:ext>
            </a:extLst>
          </p:cNvPr>
          <p:cNvSpPr>
            <a:spLocks xmlns:a="http://schemas.openxmlformats.org/drawingml/2006/main" noGrp="1"/>
          </p:cNvSpPr>
          <p:nvPr/>
        </p:nvSpPr>
        <p:spPr>
          <a:xfrm xmlns:a="http://schemas.openxmlformats.org/drawingml/2006/main">
            <a:off x="3883944" y="1671828"/>
            <a:ext cx="214671" cy="367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1755" b="0">
                <a:solidFill>
                  <a:srgbClr val="005293"/>
                </a:solidFill>
                <a:latin typeface="STIX Two Math"/>
                <a:ea typeface="STIX Two Math"/>
                <a:cs typeface="STIX Two Math"/>
              </a:defRPr>
            </a:defPPr>
            <a:lvl1pPr>
              <a:defRPr sz="1755" b="0">
                <a:solidFill>
                  <a:srgbClr val="005293"/>
                </a:solidFill>
                <a:latin typeface="STIX Two Math"/>
                <a:ea typeface="STIX Two Math"/>
                <a:cs typeface="STIX Two Math"/>
              </a:defRPr>
            </a:lvl1pPr>
            <a:lvl2pPr>
              <a:defRPr sz="1755" b="0">
                <a:solidFill>
                  <a:srgbClr val="005293"/>
                </a:solidFill>
                <a:latin typeface="STIX Two Math"/>
                <a:ea typeface="STIX Two Math"/>
                <a:cs typeface="STIX Two Math"/>
              </a:defRPr>
            </a:lvl2pPr>
            <a:lvl3pPr>
              <a:defRPr sz="1755" b="0">
                <a:solidFill>
                  <a:srgbClr val="005293"/>
                </a:solidFill>
                <a:latin typeface="STIX Two Math"/>
                <a:ea typeface="STIX Two Math"/>
                <a:cs typeface="STIX Two Math"/>
              </a:defRPr>
            </a:lvl3pPr>
            <a:lvl4pPr>
              <a:defRPr sz="1755" b="0">
                <a:solidFill>
                  <a:srgbClr val="005293"/>
                </a:solidFill>
                <a:latin typeface="STIX Two Math"/>
                <a:ea typeface="STIX Two Math"/>
                <a:cs typeface="STIX Two Math"/>
              </a:defRPr>
            </a:lvl4pPr>
            <a:lvl5pPr>
              <a:defRPr sz="1755" b="0">
                <a:solidFill>
                  <a:srgbClr val="005293"/>
                </a:solidFill>
                <a:latin typeface="STIX Two Math"/>
                <a:ea typeface="STIX Two Math"/>
                <a:cs typeface="STIX Two Math"/>
              </a:defRPr>
            </a:lvl5pPr>
            <a:lvl6pPr>
              <a:defRPr sz="1755" b="0">
                <a:solidFill>
                  <a:srgbClr val="005293"/>
                </a:solidFill>
                <a:latin typeface="STIX Two Math"/>
                <a:ea typeface="STIX Two Math"/>
                <a:cs typeface="STIX Two Math"/>
              </a:defRPr>
            </a:lvl6pPr>
            <a:lvl7pPr>
              <a:defRPr sz="1755" b="0">
                <a:solidFill>
                  <a:srgbClr val="005293"/>
                </a:solidFill>
                <a:latin typeface="STIX Two Math"/>
                <a:ea typeface="STIX Two Math"/>
                <a:cs typeface="STIX Two Math"/>
              </a:defRPr>
            </a:lvl7pPr>
            <a:lvl8pPr>
              <a:defRPr sz="1755" b="0">
                <a:solidFill>
                  <a:srgbClr val="005293"/>
                </a:solidFill>
                <a:latin typeface="STIX Two Math"/>
                <a:ea typeface="STIX Two Math"/>
                <a:cs typeface="STIX Two Math"/>
              </a:defRPr>
            </a:lvl8pPr>
            <a:lvl9pPr>
              <a:defRPr sz="1755" b="0">
                <a:solidFill>
                  <a:srgbClr val="005293"/>
                </a:solidFill>
                <a:latin typeface="STIX Two Math"/>
                <a:ea typeface="STIX Two Math"/>
                <a:cs typeface="STIX Two Math"/>
              </a:defRPr>
            </a:lvl9pPr>
          </a:lstStyle>
          <a:p xmlns:a="http://schemas.openxmlformats.org/drawingml/2006/main">
            <a:pPr>
              <a:defRPr sz="1755" b="0">
                <a:solidFill>
                  <a:srgbClr val="005293"/>
                </a:solidFill>
                <a:latin typeface="STIX Two Math"/>
                <a:ea typeface="STIX Two Math"/>
                <a:cs typeface="STIX Two Math"/>
              </a:defRPr>
            </a:pPr>
            <a:r>
              <a:rPr sz="1755" b="0">
                <a:solidFill>
                  <a:srgbClr val="005293"/>
                </a:solidFill>
                <a:latin typeface="STIX Two Math"/>
                <a:ea typeface="STIX Two Math"/>
                <a:cs typeface="STIX Two Math"/>
              </a:rPr>
              <a:t>X</a:t>
            </a:r>
          </a:p>
        </p:txBody>
      </p:sp>
      <p:sp>
        <p:nvSpPr>
          <p:cNvPr id="11" name="">
            <a:extLst xmlns:a="http://schemas.openxmlformats.org/drawingml/2006/main">
              <a:ext uri="{FF2B5EF4-FFF2-40B4-BE49-F238E27FC236}">
                <a16:creationId xmlns:a16="http://schemas.microsoft.com/office/drawing/2014/main" id="{C2703130-729C-4343-BE3A-08CE0A5B3D04}"/>
              </a:ext>
            </a:extLst>
          </p:cNvPr>
          <p:cNvSpPr>
            <a:spLocks xmlns:a="http://schemas.openxmlformats.org/drawingml/2006/main" noGrp="1"/>
          </p:cNvSpPr>
          <p:nvPr/>
        </p:nvSpPr>
        <p:spPr>
          <a:xfrm xmlns:a="http://schemas.openxmlformats.org/drawingml/2006/main">
            <a:off x="4050990" y="1476375"/>
            <a:ext cx="1933765" cy="5657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2700" b="0">
                <a:solidFill>
                  <a:srgbClr val="005293"/>
                </a:solidFill>
                <a:latin typeface="STIX Two Math"/>
                <a:ea typeface="STIX Two Math"/>
                <a:cs typeface="STIX Two Math"/>
              </a:defRPr>
            </a:defPPr>
            <a:lvl1pPr>
              <a:defRPr sz="2700" b="0">
                <a:solidFill>
                  <a:srgbClr val="005293"/>
                </a:solidFill>
                <a:latin typeface="STIX Two Math"/>
                <a:ea typeface="STIX Two Math"/>
                <a:cs typeface="STIX Two Math"/>
              </a:defRPr>
            </a:lvl1pPr>
            <a:lvl2pPr>
              <a:defRPr sz="2700" b="0">
                <a:solidFill>
                  <a:srgbClr val="005293"/>
                </a:solidFill>
                <a:latin typeface="STIX Two Math"/>
                <a:ea typeface="STIX Two Math"/>
                <a:cs typeface="STIX Two Math"/>
              </a:defRPr>
            </a:lvl2pPr>
            <a:lvl3pPr>
              <a:defRPr sz="2700" b="0">
                <a:solidFill>
                  <a:srgbClr val="005293"/>
                </a:solidFill>
                <a:latin typeface="STIX Two Math"/>
                <a:ea typeface="STIX Two Math"/>
                <a:cs typeface="STIX Two Math"/>
              </a:defRPr>
            </a:lvl3pPr>
            <a:lvl4pPr>
              <a:defRPr sz="2700" b="0">
                <a:solidFill>
                  <a:srgbClr val="005293"/>
                </a:solidFill>
                <a:latin typeface="STIX Two Math"/>
                <a:ea typeface="STIX Two Math"/>
                <a:cs typeface="STIX Two Math"/>
              </a:defRPr>
            </a:lvl4pPr>
            <a:lvl5pPr>
              <a:defRPr sz="2700" b="0">
                <a:solidFill>
                  <a:srgbClr val="005293"/>
                </a:solidFill>
                <a:latin typeface="STIX Two Math"/>
                <a:ea typeface="STIX Two Math"/>
                <a:cs typeface="STIX Two Math"/>
              </a:defRPr>
            </a:lvl5pPr>
            <a:lvl6pPr>
              <a:defRPr sz="2700" b="0">
                <a:solidFill>
                  <a:srgbClr val="005293"/>
                </a:solidFill>
                <a:latin typeface="STIX Two Math"/>
                <a:ea typeface="STIX Two Math"/>
                <a:cs typeface="STIX Two Math"/>
              </a:defRPr>
            </a:lvl6pPr>
            <a:lvl7pPr>
              <a:defRPr sz="2700" b="0">
                <a:solidFill>
                  <a:srgbClr val="005293"/>
                </a:solidFill>
                <a:latin typeface="STIX Two Math"/>
                <a:ea typeface="STIX Two Math"/>
                <a:cs typeface="STIX Two Math"/>
              </a:defRPr>
            </a:lvl7pPr>
            <a:lvl8pPr>
              <a:defRPr sz="2700" b="0">
                <a:solidFill>
                  <a:srgbClr val="005293"/>
                </a:solidFill>
                <a:latin typeface="STIX Two Math"/>
                <a:ea typeface="STIX Two Math"/>
                <a:cs typeface="STIX Two Math"/>
              </a:defRPr>
            </a:lvl8pPr>
            <a:lvl9pPr>
              <a:defRPr sz="2700" b="0">
                <a:solidFill>
                  <a:srgbClr val="005293"/>
                </a:solidFill>
                <a:latin typeface="STIX Two Math"/>
                <a:ea typeface="STIX Two Math"/>
                <a:cs typeface="STIX Two Math"/>
              </a:defRPr>
            </a:lvl9pPr>
          </a:lstStyle>
          <a:p xmlns:a="http://schemas.openxmlformats.org/drawingml/2006/main">
            <a:pPr>
              <a:defRPr sz="2700" b="0">
                <a:solidFill>
                  <a:srgbClr val="005293"/>
                </a:solidFill>
                <a:latin typeface="STIX Two Math"/>
                <a:ea typeface="STIX Two Math"/>
                <a:cs typeface="STIX Two Math"/>
              </a:defRPr>
            </a:pPr>
            <a:r>
              <a:rPr sz="2700" b="0">
                <a:solidFill>
                  <a:srgbClr val="005293"/>
                </a:solidFill>
                <a:latin typeface="STIX Two Math"/>
                <a:ea typeface="STIX Two Math"/>
                <a:cs typeface="STIX Two Math"/>
              </a:rPr>
              <a:t>(R) × S) ∖ R)</a:t>
            </a:r>
          </a:p>
        </p:txBody>
      </p:sp>
      <p:sp>
        <p:nvSpPr>
          <p:cNvPr id="12" name="">
            <a:extLst xmlns:a="http://schemas.openxmlformats.org/drawingml/2006/main">
              <a:ext uri="{FF2B5EF4-FFF2-40B4-BE49-F238E27FC236}">
                <a16:creationId xmlns:a16="http://schemas.microsoft.com/office/drawing/2014/main" id="{F71A0EF0-1A02-475C-B28F-B0C0EA891523}"/>
              </a:ext>
            </a:extLst>
          </p:cNvPr>
          <p:cNvSpPr>
            <a:spLocks xmlns:a="http://schemas.openxmlformats.org/drawingml/2006/main" noGrp="1"/>
          </p:cNvSpPr>
          <p:nvPr/>
        </p:nvSpPr>
        <p:spPr>
          <a:xfrm xmlns:a="http://schemas.openxmlformats.org/drawingml/2006/main">
            <a:off x="609600" y="266700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1. Kandidaten</a:t>
            </a:r>
          </a:p>
        </p:txBody>
      </p:sp>
      <p:sp>
        <p:nvSpPr>
          <p:cNvPr id="13" name="">
            <a:extLst xmlns:a="http://schemas.openxmlformats.org/drawingml/2006/main">
              <a:ext uri="{FF2B5EF4-FFF2-40B4-BE49-F238E27FC236}">
                <a16:creationId xmlns:a16="http://schemas.microsoft.com/office/drawing/2014/main" id="{453DD65A-5465-441A-8263-4FFE65D18953}"/>
              </a:ext>
            </a:extLst>
          </p:cNvPr>
          <p:cNvSpPr>
            <a:spLocks xmlns:a="http://schemas.openxmlformats.org/drawingml/2006/main" noGrp="1"/>
          </p:cNvSpPr>
          <p:nvPr/>
        </p:nvSpPr>
        <p:spPr>
          <a:xfrm xmlns:a="http://schemas.openxmlformats.org/drawingml/2006/main">
            <a:off x="4381500" y="2619375"/>
            <a:ext cx="870795" cy="5343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2550" b="0">
                <a:solidFill>
                  <a:srgbClr val="005293"/>
                </a:solidFill>
                <a:latin typeface="STIX Two Math"/>
                <a:ea typeface="STIX Two Math"/>
                <a:cs typeface="STIX Two Math"/>
              </a:defRPr>
            </a:defPPr>
            <a:lvl1pPr>
              <a:defRPr sz="2550" b="0">
                <a:solidFill>
                  <a:srgbClr val="005293"/>
                </a:solidFill>
                <a:latin typeface="STIX Two Math"/>
                <a:ea typeface="STIX Two Math"/>
                <a:cs typeface="STIX Two Math"/>
              </a:defRPr>
            </a:lvl1pPr>
            <a:lvl2pPr>
              <a:defRPr sz="2550" b="0">
                <a:solidFill>
                  <a:srgbClr val="005293"/>
                </a:solidFill>
                <a:latin typeface="STIX Two Math"/>
                <a:ea typeface="STIX Two Math"/>
                <a:cs typeface="STIX Two Math"/>
              </a:defRPr>
            </a:lvl2pPr>
            <a:lvl3pPr>
              <a:defRPr sz="2550" b="0">
                <a:solidFill>
                  <a:srgbClr val="005293"/>
                </a:solidFill>
                <a:latin typeface="STIX Two Math"/>
                <a:ea typeface="STIX Two Math"/>
                <a:cs typeface="STIX Two Math"/>
              </a:defRPr>
            </a:lvl3pPr>
            <a:lvl4pPr>
              <a:defRPr sz="2550" b="0">
                <a:solidFill>
                  <a:srgbClr val="005293"/>
                </a:solidFill>
                <a:latin typeface="STIX Two Math"/>
                <a:ea typeface="STIX Two Math"/>
                <a:cs typeface="STIX Two Math"/>
              </a:defRPr>
            </a:lvl4pPr>
            <a:lvl5pPr>
              <a:defRPr sz="2550" b="0">
                <a:solidFill>
                  <a:srgbClr val="005293"/>
                </a:solidFill>
                <a:latin typeface="STIX Two Math"/>
                <a:ea typeface="STIX Two Math"/>
                <a:cs typeface="STIX Two Math"/>
              </a:defRPr>
            </a:lvl5pPr>
            <a:lvl6pPr>
              <a:defRPr sz="2550" b="0">
                <a:solidFill>
                  <a:srgbClr val="005293"/>
                </a:solidFill>
                <a:latin typeface="STIX Two Math"/>
                <a:ea typeface="STIX Two Math"/>
                <a:cs typeface="STIX Two Math"/>
              </a:defRPr>
            </a:lvl6pPr>
            <a:lvl7pPr>
              <a:defRPr sz="2550" b="0">
                <a:solidFill>
                  <a:srgbClr val="005293"/>
                </a:solidFill>
                <a:latin typeface="STIX Two Math"/>
                <a:ea typeface="STIX Two Math"/>
                <a:cs typeface="STIX Two Math"/>
              </a:defRPr>
            </a:lvl7pPr>
            <a:lvl8pPr>
              <a:defRPr sz="2550" b="0">
                <a:solidFill>
                  <a:srgbClr val="005293"/>
                </a:solidFill>
                <a:latin typeface="STIX Two Math"/>
                <a:ea typeface="STIX Two Math"/>
                <a:cs typeface="STIX Two Math"/>
              </a:defRPr>
            </a:lvl8pPr>
            <a:lvl9pPr>
              <a:defRPr sz="2550" b="0">
                <a:solidFill>
                  <a:srgbClr val="005293"/>
                </a:solidFill>
                <a:latin typeface="STIX Two Math"/>
                <a:ea typeface="STIX Two Math"/>
                <a:cs typeface="STIX Two Math"/>
              </a:defRPr>
            </a:lvl9pPr>
          </a:lstStyle>
          <a:p xmlns:a="http://schemas.openxmlformats.org/drawingml/2006/main">
            <a:pPr>
              <a:defRPr sz="2550" b="0">
                <a:solidFill>
                  <a:srgbClr val="005293"/>
                </a:solidFill>
                <a:latin typeface="STIX Two Math"/>
                <a:ea typeface="STIX Two Math"/>
                <a:cs typeface="STIX Two Math"/>
              </a:defRPr>
            </a:pPr>
            <a:r>
              <a:rPr sz="2550" b="0">
                <a:solidFill>
                  <a:srgbClr val="005293"/>
                </a:solidFill>
                <a:latin typeface="STIX Two Math"/>
                <a:ea typeface="STIX Two Math"/>
                <a:cs typeface="STIX Two Math"/>
              </a:rPr>
              <a:t>K = π</a:t>
            </a:r>
          </a:p>
        </p:txBody>
      </p:sp>
      <p:sp>
        <p:nvSpPr>
          <p:cNvPr id="14" name="">
            <a:extLst xmlns:a="http://schemas.openxmlformats.org/drawingml/2006/main">
              <a:ext uri="{FF2B5EF4-FFF2-40B4-BE49-F238E27FC236}">
                <a16:creationId xmlns:a16="http://schemas.microsoft.com/office/drawing/2014/main" id="{D8B87CDC-80F5-4190-B2E8-EA78E3C4900E}"/>
              </a:ext>
            </a:extLst>
          </p:cNvPr>
          <p:cNvSpPr>
            <a:spLocks xmlns:a="http://schemas.openxmlformats.org/drawingml/2006/main" noGrp="1"/>
          </p:cNvSpPr>
          <p:nvPr/>
        </p:nvSpPr>
        <p:spPr>
          <a:xfrm xmlns:a="http://schemas.openxmlformats.org/drawingml/2006/main">
            <a:off x="5204670" y="2803970"/>
            <a:ext cx="206449" cy="34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1658" b="0">
                <a:solidFill>
                  <a:srgbClr val="005293"/>
                </a:solidFill>
                <a:latin typeface="STIX Two Math"/>
                <a:ea typeface="STIX Two Math"/>
                <a:cs typeface="STIX Two Math"/>
              </a:defRPr>
            </a:defPPr>
            <a:lvl1pPr>
              <a:defRPr sz="1658" b="0">
                <a:solidFill>
                  <a:srgbClr val="005293"/>
                </a:solidFill>
                <a:latin typeface="STIX Two Math"/>
                <a:ea typeface="STIX Two Math"/>
                <a:cs typeface="STIX Two Math"/>
              </a:defRPr>
            </a:lvl1pPr>
            <a:lvl2pPr>
              <a:defRPr sz="1658" b="0">
                <a:solidFill>
                  <a:srgbClr val="005293"/>
                </a:solidFill>
                <a:latin typeface="STIX Two Math"/>
                <a:ea typeface="STIX Two Math"/>
                <a:cs typeface="STIX Two Math"/>
              </a:defRPr>
            </a:lvl2pPr>
            <a:lvl3pPr>
              <a:defRPr sz="1658" b="0">
                <a:solidFill>
                  <a:srgbClr val="005293"/>
                </a:solidFill>
                <a:latin typeface="STIX Two Math"/>
                <a:ea typeface="STIX Two Math"/>
                <a:cs typeface="STIX Two Math"/>
              </a:defRPr>
            </a:lvl3pPr>
            <a:lvl4pPr>
              <a:defRPr sz="1658" b="0">
                <a:solidFill>
                  <a:srgbClr val="005293"/>
                </a:solidFill>
                <a:latin typeface="STIX Two Math"/>
                <a:ea typeface="STIX Two Math"/>
                <a:cs typeface="STIX Two Math"/>
              </a:defRPr>
            </a:lvl4pPr>
            <a:lvl5pPr>
              <a:defRPr sz="1658" b="0">
                <a:solidFill>
                  <a:srgbClr val="005293"/>
                </a:solidFill>
                <a:latin typeface="STIX Two Math"/>
                <a:ea typeface="STIX Two Math"/>
                <a:cs typeface="STIX Two Math"/>
              </a:defRPr>
            </a:lvl5pPr>
            <a:lvl6pPr>
              <a:defRPr sz="1658" b="0">
                <a:solidFill>
                  <a:srgbClr val="005293"/>
                </a:solidFill>
                <a:latin typeface="STIX Two Math"/>
                <a:ea typeface="STIX Two Math"/>
                <a:cs typeface="STIX Two Math"/>
              </a:defRPr>
            </a:lvl6pPr>
            <a:lvl7pPr>
              <a:defRPr sz="1658" b="0">
                <a:solidFill>
                  <a:srgbClr val="005293"/>
                </a:solidFill>
                <a:latin typeface="STIX Two Math"/>
                <a:ea typeface="STIX Two Math"/>
                <a:cs typeface="STIX Two Math"/>
              </a:defRPr>
            </a:lvl7pPr>
            <a:lvl8pPr>
              <a:defRPr sz="1658" b="0">
                <a:solidFill>
                  <a:srgbClr val="005293"/>
                </a:solidFill>
                <a:latin typeface="STIX Two Math"/>
                <a:ea typeface="STIX Two Math"/>
                <a:cs typeface="STIX Two Math"/>
              </a:defRPr>
            </a:lvl8pPr>
            <a:lvl9pPr>
              <a:defRPr sz="1658" b="0">
                <a:solidFill>
                  <a:srgbClr val="005293"/>
                </a:solidFill>
                <a:latin typeface="STIX Two Math"/>
                <a:ea typeface="STIX Two Math"/>
                <a:cs typeface="STIX Two Math"/>
              </a:defRPr>
            </a:lvl9pPr>
          </a:lstStyle>
          <a:p xmlns:a="http://schemas.openxmlformats.org/drawingml/2006/main">
            <a:pPr>
              <a:defRPr sz="1658" b="0">
                <a:solidFill>
                  <a:srgbClr val="005293"/>
                </a:solidFill>
                <a:latin typeface="STIX Two Math"/>
                <a:ea typeface="STIX Two Math"/>
                <a:cs typeface="STIX Two Math"/>
              </a:defRPr>
            </a:pPr>
            <a:r>
              <a:rPr sz="1658" b="0">
                <a:solidFill>
                  <a:srgbClr val="005293"/>
                </a:solidFill>
                <a:latin typeface="STIX Two Math"/>
                <a:ea typeface="STIX Two Math"/>
                <a:cs typeface="STIX Two Math"/>
              </a:rPr>
              <a:t>X</a:t>
            </a:r>
          </a:p>
        </p:txBody>
      </p:sp>
      <p:sp>
        <p:nvSpPr>
          <p:cNvPr id="15" name="">
            <a:extLst xmlns:a="http://schemas.openxmlformats.org/drawingml/2006/main">
              <a:ext uri="{FF2B5EF4-FFF2-40B4-BE49-F238E27FC236}">
                <a16:creationId xmlns:a16="http://schemas.microsoft.com/office/drawing/2014/main" id="{DFE0A326-FE1B-4D27-80B8-53AF36A670DE}"/>
              </a:ext>
            </a:extLst>
          </p:cNvPr>
          <p:cNvSpPr>
            <a:spLocks xmlns:a="http://schemas.openxmlformats.org/drawingml/2006/main" noGrp="1"/>
          </p:cNvSpPr>
          <p:nvPr/>
        </p:nvSpPr>
        <p:spPr>
          <a:xfrm xmlns:a="http://schemas.openxmlformats.org/drawingml/2006/main">
            <a:off x="5363493" y="2619375"/>
            <a:ext cx="511321" cy="5343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2550" b="0">
                <a:solidFill>
                  <a:srgbClr val="005293"/>
                </a:solidFill>
                <a:latin typeface="STIX Two Math"/>
                <a:ea typeface="STIX Two Math"/>
                <a:cs typeface="STIX Two Math"/>
              </a:defRPr>
            </a:defPPr>
            <a:lvl1pPr>
              <a:defRPr sz="2550" b="0">
                <a:solidFill>
                  <a:srgbClr val="005293"/>
                </a:solidFill>
                <a:latin typeface="STIX Two Math"/>
                <a:ea typeface="STIX Two Math"/>
                <a:cs typeface="STIX Two Math"/>
              </a:defRPr>
            </a:lvl1pPr>
            <a:lvl2pPr>
              <a:defRPr sz="2550" b="0">
                <a:solidFill>
                  <a:srgbClr val="005293"/>
                </a:solidFill>
                <a:latin typeface="STIX Two Math"/>
                <a:ea typeface="STIX Two Math"/>
                <a:cs typeface="STIX Two Math"/>
              </a:defRPr>
            </a:lvl2pPr>
            <a:lvl3pPr>
              <a:defRPr sz="2550" b="0">
                <a:solidFill>
                  <a:srgbClr val="005293"/>
                </a:solidFill>
                <a:latin typeface="STIX Two Math"/>
                <a:ea typeface="STIX Two Math"/>
                <a:cs typeface="STIX Two Math"/>
              </a:defRPr>
            </a:lvl3pPr>
            <a:lvl4pPr>
              <a:defRPr sz="2550" b="0">
                <a:solidFill>
                  <a:srgbClr val="005293"/>
                </a:solidFill>
                <a:latin typeface="STIX Two Math"/>
                <a:ea typeface="STIX Two Math"/>
                <a:cs typeface="STIX Two Math"/>
              </a:defRPr>
            </a:lvl4pPr>
            <a:lvl5pPr>
              <a:defRPr sz="2550" b="0">
                <a:solidFill>
                  <a:srgbClr val="005293"/>
                </a:solidFill>
                <a:latin typeface="STIX Two Math"/>
                <a:ea typeface="STIX Two Math"/>
                <a:cs typeface="STIX Two Math"/>
              </a:defRPr>
            </a:lvl5pPr>
            <a:lvl6pPr>
              <a:defRPr sz="2550" b="0">
                <a:solidFill>
                  <a:srgbClr val="005293"/>
                </a:solidFill>
                <a:latin typeface="STIX Two Math"/>
                <a:ea typeface="STIX Two Math"/>
                <a:cs typeface="STIX Two Math"/>
              </a:defRPr>
            </a:lvl6pPr>
            <a:lvl7pPr>
              <a:defRPr sz="2550" b="0">
                <a:solidFill>
                  <a:srgbClr val="005293"/>
                </a:solidFill>
                <a:latin typeface="STIX Two Math"/>
                <a:ea typeface="STIX Two Math"/>
                <a:cs typeface="STIX Two Math"/>
              </a:defRPr>
            </a:lvl7pPr>
            <a:lvl8pPr>
              <a:defRPr sz="2550" b="0">
                <a:solidFill>
                  <a:srgbClr val="005293"/>
                </a:solidFill>
                <a:latin typeface="STIX Two Math"/>
                <a:ea typeface="STIX Two Math"/>
                <a:cs typeface="STIX Two Math"/>
              </a:defRPr>
            </a:lvl8pPr>
            <a:lvl9pPr>
              <a:defRPr sz="2550" b="0">
                <a:solidFill>
                  <a:srgbClr val="005293"/>
                </a:solidFill>
                <a:latin typeface="STIX Two Math"/>
                <a:ea typeface="STIX Two Math"/>
                <a:cs typeface="STIX Two Math"/>
              </a:defRPr>
            </a:lvl9pPr>
          </a:lstStyle>
          <a:p xmlns:a="http://schemas.openxmlformats.org/drawingml/2006/main">
            <a:pPr>
              <a:defRPr sz="2550" b="0">
                <a:solidFill>
                  <a:srgbClr val="005293"/>
                </a:solidFill>
                <a:latin typeface="STIX Two Math"/>
                <a:ea typeface="STIX Two Math"/>
                <a:cs typeface="STIX Two Math"/>
              </a:defRPr>
            </a:pPr>
            <a:r>
              <a:rPr sz="2550" b="0">
                <a:solidFill>
                  <a:srgbClr val="005293"/>
                </a:solidFill>
                <a:latin typeface="STIX Two Math"/>
                <a:ea typeface="STIX Two Math"/>
                <a:cs typeface="STIX Two Math"/>
              </a:rPr>
              <a:t>(R)</a:t>
            </a:r>
          </a:p>
        </p:txBody>
      </p:sp>
      <p:sp>
        <p:nvSpPr>
          <p:cNvPr id="16" name="">
            <a:extLst xmlns:a="http://schemas.openxmlformats.org/drawingml/2006/main">
              <a:ext uri="{FF2B5EF4-FFF2-40B4-BE49-F238E27FC236}">
                <a16:creationId xmlns:a16="http://schemas.microsoft.com/office/drawing/2014/main" id="{A8A9F85E-78DB-4632-88B4-3670BCBB1527}"/>
              </a:ext>
            </a:extLst>
          </p:cNvPr>
          <p:cNvSpPr>
            <a:spLocks xmlns:a="http://schemas.openxmlformats.org/drawingml/2006/main" noGrp="1"/>
          </p:cNvSpPr>
          <p:nvPr/>
        </p:nvSpPr>
        <p:spPr>
          <a:xfrm xmlns:a="http://schemas.openxmlformats.org/drawingml/2006/main">
            <a:off x="609600" y="3571875"/>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2. Fehlende Kombinationen</a:t>
            </a:r>
          </a:p>
        </p:txBody>
      </p:sp>
      <p:sp>
        <p:nvSpPr>
          <p:cNvPr id="17" name="">
            <a:extLst xmlns:a="http://schemas.openxmlformats.org/drawingml/2006/main">
              <a:ext uri="{FF2B5EF4-FFF2-40B4-BE49-F238E27FC236}">
                <a16:creationId xmlns:a16="http://schemas.microsoft.com/office/drawing/2014/main" id="{D8BF90E0-9EF4-45E4-A15B-FF13389C1492}"/>
              </a:ext>
            </a:extLst>
          </p:cNvPr>
          <p:cNvSpPr>
            <a:spLocks xmlns:a="http://schemas.openxmlformats.org/drawingml/2006/main" noGrp="1"/>
          </p:cNvSpPr>
          <p:nvPr/>
        </p:nvSpPr>
        <p:spPr>
          <a:xfrm xmlns:a="http://schemas.openxmlformats.org/drawingml/2006/main">
            <a:off x="6191250" y="3524250"/>
            <a:ext cx="2188540" cy="5343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2550" b="0">
                <a:solidFill>
                  <a:srgbClr val="005293"/>
                </a:solidFill>
                <a:latin typeface="STIX Two Math"/>
                <a:ea typeface="STIX Two Math"/>
                <a:cs typeface="STIX Two Math"/>
              </a:defRPr>
            </a:defPPr>
            <a:lvl1pPr>
              <a:defRPr sz="2550" b="0">
                <a:solidFill>
                  <a:srgbClr val="005293"/>
                </a:solidFill>
                <a:latin typeface="STIX Two Math"/>
                <a:ea typeface="STIX Two Math"/>
                <a:cs typeface="STIX Two Math"/>
              </a:defRPr>
            </a:lvl1pPr>
            <a:lvl2pPr>
              <a:defRPr sz="2550" b="0">
                <a:solidFill>
                  <a:srgbClr val="005293"/>
                </a:solidFill>
                <a:latin typeface="STIX Two Math"/>
                <a:ea typeface="STIX Two Math"/>
                <a:cs typeface="STIX Two Math"/>
              </a:defRPr>
            </a:lvl2pPr>
            <a:lvl3pPr>
              <a:defRPr sz="2550" b="0">
                <a:solidFill>
                  <a:srgbClr val="005293"/>
                </a:solidFill>
                <a:latin typeface="STIX Two Math"/>
                <a:ea typeface="STIX Two Math"/>
                <a:cs typeface="STIX Two Math"/>
              </a:defRPr>
            </a:lvl3pPr>
            <a:lvl4pPr>
              <a:defRPr sz="2550" b="0">
                <a:solidFill>
                  <a:srgbClr val="005293"/>
                </a:solidFill>
                <a:latin typeface="STIX Two Math"/>
                <a:ea typeface="STIX Two Math"/>
                <a:cs typeface="STIX Two Math"/>
              </a:defRPr>
            </a:lvl4pPr>
            <a:lvl5pPr>
              <a:defRPr sz="2550" b="0">
                <a:solidFill>
                  <a:srgbClr val="005293"/>
                </a:solidFill>
                <a:latin typeface="STIX Two Math"/>
                <a:ea typeface="STIX Two Math"/>
                <a:cs typeface="STIX Two Math"/>
              </a:defRPr>
            </a:lvl5pPr>
            <a:lvl6pPr>
              <a:defRPr sz="2550" b="0">
                <a:solidFill>
                  <a:srgbClr val="005293"/>
                </a:solidFill>
                <a:latin typeface="STIX Two Math"/>
                <a:ea typeface="STIX Two Math"/>
                <a:cs typeface="STIX Two Math"/>
              </a:defRPr>
            </a:lvl6pPr>
            <a:lvl7pPr>
              <a:defRPr sz="2550" b="0">
                <a:solidFill>
                  <a:srgbClr val="005293"/>
                </a:solidFill>
                <a:latin typeface="STIX Two Math"/>
                <a:ea typeface="STIX Two Math"/>
                <a:cs typeface="STIX Two Math"/>
              </a:defRPr>
            </a:lvl7pPr>
            <a:lvl8pPr>
              <a:defRPr sz="2550" b="0">
                <a:solidFill>
                  <a:srgbClr val="005293"/>
                </a:solidFill>
                <a:latin typeface="STIX Two Math"/>
                <a:ea typeface="STIX Two Math"/>
                <a:cs typeface="STIX Two Math"/>
              </a:defRPr>
            </a:lvl8pPr>
            <a:lvl9pPr>
              <a:defRPr sz="2550" b="0">
                <a:solidFill>
                  <a:srgbClr val="005293"/>
                </a:solidFill>
                <a:latin typeface="STIX Two Math"/>
                <a:ea typeface="STIX Two Math"/>
                <a:cs typeface="STIX Two Math"/>
              </a:defRPr>
            </a:lvl9pPr>
          </a:lstStyle>
          <a:p xmlns:a="http://schemas.openxmlformats.org/drawingml/2006/main">
            <a:pPr>
              <a:defRPr sz="2550" b="0">
                <a:solidFill>
                  <a:srgbClr val="005293"/>
                </a:solidFill>
                <a:latin typeface="STIX Two Math"/>
                <a:ea typeface="STIX Two Math"/>
                <a:cs typeface="STIX Two Math"/>
              </a:defRPr>
            </a:pPr>
            <a:r>
              <a:rPr sz="2550" b="0">
                <a:solidFill>
                  <a:srgbClr val="005293"/>
                </a:solidFill>
                <a:latin typeface="STIX Two Math"/>
                <a:ea typeface="STIX Two Math"/>
                <a:cs typeface="STIX Two Math"/>
              </a:rPr>
              <a:t>F = (K × S) ∖ R</a:t>
            </a:r>
          </a:p>
        </p:txBody>
      </p:sp>
      <p:sp>
        <p:nvSpPr>
          <p:cNvPr id="18" name="">
            <a:extLst xmlns:a="http://schemas.openxmlformats.org/drawingml/2006/main">
              <a:ext uri="{FF2B5EF4-FFF2-40B4-BE49-F238E27FC236}">
                <a16:creationId xmlns:a16="http://schemas.microsoft.com/office/drawing/2014/main" id="{403F03F7-14E8-4DC5-B48E-4527C345D751}"/>
              </a:ext>
            </a:extLst>
          </p:cNvPr>
          <p:cNvSpPr>
            <a:spLocks xmlns:a="http://schemas.openxmlformats.org/drawingml/2006/main" noGrp="1"/>
          </p:cNvSpPr>
          <p:nvPr/>
        </p:nvSpPr>
        <p:spPr>
          <a:xfrm xmlns:a="http://schemas.openxmlformats.org/drawingml/2006/main">
            <a:off x="609600" y="4476750"/>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3. Kandidaten mit Lücken entfernen</a:t>
            </a:r>
          </a:p>
        </p:txBody>
      </p:sp>
      <p:sp>
        <p:nvSpPr>
          <p:cNvPr id="19" name="">
            <a:extLst xmlns:a="http://schemas.openxmlformats.org/drawingml/2006/main">
              <a:ext uri="{FF2B5EF4-FFF2-40B4-BE49-F238E27FC236}">
                <a16:creationId xmlns:a16="http://schemas.microsoft.com/office/drawing/2014/main" id="{49F517A8-A60B-49C3-AA02-50231C10D6BE}"/>
              </a:ext>
            </a:extLst>
          </p:cNvPr>
          <p:cNvSpPr>
            <a:spLocks xmlns:a="http://schemas.openxmlformats.org/drawingml/2006/main" noGrp="1"/>
          </p:cNvSpPr>
          <p:nvPr/>
        </p:nvSpPr>
        <p:spPr>
          <a:xfrm xmlns:a="http://schemas.openxmlformats.org/drawingml/2006/main">
            <a:off x="7143750" y="4429125"/>
            <a:ext cx="810882" cy="5343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2550" b="0">
                <a:solidFill>
                  <a:srgbClr val="005293"/>
                </a:solidFill>
                <a:latin typeface="STIX Two Math"/>
                <a:ea typeface="STIX Two Math"/>
                <a:cs typeface="STIX Two Math"/>
              </a:defRPr>
            </a:defPPr>
            <a:lvl1pPr>
              <a:defRPr sz="2550" b="0">
                <a:solidFill>
                  <a:srgbClr val="005293"/>
                </a:solidFill>
                <a:latin typeface="STIX Two Math"/>
                <a:ea typeface="STIX Two Math"/>
                <a:cs typeface="STIX Two Math"/>
              </a:defRPr>
            </a:lvl1pPr>
            <a:lvl2pPr>
              <a:defRPr sz="2550" b="0">
                <a:solidFill>
                  <a:srgbClr val="005293"/>
                </a:solidFill>
                <a:latin typeface="STIX Two Math"/>
                <a:ea typeface="STIX Two Math"/>
                <a:cs typeface="STIX Two Math"/>
              </a:defRPr>
            </a:lvl2pPr>
            <a:lvl3pPr>
              <a:defRPr sz="2550" b="0">
                <a:solidFill>
                  <a:srgbClr val="005293"/>
                </a:solidFill>
                <a:latin typeface="STIX Two Math"/>
                <a:ea typeface="STIX Two Math"/>
                <a:cs typeface="STIX Two Math"/>
              </a:defRPr>
            </a:lvl3pPr>
            <a:lvl4pPr>
              <a:defRPr sz="2550" b="0">
                <a:solidFill>
                  <a:srgbClr val="005293"/>
                </a:solidFill>
                <a:latin typeface="STIX Two Math"/>
                <a:ea typeface="STIX Two Math"/>
                <a:cs typeface="STIX Two Math"/>
              </a:defRPr>
            </a:lvl4pPr>
            <a:lvl5pPr>
              <a:defRPr sz="2550" b="0">
                <a:solidFill>
                  <a:srgbClr val="005293"/>
                </a:solidFill>
                <a:latin typeface="STIX Two Math"/>
                <a:ea typeface="STIX Two Math"/>
                <a:cs typeface="STIX Two Math"/>
              </a:defRPr>
            </a:lvl5pPr>
            <a:lvl6pPr>
              <a:defRPr sz="2550" b="0">
                <a:solidFill>
                  <a:srgbClr val="005293"/>
                </a:solidFill>
                <a:latin typeface="STIX Two Math"/>
                <a:ea typeface="STIX Two Math"/>
                <a:cs typeface="STIX Two Math"/>
              </a:defRPr>
            </a:lvl6pPr>
            <a:lvl7pPr>
              <a:defRPr sz="2550" b="0">
                <a:solidFill>
                  <a:srgbClr val="005293"/>
                </a:solidFill>
                <a:latin typeface="STIX Two Math"/>
                <a:ea typeface="STIX Two Math"/>
                <a:cs typeface="STIX Two Math"/>
              </a:defRPr>
            </a:lvl7pPr>
            <a:lvl8pPr>
              <a:defRPr sz="2550" b="0">
                <a:solidFill>
                  <a:srgbClr val="005293"/>
                </a:solidFill>
                <a:latin typeface="STIX Two Math"/>
                <a:ea typeface="STIX Two Math"/>
                <a:cs typeface="STIX Two Math"/>
              </a:defRPr>
            </a:lvl8pPr>
            <a:lvl9pPr>
              <a:defRPr sz="2550" b="0">
                <a:solidFill>
                  <a:srgbClr val="005293"/>
                </a:solidFill>
                <a:latin typeface="STIX Two Math"/>
                <a:ea typeface="STIX Two Math"/>
                <a:cs typeface="STIX Two Math"/>
              </a:defRPr>
            </a:lvl9pPr>
          </a:lstStyle>
          <a:p xmlns:a="http://schemas.openxmlformats.org/drawingml/2006/main">
            <a:pPr>
              <a:defRPr sz="2550" b="0">
                <a:solidFill>
                  <a:srgbClr val="005293"/>
                </a:solidFill>
                <a:latin typeface="STIX Two Math"/>
                <a:ea typeface="STIX Two Math"/>
                <a:cs typeface="STIX Two Math"/>
              </a:defRPr>
            </a:pPr>
            <a:r>
              <a:rPr sz="2550" b="0">
                <a:solidFill>
                  <a:srgbClr val="005293"/>
                </a:solidFill>
                <a:latin typeface="STIX Two Math"/>
                <a:ea typeface="STIX Two Math"/>
                <a:cs typeface="STIX Two Math"/>
              </a:rPr>
              <a:t>K ∖ π</a:t>
            </a:r>
          </a:p>
        </p:txBody>
      </p:sp>
      <p:sp>
        <p:nvSpPr>
          <p:cNvPr id="20" name="">
            <a:extLst xmlns:a="http://schemas.openxmlformats.org/drawingml/2006/main">
              <a:ext uri="{FF2B5EF4-FFF2-40B4-BE49-F238E27FC236}">
                <a16:creationId xmlns:a16="http://schemas.microsoft.com/office/drawing/2014/main" id="{71AD4DB1-32B5-434C-A6EC-3AB1C1A1CF6C}"/>
              </a:ext>
            </a:extLst>
          </p:cNvPr>
          <p:cNvSpPr>
            <a:spLocks xmlns:a="http://schemas.openxmlformats.org/drawingml/2006/main" noGrp="1"/>
          </p:cNvSpPr>
          <p:nvPr/>
        </p:nvSpPr>
        <p:spPr>
          <a:xfrm xmlns:a="http://schemas.openxmlformats.org/drawingml/2006/main">
            <a:off x="7907007" y="4613720"/>
            <a:ext cx="206449" cy="3473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1658" b="0">
                <a:solidFill>
                  <a:srgbClr val="005293"/>
                </a:solidFill>
                <a:latin typeface="STIX Two Math"/>
                <a:ea typeface="STIX Two Math"/>
                <a:cs typeface="STIX Two Math"/>
              </a:defRPr>
            </a:defPPr>
            <a:lvl1pPr>
              <a:defRPr sz="1658" b="0">
                <a:solidFill>
                  <a:srgbClr val="005293"/>
                </a:solidFill>
                <a:latin typeface="STIX Two Math"/>
                <a:ea typeface="STIX Two Math"/>
                <a:cs typeface="STIX Two Math"/>
              </a:defRPr>
            </a:lvl1pPr>
            <a:lvl2pPr>
              <a:defRPr sz="1658" b="0">
                <a:solidFill>
                  <a:srgbClr val="005293"/>
                </a:solidFill>
                <a:latin typeface="STIX Two Math"/>
                <a:ea typeface="STIX Two Math"/>
                <a:cs typeface="STIX Two Math"/>
              </a:defRPr>
            </a:lvl2pPr>
            <a:lvl3pPr>
              <a:defRPr sz="1658" b="0">
                <a:solidFill>
                  <a:srgbClr val="005293"/>
                </a:solidFill>
                <a:latin typeface="STIX Two Math"/>
                <a:ea typeface="STIX Two Math"/>
                <a:cs typeface="STIX Two Math"/>
              </a:defRPr>
            </a:lvl3pPr>
            <a:lvl4pPr>
              <a:defRPr sz="1658" b="0">
                <a:solidFill>
                  <a:srgbClr val="005293"/>
                </a:solidFill>
                <a:latin typeface="STIX Two Math"/>
                <a:ea typeface="STIX Two Math"/>
                <a:cs typeface="STIX Two Math"/>
              </a:defRPr>
            </a:lvl4pPr>
            <a:lvl5pPr>
              <a:defRPr sz="1658" b="0">
                <a:solidFill>
                  <a:srgbClr val="005293"/>
                </a:solidFill>
                <a:latin typeface="STIX Two Math"/>
                <a:ea typeface="STIX Two Math"/>
                <a:cs typeface="STIX Two Math"/>
              </a:defRPr>
            </a:lvl5pPr>
            <a:lvl6pPr>
              <a:defRPr sz="1658" b="0">
                <a:solidFill>
                  <a:srgbClr val="005293"/>
                </a:solidFill>
                <a:latin typeface="STIX Two Math"/>
                <a:ea typeface="STIX Two Math"/>
                <a:cs typeface="STIX Two Math"/>
              </a:defRPr>
            </a:lvl6pPr>
            <a:lvl7pPr>
              <a:defRPr sz="1658" b="0">
                <a:solidFill>
                  <a:srgbClr val="005293"/>
                </a:solidFill>
                <a:latin typeface="STIX Two Math"/>
                <a:ea typeface="STIX Two Math"/>
                <a:cs typeface="STIX Two Math"/>
              </a:defRPr>
            </a:lvl7pPr>
            <a:lvl8pPr>
              <a:defRPr sz="1658" b="0">
                <a:solidFill>
                  <a:srgbClr val="005293"/>
                </a:solidFill>
                <a:latin typeface="STIX Two Math"/>
                <a:ea typeface="STIX Two Math"/>
                <a:cs typeface="STIX Two Math"/>
              </a:defRPr>
            </a:lvl8pPr>
            <a:lvl9pPr>
              <a:defRPr sz="1658" b="0">
                <a:solidFill>
                  <a:srgbClr val="005293"/>
                </a:solidFill>
                <a:latin typeface="STIX Two Math"/>
                <a:ea typeface="STIX Two Math"/>
                <a:cs typeface="STIX Two Math"/>
              </a:defRPr>
            </a:lvl9pPr>
          </a:lstStyle>
          <a:p xmlns:a="http://schemas.openxmlformats.org/drawingml/2006/main">
            <a:pPr>
              <a:defRPr sz="1658" b="0">
                <a:solidFill>
                  <a:srgbClr val="005293"/>
                </a:solidFill>
                <a:latin typeface="STIX Two Math"/>
                <a:ea typeface="STIX Two Math"/>
                <a:cs typeface="STIX Two Math"/>
              </a:defRPr>
            </a:pPr>
            <a:r>
              <a:rPr sz="1658" b="0">
                <a:solidFill>
                  <a:srgbClr val="005293"/>
                </a:solidFill>
                <a:latin typeface="STIX Two Math"/>
                <a:ea typeface="STIX Two Math"/>
                <a:cs typeface="STIX Two Math"/>
              </a:rPr>
              <a:t>X</a:t>
            </a:r>
          </a:p>
        </p:txBody>
      </p:sp>
      <p:sp>
        <p:nvSpPr>
          <p:cNvPr id="21" name="">
            <a:extLst xmlns:a="http://schemas.openxmlformats.org/drawingml/2006/main">
              <a:ext uri="{FF2B5EF4-FFF2-40B4-BE49-F238E27FC236}">
                <a16:creationId xmlns:a16="http://schemas.microsoft.com/office/drawing/2014/main" id="{CA5E4A4D-29AF-46B6-A018-D1A3A2298F34}"/>
              </a:ext>
            </a:extLst>
          </p:cNvPr>
          <p:cNvSpPr>
            <a:spLocks xmlns:a="http://schemas.openxmlformats.org/drawingml/2006/main" noGrp="1"/>
          </p:cNvSpPr>
          <p:nvPr/>
        </p:nvSpPr>
        <p:spPr>
          <a:xfrm xmlns:a="http://schemas.openxmlformats.org/drawingml/2006/main">
            <a:off x="8065831" y="4429125"/>
            <a:ext cx="488328" cy="5343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2550" b="0">
                <a:solidFill>
                  <a:srgbClr val="005293"/>
                </a:solidFill>
                <a:latin typeface="STIX Two Math"/>
                <a:ea typeface="STIX Two Math"/>
                <a:cs typeface="STIX Two Math"/>
              </a:defRPr>
            </a:defPPr>
            <a:lvl1pPr>
              <a:defRPr sz="2550" b="0">
                <a:solidFill>
                  <a:srgbClr val="005293"/>
                </a:solidFill>
                <a:latin typeface="STIX Two Math"/>
                <a:ea typeface="STIX Two Math"/>
                <a:cs typeface="STIX Two Math"/>
              </a:defRPr>
            </a:lvl1pPr>
            <a:lvl2pPr>
              <a:defRPr sz="2550" b="0">
                <a:solidFill>
                  <a:srgbClr val="005293"/>
                </a:solidFill>
                <a:latin typeface="STIX Two Math"/>
                <a:ea typeface="STIX Two Math"/>
                <a:cs typeface="STIX Two Math"/>
              </a:defRPr>
            </a:lvl2pPr>
            <a:lvl3pPr>
              <a:defRPr sz="2550" b="0">
                <a:solidFill>
                  <a:srgbClr val="005293"/>
                </a:solidFill>
                <a:latin typeface="STIX Two Math"/>
                <a:ea typeface="STIX Two Math"/>
                <a:cs typeface="STIX Two Math"/>
              </a:defRPr>
            </a:lvl3pPr>
            <a:lvl4pPr>
              <a:defRPr sz="2550" b="0">
                <a:solidFill>
                  <a:srgbClr val="005293"/>
                </a:solidFill>
                <a:latin typeface="STIX Two Math"/>
                <a:ea typeface="STIX Two Math"/>
                <a:cs typeface="STIX Two Math"/>
              </a:defRPr>
            </a:lvl4pPr>
            <a:lvl5pPr>
              <a:defRPr sz="2550" b="0">
                <a:solidFill>
                  <a:srgbClr val="005293"/>
                </a:solidFill>
                <a:latin typeface="STIX Two Math"/>
                <a:ea typeface="STIX Two Math"/>
                <a:cs typeface="STIX Two Math"/>
              </a:defRPr>
            </a:lvl5pPr>
            <a:lvl6pPr>
              <a:defRPr sz="2550" b="0">
                <a:solidFill>
                  <a:srgbClr val="005293"/>
                </a:solidFill>
                <a:latin typeface="STIX Two Math"/>
                <a:ea typeface="STIX Two Math"/>
                <a:cs typeface="STIX Two Math"/>
              </a:defRPr>
            </a:lvl6pPr>
            <a:lvl7pPr>
              <a:defRPr sz="2550" b="0">
                <a:solidFill>
                  <a:srgbClr val="005293"/>
                </a:solidFill>
                <a:latin typeface="STIX Two Math"/>
                <a:ea typeface="STIX Two Math"/>
                <a:cs typeface="STIX Two Math"/>
              </a:defRPr>
            </a:lvl7pPr>
            <a:lvl8pPr>
              <a:defRPr sz="2550" b="0">
                <a:solidFill>
                  <a:srgbClr val="005293"/>
                </a:solidFill>
                <a:latin typeface="STIX Two Math"/>
                <a:ea typeface="STIX Two Math"/>
                <a:cs typeface="STIX Two Math"/>
              </a:defRPr>
            </a:lvl8pPr>
            <a:lvl9pPr>
              <a:defRPr sz="2550" b="0">
                <a:solidFill>
                  <a:srgbClr val="005293"/>
                </a:solidFill>
                <a:latin typeface="STIX Two Math"/>
                <a:ea typeface="STIX Two Math"/>
                <a:cs typeface="STIX Two Math"/>
              </a:defRPr>
            </a:lvl9pPr>
          </a:lstStyle>
          <a:p xmlns:a="http://schemas.openxmlformats.org/drawingml/2006/main">
            <a:pPr>
              <a:defRPr sz="2550" b="0">
                <a:solidFill>
                  <a:srgbClr val="005293"/>
                </a:solidFill>
                <a:latin typeface="STIX Two Math"/>
                <a:ea typeface="STIX Two Math"/>
                <a:cs typeface="STIX Two Math"/>
              </a:defRPr>
            </a:pPr>
            <a:r>
              <a:rPr sz="2550" b="0">
                <a:solidFill>
                  <a:srgbClr val="005293"/>
                </a:solidFill>
                <a:latin typeface="STIX Two Math"/>
                <a:ea typeface="STIX Two Math"/>
                <a:cs typeface="STIX Two Math"/>
              </a:rPr>
              <a:t>(F)</a:t>
            </a:r>
          </a:p>
        </p:txBody>
      </p:sp>
      <p:sp>
        <p:nvSpPr>
          <p:cNvPr id="22" name="">
            <a:extLst xmlns:a="http://schemas.openxmlformats.org/drawingml/2006/main">
              <a:ext uri="{FF2B5EF4-FFF2-40B4-BE49-F238E27FC236}">
                <a16:creationId xmlns:a16="http://schemas.microsoft.com/office/drawing/2014/main" id="{A1F62BAD-F521-4159-8447-B486B2BB5A21}"/>
              </a:ext>
            </a:extLst>
          </p:cNvPr>
          <p:cNvSpPr>
            <a:spLocks xmlns:a="http://schemas.openxmlformats.org/drawingml/2006/main" noGrp="1"/>
          </p:cNvSpPr>
          <p:nvPr/>
        </p:nvSpPr>
        <p:spPr>
          <a:xfrm xmlns:a="http://schemas.openxmlformats.org/drawingml/2006/main">
            <a:off x="609600" y="55435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5293"/>
                </a:solidFill>
                <a:latin typeface="Arial"/>
                <a:ea typeface="Arial"/>
                <a:cs typeface="Arial"/>
              </a:defRPr>
            </a:defPPr>
            <a:lvl1pPr>
              <a:defRPr sz="2100" b="1">
                <a:solidFill>
                  <a:srgbClr val="005293"/>
                </a:solidFill>
                <a:latin typeface="Arial"/>
                <a:ea typeface="Arial"/>
                <a:cs typeface="Arial"/>
              </a:defRPr>
            </a:lvl1pPr>
            <a:lvl2pPr>
              <a:defRPr sz="2100" b="1">
                <a:solidFill>
                  <a:srgbClr val="005293"/>
                </a:solidFill>
                <a:latin typeface="Arial"/>
                <a:ea typeface="Arial"/>
                <a:cs typeface="Arial"/>
              </a:defRPr>
            </a:lvl2pPr>
            <a:lvl3pPr>
              <a:defRPr sz="2100" b="1">
                <a:solidFill>
                  <a:srgbClr val="005293"/>
                </a:solidFill>
                <a:latin typeface="Arial"/>
                <a:ea typeface="Arial"/>
                <a:cs typeface="Arial"/>
              </a:defRPr>
            </a:lvl3pPr>
            <a:lvl4pPr>
              <a:defRPr sz="2100" b="1">
                <a:solidFill>
                  <a:srgbClr val="005293"/>
                </a:solidFill>
                <a:latin typeface="Arial"/>
                <a:ea typeface="Arial"/>
                <a:cs typeface="Arial"/>
              </a:defRPr>
            </a:lvl4pPr>
            <a:lvl5pPr>
              <a:defRPr sz="2100" b="1">
                <a:solidFill>
                  <a:srgbClr val="005293"/>
                </a:solidFill>
                <a:latin typeface="Arial"/>
                <a:ea typeface="Arial"/>
                <a:cs typeface="Arial"/>
              </a:defRPr>
            </a:lvl5pPr>
            <a:lvl6pPr>
              <a:defRPr sz="2100" b="1">
                <a:solidFill>
                  <a:srgbClr val="005293"/>
                </a:solidFill>
                <a:latin typeface="Arial"/>
                <a:ea typeface="Arial"/>
                <a:cs typeface="Arial"/>
              </a:defRPr>
            </a:lvl6pPr>
            <a:lvl7pPr>
              <a:defRPr sz="2100" b="1">
                <a:solidFill>
                  <a:srgbClr val="005293"/>
                </a:solidFill>
                <a:latin typeface="Arial"/>
                <a:ea typeface="Arial"/>
                <a:cs typeface="Arial"/>
              </a:defRPr>
            </a:lvl7pPr>
            <a:lvl8pPr>
              <a:defRPr sz="2100" b="1">
                <a:solidFill>
                  <a:srgbClr val="005293"/>
                </a:solidFill>
                <a:latin typeface="Arial"/>
                <a:ea typeface="Arial"/>
                <a:cs typeface="Arial"/>
              </a:defRPr>
            </a:lvl8pPr>
            <a:lvl9pPr>
              <a:defRPr sz="2100" b="1">
                <a:solidFill>
                  <a:srgbClr val="005293"/>
                </a:solidFill>
                <a:latin typeface="Arial"/>
                <a:ea typeface="Arial"/>
                <a:cs typeface="Arial"/>
              </a:defRPr>
            </a:lvl9pPr>
          </a:lstStyle>
          <a:p xmlns:a="http://schemas.openxmlformats.org/drawingml/2006/main">
            <a:pPr>
              <a:defRPr sz="2100" b="1">
                <a:solidFill>
                  <a:srgbClr val="005293"/>
                </a:solidFill>
                <a:latin typeface="Arial"/>
                <a:ea typeface="Arial"/>
                <a:cs typeface="Arial"/>
              </a:defRPr>
            </a:pPr>
            <a:r>
              <a:rPr sz="2100" b="1">
                <a:solidFill>
                  <a:srgbClr val="005293"/>
                </a:solidFill>
                <a:latin typeface="Arial"/>
                <a:ea typeface="Arial"/>
                <a:cs typeface="Arial"/>
              </a:rPr>
              <a:t>Übrig bleiben genau die Kandidaten, für die keine geforderte Kombination fehlt.</a:t>
            </a:r>
          </a:p>
        </p:txBody>
      </p:sp>
    </p:spTree>
    <p:extLst>
      <p:ext uri="{BB962C8B-B14F-4D97-AF65-F5344CB8AC3E}">
        <p14:creationId xmlns:p14="http://schemas.microsoft.com/office/powerpoint/2010/main" val="1835696266"/>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6193712-798D-4425-81B3-D9476470E25A}"/>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Alle Operatoren im Vergleich</a:t>
            </a:r>
          </a:p>
        </p:txBody>
      </p:sp>
      <p:sp>
        <p:nvSpPr>
          <p:cNvPr id="2" name="">
            <a:extLst xmlns:a="http://schemas.openxmlformats.org/drawingml/2006/main">
              <a:ext uri="{FF2B5EF4-FFF2-40B4-BE49-F238E27FC236}">
                <a16:creationId xmlns:a16="http://schemas.microsoft.com/office/drawing/2014/main" id="{D90B9050-8482-4B30-B3A8-82012B610DED}"/>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75DFCA5D-B3A7-4CC9-B3BC-8C1DAA2E3A40}"/>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44</a:t>
            </a:r>
          </a:p>
        </p:txBody>
      </p:sp>
      <p:sp>
        <p:nvSpPr>
          <p:cNvPr id="4" name="">
            <a:extLst xmlns:a="http://schemas.openxmlformats.org/drawingml/2006/main">
              <a:ext uri="{FF2B5EF4-FFF2-40B4-BE49-F238E27FC236}">
                <a16:creationId xmlns:a16="http://schemas.microsoft.com/office/drawing/2014/main" id="{89234E29-67C9-48FD-ACF8-5380CA84DC3E}"/>
              </a:ext>
            </a:extLst>
          </p:cNvPr>
          <p:cNvSpPr>
            <a:spLocks xmlns:a="http://schemas.openxmlformats.org/drawingml/2006/main" noGrp="1"/>
          </p:cNvSpPr>
          <p:nvPr/>
        </p:nvSpPr>
        <p:spPr>
          <a:xfrm xmlns:a="http://schemas.openxmlformats.org/drawingml/2006/main">
            <a:off x="8143875" y="644842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6773"/>
                </a:solidFill>
                <a:latin typeface="Arial"/>
                <a:ea typeface="Arial"/>
                <a:cs typeface="Arial"/>
              </a:defRPr>
            </a:defPPr>
            <a:lvl1pPr>
              <a:defRPr sz="1125" b="0">
                <a:solidFill>
                  <a:srgbClr val="596773"/>
                </a:solidFill>
                <a:latin typeface="Arial"/>
                <a:ea typeface="Arial"/>
                <a:cs typeface="Arial"/>
              </a:defRPr>
            </a:lvl1pPr>
            <a:lvl2pPr>
              <a:defRPr sz="1125" b="0">
                <a:solidFill>
                  <a:srgbClr val="596773"/>
                </a:solidFill>
                <a:latin typeface="Arial"/>
                <a:ea typeface="Arial"/>
                <a:cs typeface="Arial"/>
              </a:defRPr>
            </a:lvl2pPr>
            <a:lvl3pPr>
              <a:defRPr sz="1125" b="0">
                <a:solidFill>
                  <a:srgbClr val="596773"/>
                </a:solidFill>
                <a:latin typeface="Arial"/>
                <a:ea typeface="Arial"/>
                <a:cs typeface="Arial"/>
              </a:defRPr>
            </a:lvl3pPr>
            <a:lvl4pPr>
              <a:defRPr sz="1125" b="0">
                <a:solidFill>
                  <a:srgbClr val="596773"/>
                </a:solidFill>
                <a:latin typeface="Arial"/>
                <a:ea typeface="Arial"/>
                <a:cs typeface="Arial"/>
              </a:defRPr>
            </a:lvl4pPr>
            <a:lvl5pPr>
              <a:defRPr sz="1125" b="0">
                <a:solidFill>
                  <a:srgbClr val="596773"/>
                </a:solidFill>
                <a:latin typeface="Arial"/>
                <a:ea typeface="Arial"/>
                <a:cs typeface="Arial"/>
              </a:defRPr>
            </a:lvl5pPr>
            <a:lvl6pPr>
              <a:defRPr sz="1125" b="0">
                <a:solidFill>
                  <a:srgbClr val="596773"/>
                </a:solidFill>
                <a:latin typeface="Arial"/>
                <a:ea typeface="Arial"/>
                <a:cs typeface="Arial"/>
              </a:defRPr>
            </a:lvl6pPr>
            <a:lvl7pPr>
              <a:defRPr sz="1125" b="0">
                <a:solidFill>
                  <a:srgbClr val="596773"/>
                </a:solidFill>
                <a:latin typeface="Arial"/>
                <a:ea typeface="Arial"/>
                <a:cs typeface="Arial"/>
              </a:defRPr>
            </a:lvl7pPr>
            <a:lvl8pPr>
              <a:defRPr sz="1125" b="0">
                <a:solidFill>
                  <a:srgbClr val="596773"/>
                </a:solidFill>
                <a:latin typeface="Arial"/>
                <a:ea typeface="Arial"/>
                <a:cs typeface="Arial"/>
              </a:defRPr>
            </a:lvl8pPr>
            <a:lvl9pPr>
              <a:defRPr sz="1125" b="0">
                <a:solidFill>
                  <a:srgbClr val="596773"/>
                </a:solidFill>
                <a:latin typeface="Arial"/>
                <a:ea typeface="Arial"/>
                <a:cs typeface="Arial"/>
              </a:defRPr>
            </a:lvl9pPr>
          </a:lstStyle>
          <a:p xmlns:a="http://schemas.openxmlformats.org/drawingml/2006/main">
            <a:pPr>
              <a:defRPr sz="1125" b="0">
                <a:solidFill>
                  <a:srgbClr val="596773"/>
                </a:solidFill>
                <a:latin typeface="Arial"/>
                <a:ea typeface="Arial"/>
                <a:cs typeface="Arial"/>
              </a:defRPr>
            </a:pPr>
            <a:r>
              <a:rPr sz="1125" b="0">
                <a:solidFill>
                  <a:srgbClr val="596773"/>
                </a:solidFill>
                <a:latin typeface="Arial"/>
                <a:ea typeface="Arial"/>
                <a:cs typeface="Arial"/>
              </a:rPr>
              <a:t>Kapitel 3, Folien 13–42</a:t>
            </a:r>
          </a:p>
        </p:txBody>
      </p:sp>
      <p:graphicFrame>
        <p:nvGraphicFramePr>
          <p:cNvPr id="5" name="">
            <a:extLst xmlns:a="http://schemas.openxmlformats.org/drawingml/2006/main">
              <a:ext uri="{FF2B5EF4-FFF2-40B4-BE49-F238E27FC236}">
                <a16:creationId xmlns:a16="http://schemas.microsoft.com/office/drawing/2014/main" id="{789E71CA-3DA1-4790-A538-96DF27937BFF}"/>
              </a:ext>
            </a:extLst>
          </p:cNvPr>
          <p:cNvGraphicFramePr/>
          <p:nvPr/>
        </p:nvGraphicFramePr>
        <p:xfrm>
          <a:off xmlns:a="http://schemas.openxmlformats.org/drawingml/2006/main" x="609600" y="1457325"/>
          <a:ext xmlns:a="http://schemas.openxmlformats.org/drawingml/2006/main" cx="5343525" cy="4200525"/>
        </p:xfrm>
        <a:graphic xmlns:a="http://schemas.openxmlformats.org/drawingml/2006/main">
          <a:graphicData uri="http://schemas.openxmlformats.org/drawingml/2006/table">
            <a:tbl>
              <a:tblPr/>
              <a:tblGrid>
                <a:gridCol w="742950"/>
                <a:gridCol w="1885950"/>
                <a:gridCol w="2714625"/>
              </a:tblGrid>
              <a:tr h="466725">
                <a:tc>
                  <a:txBody>
                    <a:bodyPr/>
                    <a:lstStyle/>
                    <a:p>
                      <a:r>
                        <a:rPr sz="1388" b="1">
                          <a:solidFill>
                            <a:srgbClr val="FFFFFF"/>
                          </a:solidFill>
                          <a:latin typeface="Arial"/>
                          <a:ea typeface="Arial"/>
                          <a:cs typeface="Arial"/>
                        </a:rPr>
                        <a:t>Op.</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388" b="1">
                          <a:solidFill>
                            <a:srgbClr val="FFFFFF"/>
                          </a:solidFill>
                          <a:latin typeface="Arial"/>
                          <a:ea typeface="Arial"/>
                          <a:cs typeface="Arial"/>
                        </a:rPr>
                        <a:t>Operator</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1388" b="1">
                          <a:solidFill>
                            <a:srgbClr val="FFFFFF"/>
                          </a:solidFill>
                          <a:latin typeface="Arial"/>
                          <a:ea typeface="Arial"/>
                          <a:cs typeface="Arial"/>
                        </a:rPr>
                        <a:t>Wirkung</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466725">
                <a:tc>
                  <a:txBody>
                    <a:bodyPr/>
                    <a:lstStyle/>
                    <a:p>
                      <a:r>
                        <a:rPr sz="2175" b="0">
                          <a:solidFill>
                            <a:srgbClr val="005293"/>
                          </a:solidFill>
                          <a:latin typeface="STIX Two Math"/>
                          <a:ea typeface="STIX Two Math"/>
                          <a:cs typeface="STIX Two Math"/>
                        </a:rPr>
                        <a:t>π</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388" b="0">
                          <a:solidFill>
                            <a:srgbClr val="202B33"/>
                          </a:solidFill>
                          <a:latin typeface="Arial"/>
                          <a:ea typeface="Arial"/>
                          <a:cs typeface="Arial"/>
                        </a:rPr>
                        <a:t>Projektion</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388" b="0">
                          <a:solidFill>
                            <a:srgbClr val="202B33"/>
                          </a:solidFill>
                          <a:latin typeface="Arial"/>
                          <a:ea typeface="Arial"/>
                          <a:cs typeface="Arial"/>
                        </a:rPr>
                        <a:t>Spalten auswählen, Duplikate entfernen</a:t>
                      </a:r>
                    </a:p>
                  </a:txBody>
                  <a:tcPr marL="95250" marR="66675" marT="28575" marB="28575" anchor="ctr">
                    <a:lnR w="6668">
                      <a:solidFill>
                        <a:srgbClr val="CBD8E1"/>
                      </a:solidFill>
                    </a:lnR>
                    <a:lnB w="6668">
                      <a:solidFill>
                        <a:srgbClr val="CBD8E1"/>
                      </a:solidFill>
                    </a:lnB>
                    <a:solidFill>
                      <a:srgbClr val="FFFFFF"/>
                    </a:solidFill>
                  </a:tcPr>
                </a:tc>
              </a:tr>
              <a:tr h="466725">
                <a:tc>
                  <a:txBody>
                    <a:bodyPr/>
                    <a:lstStyle/>
                    <a:p>
                      <a:r>
                        <a:rPr sz="2175" b="0">
                          <a:solidFill>
                            <a:srgbClr val="005293"/>
                          </a:solidFill>
                          <a:latin typeface="STIX Two Math"/>
                          <a:ea typeface="STIX Two Math"/>
                          <a:cs typeface="STIX Two Math"/>
                        </a:rPr>
                        <a:t>σ</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388" b="0">
                          <a:solidFill>
                            <a:srgbClr val="202B33"/>
                          </a:solidFill>
                          <a:latin typeface="Arial"/>
                          <a:ea typeface="Arial"/>
                          <a:cs typeface="Arial"/>
                        </a:rPr>
                        <a:t>Selektion</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388" b="0">
                          <a:solidFill>
                            <a:srgbClr val="202B33"/>
                          </a:solidFill>
                          <a:latin typeface="Arial"/>
                          <a:ea typeface="Arial"/>
                          <a:cs typeface="Arial"/>
                        </a:rPr>
                        <a:t>Zeilen nach Bedingung filtern</a:t>
                      </a:r>
                    </a:p>
                  </a:txBody>
                  <a:tcPr marL="95250" marR="66675" marT="28575" marB="28575" anchor="ctr">
                    <a:lnR w="6668">
                      <a:solidFill>
                        <a:srgbClr val="CBD8E1"/>
                      </a:solidFill>
                    </a:lnR>
                    <a:lnB w="6668">
                      <a:solidFill>
                        <a:srgbClr val="CBD8E1"/>
                      </a:solidFill>
                    </a:lnB>
                    <a:solidFill>
                      <a:srgbClr val="EDF4F9"/>
                    </a:solidFill>
                  </a:tcPr>
                </a:tc>
              </a:tr>
              <a:tr h="466725">
                <a:tc>
                  <a:txBody>
                    <a:bodyPr/>
                    <a:lstStyle/>
                    <a:p>
                      <a:r>
                        <a:rPr sz="2175" b="0">
                          <a:solidFill>
                            <a:srgbClr val="005293"/>
                          </a:solidFill>
                          <a:latin typeface="STIX Two Math"/>
                          <a:ea typeface="STIX Two Math"/>
                          <a:cs typeface="STIX Two Math"/>
                        </a:rPr>
                        <a:t>ρ</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388" b="0">
                          <a:solidFill>
                            <a:srgbClr val="202B33"/>
                          </a:solidFill>
                          <a:latin typeface="Arial"/>
                          <a:ea typeface="Arial"/>
                          <a:cs typeface="Arial"/>
                        </a:rPr>
                        <a:t>Umbenennung</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388" b="0">
                          <a:solidFill>
                            <a:srgbClr val="202B33"/>
                          </a:solidFill>
                          <a:latin typeface="Arial"/>
                          <a:ea typeface="Arial"/>
                          <a:cs typeface="Arial"/>
                        </a:rPr>
                        <a:t>Attributnamen oder Alias ändern</a:t>
                      </a:r>
                    </a:p>
                  </a:txBody>
                  <a:tcPr marL="95250" marR="66675" marT="28575" marB="28575" anchor="ctr">
                    <a:lnR w="6668">
                      <a:solidFill>
                        <a:srgbClr val="CBD8E1"/>
                      </a:solidFill>
                    </a:lnR>
                    <a:lnB w="6668">
                      <a:solidFill>
                        <a:srgbClr val="CBD8E1"/>
                      </a:solidFill>
                    </a:lnB>
                    <a:solidFill>
                      <a:srgbClr val="FFFFFF"/>
                    </a:solidFill>
                  </a:tcPr>
                </a:tc>
              </a:tr>
              <a:tr h="466725">
                <a:tc>
                  <a:txBody>
                    <a:bodyPr/>
                    <a:lstStyle/>
                    <a:p>
                      <a:r>
                        <a:rPr sz="2175" b="0">
                          <a:solidFill>
                            <a:srgbClr val="005293"/>
                          </a:solidFill>
                          <a:latin typeface="STIX Two Math"/>
                          <a:ea typeface="STIX Two Math"/>
                          <a:cs typeface="STIX Two Math"/>
                        </a:rPr>
                        <a:t>×</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388" b="0">
                          <a:solidFill>
                            <a:srgbClr val="202B33"/>
                          </a:solidFill>
                          <a:latin typeface="Arial"/>
                          <a:ea typeface="Arial"/>
                          <a:cs typeface="Arial"/>
                        </a:rPr>
                        <a:t>Kreuzprodukt</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388" b="0">
                          <a:solidFill>
                            <a:srgbClr val="202B33"/>
                          </a:solidFill>
                          <a:latin typeface="Arial"/>
                          <a:ea typeface="Arial"/>
                          <a:cs typeface="Arial"/>
                        </a:rPr>
                        <a:t>Alle Kombinationen bilden</a:t>
                      </a:r>
                    </a:p>
                  </a:txBody>
                  <a:tcPr marL="95250" marR="66675" marT="28575" marB="28575" anchor="ctr">
                    <a:lnR w="6668">
                      <a:solidFill>
                        <a:srgbClr val="CBD8E1"/>
                      </a:solidFill>
                    </a:lnR>
                    <a:lnB w="6668">
                      <a:solidFill>
                        <a:srgbClr val="CBD8E1"/>
                      </a:solidFill>
                    </a:lnB>
                    <a:solidFill>
                      <a:srgbClr val="EDF4F9"/>
                    </a:solidFill>
                  </a:tcPr>
                </a:tc>
              </a:tr>
              <a:tr h="466725">
                <a:tc>
                  <a:txBody>
                    <a:bodyPr/>
                    <a:lstStyle/>
                    <a:p>
                      <a:r>
                        <a:rPr sz="2175" b="0">
                          <a:solidFill>
                            <a:srgbClr val="005293"/>
                          </a:solidFill>
                          <a:latin typeface="STIX Two Math"/>
                          <a:ea typeface="STIX Two Math"/>
                          <a:cs typeface="STIX Two Math"/>
                        </a:rPr>
                        <a:t>⋈ₚ</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388" b="0">
                          <a:solidFill>
                            <a:srgbClr val="202B33"/>
                          </a:solidFill>
                          <a:latin typeface="Arial"/>
                          <a:ea typeface="Arial"/>
                          <a:cs typeface="Arial"/>
                        </a:rPr>
                        <a:t>Theta-Join</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388" b="0">
                          <a:solidFill>
                            <a:srgbClr val="202B33"/>
                          </a:solidFill>
                          <a:latin typeface="Arial"/>
                          <a:ea typeface="Arial"/>
                          <a:cs typeface="Arial"/>
                        </a:rPr>
                        <a:t>Paare mit beliebiger Bedingung</a:t>
                      </a:r>
                    </a:p>
                  </a:txBody>
                  <a:tcPr marL="95250" marR="66675" marT="28575" marB="28575" anchor="ctr">
                    <a:lnR w="6668">
                      <a:solidFill>
                        <a:srgbClr val="CBD8E1"/>
                      </a:solidFill>
                    </a:lnR>
                    <a:lnB w="6668">
                      <a:solidFill>
                        <a:srgbClr val="CBD8E1"/>
                      </a:solidFill>
                    </a:lnB>
                    <a:solidFill>
                      <a:srgbClr val="FFFFFF"/>
                    </a:solidFill>
                  </a:tcPr>
                </a:tc>
              </a:tr>
              <a:tr h="466725">
                <a:tc>
                  <a:txBody>
                    <a:bodyPr/>
                    <a:lstStyle/>
                    <a:p>
                      <a:r>
                        <a:rPr sz="2175" b="0">
                          <a:solidFill>
                            <a:srgbClr val="005293"/>
                          </a:solidFill>
                          <a:latin typeface="STIX Two Math"/>
                          <a:ea typeface="STIX Two Math"/>
                          <a:cs typeface="STIX Two Math"/>
                        </a:rPr>
                        <a:t>⋈₌</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388" b="0">
                          <a:solidFill>
                            <a:srgbClr val="202B33"/>
                          </a:solidFill>
                          <a:latin typeface="Arial"/>
                          <a:ea typeface="Arial"/>
                          <a:cs typeface="Arial"/>
                        </a:rPr>
                        <a:t>Equi-Join</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388" b="0">
                          <a:solidFill>
                            <a:srgbClr val="202B33"/>
                          </a:solidFill>
                          <a:latin typeface="Arial"/>
                          <a:ea typeface="Arial"/>
                          <a:cs typeface="Arial"/>
                        </a:rPr>
                        <a:t>Paare mit Gleichheitsbedingung</a:t>
                      </a:r>
                    </a:p>
                  </a:txBody>
                  <a:tcPr marL="95250" marR="66675" marT="28575" marB="28575" anchor="ctr">
                    <a:lnR w="6668">
                      <a:solidFill>
                        <a:srgbClr val="CBD8E1"/>
                      </a:solidFill>
                    </a:lnR>
                    <a:lnB w="6668">
                      <a:solidFill>
                        <a:srgbClr val="CBD8E1"/>
                      </a:solidFill>
                    </a:lnB>
                    <a:solidFill>
                      <a:srgbClr val="EDF4F9"/>
                    </a:solidFill>
                  </a:tcPr>
                </a:tc>
              </a:tr>
              <a:tr h="466725">
                <a:tc>
                  <a:txBody>
                    <a:bodyPr/>
                    <a:lstStyle/>
                    <a:p>
                      <a:r>
                        <a:rPr sz="2175" b="0">
                          <a:solidFill>
                            <a:srgbClr val="005293"/>
                          </a:solidFill>
                          <a:latin typeface="STIX Two Math"/>
                          <a:ea typeface="STIX Two Math"/>
                          <a:cs typeface="STIX Two Math"/>
                        </a:rPr>
                        <a:t>⋈</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388" b="0">
                          <a:solidFill>
                            <a:srgbClr val="202B33"/>
                          </a:solidFill>
                          <a:latin typeface="Arial"/>
                          <a:ea typeface="Arial"/>
                          <a:cs typeface="Arial"/>
                        </a:rPr>
                        <a:t>Natürlicher Join</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388" b="0">
                          <a:solidFill>
                            <a:srgbClr val="202B33"/>
                          </a:solidFill>
                          <a:latin typeface="Arial"/>
                          <a:ea typeface="Arial"/>
                          <a:cs typeface="Arial"/>
                        </a:rPr>
                        <a:t>Alle gleichen Namen vergleichen</a:t>
                      </a:r>
                    </a:p>
                  </a:txBody>
                  <a:tcPr marL="95250" marR="66675" marT="28575" marB="28575" anchor="ctr">
                    <a:lnR w="6668">
                      <a:solidFill>
                        <a:srgbClr val="CBD8E1"/>
                      </a:solidFill>
                    </a:lnR>
                    <a:lnB w="6668">
                      <a:solidFill>
                        <a:srgbClr val="CBD8E1"/>
                      </a:solidFill>
                    </a:lnB>
                    <a:solidFill>
                      <a:srgbClr val="FFFFFF"/>
                    </a:solidFill>
                  </a:tcPr>
                </a:tc>
              </a:tr>
              <a:tr h="466725">
                <a:tc>
                  <a:txBody>
                    <a:bodyPr/>
                    <a:lstStyle/>
                    <a:p>
                      <a:r>
                        <a:rPr sz="2175" b="0">
                          <a:solidFill>
                            <a:srgbClr val="005293"/>
                          </a:solidFill>
                          <a:latin typeface="STIX Two Math"/>
                          <a:ea typeface="STIX Two Math"/>
                          <a:cs typeface="STIX Two Math"/>
                        </a:rPr>
                        <a:t>÷</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388" b="0">
                          <a:solidFill>
                            <a:srgbClr val="202B33"/>
                          </a:solidFill>
                          <a:latin typeface="Arial"/>
                          <a:ea typeface="Arial"/>
                          <a:cs typeface="Arial"/>
                        </a:rPr>
                        <a:t>Division</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388" b="0">
                          <a:solidFill>
                            <a:srgbClr val="202B33"/>
                          </a:solidFill>
                          <a:latin typeface="Arial"/>
                          <a:ea typeface="Arial"/>
                          <a:cs typeface="Arial"/>
                        </a:rPr>
                        <a:t>X-Werte mit allen geforderten Y</a:t>
                      </a:r>
                    </a:p>
                  </a:txBody>
                  <a:tcPr marL="95250" marR="66675" marT="28575" marB="28575" anchor="ctr">
                    <a:lnR w="6668">
                      <a:solidFill>
                        <a:srgbClr val="CBD8E1"/>
                      </a:solidFill>
                    </a:lnR>
                    <a:lnB w="6668">
                      <a:solidFill>
                        <a:srgbClr val="CBD8E1"/>
                      </a:solidFill>
                    </a:lnB>
                    <a:solidFill>
                      <a:srgbClr val="EDF4F9"/>
                    </a:solidFill>
                  </a:tcPr>
                </a:tc>
              </a:tr>
            </a:tbl>
          </a:graphicData>
        </a:graphic>
      </p:graphicFrame>
      <p:graphicFrame>
        <p:nvGraphicFramePr>
          <p:cNvPr id="6" name="">
            <a:extLst xmlns:a="http://schemas.openxmlformats.org/drawingml/2006/main">
              <a:ext uri="{FF2B5EF4-FFF2-40B4-BE49-F238E27FC236}">
                <a16:creationId xmlns:a16="http://schemas.microsoft.com/office/drawing/2014/main" id="{DF372685-AB2B-4696-A78B-1EF6CD3EBDCC}"/>
              </a:ext>
            </a:extLst>
          </p:cNvPr>
          <p:cNvGraphicFramePr/>
          <p:nvPr/>
        </p:nvGraphicFramePr>
        <p:xfrm>
          <a:off xmlns:a="http://schemas.openxmlformats.org/drawingml/2006/main" x="6238875" y="1457325"/>
          <a:ext xmlns:a="http://schemas.openxmlformats.org/drawingml/2006/main" cx="5343525" cy="4667250"/>
        </p:xfrm>
        <a:graphic xmlns:a="http://schemas.openxmlformats.org/drawingml/2006/main">
          <a:graphicData uri="http://schemas.openxmlformats.org/drawingml/2006/table">
            <a:tbl>
              <a:tblPr/>
              <a:tblGrid>
                <a:gridCol w="742950"/>
                <a:gridCol w="1885950"/>
                <a:gridCol w="2714625"/>
              </a:tblGrid>
              <a:tr h="466725">
                <a:tc>
                  <a:txBody>
                    <a:bodyPr/>
                    <a:lstStyle/>
                    <a:p>
                      <a:r>
                        <a:rPr sz="1388" b="1">
                          <a:solidFill>
                            <a:srgbClr val="FFFFFF"/>
                          </a:solidFill>
                          <a:latin typeface="Arial"/>
                          <a:ea typeface="Arial"/>
                          <a:cs typeface="Arial"/>
                        </a:rPr>
                        <a:t>Op.</a:t>
                      </a:r>
                    </a:p>
                  </a:txBody>
                  <a:tcPr marL="95250" marR="66675" marT="28575" marB="28575" anchor="ctr">
                    <a:lnL w="6668">
                      <a:solidFill>
                        <a:srgbClr val="CBD8E1"/>
                      </a:solidFill>
                    </a:lnL>
                    <a:lnR w="6668">
                      <a:solidFill>
                        <a:srgbClr val="CBD8E1"/>
                      </a:solidFill>
                    </a:lnR>
                    <a:lnT w="6668">
                      <a:solidFill>
                        <a:srgbClr val="CBD8E1"/>
                      </a:solidFill>
                    </a:lnT>
                    <a:lnB w="6668">
                      <a:solidFill>
                        <a:srgbClr val="CBD8E1"/>
                      </a:solidFill>
                    </a:lnB>
                    <a:solidFill>
                      <a:srgbClr val="005293"/>
                    </a:solidFill>
                  </a:tcPr>
                </a:tc>
                <a:tc>
                  <a:txBody>
                    <a:bodyPr/>
                    <a:lstStyle/>
                    <a:p>
                      <a:r>
                        <a:rPr sz="1388" b="1">
                          <a:solidFill>
                            <a:srgbClr val="FFFFFF"/>
                          </a:solidFill>
                          <a:latin typeface="Arial"/>
                          <a:ea typeface="Arial"/>
                          <a:cs typeface="Arial"/>
                        </a:rPr>
                        <a:t>Operator</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c>
                  <a:txBody>
                    <a:bodyPr/>
                    <a:lstStyle/>
                    <a:p>
                      <a:r>
                        <a:rPr sz="1388" b="1">
                          <a:solidFill>
                            <a:srgbClr val="FFFFFF"/>
                          </a:solidFill>
                          <a:latin typeface="Arial"/>
                          <a:ea typeface="Arial"/>
                          <a:cs typeface="Arial"/>
                        </a:rPr>
                        <a:t>Wirkung</a:t>
                      </a:r>
                    </a:p>
                  </a:txBody>
                  <a:tcPr marL="95250" marR="66675" marT="28575" marB="28575" anchor="ctr">
                    <a:lnR w="6668">
                      <a:solidFill>
                        <a:srgbClr val="CBD8E1"/>
                      </a:solidFill>
                    </a:lnR>
                    <a:lnT w="6668">
                      <a:solidFill>
                        <a:srgbClr val="CBD8E1"/>
                      </a:solidFill>
                    </a:lnT>
                    <a:lnB w="6668">
                      <a:solidFill>
                        <a:srgbClr val="CBD8E1"/>
                      </a:solidFill>
                    </a:lnB>
                    <a:solidFill>
                      <a:srgbClr val="005293"/>
                    </a:solidFill>
                  </a:tcPr>
                </a:tc>
              </a:tr>
              <a:tr h="466725">
                <a:tc>
                  <a:txBody>
                    <a:bodyPr/>
                    <a:lstStyle/>
                    <a:p>
                      <a:r>
                        <a:rPr sz="2175" b="0">
                          <a:solidFill>
                            <a:srgbClr val="005293"/>
                          </a:solidFill>
                          <a:latin typeface="STIX Two Math"/>
                          <a:ea typeface="STIX Two Math"/>
                          <a:cs typeface="STIX Two Math"/>
                        </a:rPr>
                        <a:t>⟗</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388" b="0">
                          <a:solidFill>
                            <a:srgbClr val="202B33"/>
                          </a:solidFill>
                          <a:latin typeface="Arial"/>
                          <a:ea typeface="Arial"/>
                          <a:cs typeface="Arial"/>
                        </a:rPr>
                        <a:t>Voller äußerer Join</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388" b="0">
                          <a:solidFill>
                            <a:srgbClr val="202B33"/>
                          </a:solidFill>
                          <a:latin typeface="Arial"/>
                          <a:ea typeface="Arial"/>
                          <a:cs typeface="Arial"/>
                        </a:rPr>
                        <a:t>Auch partnerlose Tupel beider Seiten</a:t>
                      </a:r>
                    </a:p>
                  </a:txBody>
                  <a:tcPr marL="95250" marR="66675" marT="28575" marB="28575" anchor="ctr">
                    <a:lnR w="6668">
                      <a:solidFill>
                        <a:srgbClr val="CBD8E1"/>
                      </a:solidFill>
                    </a:lnR>
                    <a:lnB w="6668">
                      <a:solidFill>
                        <a:srgbClr val="CBD8E1"/>
                      </a:solidFill>
                    </a:lnB>
                    <a:solidFill>
                      <a:srgbClr val="FFFFFF"/>
                    </a:solidFill>
                  </a:tcPr>
                </a:tc>
              </a:tr>
              <a:tr h="466725">
                <a:tc>
                  <a:txBody>
                    <a:bodyPr/>
                    <a:lstStyle/>
                    <a:p>
                      <a:r>
                        <a:rPr sz="2175" b="0">
                          <a:solidFill>
                            <a:srgbClr val="005293"/>
                          </a:solidFill>
                          <a:latin typeface="STIX Two Math"/>
                          <a:ea typeface="STIX Two Math"/>
                          <a:cs typeface="STIX Two Math"/>
                        </a:rPr>
                        <a:t>⟕</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388" b="0">
                          <a:solidFill>
                            <a:srgbClr val="202B33"/>
                          </a:solidFill>
                          <a:latin typeface="Arial"/>
                          <a:ea typeface="Arial"/>
                          <a:cs typeface="Arial"/>
                        </a:rPr>
                        <a:t>Linker äußerer Join</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388" b="0">
                          <a:solidFill>
                            <a:srgbClr val="202B33"/>
                          </a:solidFill>
                          <a:latin typeface="Arial"/>
                          <a:ea typeface="Arial"/>
                          <a:cs typeface="Arial"/>
                        </a:rPr>
                        <a:t>Auch partnerlose Tupel links</a:t>
                      </a:r>
                    </a:p>
                  </a:txBody>
                  <a:tcPr marL="95250" marR="66675" marT="28575" marB="28575" anchor="ctr">
                    <a:lnR w="6668">
                      <a:solidFill>
                        <a:srgbClr val="CBD8E1"/>
                      </a:solidFill>
                    </a:lnR>
                    <a:lnB w="6668">
                      <a:solidFill>
                        <a:srgbClr val="CBD8E1"/>
                      </a:solidFill>
                    </a:lnB>
                    <a:solidFill>
                      <a:srgbClr val="EDF4F9"/>
                    </a:solidFill>
                  </a:tcPr>
                </a:tc>
              </a:tr>
              <a:tr h="466725">
                <a:tc>
                  <a:txBody>
                    <a:bodyPr/>
                    <a:lstStyle/>
                    <a:p>
                      <a:r>
                        <a:rPr sz="2175" b="0">
                          <a:solidFill>
                            <a:srgbClr val="005293"/>
                          </a:solidFill>
                          <a:latin typeface="STIX Two Math"/>
                          <a:ea typeface="STIX Two Math"/>
                          <a:cs typeface="STIX Two Math"/>
                        </a:rPr>
                        <a:t>⟖</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388" b="0">
                          <a:solidFill>
                            <a:srgbClr val="202B33"/>
                          </a:solidFill>
                          <a:latin typeface="Arial"/>
                          <a:ea typeface="Arial"/>
                          <a:cs typeface="Arial"/>
                        </a:rPr>
                        <a:t>Rechter äußerer Join</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388" b="0">
                          <a:solidFill>
                            <a:srgbClr val="202B33"/>
                          </a:solidFill>
                          <a:latin typeface="Arial"/>
                          <a:ea typeface="Arial"/>
                          <a:cs typeface="Arial"/>
                        </a:rPr>
                        <a:t>Auch partnerlose Tupel rechts</a:t>
                      </a:r>
                    </a:p>
                  </a:txBody>
                  <a:tcPr marL="95250" marR="66675" marT="28575" marB="28575" anchor="ctr">
                    <a:lnR w="6668">
                      <a:solidFill>
                        <a:srgbClr val="CBD8E1"/>
                      </a:solidFill>
                    </a:lnR>
                    <a:lnB w="6668">
                      <a:solidFill>
                        <a:srgbClr val="CBD8E1"/>
                      </a:solidFill>
                    </a:lnB>
                    <a:solidFill>
                      <a:srgbClr val="FFFFFF"/>
                    </a:solidFill>
                  </a:tcPr>
                </a:tc>
              </a:tr>
              <a:tr h="466725">
                <a:tc>
                  <a:txBody>
                    <a:bodyPr/>
                    <a:lstStyle/>
                    <a:p>
                      <a:r>
                        <a:rPr sz="2175" b="0">
                          <a:solidFill>
                            <a:srgbClr val="005293"/>
                          </a:solidFill>
                          <a:latin typeface="STIX Two Math"/>
                          <a:ea typeface="STIX Two Math"/>
                          <a:cs typeface="STIX Two Math"/>
                        </a:rPr>
                        <a:t>⋉</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388" b="0">
                          <a:solidFill>
                            <a:srgbClr val="202B33"/>
                          </a:solidFill>
                          <a:latin typeface="Arial"/>
                          <a:ea typeface="Arial"/>
                          <a:cs typeface="Arial"/>
                        </a:rPr>
                        <a:t>Linker Semi-Join</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388" b="0">
                          <a:solidFill>
                            <a:srgbClr val="202B33"/>
                          </a:solidFill>
                          <a:latin typeface="Arial"/>
                          <a:ea typeface="Arial"/>
                          <a:cs typeface="Arial"/>
                        </a:rPr>
                        <a:t>Nur linke Tupel mit Partner</a:t>
                      </a:r>
                    </a:p>
                  </a:txBody>
                  <a:tcPr marL="95250" marR="66675" marT="28575" marB="28575" anchor="ctr">
                    <a:lnR w="6668">
                      <a:solidFill>
                        <a:srgbClr val="CBD8E1"/>
                      </a:solidFill>
                    </a:lnR>
                    <a:lnB w="6668">
                      <a:solidFill>
                        <a:srgbClr val="CBD8E1"/>
                      </a:solidFill>
                    </a:lnB>
                    <a:solidFill>
                      <a:srgbClr val="EDF4F9"/>
                    </a:solidFill>
                  </a:tcPr>
                </a:tc>
              </a:tr>
              <a:tr h="466725">
                <a:tc>
                  <a:txBody>
                    <a:bodyPr/>
                    <a:lstStyle/>
                    <a:p>
                      <a:r>
                        <a:rPr sz="2175" b="0">
                          <a:solidFill>
                            <a:srgbClr val="005293"/>
                          </a:solidFill>
                          <a:latin typeface="STIX Two Math"/>
                          <a:ea typeface="STIX Two Math"/>
                          <a:cs typeface="STIX Two Math"/>
                        </a:rPr>
                        <a:t>⋊</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388" b="0">
                          <a:solidFill>
                            <a:srgbClr val="202B33"/>
                          </a:solidFill>
                          <a:latin typeface="Arial"/>
                          <a:ea typeface="Arial"/>
                          <a:cs typeface="Arial"/>
                        </a:rPr>
                        <a:t>Rechter Semi-Join</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388" b="0">
                          <a:solidFill>
                            <a:srgbClr val="202B33"/>
                          </a:solidFill>
                          <a:latin typeface="Arial"/>
                          <a:ea typeface="Arial"/>
                          <a:cs typeface="Arial"/>
                        </a:rPr>
                        <a:t>Nur rechte Tupel mit Partner</a:t>
                      </a:r>
                    </a:p>
                  </a:txBody>
                  <a:tcPr marL="95250" marR="66675" marT="28575" marB="28575" anchor="ctr">
                    <a:lnR w="6668">
                      <a:solidFill>
                        <a:srgbClr val="CBD8E1"/>
                      </a:solidFill>
                    </a:lnR>
                    <a:lnB w="6668">
                      <a:solidFill>
                        <a:srgbClr val="CBD8E1"/>
                      </a:solidFill>
                    </a:lnB>
                    <a:solidFill>
                      <a:srgbClr val="FFFFFF"/>
                    </a:solidFill>
                  </a:tcPr>
                </a:tc>
              </a:tr>
              <a:tr h="466725">
                <a:tc>
                  <a:txBody>
                    <a:bodyPr/>
                    <a:lstStyle/>
                    <a:p>
                      <a:r>
                        <a:rPr sz="2175" b="0">
                          <a:solidFill>
                            <a:srgbClr val="005293"/>
                          </a:solidFill>
                          <a:latin typeface="STIX Two Math"/>
                          <a:ea typeface="STIX Two Math"/>
                          <a:cs typeface="STIX Two Math"/>
                        </a:rPr>
                        <a:t>▷</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388" b="0">
                          <a:solidFill>
                            <a:srgbClr val="202B33"/>
                          </a:solidFill>
                          <a:latin typeface="Arial"/>
                          <a:ea typeface="Arial"/>
                          <a:cs typeface="Arial"/>
                        </a:rPr>
                        <a:t>Anti-Join (links)</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388" b="0">
                          <a:solidFill>
                            <a:srgbClr val="202B33"/>
                          </a:solidFill>
                          <a:latin typeface="Arial"/>
                          <a:ea typeface="Arial"/>
                          <a:cs typeface="Arial"/>
                        </a:rPr>
                        <a:t>Nur linke Tupel ohne Partner</a:t>
                      </a:r>
                    </a:p>
                  </a:txBody>
                  <a:tcPr marL="95250" marR="66675" marT="28575" marB="28575" anchor="ctr">
                    <a:lnR w="6668">
                      <a:solidFill>
                        <a:srgbClr val="CBD8E1"/>
                      </a:solidFill>
                    </a:lnR>
                    <a:lnB w="6668">
                      <a:solidFill>
                        <a:srgbClr val="CBD8E1"/>
                      </a:solidFill>
                    </a:lnB>
                    <a:solidFill>
                      <a:srgbClr val="EDF4F9"/>
                    </a:solidFill>
                  </a:tcPr>
                </a:tc>
              </a:tr>
              <a:tr h="466725">
                <a:tc>
                  <a:txBody>
                    <a:bodyPr/>
                    <a:lstStyle/>
                    <a:p>
                      <a:r>
                        <a:rPr sz="2175" b="0">
                          <a:solidFill>
                            <a:srgbClr val="005293"/>
                          </a:solidFill>
                          <a:latin typeface="STIX Two Math"/>
                          <a:ea typeface="STIX Two Math"/>
                          <a:cs typeface="STIX Two Math"/>
                        </a:rPr>
                        <a:t>∪</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388" b="0">
                          <a:solidFill>
                            <a:srgbClr val="202B33"/>
                          </a:solidFill>
                          <a:latin typeface="Arial"/>
                          <a:ea typeface="Arial"/>
                          <a:cs typeface="Arial"/>
                        </a:rPr>
                        <a:t>Vereinigung</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388" b="0">
                          <a:solidFill>
                            <a:srgbClr val="202B33"/>
                          </a:solidFill>
                          <a:latin typeface="Arial"/>
                          <a:ea typeface="Arial"/>
                          <a:cs typeface="Arial"/>
                        </a:rPr>
                        <a:t>In R oder S</a:t>
                      </a:r>
                    </a:p>
                  </a:txBody>
                  <a:tcPr marL="95250" marR="66675" marT="28575" marB="28575" anchor="ctr">
                    <a:lnR w="6668">
                      <a:solidFill>
                        <a:srgbClr val="CBD8E1"/>
                      </a:solidFill>
                    </a:lnR>
                    <a:lnB w="6668">
                      <a:solidFill>
                        <a:srgbClr val="CBD8E1"/>
                      </a:solidFill>
                    </a:lnB>
                    <a:solidFill>
                      <a:srgbClr val="FFFFFF"/>
                    </a:solidFill>
                  </a:tcPr>
                </a:tc>
              </a:tr>
              <a:tr h="466725">
                <a:tc>
                  <a:txBody>
                    <a:bodyPr/>
                    <a:lstStyle/>
                    <a:p>
                      <a:r>
                        <a:rPr sz="2175" b="0">
                          <a:solidFill>
                            <a:srgbClr val="005293"/>
                          </a:solidFill>
                          <a:latin typeface="STIX Two Math"/>
                          <a:ea typeface="STIX Two Math"/>
                          <a:cs typeface="STIX Two Math"/>
                        </a:rPr>
                        <a:t>∩</a:t>
                      </a:r>
                    </a:p>
                  </a:txBody>
                  <a:tcPr marL="95250" marR="66675" marT="28575" marB="28575" anchor="ctr">
                    <a:lnL w="6668">
                      <a:solidFill>
                        <a:srgbClr val="CBD8E1"/>
                      </a:solidFill>
                    </a:lnL>
                    <a:lnR w="6668">
                      <a:solidFill>
                        <a:srgbClr val="CBD8E1"/>
                      </a:solidFill>
                    </a:lnR>
                    <a:lnB w="6668">
                      <a:solidFill>
                        <a:srgbClr val="CBD8E1"/>
                      </a:solidFill>
                    </a:lnB>
                    <a:solidFill>
                      <a:srgbClr val="EDF4F9"/>
                    </a:solidFill>
                  </a:tcPr>
                </a:tc>
                <a:tc>
                  <a:txBody>
                    <a:bodyPr/>
                    <a:lstStyle/>
                    <a:p>
                      <a:r>
                        <a:rPr sz="1388" b="0">
                          <a:solidFill>
                            <a:srgbClr val="202B33"/>
                          </a:solidFill>
                          <a:latin typeface="Arial"/>
                          <a:ea typeface="Arial"/>
                          <a:cs typeface="Arial"/>
                        </a:rPr>
                        <a:t>Schnitt</a:t>
                      </a:r>
                    </a:p>
                  </a:txBody>
                  <a:tcPr marL="95250" marR="66675" marT="28575" marB="28575" anchor="ctr">
                    <a:lnR w="6668">
                      <a:solidFill>
                        <a:srgbClr val="CBD8E1"/>
                      </a:solidFill>
                    </a:lnR>
                    <a:lnB w="6668">
                      <a:solidFill>
                        <a:srgbClr val="CBD8E1"/>
                      </a:solidFill>
                    </a:lnB>
                    <a:solidFill>
                      <a:srgbClr val="EDF4F9"/>
                    </a:solidFill>
                  </a:tcPr>
                </a:tc>
                <a:tc>
                  <a:txBody>
                    <a:bodyPr/>
                    <a:lstStyle/>
                    <a:p>
                      <a:r>
                        <a:rPr sz="1388" b="0">
                          <a:solidFill>
                            <a:srgbClr val="202B33"/>
                          </a:solidFill>
                          <a:latin typeface="Arial"/>
                          <a:ea typeface="Arial"/>
                          <a:cs typeface="Arial"/>
                        </a:rPr>
                        <a:t>In R und S</a:t>
                      </a:r>
                    </a:p>
                  </a:txBody>
                  <a:tcPr marL="95250" marR="66675" marT="28575" marB="28575" anchor="ctr">
                    <a:lnR w="6668">
                      <a:solidFill>
                        <a:srgbClr val="CBD8E1"/>
                      </a:solidFill>
                    </a:lnR>
                    <a:lnB w="6668">
                      <a:solidFill>
                        <a:srgbClr val="CBD8E1"/>
                      </a:solidFill>
                    </a:lnB>
                    <a:solidFill>
                      <a:srgbClr val="EDF4F9"/>
                    </a:solidFill>
                  </a:tcPr>
                </a:tc>
              </a:tr>
              <a:tr h="466725">
                <a:tc>
                  <a:txBody>
                    <a:bodyPr/>
                    <a:lstStyle/>
                    <a:p>
                      <a:r>
                        <a:rPr sz="2175" b="0">
                          <a:solidFill>
                            <a:srgbClr val="005293"/>
                          </a:solidFill>
                          <a:latin typeface="STIX Two Math"/>
                          <a:ea typeface="STIX Two Math"/>
                          <a:cs typeface="STIX Two Math"/>
                        </a:rPr>
                        <a:t>∖</a:t>
                      </a:r>
                    </a:p>
                  </a:txBody>
                  <a:tcPr marL="95250" marR="66675" marT="28575" marB="28575" anchor="ctr">
                    <a:lnL w="6668">
                      <a:solidFill>
                        <a:srgbClr val="CBD8E1"/>
                      </a:solidFill>
                    </a:lnL>
                    <a:lnR w="6668">
                      <a:solidFill>
                        <a:srgbClr val="CBD8E1"/>
                      </a:solidFill>
                    </a:lnR>
                    <a:lnB w="6668">
                      <a:solidFill>
                        <a:srgbClr val="CBD8E1"/>
                      </a:solidFill>
                    </a:lnB>
                    <a:solidFill>
                      <a:srgbClr val="FFFFFF"/>
                    </a:solidFill>
                  </a:tcPr>
                </a:tc>
                <a:tc>
                  <a:txBody>
                    <a:bodyPr/>
                    <a:lstStyle/>
                    <a:p>
                      <a:r>
                        <a:rPr sz="1388" b="0">
                          <a:solidFill>
                            <a:srgbClr val="202B33"/>
                          </a:solidFill>
                          <a:latin typeface="Arial"/>
                          <a:ea typeface="Arial"/>
                          <a:cs typeface="Arial"/>
                        </a:rPr>
                        <a:t>Differenz</a:t>
                      </a:r>
                    </a:p>
                  </a:txBody>
                  <a:tcPr marL="95250" marR="66675" marT="28575" marB="28575" anchor="ctr">
                    <a:lnR w="6668">
                      <a:solidFill>
                        <a:srgbClr val="CBD8E1"/>
                      </a:solidFill>
                    </a:lnR>
                    <a:lnB w="6668">
                      <a:solidFill>
                        <a:srgbClr val="CBD8E1"/>
                      </a:solidFill>
                    </a:lnB>
                    <a:solidFill>
                      <a:srgbClr val="FFFFFF"/>
                    </a:solidFill>
                  </a:tcPr>
                </a:tc>
                <a:tc>
                  <a:txBody>
                    <a:bodyPr/>
                    <a:lstStyle/>
                    <a:p>
                      <a:r>
                        <a:rPr sz="1388" b="0">
                          <a:solidFill>
                            <a:srgbClr val="202B33"/>
                          </a:solidFill>
                          <a:latin typeface="Arial"/>
                          <a:ea typeface="Arial"/>
                          <a:cs typeface="Arial"/>
                        </a:rPr>
                        <a:t>In R, aber nicht in S</a:t>
                      </a:r>
                    </a:p>
                  </a:txBody>
                  <a:tcPr marL="95250" marR="66675" marT="28575" marB="28575" anchor="ctr">
                    <a:lnR w="6668">
                      <a:solidFill>
                        <a:srgbClr val="CBD8E1"/>
                      </a:solidFill>
                    </a:lnR>
                    <a:lnB w="6668">
                      <a:solidFill>
                        <a:srgbClr val="CBD8E1"/>
                      </a:solidFill>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98523E98-6D0D-4BBD-9DDF-DDADBDFAF4AC}"/>
              </a:ext>
            </a:extLst>
          </p:cNvPr>
          <p:cNvSpPr>
            <a:spLocks xmlns:a="http://schemas.openxmlformats.org/drawingml/2006/main" noGrp="1"/>
          </p:cNvSpPr>
          <p:nvPr/>
        </p:nvSpPr>
        <p:spPr>
          <a:xfrm xmlns:a="http://schemas.openxmlformats.org/drawingml/2006/main">
            <a:off x="609600" y="61912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005293"/>
                </a:solidFill>
                <a:latin typeface="Arial"/>
                <a:ea typeface="Arial"/>
                <a:cs typeface="Arial"/>
              </a:defRPr>
            </a:defPPr>
            <a:lvl1pPr>
              <a:defRPr sz="1500" b="1">
                <a:solidFill>
                  <a:srgbClr val="005293"/>
                </a:solidFill>
                <a:latin typeface="Arial"/>
                <a:ea typeface="Arial"/>
                <a:cs typeface="Arial"/>
              </a:defRPr>
            </a:lvl1pPr>
            <a:lvl2pPr>
              <a:defRPr sz="1500" b="1">
                <a:solidFill>
                  <a:srgbClr val="005293"/>
                </a:solidFill>
                <a:latin typeface="Arial"/>
                <a:ea typeface="Arial"/>
                <a:cs typeface="Arial"/>
              </a:defRPr>
            </a:lvl2pPr>
            <a:lvl3pPr>
              <a:defRPr sz="1500" b="1">
                <a:solidFill>
                  <a:srgbClr val="005293"/>
                </a:solidFill>
                <a:latin typeface="Arial"/>
                <a:ea typeface="Arial"/>
                <a:cs typeface="Arial"/>
              </a:defRPr>
            </a:lvl3pPr>
            <a:lvl4pPr>
              <a:defRPr sz="1500" b="1">
                <a:solidFill>
                  <a:srgbClr val="005293"/>
                </a:solidFill>
                <a:latin typeface="Arial"/>
                <a:ea typeface="Arial"/>
                <a:cs typeface="Arial"/>
              </a:defRPr>
            </a:lvl4pPr>
            <a:lvl5pPr>
              <a:defRPr sz="1500" b="1">
                <a:solidFill>
                  <a:srgbClr val="005293"/>
                </a:solidFill>
                <a:latin typeface="Arial"/>
                <a:ea typeface="Arial"/>
                <a:cs typeface="Arial"/>
              </a:defRPr>
            </a:lvl5pPr>
            <a:lvl6pPr>
              <a:defRPr sz="1500" b="1">
                <a:solidFill>
                  <a:srgbClr val="005293"/>
                </a:solidFill>
                <a:latin typeface="Arial"/>
                <a:ea typeface="Arial"/>
                <a:cs typeface="Arial"/>
              </a:defRPr>
            </a:lvl6pPr>
            <a:lvl7pPr>
              <a:defRPr sz="1500" b="1">
                <a:solidFill>
                  <a:srgbClr val="005293"/>
                </a:solidFill>
                <a:latin typeface="Arial"/>
                <a:ea typeface="Arial"/>
                <a:cs typeface="Arial"/>
              </a:defRPr>
            </a:lvl7pPr>
            <a:lvl8pPr>
              <a:defRPr sz="1500" b="1">
                <a:solidFill>
                  <a:srgbClr val="005293"/>
                </a:solidFill>
                <a:latin typeface="Arial"/>
                <a:ea typeface="Arial"/>
                <a:cs typeface="Arial"/>
              </a:defRPr>
            </a:lvl8pPr>
            <a:lvl9pPr>
              <a:defRPr sz="1500" b="1">
                <a:solidFill>
                  <a:srgbClr val="005293"/>
                </a:solidFill>
                <a:latin typeface="Arial"/>
                <a:ea typeface="Arial"/>
                <a:cs typeface="Arial"/>
              </a:defRPr>
            </a:lvl9pPr>
          </a:lstStyle>
          <a:p xmlns:a="http://schemas.openxmlformats.org/drawingml/2006/main">
            <a:pPr>
              <a:defRPr sz="1500" b="1">
                <a:solidFill>
                  <a:srgbClr val="005293"/>
                </a:solidFill>
                <a:latin typeface="Arial"/>
                <a:ea typeface="Arial"/>
                <a:cs typeface="Arial"/>
              </a:defRPr>
            </a:pPr>
            <a:r>
              <a:rPr sz="1500" b="1">
                <a:solidFill>
                  <a:srgbClr val="005293"/>
                </a:solidFill>
                <a:latin typeface="Arial"/>
                <a:ea typeface="Arial"/>
                <a:cs typeface="Arial"/>
              </a:rPr>
              <a:t>Mengenoperatoren: kompatible Schemata. Natürlicher Join: alle gemeinsamen Attributnamen.</a:t>
            </a:r>
          </a:p>
        </p:txBody>
      </p:sp>
    </p:spTree>
    <p:extLst>
      <p:ext uri="{BB962C8B-B14F-4D97-AF65-F5344CB8AC3E}">
        <p14:creationId xmlns:p14="http://schemas.microsoft.com/office/powerpoint/2010/main" val="1542911849"/>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76259E9-E457-4B8E-81ED-C4F74CE2262C}"/>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Das Universitätsschema</a:t>
            </a:r>
          </a:p>
        </p:txBody>
      </p:sp>
      <p:sp>
        <p:nvSpPr>
          <p:cNvPr id="2" name="">
            <a:extLst xmlns:a="http://schemas.openxmlformats.org/drawingml/2006/main">
              <a:ext uri="{FF2B5EF4-FFF2-40B4-BE49-F238E27FC236}">
                <a16:creationId xmlns:a16="http://schemas.microsoft.com/office/drawing/2014/main" id="{51BD4288-C218-498C-8D9C-5C073494AFFA}"/>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32DA3FD1-FADD-4CE0-9590-60966E88B1AF}"/>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45</a:t>
            </a:r>
          </a:p>
        </p:txBody>
      </p:sp>
      <p:pic>
        <p:nvPicPr>
          <p:cNvPr id="4" name="">
            <a:extLst xmlns:a="http://schemas.openxmlformats.org/drawingml/2006/main">
              <a:ext uri="{FF2B5EF4-FFF2-40B4-BE49-F238E27FC236}">
                <a16:creationId xmlns:a16="http://schemas.microsoft.com/office/drawing/2014/main" id="{493CDECE-5C75-4358-99D8-E5F8D4F092E2}"/>
              </a:ext>
            </a:extLst>
          </p:cNvPr>
          <p:cNvPicPr>
            <a:picLocks xmlns:a="http://schemas.openxmlformats.org/drawingml/2006/main" noChangeAspect="1"/>
          </p:cNvPicPr>
          <p:nvPr/>
        </p:nvPicPr>
        <p:blipFill>
          <a:blip xmlns:r="http://schemas.openxmlformats.org/officeDocument/2006/relationships" xmlns:a="http://schemas.openxmlformats.org/drawingml/2006/main" r:embed="R380570f86e1d475a"/>
          <a:stretch xmlns:a="http://schemas.openxmlformats.org/drawingml/2006/main"/>
        </p:blipFill>
        <p:spPr>
          <a:xfrm xmlns:a="http://schemas.openxmlformats.org/drawingml/2006/main">
            <a:off x="952500" y="1123950"/>
            <a:ext cx="3810000" cy="50958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935FBAF-CE08-44D9-AEAB-33968333896A}"/>
              </a:ext>
            </a:extLst>
          </p:cNvPr>
          <p:cNvSpPr>
            <a:spLocks xmlns:a="http://schemas.openxmlformats.org/drawingml/2006/main" noGrp="1"/>
          </p:cNvSpPr>
          <p:nvPr/>
        </p:nvSpPr>
        <p:spPr>
          <a:xfrm xmlns:a="http://schemas.openxmlformats.org/drawingml/2006/main">
            <a:off x="5524500" y="1524000"/>
            <a:ext cx="590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5293"/>
                </a:solidFill>
                <a:latin typeface="Arial"/>
                <a:ea typeface="Arial"/>
                <a:cs typeface="Arial"/>
              </a:defRPr>
            </a:defPPr>
            <a:lvl1pPr>
              <a:defRPr sz="1875" b="1">
                <a:solidFill>
                  <a:srgbClr val="005293"/>
                </a:solidFill>
                <a:latin typeface="Arial"/>
                <a:ea typeface="Arial"/>
                <a:cs typeface="Arial"/>
              </a:defRPr>
            </a:lvl1pPr>
            <a:lvl2pPr>
              <a:defRPr sz="1875" b="1">
                <a:solidFill>
                  <a:srgbClr val="005293"/>
                </a:solidFill>
                <a:latin typeface="Arial"/>
                <a:ea typeface="Arial"/>
                <a:cs typeface="Arial"/>
              </a:defRPr>
            </a:lvl2pPr>
            <a:lvl3pPr>
              <a:defRPr sz="1875" b="1">
                <a:solidFill>
                  <a:srgbClr val="005293"/>
                </a:solidFill>
                <a:latin typeface="Arial"/>
                <a:ea typeface="Arial"/>
                <a:cs typeface="Arial"/>
              </a:defRPr>
            </a:lvl3pPr>
            <a:lvl4pPr>
              <a:defRPr sz="1875" b="1">
                <a:solidFill>
                  <a:srgbClr val="005293"/>
                </a:solidFill>
                <a:latin typeface="Arial"/>
                <a:ea typeface="Arial"/>
                <a:cs typeface="Arial"/>
              </a:defRPr>
            </a:lvl4pPr>
            <a:lvl5pPr>
              <a:defRPr sz="1875" b="1">
                <a:solidFill>
                  <a:srgbClr val="005293"/>
                </a:solidFill>
                <a:latin typeface="Arial"/>
                <a:ea typeface="Arial"/>
                <a:cs typeface="Arial"/>
              </a:defRPr>
            </a:lvl5pPr>
            <a:lvl6pPr>
              <a:defRPr sz="1875" b="1">
                <a:solidFill>
                  <a:srgbClr val="005293"/>
                </a:solidFill>
                <a:latin typeface="Arial"/>
                <a:ea typeface="Arial"/>
                <a:cs typeface="Arial"/>
              </a:defRPr>
            </a:lvl6pPr>
            <a:lvl7pPr>
              <a:defRPr sz="1875" b="1">
                <a:solidFill>
                  <a:srgbClr val="005293"/>
                </a:solidFill>
                <a:latin typeface="Arial"/>
                <a:ea typeface="Arial"/>
                <a:cs typeface="Arial"/>
              </a:defRPr>
            </a:lvl7pPr>
            <a:lvl8pPr>
              <a:defRPr sz="1875" b="1">
                <a:solidFill>
                  <a:srgbClr val="005293"/>
                </a:solidFill>
                <a:latin typeface="Arial"/>
                <a:ea typeface="Arial"/>
                <a:cs typeface="Arial"/>
              </a:defRPr>
            </a:lvl8pPr>
            <a:lvl9pPr>
              <a:defRPr sz="1875" b="1">
                <a:solidFill>
                  <a:srgbClr val="005293"/>
                </a:solidFill>
                <a:latin typeface="Arial"/>
                <a:ea typeface="Arial"/>
                <a:cs typeface="Arial"/>
              </a:defRPr>
            </a:lvl9pPr>
          </a:lstStyle>
          <a:p xmlns:a="http://schemas.openxmlformats.org/drawingml/2006/main">
            <a:pPr>
              <a:defRPr sz="1875" b="1">
                <a:solidFill>
                  <a:srgbClr val="005293"/>
                </a:solidFill>
                <a:latin typeface="Arial"/>
                <a:ea typeface="Arial"/>
                <a:cs typeface="Arial"/>
              </a:defRPr>
            </a:pPr>
            <a:r>
              <a:rPr sz="1875" b="1">
                <a:solidFill>
                  <a:srgbClr val="005293"/>
                </a:solidFill>
                <a:latin typeface="Arial"/>
                <a:ea typeface="Arial"/>
                <a:cs typeface="Arial"/>
              </a:rPr>
              <a:t>Unsere Datenbank für die Übungen</a:t>
            </a:r>
          </a:p>
        </p:txBody>
      </p:sp>
      <p:sp>
        <p:nvSpPr>
          <p:cNvPr id="6" name="">
            <a:extLst xmlns:a="http://schemas.openxmlformats.org/drawingml/2006/main">
              <a:ext uri="{FF2B5EF4-FFF2-40B4-BE49-F238E27FC236}">
                <a16:creationId xmlns:a16="http://schemas.microsoft.com/office/drawing/2014/main" id="{26605AA7-F8C8-4C32-BAA5-54681BAA6B10}"/>
              </a:ext>
            </a:extLst>
          </p:cNvPr>
          <p:cNvSpPr>
            <a:spLocks xmlns:a="http://schemas.openxmlformats.org/drawingml/2006/main" noGrp="1"/>
          </p:cNvSpPr>
          <p:nvPr/>
        </p:nvSpPr>
        <p:spPr>
          <a:xfrm xmlns:a="http://schemas.openxmlformats.org/drawingml/2006/main">
            <a:off x="5524500" y="2143125"/>
            <a:ext cx="5905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02B33"/>
                </a:solidFill>
                <a:latin typeface="Arial"/>
                <a:ea typeface="Arial"/>
                <a:cs typeface="Arial"/>
              </a:defRPr>
            </a:defPPr>
            <a:lvl1pPr>
              <a:defRPr sz="2175" b="0">
                <a:solidFill>
                  <a:srgbClr val="202B33"/>
                </a:solidFill>
                <a:latin typeface="Arial"/>
                <a:ea typeface="Arial"/>
                <a:cs typeface="Arial"/>
              </a:defRPr>
            </a:lvl1pPr>
            <a:lvl2pPr>
              <a:defRPr sz="2175" b="0">
                <a:solidFill>
                  <a:srgbClr val="202B33"/>
                </a:solidFill>
                <a:latin typeface="Arial"/>
                <a:ea typeface="Arial"/>
                <a:cs typeface="Arial"/>
              </a:defRPr>
            </a:lvl2pPr>
            <a:lvl3pPr>
              <a:defRPr sz="2175" b="0">
                <a:solidFill>
                  <a:srgbClr val="202B33"/>
                </a:solidFill>
                <a:latin typeface="Arial"/>
                <a:ea typeface="Arial"/>
                <a:cs typeface="Arial"/>
              </a:defRPr>
            </a:lvl3pPr>
            <a:lvl4pPr>
              <a:defRPr sz="2175" b="0">
                <a:solidFill>
                  <a:srgbClr val="202B33"/>
                </a:solidFill>
                <a:latin typeface="Arial"/>
                <a:ea typeface="Arial"/>
                <a:cs typeface="Arial"/>
              </a:defRPr>
            </a:lvl4pPr>
            <a:lvl5pPr>
              <a:defRPr sz="2175" b="0">
                <a:solidFill>
                  <a:srgbClr val="202B33"/>
                </a:solidFill>
                <a:latin typeface="Arial"/>
                <a:ea typeface="Arial"/>
                <a:cs typeface="Arial"/>
              </a:defRPr>
            </a:lvl5pPr>
            <a:lvl6pPr>
              <a:defRPr sz="2175" b="0">
                <a:solidFill>
                  <a:srgbClr val="202B33"/>
                </a:solidFill>
                <a:latin typeface="Arial"/>
                <a:ea typeface="Arial"/>
                <a:cs typeface="Arial"/>
              </a:defRPr>
            </a:lvl6pPr>
            <a:lvl7pPr>
              <a:defRPr sz="2175" b="0">
                <a:solidFill>
                  <a:srgbClr val="202B33"/>
                </a:solidFill>
                <a:latin typeface="Arial"/>
                <a:ea typeface="Arial"/>
                <a:cs typeface="Arial"/>
              </a:defRPr>
            </a:lvl7pPr>
            <a:lvl8pPr>
              <a:defRPr sz="2175" b="0">
                <a:solidFill>
                  <a:srgbClr val="202B33"/>
                </a:solidFill>
                <a:latin typeface="Arial"/>
                <a:ea typeface="Arial"/>
                <a:cs typeface="Arial"/>
              </a:defRPr>
            </a:lvl8pPr>
            <a:lvl9pPr>
              <a:defRPr sz="2175" b="0">
                <a:solidFill>
                  <a:srgbClr val="202B33"/>
                </a:solidFill>
                <a:latin typeface="Arial"/>
                <a:ea typeface="Arial"/>
                <a:cs typeface="Arial"/>
              </a:defRPr>
            </a:lvl9pPr>
          </a:lstStyle>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Studenten hören Vorlesungen.</a:t>
            </a:r>
          </a:p>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Professoren lesen Vorlesungen.</a:t>
            </a:r>
          </a:p>
          <a:p xmlns:a="http://schemas.openxmlformats.org/drawingml/2006/main">
            <a:pPr>
              <a:defRPr sz="2175" b="0">
                <a:solidFill>
                  <a:srgbClr val="202B33"/>
                </a:solidFill>
                <a:latin typeface="Arial"/>
                <a:ea typeface="Arial"/>
                <a:cs typeface="Arial"/>
              </a:defRPr>
            </a:pPr>
            <a:r>
              <a:rPr sz="2175" b="0">
                <a:solidFill>
                  <a:srgbClr val="202B33"/>
                </a:solidFill>
                <a:latin typeface="Arial"/>
                <a:ea typeface="Arial"/>
                <a:cs typeface="Arial"/>
              </a:rPr>
              <a:t>Assistenten arbeiten für Professoren.</a:t>
            </a:r>
          </a:p>
        </p:txBody>
      </p:sp>
      <p:sp>
        <p:nvSpPr>
          <p:cNvPr id="7" name="">
            <a:extLst xmlns:a="http://schemas.openxmlformats.org/drawingml/2006/main">
              <a:ext uri="{FF2B5EF4-FFF2-40B4-BE49-F238E27FC236}">
                <a16:creationId xmlns:a16="http://schemas.microsoft.com/office/drawing/2014/main" id="{3758612F-3FF8-48FA-AC3B-60C9E5A89C1B}"/>
              </a:ext>
            </a:extLst>
          </p:cNvPr>
          <p:cNvSpPr>
            <a:spLocks xmlns:a="http://schemas.openxmlformats.org/drawingml/2006/main" noGrp="1"/>
          </p:cNvSpPr>
          <p:nvPr/>
        </p:nvSpPr>
        <p:spPr>
          <a:xfrm xmlns:a="http://schemas.openxmlformats.org/drawingml/2006/main">
            <a:off x="5524500" y="3905250"/>
            <a:ext cx="571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05293"/>
                </a:solidFill>
                <a:latin typeface="Arial"/>
                <a:ea typeface="Arial"/>
                <a:cs typeface="Arial"/>
              </a:defRPr>
            </a:defPPr>
            <a:lvl1pPr>
              <a:defRPr sz="2250" b="1">
                <a:solidFill>
                  <a:srgbClr val="005293"/>
                </a:solidFill>
                <a:latin typeface="Arial"/>
                <a:ea typeface="Arial"/>
                <a:cs typeface="Arial"/>
              </a:defRPr>
            </a:lvl1pPr>
            <a:lvl2pPr>
              <a:defRPr sz="2250" b="1">
                <a:solidFill>
                  <a:srgbClr val="005293"/>
                </a:solidFill>
                <a:latin typeface="Arial"/>
                <a:ea typeface="Arial"/>
                <a:cs typeface="Arial"/>
              </a:defRPr>
            </a:lvl2pPr>
            <a:lvl3pPr>
              <a:defRPr sz="2250" b="1">
                <a:solidFill>
                  <a:srgbClr val="005293"/>
                </a:solidFill>
                <a:latin typeface="Arial"/>
                <a:ea typeface="Arial"/>
                <a:cs typeface="Arial"/>
              </a:defRPr>
            </a:lvl3pPr>
            <a:lvl4pPr>
              <a:defRPr sz="2250" b="1">
                <a:solidFill>
                  <a:srgbClr val="005293"/>
                </a:solidFill>
                <a:latin typeface="Arial"/>
                <a:ea typeface="Arial"/>
                <a:cs typeface="Arial"/>
              </a:defRPr>
            </a:lvl4pPr>
            <a:lvl5pPr>
              <a:defRPr sz="2250" b="1">
                <a:solidFill>
                  <a:srgbClr val="005293"/>
                </a:solidFill>
                <a:latin typeface="Arial"/>
                <a:ea typeface="Arial"/>
                <a:cs typeface="Arial"/>
              </a:defRPr>
            </a:lvl5pPr>
            <a:lvl6pPr>
              <a:defRPr sz="2250" b="1">
                <a:solidFill>
                  <a:srgbClr val="005293"/>
                </a:solidFill>
                <a:latin typeface="Arial"/>
                <a:ea typeface="Arial"/>
                <a:cs typeface="Arial"/>
              </a:defRPr>
            </a:lvl6pPr>
            <a:lvl7pPr>
              <a:defRPr sz="2250" b="1">
                <a:solidFill>
                  <a:srgbClr val="005293"/>
                </a:solidFill>
                <a:latin typeface="Arial"/>
                <a:ea typeface="Arial"/>
                <a:cs typeface="Arial"/>
              </a:defRPr>
            </a:lvl7pPr>
            <a:lvl8pPr>
              <a:defRPr sz="2250" b="1">
                <a:solidFill>
                  <a:srgbClr val="005293"/>
                </a:solidFill>
                <a:latin typeface="Arial"/>
                <a:ea typeface="Arial"/>
                <a:cs typeface="Arial"/>
              </a:defRPr>
            </a:lvl8pPr>
            <a:lvl9pPr>
              <a:defRPr sz="2250" b="1">
                <a:solidFill>
                  <a:srgbClr val="005293"/>
                </a:solidFill>
                <a:latin typeface="Arial"/>
                <a:ea typeface="Arial"/>
                <a:cs typeface="Arial"/>
              </a:defRPr>
            </a:lvl9pPr>
          </a:lstStyle>
          <a:p xmlns:a="http://schemas.openxmlformats.org/drawingml/2006/main">
            <a:pPr>
              <a:defRPr sz="2250" b="1">
                <a:solidFill>
                  <a:srgbClr val="005293"/>
                </a:solidFill>
                <a:latin typeface="Arial"/>
                <a:ea typeface="Arial"/>
                <a:cs typeface="Arial"/>
              </a:defRPr>
            </a:pPr>
            <a:r>
              <a:rPr sz="2250" b="1">
                <a:solidFill>
                  <a:srgbClr val="005293"/>
                </a:solidFill>
                <a:latin typeface="Arial"/>
                <a:ea typeface="Arial"/>
                <a:cs typeface="Arial"/>
              </a:rPr>
              <a:t>Verknüpfungen über MatrNr, VorlNr und PersNr – nicht über Namen.</a:t>
            </a:r>
          </a:p>
        </p:txBody>
      </p:sp>
      <p:sp>
        <p:nvSpPr>
          <p:cNvPr id="8" name="">
            <a:extLst xmlns:a="http://schemas.openxmlformats.org/drawingml/2006/main">
              <a:ext uri="{FF2B5EF4-FFF2-40B4-BE49-F238E27FC236}">
                <a16:creationId xmlns:a16="http://schemas.microsoft.com/office/drawing/2014/main" id="{05053CC8-0C4F-4955-8D01-96389EE656E0}"/>
              </a:ext>
            </a:extLst>
          </p:cNvPr>
          <p:cNvSpPr>
            <a:spLocks xmlns:a="http://schemas.openxmlformats.org/drawingml/2006/main" noGrp="1"/>
          </p:cNvSpPr>
          <p:nvPr/>
        </p:nvSpPr>
        <p:spPr>
          <a:xfrm xmlns:a="http://schemas.openxmlformats.org/drawingml/2006/main">
            <a:off x="5524500" y="5381625"/>
            <a:ext cx="590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5293"/>
                </a:solidFill>
                <a:latin typeface="Arial"/>
                <a:ea typeface="Arial"/>
                <a:cs typeface="Arial"/>
              </a:defRPr>
            </a:defPPr>
            <a:lvl1pPr>
              <a:defRPr sz="2025" b="1">
                <a:solidFill>
                  <a:srgbClr val="005293"/>
                </a:solidFill>
                <a:latin typeface="Arial"/>
                <a:ea typeface="Arial"/>
                <a:cs typeface="Arial"/>
              </a:defRPr>
            </a:lvl1pPr>
            <a:lvl2pPr>
              <a:defRPr sz="2025" b="1">
                <a:solidFill>
                  <a:srgbClr val="005293"/>
                </a:solidFill>
                <a:latin typeface="Arial"/>
                <a:ea typeface="Arial"/>
                <a:cs typeface="Arial"/>
              </a:defRPr>
            </a:lvl2pPr>
            <a:lvl3pPr>
              <a:defRPr sz="2025" b="1">
                <a:solidFill>
                  <a:srgbClr val="005293"/>
                </a:solidFill>
                <a:latin typeface="Arial"/>
                <a:ea typeface="Arial"/>
                <a:cs typeface="Arial"/>
              </a:defRPr>
            </a:lvl3pPr>
            <a:lvl4pPr>
              <a:defRPr sz="2025" b="1">
                <a:solidFill>
                  <a:srgbClr val="005293"/>
                </a:solidFill>
                <a:latin typeface="Arial"/>
                <a:ea typeface="Arial"/>
                <a:cs typeface="Arial"/>
              </a:defRPr>
            </a:lvl4pPr>
            <a:lvl5pPr>
              <a:defRPr sz="2025" b="1">
                <a:solidFill>
                  <a:srgbClr val="005293"/>
                </a:solidFill>
                <a:latin typeface="Arial"/>
                <a:ea typeface="Arial"/>
                <a:cs typeface="Arial"/>
              </a:defRPr>
            </a:lvl5pPr>
            <a:lvl6pPr>
              <a:defRPr sz="2025" b="1">
                <a:solidFill>
                  <a:srgbClr val="005293"/>
                </a:solidFill>
                <a:latin typeface="Arial"/>
                <a:ea typeface="Arial"/>
                <a:cs typeface="Arial"/>
              </a:defRPr>
            </a:lvl6pPr>
            <a:lvl7pPr>
              <a:defRPr sz="2025" b="1">
                <a:solidFill>
                  <a:srgbClr val="005293"/>
                </a:solidFill>
                <a:latin typeface="Arial"/>
                <a:ea typeface="Arial"/>
                <a:cs typeface="Arial"/>
              </a:defRPr>
            </a:lvl7pPr>
            <a:lvl8pPr>
              <a:defRPr sz="2025" b="1">
                <a:solidFill>
                  <a:srgbClr val="005293"/>
                </a:solidFill>
                <a:latin typeface="Arial"/>
                <a:ea typeface="Arial"/>
                <a:cs typeface="Arial"/>
              </a:defRPr>
            </a:lvl8pPr>
            <a:lvl9pPr>
              <a:defRPr sz="2025" b="1">
                <a:solidFill>
                  <a:srgbClr val="005293"/>
                </a:solidFill>
                <a:latin typeface="Arial"/>
                <a:ea typeface="Arial"/>
                <a:cs typeface="Arial"/>
              </a:defRPr>
            </a:lvl9pPr>
          </a:lstStyle>
          <a:p xmlns:a="http://schemas.openxmlformats.org/drawingml/2006/main">
            <a:pPr>
              <a:defRPr sz="2025" b="1">
                <a:solidFill>
                  <a:srgbClr val="005293"/>
                </a:solidFill>
                <a:latin typeface="Arial"/>
                <a:ea typeface="Arial"/>
                <a:cs typeface="Arial"/>
              </a:defRPr>
            </a:pPr>
            <a:r>
              <a:rPr sz="2025" b="1">
                <a:solidFill>
                  <a:srgbClr val="005293"/>
                </a:solidFill>
                <a:latin typeface="Arial"/>
                <a:ea typeface="Arial"/>
                <a:cs typeface="Arial"/>
                <a:hlinkClick xmlns:r="http://schemas.openxmlformats.org/officeDocument/2006/relationships" r:id="Re812ace0b3044a38"/>
              </a:rPr>
              <a:t>Universitaetsschema.pdf</a:t>
            </a:r>
          </a:p>
        </p:txBody>
      </p:sp>
      <p:sp>
        <p:nvSpPr>
          <p:cNvPr id="9" name="">
            <a:extLst xmlns:a="http://schemas.openxmlformats.org/drawingml/2006/main">
              <a:ext uri="{FF2B5EF4-FFF2-40B4-BE49-F238E27FC236}">
                <a16:creationId xmlns:a16="http://schemas.microsoft.com/office/drawing/2014/main" id="{99DFCD12-F20A-407F-948F-48F9747B9954}"/>
              </a:ext>
            </a:extLst>
          </p:cNvPr>
          <p:cNvSpPr>
            <a:spLocks xmlns:a="http://schemas.openxmlformats.org/drawingml/2006/main" noGrp="1"/>
          </p:cNvSpPr>
          <p:nvPr/>
        </p:nvSpPr>
        <p:spPr>
          <a:xfrm xmlns:a="http://schemas.openxmlformats.org/drawingml/2006/main">
            <a:off x="5524500" y="5810250"/>
            <a:ext cx="590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96773"/>
                </a:solidFill>
                <a:latin typeface="Arial"/>
                <a:ea typeface="Arial"/>
                <a:cs typeface="Arial"/>
              </a:defRPr>
            </a:defPPr>
            <a:lvl1pPr>
              <a:defRPr sz="1725" b="0">
                <a:solidFill>
                  <a:srgbClr val="596773"/>
                </a:solidFill>
                <a:latin typeface="Arial"/>
                <a:ea typeface="Arial"/>
                <a:cs typeface="Arial"/>
              </a:defRPr>
            </a:lvl1pPr>
            <a:lvl2pPr>
              <a:defRPr sz="1725" b="0">
                <a:solidFill>
                  <a:srgbClr val="596773"/>
                </a:solidFill>
                <a:latin typeface="Arial"/>
                <a:ea typeface="Arial"/>
                <a:cs typeface="Arial"/>
              </a:defRPr>
            </a:lvl2pPr>
            <a:lvl3pPr>
              <a:defRPr sz="1725" b="0">
                <a:solidFill>
                  <a:srgbClr val="596773"/>
                </a:solidFill>
                <a:latin typeface="Arial"/>
                <a:ea typeface="Arial"/>
                <a:cs typeface="Arial"/>
              </a:defRPr>
            </a:lvl3pPr>
            <a:lvl4pPr>
              <a:defRPr sz="1725" b="0">
                <a:solidFill>
                  <a:srgbClr val="596773"/>
                </a:solidFill>
                <a:latin typeface="Arial"/>
                <a:ea typeface="Arial"/>
                <a:cs typeface="Arial"/>
              </a:defRPr>
            </a:lvl4pPr>
            <a:lvl5pPr>
              <a:defRPr sz="1725" b="0">
                <a:solidFill>
                  <a:srgbClr val="596773"/>
                </a:solidFill>
                <a:latin typeface="Arial"/>
                <a:ea typeface="Arial"/>
                <a:cs typeface="Arial"/>
              </a:defRPr>
            </a:lvl5pPr>
            <a:lvl6pPr>
              <a:defRPr sz="1725" b="0">
                <a:solidFill>
                  <a:srgbClr val="596773"/>
                </a:solidFill>
                <a:latin typeface="Arial"/>
                <a:ea typeface="Arial"/>
                <a:cs typeface="Arial"/>
              </a:defRPr>
            </a:lvl6pPr>
            <a:lvl7pPr>
              <a:defRPr sz="1725" b="0">
                <a:solidFill>
                  <a:srgbClr val="596773"/>
                </a:solidFill>
                <a:latin typeface="Arial"/>
                <a:ea typeface="Arial"/>
                <a:cs typeface="Arial"/>
              </a:defRPr>
            </a:lvl7pPr>
            <a:lvl8pPr>
              <a:defRPr sz="1725" b="0">
                <a:solidFill>
                  <a:srgbClr val="596773"/>
                </a:solidFill>
                <a:latin typeface="Arial"/>
                <a:ea typeface="Arial"/>
                <a:cs typeface="Arial"/>
              </a:defRPr>
            </a:lvl8pPr>
            <a:lvl9pPr>
              <a:defRPr sz="1725" b="0">
                <a:solidFill>
                  <a:srgbClr val="596773"/>
                </a:solidFill>
                <a:latin typeface="Arial"/>
                <a:ea typeface="Arial"/>
                <a:cs typeface="Arial"/>
              </a:defRPr>
            </a:lvl9pPr>
          </a:lstStyle>
          <a:p xmlns:a="http://schemas.openxmlformats.org/drawingml/2006/main">
            <a:pPr>
              <a:defRPr sz="1725" b="0">
                <a:solidFill>
                  <a:srgbClr val="596773"/>
                </a:solidFill>
                <a:latin typeface="Arial"/>
                <a:ea typeface="Arial"/>
                <a:cs typeface="Arial"/>
              </a:defRPr>
            </a:pPr>
            <a:r>
              <a:rPr sz="1725" b="0">
                <a:solidFill>
                  <a:srgbClr val="596773"/>
                </a:solidFill>
                <a:latin typeface="Arial"/>
                <a:ea typeface="Arial"/>
                <a:cs typeface="Arial"/>
              </a:rPr>
              <a:t>Vollständige Ansicht als PDF im Repository</a:t>
            </a:r>
          </a:p>
        </p:txBody>
      </p:sp>
    </p:spTree>
    <p:extLst>
      <p:ext uri="{BB962C8B-B14F-4D97-AF65-F5344CB8AC3E}">
        <p14:creationId xmlns:p14="http://schemas.microsoft.com/office/powerpoint/2010/main" val="1310252784"/>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C0F7D85-CD9B-4775-B399-092AE8665D28}"/>
              </a:ext>
            </a:extLst>
          </p:cNvPr>
          <p:cNvSpPr>
            <a:spLocks xmlns:a="http://schemas.openxmlformats.org/drawingml/2006/main" noGrp="1"/>
          </p:cNvSpPr>
          <p:nvPr/>
        </p:nvSpPr>
        <p:spPr>
          <a:xfrm xmlns:a="http://schemas.openxmlformats.org/drawingml/2006/main">
            <a:off x="609600" y="428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5293"/>
                </a:solidFill>
                <a:latin typeface="Arial"/>
                <a:ea typeface="Arial"/>
                <a:cs typeface="Arial"/>
              </a:defRPr>
            </a:defPPr>
            <a:lvl1pPr>
              <a:defRPr sz="3225" b="1">
                <a:solidFill>
                  <a:srgbClr val="005293"/>
                </a:solidFill>
                <a:latin typeface="Arial"/>
                <a:ea typeface="Arial"/>
                <a:cs typeface="Arial"/>
              </a:defRPr>
            </a:lvl1pPr>
            <a:lvl2pPr>
              <a:defRPr sz="3225" b="1">
                <a:solidFill>
                  <a:srgbClr val="005293"/>
                </a:solidFill>
                <a:latin typeface="Arial"/>
                <a:ea typeface="Arial"/>
                <a:cs typeface="Arial"/>
              </a:defRPr>
            </a:lvl2pPr>
            <a:lvl3pPr>
              <a:defRPr sz="3225" b="1">
                <a:solidFill>
                  <a:srgbClr val="005293"/>
                </a:solidFill>
                <a:latin typeface="Arial"/>
                <a:ea typeface="Arial"/>
                <a:cs typeface="Arial"/>
              </a:defRPr>
            </a:lvl3pPr>
            <a:lvl4pPr>
              <a:defRPr sz="3225" b="1">
                <a:solidFill>
                  <a:srgbClr val="005293"/>
                </a:solidFill>
                <a:latin typeface="Arial"/>
                <a:ea typeface="Arial"/>
                <a:cs typeface="Arial"/>
              </a:defRPr>
            </a:lvl4pPr>
            <a:lvl5pPr>
              <a:defRPr sz="3225" b="1">
                <a:solidFill>
                  <a:srgbClr val="005293"/>
                </a:solidFill>
                <a:latin typeface="Arial"/>
                <a:ea typeface="Arial"/>
                <a:cs typeface="Arial"/>
              </a:defRPr>
            </a:lvl5pPr>
            <a:lvl6pPr>
              <a:defRPr sz="3225" b="1">
                <a:solidFill>
                  <a:srgbClr val="005293"/>
                </a:solidFill>
                <a:latin typeface="Arial"/>
                <a:ea typeface="Arial"/>
                <a:cs typeface="Arial"/>
              </a:defRPr>
            </a:lvl6pPr>
            <a:lvl7pPr>
              <a:defRPr sz="3225" b="1">
                <a:solidFill>
                  <a:srgbClr val="005293"/>
                </a:solidFill>
                <a:latin typeface="Arial"/>
                <a:ea typeface="Arial"/>
                <a:cs typeface="Arial"/>
              </a:defRPr>
            </a:lvl7pPr>
            <a:lvl8pPr>
              <a:defRPr sz="3225" b="1">
                <a:solidFill>
                  <a:srgbClr val="005293"/>
                </a:solidFill>
                <a:latin typeface="Arial"/>
                <a:ea typeface="Arial"/>
                <a:cs typeface="Arial"/>
              </a:defRPr>
            </a:lvl8pPr>
            <a:lvl9pPr>
              <a:defRPr sz="3225" b="1">
                <a:solidFill>
                  <a:srgbClr val="005293"/>
                </a:solidFill>
                <a:latin typeface="Arial"/>
                <a:ea typeface="Arial"/>
                <a:cs typeface="Arial"/>
              </a:defRPr>
            </a:lvl9pPr>
          </a:lstStyle>
          <a:p xmlns:a="http://schemas.openxmlformats.org/drawingml/2006/main">
            <a:pPr>
              <a:defRPr sz="3225" b="1">
                <a:solidFill>
                  <a:srgbClr val="005293"/>
                </a:solidFill>
                <a:latin typeface="Arial"/>
                <a:ea typeface="Arial"/>
                <a:cs typeface="Arial"/>
              </a:defRPr>
            </a:pPr>
            <a:r>
              <a:rPr sz="3225" b="1">
                <a:solidFill>
                  <a:srgbClr val="005293"/>
                </a:solidFill>
                <a:latin typeface="Arial"/>
                <a:ea typeface="Arial"/>
                <a:cs typeface="Arial"/>
              </a:rPr>
              <a:t>Lösungen mit ReLaX überprüfen</a:t>
            </a:r>
          </a:p>
        </p:txBody>
      </p:sp>
      <p:sp>
        <p:nvSpPr>
          <p:cNvPr id="2" name="">
            <a:extLst xmlns:a="http://schemas.openxmlformats.org/drawingml/2006/main">
              <a:ext uri="{FF2B5EF4-FFF2-40B4-BE49-F238E27FC236}">
                <a16:creationId xmlns:a16="http://schemas.microsoft.com/office/drawing/2014/main" id="{1501CAEE-639C-4A36-AF13-395F8930DCE3}"/>
              </a:ext>
            </a:extLst>
          </p:cNvPr>
          <p:cNvSpPr>
            <a:spLocks xmlns:a="http://schemas.openxmlformats.org/drawingml/2006/main" noGrp="1"/>
          </p:cNvSpPr>
          <p:nvPr/>
        </p:nvSpPr>
        <p:spPr>
          <a:xfrm xmlns:a="http://schemas.openxmlformats.org/drawingml/2006/main">
            <a:off x="6096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Grundlagen: Datenbanken · Woche 1 · WiSe 2026/27</a:t>
            </a:r>
          </a:p>
        </p:txBody>
      </p:sp>
      <p:sp>
        <p:nvSpPr>
          <p:cNvPr id="3" name="">
            <a:extLst xmlns:a="http://schemas.openxmlformats.org/drawingml/2006/main">
              <a:ext uri="{FF2B5EF4-FFF2-40B4-BE49-F238E27FC236}">
                <a16:creationId xmlns:a16="http://schemas.microsoft.com/office/drawing/2014/main" id="{2258E180-E127-43B3-A649-5A409DF6C76E}"/>
              </a:ext>
            </a:extLst>
          </p:cNvPr>
          <p:cNvSpPr>
            <a:spLocks xmlns:a="http://schemas.openxmlformats.org/drawingml/2006/main" noGrp="1"/>
          </p:cNvSpPr>
          <p:nvPr/>
        </p:nvSpPr>
        <p:spPr>
          <a:xfrm xmlns:a="http://schemas.openxmlformats.org/drawingml/2006/main">
            <a:off x="11163300"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6773"/>
                </a:solidFill>
                <a:latin typeface="Arial"/>
                <a:ea typeface="Arial"/>
                <a:cs typeface="Arial"/>
              </a:defRPr>
            </a:defPPr>
            <a:lvl1pPr>
              <a:defRPr sz="1200" b="0">
                <a:solidFill>
                  <a:srgbClr val="596773"/>
                </a:solidFill>
                <a:latin typeface="Arial"/>
                <a:ea typeface="Arial"/>
                <a:cs typeface="Arial"/>
              </a:defRPr>
            </a:lvl1pPr>
            <a:lvl2pPr>
              <a:defRPr sz="1200" b="0">
                <a:solidFill>
                  <a:srgbClr val="596773"/>
                </a:solidFill>
                <a:latin typeface="Arial"/>
                <a:ea typeface="Arial"/>
                <a:cs typeface="Arial"/>
              </a:defRPr>
            </a:lvl2pPr>
            <a:lvl3pPr>
              <a:defRPr sz="1200" b="0">
                <a:solidFill>
                  <a:srgbClr val="596773"/>
                </a:solidFill>
                <a:latin typeface="Arial"/>
                <a:ea typeface="Arial"/>
                <a:cs typeface="Arial"/>
              </a:defRPr>
            </a:lvl3pPr>
            <a:lvl4pPr>
              <a:defRPr sz="1200" b="0">
                <a:solidFill>
                  <a:srgbClr val="596773"/>
                </a:solidFill>
                <a:latin typeface="Arial"/>
                <a:ea typeface="Arial"/>
                <a:cs typeface="Arial"/>
              </a:defRPr>
            </a:lvl4pPr>
            <a:lvl5pPr>
              <a:defRPr sz="1200" b="0">
                <a:solidFill>
                  <a:srgbClr val="596773"/>
                </a:solidFill>
                <a:latin typeface="Arial"/>
                <a:ea typeface="Arial"/>
                <a:cs typeface="Arial"/>
              </a:defRPr>
            </a:lvl5pPr>
            <a:lvl6pPr>
              <a:defRPr sz="1200" b="0">
                <a:solidFill>
                  <a:srgbClr val="596773"/>
                </a:solidFill>
                <a:latin typeface="Arial"/>
                <a:ea typeface="Arial"/>
                <a:cs typeface="Arial"/>
              </a:defRPr>
            </a:lvl6pPr>
            <a:lvl7pPr>
              <a:defRPr sz="1200" b="0">
                <a:solidFill>
                  <a:srgbClr val="596773"/>
                </a:solidFill>
                <a:latin typeface="Arial"/>
                <a:ea typeface="Arial"/>
                <a:cs typeface="Arial"/>
              </a:defRPr>
            </a:lvl7pPr>
            <a:lvl8pPr>
              <a:defRPr sz="1200" b="0">
                <a:solidFill>
                  <a:srgbClr val="596773"/>
                </a:solidFill>
                <a:latin typeface="Arial"/>
                <a:ea typeface="Arial"/>
                <a:cs typeface="Arial"/>
              </a:defRPr>
            </a:lvl8pPr>
            <a:lvl9pPr>
              <a:defRPr sz="1200" b="0">
                <a:solidFill>
                  <a:srgbClr val="596773"/>
                </a:solidFill>
                <a:latin typeface="Arial"/>
                <a:ea typeface="Arial"/>
                <a:cs typeface="Arial"/>
              </a:defRPr>
            </a:lvl9pPr>
          </a:lstStyle>
          <a:p xmlns:a="http://schemas.openxmlformats.org/drawingml/2006/main">
            <a:pPr>
              <a:defRPr sz="1200" b="0">
                <a:solidFill>
                  <a:srgbClr val="596773"/>
                </a:solidFill>
                <a:latin typeface="Arial"/>
                <a:ea typeface="Arial"/>
                <a:cs typeface="Arial"/>
              </a:defRPr>
            </a:pPr>
            <a:r>
              <a:rPr sz="1200" b="0">
                <a:solidFill>
                  <a:srgbClr val="596773"/>
                </a:solidFill>
                <a:latin typeface="Arial"/>
                <a:ea typeface="Arial"/>
                <a:cs typeface="Arial"/>
              </a:rPr>
              <a:t>46</a:t>
            </a:r>
          </a:p>
        </p:txBody>
      </p:sp>
      <p:sp>
        <p:nvSpPr>
          <p:cNvPr id="4" name="">
            <a:extLst xmlns:a="http://schemas.openxmlformats.org/drawingml/2006/main">
              <a:ext uri="{FF2B5EF4-FFF2-40B4-BE49-F238E27FC236}">
                <a16:creationId xmlns:a16="http://schemas.microsoft.com/office/drawing/2014/main" id="{7B70A97C-5C59-4BAC-9497-5A3C19E7C08E}"/>
              </a:ext>
            </a:extLst>
          </p:cNvPr>
          <p:cNvSpPr>
            <a:spLocks xmlns:a="http://schemas.openxmlformats.org/drawingml/2006/main" noGrp="1"/>
          </p:cNvSpPr>
          <p:nvPr/>
        </p:nvSpPr>
        <p:spPr>
          <a:xfrm xmlns:a="http://schemas.openxmlformats.org/drawingml/2006/main">
            <a:off x="609600" y="14287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05293"/>
                </a:solidFill>
                <a:latin typeface="Arial"/>
                <a:ea typeface="Arial"/>
                <a:cs typeface="Arial"/>
              </a:defRPr>
            </a:defPPr>
            <a:lvl1pPr>
              <a:defRPr sz="2250" b="1">
                <a:solidFill>
                  <a:srgbClr val="005293"/>
                </a:solidFill>
                <a:latin typeface="Arial"/>
                <a:ea typeface="Arial"/>
                <a:cs typeface="Arial"/>
              </a:defRPr>
            </a:lvl1pPr>
            <a:lvl2pPr>
              <a:defRPr sz="2250" b="1">
                <a:solidFill>
                  <a:srgbClr val="005293"/>
                </a:solidFill>
                <a:latin typeface="Arial"/>
                <a:ea typeface="Arial"/>
                <a:cs typeface="Arial"/>
              </a:defRPr>
            </a:lvl2pPr>
            <a:lvl3pPr>
              <a:defRPr sz="2250" b="1">
                <a:solidFill>
                  <a:srgbClr val="005293"/>
                </a:solidFill>
                <a:latin typeface="Arial"/>
                <a:ea typeface="Arial"/>
                <a:cs typeface="Arial"/>
              </a:defRPr>
            </a:lvl3pPr>
            <a:lvl4pPr>
              <a:defRPr sz="2250" b="1">
                <a:solidFill>
                  <a:srgbClr val="005293"/>
                </a:solidFill>
                <a:latin typeface="Arial"/>
                <a:ea typeface="Arial"/>
                <a:cs typeface="Arial"/>
              </a:defRPr>
            </a:lvl4pPr>
            <a:lvl5pPr>
              <a:defRPr sz="2250" b="1">
                <a:solidFill>
                  <a:srgbClr val="005293"/>
                </a:solidFill>
                <a:latin typeface="Arial"/>
                <a:ea typeface="Arial"/>
                <a:cs typeface="Arial"/>
              </a:defRPr>
            </a:lvl5pPr>
            <a:lvl6pPr>
              <a:defRPr sz="2250" b="1">
                <a:solidFill>
                  <a:srgbClr val="005293"/>
                </a:solidFill>
                <a:latin typeface="Arial"/>
                <a:ea typeface="Arial"/>
                <a:cs typeface="Arial"/>
              </a:defRPr>
            </a:lvl6pPr>
            <a:lvl7pPr>
              <a:defRPr sz="2250" b="1">
                <a:solidFill>
                  <a:srgbClr val="005293"/>
                </a:solidFill>
                <a:latin typeface="Arial"/>
                <a:ea typeface="Arial"/>
                <a:cs typeface="Arial"/>
              </a:defRPr>
            </a:lvl7pPr>
            <a:lvl8pPr>
              <a:defRPr sz="2250" b="1">
                <a:solidFill>
                  <a:srgbClr val="005293"/>
                </a:solidFill>
                <a:latin typeface="Arial"/>
                <a:ea typeface="Arial"/>
                <a:cs typeface="Arial"/>
              </a:defRPr>
            </a:lvl8pPr>
            <a:lvl9pPr>
              <a:defRPr sz="2250" b="1">
                <a:solidFill>
                  <a:srgbClr val="005293"/>
                </a:solidFill>
                <a:latin typeface="Arial"/>
                <a:ea typeface="Arial"/>
                <a:cs typeface="Arial"/>
              </a:defRPr>
            </a:lvl9pPr>
          </a:lstStyle>
          <a:p xmlns:a="http://schemas.openxmlformats.org/drawingml/2006/main">
            <a:pPr>
              <a:defRPr sz="2250" b="1">
                <a:solidFill>
                  <a:srgbClr val="005293"/>
                </a:solidFill>
                <a:latin typeface="Arial"/>
                <a:ea typeface="Arial"/>
                <a:cs typeface="Arial"/>
              </a:defRPr>
            </a:pPr>
            <a:r>
              <a:rPr sz="2250" b="1">
                <a:solidFill>
                  <a:srgbClr val="005293"/>
                </a:solidFill>
                <a:latin typeface="Arial"/>
                <a:ea typeface="Arial"/>
                <a:cs typeface="Arial"/>
              </a:rPr>
              <a:t>1. ReLaX öffnen und „Kemper Datenbanksysteme“ auswählen.</a:t>
            </a:r>
          </a:p>
        </p:txBody>
      </p:sp>
      <p:sp>
        <p:nvSpPr>
          <p:cNvPr id="5" name="">
            <a:extLst xmlns:a="http://schemas.openxmlformats.org/drawingml/2006/main">
              <a:ext uri="{FF2B5EF4-FFF2-40B4-BE49-F238E27FC236}">
                <a16:creationId xmlns:a16="http://schemas.microsoft.com/office/drawing/2014/main" id="{7E9BFB20-BE0F-4057-9AD6-29791D569336}"/>
              </a:ext>
            </a:extLst>
          </p:cNvPr>
          <p:cNvSpPr>
            <a:spLocks xmlns:a="http://schemas.openxmlformats.org/drawingml/2006/main" noGrp="1"/>
          </p:cNvSpPr>
          <p:nvPr/>
        </p:nvSpPr>
        <p:spPr>
          <a:xfrm xmlns:a="http://schemas.openxmlformats.org/drawingml/2006/main">
            <a:off x="609600" y="22383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02B33"/>
                </a:solidFill>
                <a:latin typeface="Arial"/>
                <a:ea typeface="Arial"/>
                <a:cs typeface="Arial"/>
              </a:defRPr>
            </a:defPPr>
            <a:lvl1pPr>
              <a:defRPr sz="2250" b="0">
                <a:solidFill>
                  <a:srgbClr val="202B33"/>
                </a:solidFill>
                <a:latin typeface="Arial"/>
                <a:ea typeface="Arial"/>
                <a:cs typeface="Arial"/>
              </a:defRPr>
            </a:lvl1pPr>
            <a:lvl2pPr>
              <a:defRPr sz="2250" b="0">
                <a:solidFill>
                  <a:srgbClr val="202B33"/>
                </a:solidFill>
                <a:latin typeface="Arial"/>
                <a:ea typeface="Arial"/>
                <a:cs typeface="Arial"/>
              </a:defRPr>
            </a:lvl2pPr>
            <a:lvl3pPr>
              <a:defRPr sz="2250" b="0">
                <a:solidFill>
                  <a:srgbClr val="202B33"/>
                </a:solidFill>
                <a:latin typeface="Arial"/>
                <a:ea typeface="Arial"/>
                <a:cs typeface="Arial"/>
              </a:defRPr>
            </a:lvl3pPr>
            <a:lvl4pPr>
              <a:defRPr sz="2250" b="0">
                <a:solidFill>
                  <a:srgbClr val="202B33"/>
                </a:solidFill>
                <a:latin typeface="Arial"/>
                <a:ea typeface="Arial"/>
                <a:cs typeface="Arial"/>
              </a:defRPr>
            </a:lvl4pPr>
            <a:lvl5pPr>
              <a:defRPr sz="2250" b="0">
                <a:solidFill>
                  <a:srgbClr val="202B33"/>
                </a:solidFill>
                <a:latin typeface="Arial"/>
                <a:ea typeface="Arial"/>
                <a:cs typeface="Arial"/>
              </a:defRPr>
            </a:lvl5pPr>
            <a:lvl6pPr>
              <a:defRPr sz="2250" b="0">
                <a:solidFill>
                  <a:srgbClr val="202B33"/>
                </a:solidFill>
                <a:latin typeface="Arial"/>
                <a:ea typeface="Arial"/>
                <a:cs typeface="Arial"/>
              </a:defRPr>
            </a:lvl6pPr>
            <a:lvl7pPr>
              <a:defRPr sz="2250" b="0">
                <a:solidFill>
                  <a:srgbClr val="202B33"/>
                </a:solidFill>
                <a:latin typeface="Arial"/>
                <a:ea typeface="Arial"/>
                <a:cs typeface="Arial"/>
              </a:defRPr>
            </a:lvl7pPr>
            <a:lvl8pPr>
              <a:defRPr sz="2250" b="0">
                <a:solidFill>
                  <a:srgbClr val="202B33"/>
                </a:solidFill>
                <a:latin typeface="Arial"/>
                <a:ea typeface="Arial"/>
                <a:cs typeface="Arial"/>
              </a:defRPr>
            </a:lvl8pPr>
            <a:lvl9pPr>
              <a:defRPr sz="2250" b="0">
                <a:solidFill>
                  <a:srgbClr val="202B33"/>
                </a:solidFill>
                <a:latin typeface="Arial"/>
                <a:ea typeface="Arial"/>
                <a:cs typeface="Arial"/>
              </a:defRPr>
            </a:lvl9pPr>
          </a:lstStyle>
          <a:p xmlns:a="http://schemas.openxmlformats.org/drawingml/2006/main">
            <a:pPr>
              <a:defRPr sz="2250" b="0">
                <a:solidFill>
                  <a:srgbClr val="202B33"/>
                </a:solidFill>
                <a:latin typeface="Arial"/>
                <a:ea typeface="Arial"/>
                <a:cs typeface="Arial"/>
              </a:defRPr>
            </a:pPr>
            <a:r>
              <a:rPr sz="2250" b="0">
                <a:solidFill>
                  <a:srgbClr val="202B33"/>
                </a:solidFill>
                <a:latin typeface="Arial"/>
                <a:ea typeface="Arial"/>
                <a:cs typeface="Arial"/>
              </a:rPr>
              <a:t>2. Euren Ausdruck eingeben und ausführen.</a:t>
            </a:r>
          </a:p>
        </p:txBody>
      </p:sp>
      <p:sp>
        <p:nvSpPr>
          <p:cNvPr id="6" name="">
            <a:extLst xmlns:a="http://schemas.openxmlformats.org/drawingml/2006/main">
              <a:ext uri="{FF2B5EF4-FFF2-40B4-BE49-F238E27FC236}">
                <a16:creationId xmlns:a16="http://schemas.microsoft.com/office/drawing/2014/main" id="{2E0B858E-BEE9-4CEF-8D7E-CC8CBA805363}"/>
              </a:ext>
            </a:extLst>
          </p:cNvPr>
          <p:cNvSpPr>
            <a:spLocks xmlns:a="http://schemas.openxmlformats.org/drawingml/2006/main" noGrp="1"/>
          </p:cNvSpPr>
          <p:nvPr/>
        </p:nvSpPr>
        <p:spPr>
          <a:xfrm xmlns:a="http://schemas.openxmlformats.org/drawingml/2006/main">
            <a:off x="609600" y="29527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02B33"/>
                </a:solidFill>
                <a:latin typeface="Arial"/>
                <a:ea typeface="Arial"/>
                <a:cs typeface="Arial"/>
              </a:defRPr>
            </a:defPPr>
            <a:lvl1pPr>
              <a:defRPr sz="2250" b="0">
                <a:solidFill>
                  <a:srgbClr val="202B33"/>
                </a:solidFill>
                <a:latin typeface="Arial"/>
                <a:ea typeface="Arial"/>
                <a:cs typeface="Arial"/>
              </a:defRPr>
            </a:lvl1pPr>
            <a:lvl2pPr>
              <a:defRPr sz="2250" b="0">
                <a:solidFill>
                  <a:srgbClr val="202B33"/>
                </a:solidFill>
                <a:latin typeface="Arial"/>
                <a:ea typeface="Arial"/>
                <a:cs typeface="Arial"/>
              </a:defRPr>
            </a:lvl2pPr>
            <a:lvl3pPr>
              <a:defRPr sz="2250" b="0">
                <a:solidFill>
                  <a:srgbClr val="202B33"/>
                </a:solidFill>
                <a:latin typeface="Arial"/>
                <a:ea typeface="Arial"/>
                <a:cs typeface="Arial"/>
              </a:defRPr>
            </a:lvl3pPr>
            <a:lvl4pPr>
              <a:defRPr sz="2250" b="0">
                <a:solidFill>
                  <a:srgbClr val="202B33"/>
                </a:solidFill>
                <a:latin typeface="Arial"/>
                <a:ea typeface="Arial"/>
                <a:cs typeface="Arial"/>
              </a:defRPr>
            </a:lvl4pPr>
            <a:lvl5pPr>
              <a:defRPr sz="2250" b="0">
                <a:solidFill>
                  <a:srgbClr val="202B33"/>
                </a:solidFill>
                <a:latin typeface="Arial"/>
                <a:ea typeface="Arial"/>
                <a:cs typeface="Arial"/>
              </a:defRPr>
            </a:lvl5pPr>
            <a:lvl6pPr>
              <a:defRPr sz="2250" b="0">
                <a:solidFill>
                  <a:srgbClr val="202B33"/>
                </a:solidFill>
                <a:latin typeface="Arial"/>
                <a:ea typeface="Arial"/>
                <a:cs typeface="Arial"/>
              </a:defRPr>
            </a:lvl6pPr>
            <a:lvl7pPr>
              <a:defRPr sz="2250" b="0">
                <a:solidFill>
                  <a:srgbClr val="202B33"/>
                </a:solidFill>
                <a:latin typeface="Arial"/>
                <a:ea typeface="Arial"/>
                <a:cs typeface="Arial"/>
              </a:defRPr>
            </a:lvl7pPr>
            <a:lvl8pPr>
              <a:defRPr sz="2250" b="0">
                <a:solidFill>
                  <a:srgbClr val="202B33"/>
                </a:solidFill>
                <a:latin typeface="Arial"/>
                <a:ea typeface="Arial"/>
                <a:cs typeface="Arial"/>
              </a:defRPr>
            </a:lvl8pPr>
            <a:lvl9pPr>
              <a:defRPr sz="2250" b="0">
                <a:solidFill>
                  <a:srgbClr val="202B33"/>
                </a:solidFill>
                <a:latin typeface="Arial"/>
                <a:ea typeface="Arial"/>
                <a:cs typeface="Arial"/>
              </a:defRPr>
            </a:lvl9pPr>
          </a:lstStyle>
          <a:p xmlns:a="http://schemas.openxmlformats.org/drawingml/2006/main">
            <a:pPr>
              <a:defRPr sz="2250" b="0">
                <a:solidFill>
                  <a:srgbClr val="202B33"/>
                </a:solidFill>
                <a:latin typeface="Arial"/>
                <a:ea typeface="Arial"/>
                <a:cs typeface="Arial"/>
              </a:defRPr>
            </a:pPr>
            <a:r>
              <a:rPr sz="2250" b="0">
                <a:solidFill>
                  <a:srgbClr val="202B33"/>
                </a:solidFill>
                <a:latin typeface="Arial"/>
                <a:ea typeface="Arial"/>
                <a:cs typeface="Arial"/>
              </a:rPr>
              <a:t>3. Ergebnistupel und Zwischenschritte mit eurer Lösung vergleichen.</a:t>
            </a:r>
          </a:p>
        </p:txBody>
      </p:sp>
      <p:sp>
        <p:nvSpPr>
          <p:cNvPr id="7" name="">
            <a:extLst xmlns:a="http://schemas.openxmlformats.org/drawingml/2006/main">
              <a:ext uri="{FF2B5EF4-FFF2-40B4-BE49-F238E27FC236}">
                <a16:creationId xmlns:a16="http://schemas.microsoft.com/office/drawing/2014/main" id="{5F2B2FBB-39BC-45C1-B7C8-5B6FE339AAC0}"/>
              </a:ext>
            </a:extLst>
          </p:cNvPr>
          <p:cNvSpPr>
            <a:spLocks xmlns:a="http://schemas.openxmlformats.org/drawingml/2006/main" noGrp="1"/>
          </p:cNvSpPr>
          <p:nvPr/>
        </p:nvSpPr>
        <p:spPr>
          <a:xfrm xmlns:a="http://schemas.openxmlformats.org/drawingml/2006/main">
            <a:off x="609600" y="38100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05293"/>
                </a:solidFill>
                <a:latin typeface="Arial"/>
                <a:ea typeface="Arial"/>
                <a:cs typeface="Arial"/>
              </a:defRPr>
            </a:defPPr>
            <a:lvl1pPr>
              <a:defRPr sz="2250" b="1">
                <a:solidFill>
                  <a:srgbClr val="005293"/>
                </a:solidFill>
                <a:latin typeface="Arial"/>
                <a:ea typeface="Arial"/>
                <a:cs typeface="Arial"/>
              </a:defRPr>
            </a:lvl1pPr>
            <a:lvl2pPr>
              <a:defRPr sz="2250" b="1">
                <a:solidFill>
                  <a:srgbClr val="005293"/>
                </a:solidFill>
                <a:latin typeface="Arial"/>
                <a:ea typeface="Arial"/>
                <a:cs typeface="Arial"/>
              </a:defRPr>
            </a:lvl2pPr>
            <a:lvl3pPr>
              <a:defRPr sz="2250" b="1">
                <a:solidFill>
                  <a:srgbClr val="005293"/>
                </a:solidFill>
                <a:latin typeface="Arial"/>
                <a:ea typeface="Arial"/>
                <a:cs typeface="Arial"/>
              </a:defRPr>
            </a:lvl3pPr>
            <a:lvl4pPr>
              <a:defRPr sz="2250" b="1">
                <a:solidFill>
                  <a:srgbClr val="005293"/>
                </a:solidFill>
                <a:latin typeface="Arial"/>
                <a:ea typeface="Arial"/>
                <a:cs typeface="Arial"/>
              </a:defRPr>
            </a:lvl4pPr>
            <a:lvl5pPr>
              <a:defRPr sz="2250" b="1">
                <a:solidFill>
                  <a:srgbClr val="005293"/>
                </a:solidFill>
                <a:latin typeface="Arial"/>
                <a:ea typeface="Arial"/>
                <a:cs typeface="Arial"/>
              </a:defRPr>
            </a:lvl5pPr>
            <a:lvl6pPr>
              <a:defRPr sz="2250" b="1">
                <a:solidFill>
                  <a:srgbClr val="005293"/>
                </a:solidFill>
                <a:latin typeface="Arial"/>
                <a:ea typeface="Arial"/>
                <a:cs typeface="Arial"/>
              </a:defRPr>
            </a:lvl6pPr>
            <a:lvl7pPr>
              <a:defRPr sz="2250" b="1">
                <a:solidFill>
                  <a:srgbClr val="005293"/>
                </a:solidFill>
                <a:latin typeface="Arial"/>
                <a:ea typeface="Arial"/>
                <a:cs typeface="Arial"/>
              </a:defRPr>
            </a:lvl7pPr>
            <a:lvl8pPr>
              <a:defRPr sz="2250" b="1">
                <a:solidFill>
                  <a:srgbClr val="005293"/>
                </a:solidFill>
                <a:latin typeface="Arial"/>
                <a:ea typeface="Arial"/>
                <a:cs typeface="Arial"/>
              </a:defRPr>
            </a:lvl8pPr>
            <a:lvl9pPr>
              <a:defRPr sz="2250" b="1">
                <a:solidFill>
                  <a:srgbClr val="005293"/>
                </a:solidFill>
                <a:latin typeface="Arial"/>
                <a:ea typeface="Arial"/>
                <a:cs typeface="Arial"/>
              </a:defRPr>
            </a:lvl9pPr>
          </a:lstStyle>
          <a:p xmlns:a="http://schemas.openxmlformats.org/drawingml/2006/main">
            <a:pPr>
              <a:defRPr sz="2250" b="1">
                <a:solidFill>
                  <a:srgbClr val="005293"/>
                </a:solidFill>
                <a:latin typeface="Arial"/>
                <a:ea typeface="Arial"/>
                <a:cs typeface="Arial"/>
              </a:defRPr>
            </a:pPr>
            <a:r>
              <a:rPr sz="2250" b="1">
                <a:solidFill>
                  <a:srgbClr val="005293"/>
                </a:solidFill>
                <a:latin typeface="Arial"/>
                <a:ea typeface="Arial"/>
                <a:cs typeface="Arial"/>
                <a:hlinkClick xmlns:r="http://schemas.openxmlformats.org/officeDocument/2006/relationships" r:id="R5d32a94ac17e4923"/>
              </a:rPr>
              <a:t>dbis-uibk.github.io/relax/</a:t>
            </a:r>
          </a:p>
        </p:txBody>
      </p:sp>
      <p:sp>
        <p:nvSpPr>
          <p:cNvPr id="8" name="">
            <a:extLst xmlns:a="http://schemas.openxmlformats.org/drawingml/2006/main">
              <a:ext uri="{FF2B5EF4-FFF2-40B4-BE49-F238E27FC236}">
                <a16:creationId xmlns:a16="http://schemas.microsoft.com/office/drawing/2014/main" id="{CAE58B4A-5D83-4BB5-940F-8C898570C067}"/>
              </a:ext>
            </a:extLst>
          </p:cNvPr>
          <p:cNvSpPr>
            <a:spLocks xmlns:a="http://schemas.openxmlformats.org/drawingml/2006/main" noGrp="1"/>
          </p:cNvSpPr>
          <p:nvPr/>
        </p:nvSpPr>
        <p:spPr>
          <a:xfrm xmlns:a="http://schemas.openxmlformats.org/drawingml/2006/main">
            <a:off x="609600" y="47148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B33"/>
                </a:solidFill>
                <a:latin typeface="Arial"/>
                <a:ea typeface="Arial"/>
                <a:cs typeface="Arial"/>
              </a:defRPr>
            </a:defPPr>
            <a:lvl1pPr>
              <a:defRPr sz="2025" b="0">
                <a:solidFill>
                  <a:srgbClr val="202B33"/>
                </a:solidFill>
                <a:latin typeface="Arial"/>
                <a:ea typeface="Arial"/>
                <a:cs typeface="Arial"/>
              </a:defRPr>
            </a:lvl1pPr>
            <a:lvl2pPr>
              <a:defRPr sz="2025" b="0">
                <a:solidFill>
                  <a:srgbClr val="202B33"/>
                </a:solidFill>
                <a:latin typeface="Arial"/>
                <a:ea typeface="Arial"/>
                <a:cs typeface="Arial"/>
              </a:defRPr>
            </a:lvl2pPr>
            <a:lvl3pPr>
              <a:defRPr sz="2025" b="0">
                <a:solidFill>
                  <a:srgbClr val="202B33"/>
                </a:solidFill>
                <a:latin typeface="Arial"/>
                <a:ea typeface="Arial"/>
                <a:cs typeface="Arial"/>
              </a:defRPr>
            </a:lvl3pPr>
            <a:lvl4pPr>
              <a:defRPr sz="2025" b="0">
                <a:solidFill>
                  <a:srgbClr val="202B33"/>
                </a:solidFill>
                <a:latin typeface="Arial"/>
                <a:ea typeface="Arial"/>
                <a:cs typeface="Arial"/>
              </a:defRPr>
            </a:lvl4pPr>
            <a:lvl5pPr>
              <a:defRPr sz="2025" b="0">
                <a:solidFill>
                  <a:srgbClr val="202B33"/>
                </a:solidFill>
                <a:latin typeface="Arial"/>
                <a:ea typeface="Arial"/>
                <a:cs typeface="Arial"/>
              </a:defRPr>
            </a:lvl5pPr>
            <a:lvl6pPr>
              <a:defRPr sz="2025" b="0">
                <a:solidFill>
                  <a:srgbClr val="202B33"/>
                </a:solidFill>
                <a:latin typeface="Arial"/>
                <a:ea typeface="Arial"/>
                <a:cs typeface="Arial"/>
              </a:defRPr>
            </a:lvl6pPr>
            <a:lvl7pPr>
              <a:defRPr sz="2025" b="0">
                <a:solidFill>
                  <a:srgbClr val="202B33"/>
                </a:solidFill>
                <a:latin typeface="Arial"/>
                <a:ea typeface="Arial"/>
                <a:cs typeface="Arial"/>
              </a:defRPr>
            </a:lvl7pPr>
            <a:lvl8pPr>
              <a:defRPr sz="2025" b="0">
                <a:solidFill>
                  <a:srgbClr val="202B33"/>
                </a:solidFill>
                <a:latin typeface="Arial"/>
                <a:ea typeface="Arial"/>
                <a:cs typeface="Arial"/>
              </a:defRPr>
            </a:lvl8pPr>
            <a:lvl9pPr>
              <a:defRPr sz="2025" b="0">
                <a:solidFill>
                  <a:srgbClr val="202B33"/>
                </a:solidFill>
                <a:latin typeface="Arial"/>
                <a:ea typeface="Arial"/>
                <a:cs typeface="Arial"/>
              </a:defRPr>
            </a:lvl9pPr>
          </a:lstStyle>
          <a:p xmlns:a="http://schemas.openxmlformats.org/drawingml/2006/main">
            <a:pPr>
              <a:defRPr sz="2025" b="0">
                <a:solidFill>
                  <a:srgbClr val="202B33"/>
                </a:solidFill>
                <a:latin typeface="Arial"/>
                <a:ea typeface="Arial"/>
                <a:cs typeface="Arial"/>
              </a:defRPr>
            </a:pPr>
            <a:r>
              <a:rPr sz="2025" b="0">
                <a:solidFill>
                  <a:srgbClr val="202B33"/>
                </a:solidFill>
                <a:latin typeface="Arial"/>
                <a:ea typeface="Arial"/>
                <a:cs typeface="Arial"/>
              </a:rPr>
              <a:t>DB-Normalizer: später für funktionale Abhängigkeiten und Normalformen.</a:t>
            </a:r>
          </a:p>
        </p:txBody>
      </p:sp>
      <p:sp>
        <p:nvSpPr>
          <p:cNvPr id="9" name="">
            <a:extLst xmlns:a="http://schemas.openxmlformats.org/drawingml/2006/main">
              <a:ext uri="{FF2B5EF4-FFF2-40B4-BE49-F238E27FC236}">
                <a16:creationId xmlns:a16="http://schemas.microsoft.com/office/drawing/2014/main" id="{7716E313-74F1-4020-988A-CF7338F4842E}"/>
              </a:ext>
            </a:extLst>
          </p:cNvPr>
          <p:cNvSpPr>
            <a:spLocks xmlns:a="http://schemas.openxmlformats.org/drawingml/2006/main" noGrp="1"/>
          </p:cNvSpPr>
          <p:nvPr/>
        </p:nvSpPr>
        <p:spPr>
          <a:xfrm xmlns:a="http://schemas.openxmlformats.org/drawingml/2006/main">
            <a:off x="609600" y="56197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96773"/>
                </a:solidFill>
                <a:latin typeface="Arial"/>
                <a:ea typeface="Arial"/>
                <a:cs typeface="Arial"/>
              </a:defRPr>
            </a:defPPr>
            <a:lvl1pPr>
              <a:defRPr sz="1725" b="0">
                <a:solidFill>
                  <a:srgbClr val="596773"/>
                </a:solidFill>
                <a:latin typeface="Arial"/>
                <a:ea typeface="Arial"/>
                <a:cs typeface="Arial"/>
              </a:defRPr>
            </a:lvl1pPr>
            <a:lvl2pPr>
              <a:defRPr sz="1725" b="0">
                <a:solidFill>
                  <a:srgbClr val="596773"/>
                </a:solidFill>
                <a:latin typeface="Arial"/>
                <a:ea typeface="Arial"/>
                <a:cs typeface="Arial"/>
              </a:defRPr>
            </a:lvl2pPr>
            <a:lvl3pPr>
              <a:defRPr sz="1725" b="0">
                <a:solidFill>
                  <a:srgbClr val="596773"/>
                </a:solidFill>
                <a:latin typeface="Arial"/>
                <a:ea typeface="Arial"/>
                <a:cs typeface="Arial"/>
              </a:defRPr>
            </a:lvl3pPr>
            <a:lvl4pPr>
              <a:defRPr sz="1725" b="0">
                <a:solidFill>
                  <a:srgbClr val="596773"/>
                </a:solidFill>
                <a:latin typeface="Arial"/>
                <a:ea typeface="Arial"/>
                <a:cs typeface="Arial"/>
              </a:defRPr>
            </a:lvl4pPr>
            <a:lvl5pPr>
              <a:defRPr sz="1725" b="0">
                <a:solidFill>
                  <a:srgbClr val="596773"/>
                </a:solidFill>
                <a:latin typeface="Arial"/>
                <a:ea typeface="Arial"/>
                <a:cs typeface="Arial"/>
              </a:defRPr>
            </a:lvl5pPr>
            <a:lvl6pPr>
              <a:defRPr sz="1725" b="0">
                <a:solidFill>
                  <a:srgbClr val="596773"/>
                </a:solidFill>
                <a:latin typeface="Arial"/>
                <a:ea typeface="Arial"/>
                <a:cs typeface="Arial"/>
              </a:defRPr>
            </a:lvl6pPr>
            <a:lvl7pPr>
              <a:defRPr sz="1725" b="0">
                <a:solidFill>
                  <a:srgbClr val="596773"/>
                </a:solidFill>
                <a:latin typeface="Arial"/>
                <a:ea typeface="Arial"/>
                <a:cs typeface="Arial"/>
              </a:defRPr>
            </a:lvl7pPr>
            <a:lvl8pPr>
              <a:defRPr sz="1725" b="0">
                <a:solidFill>
                  <a:srgbClr val="596773"/>
                </a:solidFill>
                <a:latin typeface="Arial"/>
                <a:ea typeface="Arial"/>
                <a:cs typeface="Arial"/>
              </a:defRPr>
            </a:lvl8pPr>
            <a:lvl9pPr>
              <a:defRPr sz="1725" b="0">
                <a:solidFill>
                  <a:srgbClr val="596773"/>
                </a:solidFill>
                <a:latin typeface="Arial"/>
                <a:ea typeface="Arial"/>
                <a:cs typeface="Arial"/>
              </a:defRPr>
            </a:lvl9pPr>
          </a:lstStyle>
          <a:p xmlns:a="http://schemas.openxmlformats.org/drawingml/2006/main">
            <a:pPr>
              <a:defRPr sz="1725" b="0">
                <a:solidFill>
                  <a:srgbClr val="596773"/>
                </a:solidFill>
                <a:latin typeface="Arial"/>
                <a:ea typeface="Arial"/>
                <a:cs typeface="Arial"/>
              </a:defRPr>
            </a:pPr>
            <a:r>
              <a:rPr sz="1725" b="0">
                <a:solidFill>
                  <a:srgbClr val="596773"/>
                </a:solidFill>
                <a:latin typeface="Arial"/>
                <a:ea typeface="Arial"/>
                <a:cs typeface="Arial"/>
              </a:rPr>
              <a:t>Ein passendes Ergebnis auf Beispieldaten allein beweist noch nicht, dass der Ausdruck für jede Datenbank korrekt ist.</a:t>
            </a:r>
          </a:p>
        </p:txBody>
      </p:sp>
    </p:spTree>
    <p:extLst>
      <p:ext uri="{BB962C8B-B14F-4D97-AF65-F5344CB8AC3E}">
        <p14:creationId xmlns:p14="http://schemas.microsoft.com/office/powerpoint/2010/main" val="4081566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2026-10-19T12:14:10.8990000Z</dcterms:created>
  <dcterms:modified xsi:type="dcterms:W3CDTF">2026-10-19T12:14:10.8990000Z</dcterms:modified>
</coreProperties>
</file>